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74257055-12b3-dff4-db38-002f7c62ec46}">
          <p14:sldIdLst>
            <p14:sldId id="256"/>
            <p14:sldId id="257"/>
          </p14:sldIdLst>
        </p14:section>
        <p14:section name="Why Django" id="{e8108d5c-cfe9-070f-e0db-34a29338fd63}">
          <p14:sldIdLst>
            <p14:sldId id="258"/>
            <p14:sldId id="259"/>
            <p14:sldId id="260"/>
            <p14:sldId id="261"/>
            <p14:sldId id="262"/>
            <p14:sldId id="263"/>
            <p14:sldId id="264"/>
            <p14:sldId id="265"/>
          </p14:sldIdLst>
        </p14:section>
        <p14:section name="Project setup" id="{fc6cbec4-1ce6-112a-a868-f575481df1d1}">
          <p14:sldIdLst>
            <p14:sldId id="266"/>
            <p14:sldId id="267"/>
            <p14:sldId id="268"/>
            <p14:sldId id="269"/>
          </p14:sldIdLst>
        </p14:section>
        <p14:section name="Models and ORM" id="{8996eea3-f8ab-4654-3194-a211c1602643}">
          <p14:sldIdLst>
            <p14:sldId id="270"/>
            <p14:sldId id="271"/>
            <p14:sldId id="272"/>
            <p14:sldId id="273"/>
            <p14:sldId id="274"/>
            <p14:sldId id="275"/>
            <p14:sldId id="276"/>
          </p14:sldIdLst>
        </p14:section>
        <p14:section name="Views, URLs, serializers" id="{7f50e042-271a-809c-d3a8-18ca8b4a764e}">
          <p14:sldIdLst>
            <p14:sldId id="277"/>
            <p14:sldId id="278"/>
            <p14:sldId id="279"/>
            <p14:sldId id="280"/>
          </p14:sldIdLst>
        </p14:section>
        <p14:section name="Admin panel" id="{be3d2cdb-922a-92ad-eb11-5e46a9820db3}">
          <p14:sldIdLst>
            <p14:sldId id="281"/>
            <p14:sldId id="282"/>
          </p14:sldIdLst>
        </p14:section>
        <p14:section name="Security" id="{deb7c69a-7f02-00f9-8133-11736159e914}">
          <p14:sldIdLst>
            <p14:sldId id="283"/>
          </p14:sldIdLst>
        </p14:section>
        <p14:section name="Wrap-up" id="{b9a83480-bf95-7c9a-12c7-4ba64b657823}">
          <p14:sldIdLst>
            <p14:sldId id="284"/>
            <p14:sldId id="285"/>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is a simple introduction to Django: how to set up a project, how Django is organised, how it talks to a database, and how the built-in admin panel gives you a working back-end for free. You already know the MERN stack, so we will compare the two as we go. No prior Django knowledge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road-map of the seminar. Roughly 6 parts. The hands-on demo is the Item API in this repository - students can run it themselves afterwards using the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Django is a high-level Python web framework. Key idea: batteries included - authentication, admin panel, ORM, forms and security come with the framework, so you build features instead of wiring libraries together. First released in 2005, open source (BSD license). We use Django 5.2, a long-term-support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already know MERN. Both build full web apps. MERN = you assemble MongoDB + Express + React + Node yourself. Django = one framework with most parts included, and Python instead of JavaScript. They are not enemies: a very common modern setup is a React frontend talking to a Django REST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definition aloud in simple words. Batteries included is the most important one: Django ships with the features most websites need, so we do not hunt for separate libraries like we often do in the Node ecosystem. Framework vs library: a library is code you call; a framework calls your code and gives the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Django follows MVT: Model - View - Template. Walk the request: the browser asks for a URL, urls.py matches it to a view, the view asks the model for data (the model talks to the database through the ORM), then the view hands the data to a template which produces HTML that goes back to the browser. MVT is close to MVC: Django itself plays the controller, and the View is the controller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to translate what you already know. Express route -&gt; urls.py. Express handler -&gt; a view function. Mongoose model -&gt; a Django model class. React component or EJS -&gt; a template. npm -&gt; pip, node_modules -&gt; virtual environment. If students remember only this slide, they can already read a Django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Django's classic way to show data is a template: an HTML file with a few special tags, filled in on the SERVER. React does the same job in the BROWSER with JSX. Same idea, different syntax and different place. Our seminar project does not use templates: it returns JSON, and a React app (or the browsable API page) shows it. But if students see templates in other Django tutorials, this is what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first: DRF is a toolkit built on top of Django for building web APIs that send and receive JSON. Plain Django is great at HTML pages; DRF adds everything needed for APIs: serializers, API views, routers, a browsable API for testing, and authentication and permissions. Install with pip install djangorestframework and add 'rest_framework' to INSTALLED_APPS. In MERN terms, DRF plays the role of Express plus Mongoose validation for your API. A React or mobile app can then call these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to build the same app. 1) Django templates: Django builds the whole HTML page. 2) Django + DRF + React: Django is only the back-end API, React builds the screen. 3) MERN: Express and MongoDB replace Django, React is the same. The middle option is the bridge between what you already know (React) and what you are learning (Django). In this seminar we build the Django + DRF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these six commands slowly. Windows PowerShell shown; on Mac/Linux activate with 'source venv/bin/activate'. The virtual environment is just an isolated folder of Python packages, like node_modules. The dot at the end of startproject means: create the project in the current folder instead of making another nested folder. We are not creating a new project live because the finished one is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two folders that matter most: config (the project) and items (our app). manage.py is the command centre - every command starts with python manage.py. Templates and static are plain folders that Django is told about in settings.py.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project is the whole website and its configuration. An app is one feature of that website. Analogy: a college website is the project; admissions, library and results are apps. One project has many apps, and a good app can be reused in another project. After creating an app you must add it to INSTALLED_APPS, otherwise Django ignores it - the most common beginner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settings.py is a normal Python file that Django reads at start-up. Go through the table quickly. Stress SECRET_KEY and DEBUG: the key in our repo is a demo key, in a real project it comes from an environment variable and DEBUG is False in production. In this repo the file has comments explaining every section - students can read it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set of definitions, before we dive into models. ORM is the big one: we write Python objects, Django writes the SQL. A migration is like a version-control commit for the database structure. An API is a set of URLs for programs, not people; REST is the common style for designing them, and DRF is the toolkit that makes them in Django.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is a Python class that inherits from models.Model. Django turns each class into a table and each field into a column. You never write CREATE TABLE. The SQL on the right is real output from 'python manage.py sqlmigrate items 0001' (shortened). Notice Django added the id primary key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field type decides the column type in the database. Right: attributes tweak the behaviour. The one students always mix up: null=True is about the DATABASE (the column may hold NULL) while blank=True is about FORM VALIDATION (the user may leave it empty). For text fields use blank=True; for dates and numbers you usually need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Django ships configured for SQLite: a single file, nothing to install, ideal for learning and development. Everything we demo today uses it. At the end of the seminar we will show that connecting MySQL or PostgreSQL only changes this one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ORM = Object-Relational Mapper. It maps Python objects to database rows so you work with objects instead of writing SQL strings. Show the flow: a Python call goes into the ORM, the ORM builds SQL and runs it. The question mark in the SQL means the value is passed as a parameter, which is why SQL injection is not possible through the ORM. Same code works on SQLite, MySQL and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line on the left is Python; the right column is the SQL Django runs for you. Encourage students to open 'python manage.py shell' and type these lines themselves - the project has sample data from 'python manage.py seed_demo'.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Migrations are version control for your database structure. makemigrations looks at your models and WRITES a migration file - a plan. It does not touch the database. migrate READS those files and RUNS them on the database. Analogy: makemigrations is writing the recipe, migrate is cooking it. Rule of thumb: change a model, run both commands; pull someone else's code, run migrate.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view is simply a Python function: it receives a request and returns a response. With DRF the @api_view decorator says which HTTP methods are allowed, and the response is JSON. Walk through item_list: on GET we ask the ORM for items and return them; on POST we validate the incoming JSON with the serializer, save it and answer 201 Created, or 400 with the errors. item_detail in the repo works the same way for GET, PUT and DELETE on one item. Code is slightly shortened (the real file also supports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urls.py is the routing table. The root file config/urls.py hands everything under api/ to the app with include(). The app's own urls.py maps each path to a view. &lt;int:pk&gt; captures a number from the URL and passes it to the view as pk - like :id in Express. name= gives each route a nickname.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MVT the Template makes the HTML page. In an API project there is no HTML: a DRF serializer converts model objects to JSON (and JSON from the client back to objects, validating it on the way). Think of it as Mongoose-style validation plus res.json() in Express. Show the JSON on the right: it is exactly what the browser shows at /api/items/.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time (about 10 minutes). Run the server and open /api/items/. Show: list items, create one with the form at the bottom of the browsable API page, open /api/items/1/ and change it with PUT, delete it, then try /api/items/?search=pen. Then show the same data in the admin. Everything is in the repository - students follow the README to run it on their own laptop. The demo script is in docs/demo-script.md.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 is one of Django's best features: it reads your models and builds a complete back-office for you. Steps: create a superuser (an account with all permissions - the password is not shown while typing, that is normal), register the model, run the server, open /admin/ and log in. Mention that real users should never get superuser rights.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ModelAdmin class controls how a model looks in the admin. Add options one at a time and refresh the page to see each effect. list_display = columns, list_filter = right sidebar, search_fields = the search box, ordering = default sort, list_editable = edit fields directly in the list. The repository's admin.py also has readonly_fields and custom bulk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on by default. SQL injection: the ORM sends values as parameters, so user input can never become SQL. CSRF: a forged form from another site is rejected with 403 unless it carries the secret token from {% csrf_token %}. XSS: templates escape HTML so a script typed by a user is shown as text. Passwords are hashed and the XFrameOptions middleware blocks clickjacking. The repository's tests.py proves several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technical topic, shown only as a preview. To use an external database: create an empty database on the server, install the Python driver with pip, edit the DATABASES setting, and run migrate. Models, views and admin stay exactly the same - that is the benefit of the ORM. Keep real passwords in environment variables, never in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Django powers many well-known sites. Companies named here are commonly cited as using Django (in some cases for parts of their stack, not everything). Good fits: content and news sites, social platforms, e-commerce, REST back-ends for React or mobile apps, and data or machine-learning dashboards - because Python has a huge data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part of today's seminar - just so students know it exists. Django handles file uploads with ImageField or FileField. You need Pillow, a MEDIA_ROOT folder for saved files, enctype multipart/form-data on the form, and request.FILES in the view. The Item model already has an optional image field, and docs/image-handling.md explains it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five ideas. Then point students to the repository: README.md has the install steps, docs/github-basics.md helps with Git, and docs/demo-script.md lets them repeat the demo. Open the floor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309360" cy="1828800"/>
          </a:xfrm>
          <a:prstGeom prst="rect">
            <a:avLst/>
          </a:prstGeom>
          <a:noFill/>
          <a:ln/>
        </p:spPr>
        <p:txBody>
          <a:bodyPr wrap="square" rtlCol="0"/>
          <a:lstStyle>
            <a:lvl1pPr indent="0" marL="0">
              <a:buNone/>
              <a:defRPr lang="en-US" sz="5600" b="1" dirty="0">
                <a:solidFill>
                  <a:schemeClr val="bg1"/>
                </a:solidFill>
              </a:defRPr>
            </a:lvl1pPr>
          </a:lstStyle>
          <a:p>
            <a:pPr indent="0" marL="0">
              <a:buNone/>
            </a:pPr>
            <a:endParaRPr lang="en-US" sz="5600" dirty="0"/>
          </a:p>
        </p:txBody>
      </p:sp>
      <p:sp>
        <p:nvSpPr>
          <p:cNvPr id="3" name="Text 0"/>
          <p:cNvSpPr/>
          <p:nvPr>
            <p:ph idx="101" type="body" hasCustomPrompt="1"/>
          </p:nvPr>
        </p:nvSpPr>
        <p:spPr>
          <a:xfrm>
            <a:off x="731520" y="3749040"/>
            <a:ext cx="6035040" cy="1188720"/>
          </a:xfrm>
          <a:prstGeom prst="rect">
            <a:avLst/>
          </a:prstGeom>
          <a:noFill/>
          <a:ln/>
        </p:spPr>
        <p:txBody>
          <a:bodyPr wrap="square" rtlCol="0"/>
          <a:lstStyle>
            <a:lvl1pPr indent="0" marL="0">
              <a:buNone/>
              <a:defRPr lang="en-US" sz="2000" dirty="0">
                <a:solidFill>
                  <a:schemeClr val="accent1"/>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lstStyle>
            <a:lvl1pPr indent="0" marL="0">
              <a:buNone/>
              <a:defRPr lang="en-US" sz="3600" b="1" dirty="0">
                <a:solidFill>
                  <a:schemeClr val="tx2"/>
                </a:solidFill>
              </a:defRPr>
            </a:lvl1pPr>
          </a:lstStyle>
          <a:p>
            <a:pPr indent="0" marL="0">
              <a:buNone/>
            </a:pPr>
            <a:endParaRPr lang="en-US" sz="3600" dirty="0"/>
          </a:p>
        </p:txBody>
      </p:sp>
      <p:sp>
        <p:nvSpPr>
          <p:cNvPr id="3" name="Text 0"/>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100" dirty="0">
                <a:solidFill>
                  <a:schemeClr val="accent5"/>
                </a:solidFill>
              </a:rPr>
              <a:t>Django Seminar  |  MCA</a:t>
            </a:r>
            <a:endParaRPr lang="en-US" sz="11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3.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3.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jpg"/><Relationship Id="rId8" Type="http://schemas.openxmlformats.org/officeDocument/2006/relationships/slideLayout" Target="../slideLayouts/slideLayout3.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3.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slideLayout" Target="../slideLayouts/slideLayout3.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slideLayout" Target="../slideLayouts/slideLayout4.xml"/><Relationship Id="rId7"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309360" cy="1828800"/>
          </a:xfrm>
          <a:prstGeom prst="rect">
            <a:avLst/>
          </a:prstGeom>
          <a:noFill/>
          <a:ln/>
        </p:spPr>
        <p:txBody>
          <a:bodyPr wrap="square" lIns="0" tIns="0" rIns="0" bIns="0" rtlCol="0" anchor="b"/>
          <a:lstStyle/>
          <a:p>
            <a:pPr indent="0" marL="0">
              <a:buNone/>
            </a:pPr>
            <a:r>
              <a:rPr lang="en-US" sz="5600" b="1" dirty="0">
                <a:solidFill>
                  <a:schemeClr val="bg1"/>
                </a:solidFill>
              </a:rPr>
              <a:t>Django Basics</a:t>
            </a:r>
            <a:endParaRPr lang="en-US" sz="5600" dirty="0"/>
          </a:p>
        </p:txBody>
      </p:sp>
      <p:sp>
        <p:nvSpPr>
          <p:cNvPr id="3" name="Text 0"/>
          <p:cNvSpPr/>
          <p:nvPr>
            <p:ph idx="101" type="body" hasCustomPrompt="1"/>
          </p:nvPr>
        </p:nvSpPr>
        <p:spPr>
          <a:xfrm>
            <a:off x="731520" y="3749040"/>
            <a:ext cx="6035040" cy="1188720"/>
          </a:xfrm>
          <a:prstGeom prst="rect">
            <a:avLst/>
          </a:prstGeom>
          <a:noFill/>
          <a:ln/>
        </p:spPr>
        <p:txBody>
          <a:bodyPr wrap="square" lIns="0" tIns="0" rIns="0" bIns="0" rtlCol="0" anchor="t"/>
          <a:lstStyle/>
          <a:p>
            <a:pPr indent="0" marL="0">
              <a:buNone/>
            </a:pPr>
            <a:r>
              <a:rPr lang="en-US" sz="2000" dirty="0">
                <a:solidFill>
                  <a:schemeClr val="accent1"/>
                </a:solidFill>
              </a:rPr>
              <a:t>Project setup, MVT, models, ORM, admin and REST framework</a:t>
            </a:r>
            <a:endParaRPr lang="en-US" sz="2000" dirty="0"/>
          </a:p>
        </p:txBody>
      </p:sp>
      <p:sp>
        <p:nvSpPr>
          <p:cNvPr id="4" name="Text 2"/>
          <p:cNvSpPr txBox="1"/>
          <p:nvPr/>
        </p:nvSpPr>
        <p:spPr>
          <a:xfrm>
            <a:off x="731520" y="5989320"/>
            <a:ext cx="6400800" cy="365760"/>
          </a:xfrm>
          <a:prstGeom prst="rect">
            <a:avLst/>
          </a:prstGeom>
          <a:noFill/>
          <a:ln/>
        </p:spPr>
        <p:txBody>
          <a:bodyPr wrap="square" lIns="0" tIns="0" rIns="0" bIns="0" rtlCol="0" anchor="t"/>
          <a:lstStyle/>
          <a:p>
            <a:pPr indent="0" marL="0">
              <a:buNone/>
            </a:pPr>
            <a:r>
              <a:rPr lang="en-US" sz="1400" dirty="0">
                <a:solidFill>
                  <a:schemeClr val="bg2"/>
                </a:solidFill>
              </a:rPr>
              <a:t>MCA seminar  |  Django + Django REST Framework</a:t>
            </a:r>
            <a:endParaRPr lang="en-US" sz="1400" dirty="0"/>
          </a:p>
        </p:txBody>
      </p:sp>
      <p:sp>
        <p:nvSpPr>
          <p:cNvPr id="5" name="terminal"/>
          <p:cNvSpPr txBox="1"/>
          <p:nvPr/>
        </p:nvSpPr>
        <p:spPr>
          <a:xfrm>
            <a:off x="7315200" y="2103120"/>
            <a:ext cx="4297680" cy="2377440"/>
          </a:xfrm>
          <a:prstGeom prst="roundRect">
            <a:avLst>
              <a:gd name="adj" fmla="val 3846"/>
            </a:avLst>
          </a:prstGeom>
          <a:solidFill>
            <a:schemeClr val="accent6"/>
          </a:solidFill>
          <a:ln/>
        </p:spPr>
        <p:txBody>
          <a:bodyPr wrap="square" lIns="152400" tIns="152400" rIns="152400" bIns="15240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(venv) &gt; python manage.py runserver</a:t>
            </a:r>
            <a:endParaRPr lang="en-US" sz="1400" dirty="0"/>
          </a:p>
          <a:p>
            <a:pPr indent="0" marL="0">
              <a:buNone/>
            </a:pP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Starting development server at</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http://127.0.0.1:8000/</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Quit the server with CTRL-BREAK.</a:t>
            </a:r>
            <a:endParaRPr lang="en-US" sz="1400" dirty="0"/>
          </a:p>
        </p:txBody>
      </p:sp>
      <p:sp>
        <p:nvSpPr>
          <p:cNvPr id="6" name="Text 4"/>
          <p:cNvSpPr txBox="1"/>
          <p:nvPr/>
        </p:nvSpPr>
        <p:spPr>
          <a:xfrm>
            <a:off x="7315200" y="4617720"/>
            <a:ext cx="4297680" cy="365760"/>
          </a:xfrm>
          <a:prstGeom prst="rect">
            <a:avLst/>
          </a:prstGeom>
          <a:noFill/>
          <a:ln/>
        </p:spPr>
        <p:txBody>
          <a:bodyPr wrap="square" lIns="0" tIns="0" rIns="0" bIns="0" rtlCol="0" anchor="t"/>
          <a:lstStyle/>
          <a:p>
            <a:pPr indent="0" marL="0">
              <a:buNone/>
            </a:pPr>
            <a:r>
              <a:rPr lang="en-US" sz="1400" dirty="0">
                <a:solidFill>
                  <a:schemeClr val="bg2"/>
                </a:solidFill>
              </a:rPr>
              <a:t>Your first Django server in one command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rPr>
              <a:t>What we will learn</a:t>
            </a:r>
            <a:endParaRPr lang="en-US" sz="3600" dirty="0"/>
          </a:p>
        </p:txBody>
      </p:sp>
      <p:sp>
        <p:nvSpPr>
          <p:cNvPr id="4" name="agenda-card"/>
          <p:cNvSpPr/>
          <p:nvPr/>
        </p:nvSpPr>
        <p:spPr>
          <a:xfrm>
            <a:off x="548640" y="1463040"/>
            <a:ext cx="3520440" cy="2103120"/>
          </a:xfrm>
          <a:prstGeom prst="roundRect">
            <a:avLst>
              <a:gd name="adj" fmla="val 5217"/>
            </a:avLst>
          </a:prstGeom>
          <a:solidFill>
            <a:schemeClr val="bg2"/>
          </a:solidFill>
          <a:ln/>
        </p:spPr>
      </p:sp>
      <p:sp>
        <p:nvSpPr>
          <p:cNvPr id="5" name="step-number"/>
          <p:cNvSpPr txBox="1"/>
          <p:nvPr/>
        </p:nvSpPr>
        <p:spPr>
          <a:xfrm>
            <a:off x="822960" y="1737360"/>
            <a:ext cx="548640" cy="54864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3"/>
          <p:cNvSpPr txBox="1"/>
          <p:nvPr/>
        </p:nvSpPr>
        <p:spPr>
          <a:xfrm>
            <a:off x="822960" y="2423160"/>
            <a:ext cx="2971800" cy="411480"/>
          </a:xfrm>
          <a:prstGeom prst="rect">
            <a:avLst/>
          </a:prstGeom>
          <a:noFill/>
          <a:ln/>
        </p:spPr>
        <p:txBody>
          <a:bodyPr wrap="square" lIns="0" tIns="0" rIns="0" bIns="0" rtlCol="0" anchor="t"/>
          <a:lstStyle/>
          <a:p>
            <a:pPr indent="0" marL="0">
              <a:buNone/>
            </a:pPr>
            <a:r>
              <a:rPr lang="en-US" sz="2200" b="1" dirty="0">
                <a:solidFill>
                  <a:schemeClr val="tx2"/>
                </a:solidFill>
              </a:rPr>
              <a:t>Why Django</a:t>
            </a:r>
            <a:endParaRPr lang="en-US" sz="2200" dirty="0"/>
          </a:p>
        </p:txBody>
      </p:sp>
      <p:sp>
        <p:nvSpPr>
          <p:cNvPr id="7" name="Text 4"/>
          <p:cNvSpPr txBox="1"/>
          <p:nvPr/>
        </p:nvSpPr>
        <p:spPr>
          <a:xfrm>
            <a:off x="822960" y="2834640"/>
            <a:ext cx="2971800" cy="594360"/>
          </a:xfrm>
          <a:prstGeom prst="rect">
            <a:avLst/>
          </a:prstGeom>
          <a:noFill/>
          <a:ln/>
        </p:spPr>
        <p:txBody>
          <a:bodyPr wrap="square" lIns="0" tIns="0" rIns="0" bIns="0" rtlCol="0" anchor="t"/>
          <a:lstStyle/>
          <a:p>
            <a:pPr indent="0" marL="0">
              <a:buNone/>
            </a:pPr>
            <a:r>
              <a:rPr lang="en-US" sz="1500" dirty="0">
                <a:solidFill>
                  <a:schemeClr val="tx1"/>
                </a:solidFill>
              </a:rPr>
              <a:t>key terms, MVT and DRF, compared with MERN</a:t>
            </a:r>
            <a:endParaRPr lang="en-US" sz="1500" dirty="0"/>
          </a:p>
        </p:txBody>
      </p:sp>
      <p:sp>
        <p:nvSpPr>
          <p:cNvPr id="8" name="agenda-card"/>
          <p:cNvSpPr/>
          <p:nvPr/>
        </p:nvSpPr>
        <p:spPr>
          <a:xfrm>
            <a:off x="4334256" y="1463040"/>
            <a:ext cx="3520440" cy="2103120"/>
          </a:xfrm>
          <a:prstGeom prst="roundRect">
            <a:avLst>
              <a:gd name="adj" fmla="val 5217"/>
            </a:avLst>
          </a:prstGeom>
          <a:solidFill>
            <a:schemeClr val="bg2"/>
          </a:solidFill>
          <a:ln/>
        </p:spPr>
      </p:sp>
      <p:sp>
        <p:nvSpPr>
          <p:cNvPr id="9" name="step-number"/>
          <p:cNvSpPr txBox="1"/>
          <p:nvPr/>
        </p:nvSpPr>
        <p:spPr>
          <a:xfrm>
            <a:off x="4608576" y="1737360"/>
            <a:ext cx="548640" cy="54864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7"/>
          <p:cNvSpPr txBox="1"/>
          <p:nvPr/>
        </p:nvSpPr>
        <p:spPr>
          <a:xfrm>
            <a:off x="4608576" y="2423160"/>
            <a:ext cx="2971800" cy="411480"/>
          </a:xfrm>
          <a:prstGeom prst="rect">
            <a:avLst/>
          </a:prstGeom>
          <a:noFill/>
          <a:ln/>
        </p:spPr>
        <p:txBody>
          <a:bodyPr wrap="square" lIns="0" tIns="0" rIns="0" bIns="0" rtlCol="0" anchor="t"/>
          <a:lstStyle/>
          <a:p>
            <a:pPr indent="0" marL="0">
              <a:buNone/>
            </a:pPr>
            <a:r>
              <a:rPr lang="en-US" sz="2200" b="1" dirty="0">
                <a:solidFill>
                  <a:schemeClr val="tx2"/>
                </a:solidFill>
              </a:rPr>
              <a:t>Project setup</a:t>
            </a:r>
            <a:endParaRPr lang="en-US" sz="2200" dirty="0"/>
          </a:p>
        </p:txBody>
      </p:sp>
      <p:sp>
        <p:nvSpPr>
          <p:cNvPr id="11" name="Text 8"/>
          <p:cNvSpPr txBox="1"/>
          <p:nvPr/>
        </p:nvSpPr>
        <p:spPr>
          <a:xfrm>
            <a:off x="4608576" y="2834640"/>
            <a:ext cx="2971800" cy="594360"/>
          </a:xfrm>
          <a:prstGeom prst="rect">
            <a:avLst/>
          </a:prstGeom>
          <a:noFill/>
          <a:ln/>
        </p:spPr>
        <p:txBody>
          <a:bodyPr wrap="square" lIns="0" tIns="0" rIns="0" bIns="0" rtlCol="0" anchor="t"/>
          <a:lstStyle/>
          <a:p>
            <a:pPr indent="0" marL="0">
              <a:buNone/>
            </a:pPr>
            <a:r>
              <a:rPr lang="en-US" sz="1500" dirty="0">
                <a:solidFill>
                  <a:schemeClr val="tx1"/>
                </a:solidFill>
              </a:rPr>
              <a:t>virtual environment, install, project vs app, settings.py</a:t>
            </a:r>
            <a:endParaRPr lang="en-US" sz="1500" dirty="0"/>
          </a:p>
        </p:txBody>
      </p:sp>
      <p:sp>
        <p:nvSpPr>
          <p:cNvPr id="12" name="agenda-card"/>
          <p:cNvSpPr/>
          <p:nvPr/>
        </p:nvSpPr>
        <p:spPr>
          <a:xfrm>
            <a:off x="8119872" y="1463040"/>
            <a:ext cx="3520440" cy="2103120"/>
          </a:xfrm>
          <a:prstGeom prst="roundRect">
            <a:avLst>
              <a:gd name="adj" fmla="val 5217"/>
            </a:avLst>
          </a:prstGeom>
          <a:solidFill>
            <a:schemeClr val="bg2"/>
          </a:solidFill>
          <a:ln/>
        </p:spPr>
      </p:sp>
      <p:sp>
        <p:nvSpPr>
          <p:cNvPr id="13" name="step-number"/>
          <p:cNvSpPr txBox="1"/>
          <p:nvPr/>
        </p:nvSpPr>
        <p:spPr>
          <a:xfrm>
            <a:off x="8394192" y="1737360"/>
            <a:ext cx="548640" cy="54864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11"/>
          <p:cNvSpPr txBox="1"/>
          <p:nvPr/>
        </p:nvSpPr>
        <p:spPr>
          <a:xfrm>
            <a:off x="8394192" y="2423160"/>
            <a:ext cx="2971800" cy="411480"/>
          </a:xfrm>
          <a:prstGeom prst="rect">
            <a:avLst/>
          </a:prstGeom>
          <a:noFill/>
          <a:ln/>
        </p:spPr>
        <p:txBody>
          <a:bodyPr wrap="square" lIns="0" tIns="0" rIns="0" bIns="0" rtlCol="0" anchor="t"/>
          <a:lstStyle/>
          <a:p>
            <a:pPr indent="0" marL="0">
              <a:buNone/>
            </a:pPr>
            <a:r>
              <a:rPr lang="en-US" sz="2200" b="1" dirty="0">
                <a:solidFill>
                  <a:schemeClr val="tx2"/>
                </a:solidFill>
              </a:rPr>
              <a:t>Models and ORM</a:t>
            </a:r>
            <a:endParaRPr lang="en-US" sz="2200" dirty="0"/>
          </a:p>
        </p:txBody>
      </p:sp>
      <p:sp>
        <p:nvSpPr>
          <p:cNvPr id="15" name="Text 12"/>
          <p:cNvSpPr txBox="1"/>
          <p:nvPr/>
        </p:nvSpPr>
        <p:spPr>
          <a:xfrm>
            <a:off x="8394192" y="2834640"/>
            <a:ext cx="2971800" cy="594360"/>
          </a:xfrm>
          <a:prstGeom prst="rect">
            <a:avLst/>
          </a:prstGeom>
          <a:noFill/>
          <a:ln/>
        </p:spPr>
        <p:txBody>
          <a:bodyPr wrap="square" lIns="0" tIns="0" rIns="0" bIns="0" rtlCol="0" anchor="t"/>
          <a:lstStyle/>
          <a:p>
            <a:pPr indent="0" marL="0">
              <a:buNone/>
            </a:pPr>
            <a:r>
              <a:rPr lang="en-US" sz="1500" dirty="0">
                <a:solidFill>
                  <a:schemeClr val="tx1"/>
                </a:solidFill>
              </a:rPr>
              <a:t>fields, database, migrations</a:t>
            </a:r>
            <a:endParaRPr lang="en-US" sz="1500" dirty="0"/>
          </a:p>
        </p:txBody>
      </p:sp>
      <p:sp>
        <p:nvSpPr>
          <p:cNvPr id="16" name="agenda-card"/>
          <p:cNvSpPr/>
          <p:nvPr/>
        </p:nvSpPr>
        <p:spPr>
          <a:xfrm>
            <a:off x="548640" y="3840480"/>
            <a:ext cx="3520440" cy="2103120"/>
          </a:xfrm>
          <a:prstGeom prst="roundRect">
            <a:avLst>
              <a:gd name="adj" fmla="val 5217"/>
            </a:avLst>
          </a:prstGeom>
          <a:solidFill>
            <a:schemeClr val="bg2"/>
          </a:solidFill>
          <a:ln/>
        </p:spPr>
      </p:sp>
      <p:sp>
        <p:nvSpPr>
          <p:cNvPr id="17" name="step-number"/>
          <p:cNvSpPr txBox="1"/>
          <p:nvPr/>
        </p:nvSpPr>
        <p:spPr>
          <a:xfrm>
            <a:off x="822960" y="4114800"/>
            <a:ext cx="548640" cy="54864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8" name="Text 15"/>
          <p:cNvSpPr txBox="1"/>
          <p:nvPr/>
        </p:nvSpPr>
        <p:spPr>
          <a:xfrm>
            <a:off x="822960" y="4800600"/>
            <a:ext cx="2971800" cy="411480"/>
          </a:xfrm>
          <a:prstGeom prst="rect">
            <a:avLst/>
          </a:prstGeom>
          <a:noFill/>
          <a:ln/>
        </p:spPr>
        <p:txBody>
          <a:bodyPr wrap="square" lIns="0" tIns="0" rIns="0" bIns="0" rtlCol="0" anchor="t"/>
          <a:lstStyle/>
          <a:p>
            <a:pPr indent="0" marL="0">
              <a:buNone/>
            </a:pPr>
            <a:r>
              <a:rPr lang="en-US" sz="2200" b="1" dirty="0">
                <a:solidFill>
                  <a:schemeClr val="tx2"/>
                </a:solidFill>
              </a:rPr>
              <a:t>Views, URLs, serializers</a:t>
            </a:r>
            <a:endParaRPr lang="en-US" sz="2200" dirty="0"/>
          </a:p>
        </p:txBody>
      </p:sp>
      <p:sp>
        <p:nvSpPr>
          <p:cNvPr id="19" name="Text 16"/>
          <p:cNvSpPr txBox="1"/>
          <p:nvPr/>
        </p:nvSpPr>
        <p:spPr>
          <a:xfrm>
            <a:off x="822960" y="5212080"/>
            <a:ext cx="2971800" cy="594360"/>
          </a:xfrm>
          <a:prstGeom prst="rect">
            <a:avLst/>
          </a:prstGeom>
          <a:noFill/>
          <a:ln/>
        </p:spPr>
        <p:txBody>
          <a:bodyPr wrap="square" lIns="0" tIns="0" rIns="0" bIns="0" rtlCol="0" anchor="t"/>
          <a:lstStyle/>
          <a:p>
            <a:pPr indent="0" marL="0">
              <a:buNone/>
            </a:pPr>
            <a:r>
              <a:rPr lang="en-US" sz="1500" dirty="0">
                <a:solidFill>
                  <a:schemeClr val="tx1"/>
                </a:solidFill>
              </a:rPr>
              <a:t>plus a working Item CRUD API</a:t>
            </a:r>
            <a:endParaRPr lang="en-US" sz="1500" dirty="0"/>
          </a:p>
        </p:txBody>
      </p:sp>
      <p:sp>
        <p:nvSpPr>
          <p:cNvPr id="20" name="agenda-card"/>
          <p:cNvSpPr/>
          <p:nvPr/>
        </p:nvSpPr>
        <p:spPr>
          <a:xfrm>
            <a:off x="4334256" y="3840480"/>
            <a:ext cx="3520440" cy="2103120"/>
          </a:xfrm>
          <a:prstGeom prst="roundRect">
            <a:avLst>
              <a:gd name="adj" fmla="val 5217"/>
            </a:avLst>
          </a:prstGeom>
          <a:solidFill>
            <a:schemeClr val="bg2"/>
          </a:solidFill>
          <a:ln/>
        </p:spPr>
      </p:sp>
      <p:sp>
        <p:nvSpPr>
          <p:cNvPr id="21" name="step-number"/>
          <p:cNvSpPr txBox="1"/>
          <p:nvPr/>
        </p:nvSpPr>
        <p:spPr>
          <a:xfrm>
            <a:off x="4608576" y="4114800"/>
            <a:ext cx="548640" cy="54864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2" name="Text 19"/>
          <p:cNvSpPr txBox="1"/>
          <p:nvPr/>
        </p:nvSpPr>
        <p:spPr>
          <a:xfrm>
            <a:off x="4608576" y="4800600"/>
            <a:ext cx="2971800" cy="411480"/>
          </a:xfrm>
          <a:prstGeom prst="rect">
            <a:avLst/>
          </a:prstGeom>
          <a:noFill/>
          <a:ln/>
        </p:spPr>
        <p:txBody>
          <a:bodyPr wrap="square" lIns="0" tIns="0" rIns="0" bIns="0" rtlCol="0" anchor="t"/>
          <a:lstStyle/>
          <a:p>
            <a:pPr indent="0" marL="0">
              <a:buNone/>
            </a:pPr>
            <a:r>
              <a:rPr lang="en-US" sz="2200" b="1" dirty="0">
                <a:solidFill>
                  <a:schemeClr val="tx2"/>
                </a:solidFill>
              </a:rPr>
              <a:t>Admin panel</a:t>
            </a:r>
            <a:endParaRPr lang="en-US" sz="2200" dirty="0"/>
          </a:p>
        </p:txBody>
      </p:sp>
      <p:sp>
        <p:nvSpPr>
          <p:cNvPr id="23" name="Text 20"/>
          <p:cNvSpPr txBox="1"/>
          <p:nvPr/>
        </p:nvSpPr>
        <p:spPr>
          <a:xfrm>
            <a:off x="4608576" y="5212080"/>
            <a:ext cx="2971800" cy="594360"/>
          </a:xfrm>
          <a:prstGeom prst="rect">
            <a:avLst/>
          </a:prstGeom>
          <a:noFill/>
          <a:ln/>
        </p:spPr>
        <p:txBody>
          <a:bodyPr wrap="square" lIns="0" tIns="0" rIns="0" bIns="0" rtlCol="0" anchor="t"/>
          <a:lstStyle/>
          <a:p>
            <a:pPr indent="0" marL="0">
              <a:buNone/>
            </a:pPr>
            <a:r>
              <a:rPr lang="en-US" sz="1500" dirty="0">
                <a:solidFill>
                  <a:schemeClr val="tx1"/>
                </a:solidFill>
              </a:rPr>
              <a:t>superuser and ModelAdmin customisation</a:t>
            </a:r>
            <a:endParaRPr lang="en-US" sz="1500" dirty="0"/>
          </a:p>
        </p:txBody>
      </p:sp>
      <p:sp>
        <p:nvSpPr>
          <p:cNvPr id="24" name="agenda-card"/>
          <p:cNvSpPr/>
          <p:nvPr/>
        </p:nvSpPr>
        <p:spPr>
          <a:xfrm>
            <a:off x="8119872" y="3840480"/>
            <a:ext cx="3520440" cy="2103120"/>
          </a:xfrm>
          <a:prstGeom prst="roundRect">
            <a:avLst>
              <a:gd name="adj" fmla="val 5217"/>
            </a:avLst>
          </a:prstGeom>
          <a:solidFill>
            <a:schemeClr val="bg2"/>
          </a:solidFill>
          <a:ln/>
        </p:spPr>
      </p:sp>
      <p:sp>
        <p:nvSpPr>
          <p:cNvPr id="25" name="step-number"/>
          <p:cNvSpPr txBox="1"/>
          <p:nvPr/>
        </p:nvSpPr>
        <p:spPr>
          <a:xfrm>
            <a:off x="8394192" y="4114800"/>
            <a:ext cx="548640" cy="54864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6" name="Text 23"/>
          <p:cNvSpPr txBox="1"/>
          <p:nvPr/>
        </p:nvSpPr>
        <p:spPr>
          <a:xfrm>
            <a:off x="8394192" y="4800600"/>
            <a:ext cx="2971800" cy="411480"/>
          </a:xfrm>
          <a:prstGeom prst="rect">
            <a:avLst/>
          </a:prstGeom>
          <a:noFill/>
          <a:ln/>
        </p:spPr>
        <p:txBody>
          <a:bodyPr wrap="square" lIns="0" tIns="0" rIns="0" bIns="0" rtlCol="0" anchor="t"/>
          <a:lstStyle/>
          <a:p>
            <a:pPr indent="0" marL="0">
              <a:buNone/>
            </a:pPr>
            <a:r>
              <a:rPr lang="en-US" sz="2200" b="1" dirty="0">
                <a:solidFill>
                  <a:schemeClr val="tx2"/>
                </a:solidFill>
              </a:rPr>
              <a:t>Security &amp; use cases</a:t>
            </a:r>
            <a:endParaRPr lang="en-US" sz="2200" dirty="0"/>
          </a:p>
        </p:txBody>
      </p:sp>
      <p:sp>
        <p:nvSpPr>
          <p:cNvPr id="27" name="Text 24"/>
          <p:cNvSpPr txBox="1"/>
          <p:nvPr/>
        </p:nvSpPr>
        <p:spPr>
          <a:xfrm>
            <a:off x="8394192" y="5212080"/>
            <a:ext cx="2971800" cy="594360"/>
          </a:xfrm>
          <a:prstGeom prst="rect">
            <a:avLst/>
          </a:prstGeom>
          <a:noFill/>
          <a:ln/>
        </p:spPr>
        <p:txBody>
          <a:bodyPr wrap="square" lIns="0" tIns="0" rIns="0" bIns="0" rtlCol="0" anchor="t"/>
          <a:lstStyle/>
          <a:p>
            <a:pPr indent="0" marL="0">
              <a:buNone/>
            </a:pPr>
            <a:r>
              <a:rPr lang="en-US" sz="1500" dirty="0">
                <a:solidFill>
                  <a:schemeClr val="tx1"/>
                </a:solidFill>
              </a:rPr>
              <a:t>CSRF, XSS, SQL injection, companies using Django</a:t>
            </a:r>
            <a:endParaRPr lang="en-US" sz="15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rPr>
              <a:t>Why Django?</a:t>
            </a:r>
            <a:endParaRPr lang="en-US" sz="3600" dirty="0"/>
          </a:p>
        </p:txBody>
      </p:sp>
      <p:sp>
        <p:nvSpPr>
          <p:cNvPr id="4" name="icon-circle"/>
          <p:cNvSpPr/>
          <p:nvPr/>
        </p:nvSpPr>
        <p:spPr>
          <a:xfrm>
            <a:off x="548640" y="1508760"/>
            <a:ext cx="731520" cy="731520"/>
          </a:xfrm>
          <a:prstGeom prst="ellipse">
            <a:avLst/>
          </a:prstGeom>
          <a:solidFill>
            <a:schemeClr val="tx2"/>
          </a:solidFill>
          <a:ln/>
        </p:spPr>
      </p:sp>
      <p:pic>
        <p:nvPicPr>
          <p:cNvPr id="5" name="Image 0" descr="preencoded.png">    </p:cNvPr>
          <p:cNvPicPr>
            <a:picLocks noChangeAspect="1"/>
          </p:cNvPicPr>
          <p:nvPr/>
        </p:nvPicPr>
        <p:blipFill>
          <a:blip r:embed="rId1"/>
          <a:stretch>
            <a:fillRect/>
          </a:stretch>
        </p:blipFill>
        <p:spPr>
          <a:xfrm>
            <a:off x="731520" y="1691640"/>
            <a:ext cx="365760" cy="365760"/>
          </a:xfrm>
          <a:prstGeom prst="rect">
            <a:avLst/>
          </a:prstGeom>
        </p:spPr>
      </p:pic>
      <p:sp>
        <p:nvSpPr>
          <p:cNvPr id="6" name="Text 2"/>
          <p:cNvSpPr txBox="1"/>
          <p:nvPr/>
        </p:nvSpPr>
        <p:spPr>
          <a:xfrm>
            <a:off x="1554480" y="1463040"/>
            <a:ext cx="5760720" cy="365760"/>
          </a:xfrm>
          <a:prstGeom prst="rect">
            <a:avLst/>
          </a:prstGeom>
          <a:noFill/>
          <a:ln/>
        </p:spPr>
        <p:txBody>
          <a:bodyPr wrap="square" lIns="0" tIns="0" rIns="0" bIns="0" rtlCol="0" anchor="t"/>
          <a:lstStyle/>
          <a:p>
            <a:pPr indent="0" marL="0">
              <a:buNone/>
            </a:pPr>
            <a:r>
              <a:rPr lang="en-US" sz="2200" b="1" dirty="0">
                <a:solidFill>
                  <a:schemeClr val="tx2"/>
                </a:solidFill>
              </a:rPr>
              <a:t>Batteries included</a:t>
            </a:r>
            <a:endParaRPr lang="en-US" sz="2200" dirty="0"/>
          </a:p>
        </p:txBody>
      </p:sp>
      <p:sp>
        <p:nvSpPr>
          <p:cNvPr id="7" name="Text 3"/>
          <p:cNvSpPr txBox="1"/>
          <p:nvPr/>
        </p:nvSpPr>
        <p:spPr>
          <a:xfrm>
            <a:off x="1554480" y="1874520"/>
            <a:ext cx="5760720" cy="640080"/>
          </a:xfrm>
          <a:prstGeom prst="rect">
            <a:avLst/>
          </a:prstGeom>
          <a:noFill/>
          <a:ln/>
        </p:spPr>
        <p:txBody>
          <a:bodyPr wrap="square" lIns="0" tIns="0" rIns="0" bIns="0" rtlCol="0" anchor="t"/>
          <a:lstStyle/>
          <a:p>
            <a:pPr indent="0" marL="0">
              <a:buNone/>
            </a:pPr>
            <a:r>
              <a:rPr lang="en-US" sz="1600" dirty="0">
                <a:solidFill>
                  <a:schemeClr val="tx1"/>
                </a:solidFill>
              </a:rPr>
              <a:t>Definition: the framework ships with the common features (admin, login, ORM, forms, security) already built in.</a:t>
            </a:r>
            <a:endParaRPr lang="en-US" sz="1600" dirty="0"/>
          </a:p>
        </p:txBody>
      </p:sp>
      <p:sp>
        <p:nvSpPr>
          <p:cNvPr id="8" name="icon-circle"/>
          <p:cNvSpPr/>
          <p:nvPr/>
        </p:nvSpPr>
        <p:spPr>
          <a:xfrm>
            <a:off x="548640" y="2697480"/>
            <a:ext cx="731520" cy="731520"/>
          </a:xfrm>
          <a:prstGeom prst="ellipse">
            <a:avLst/>
          </a:prstGeom>
          <a:solidFill>
            <a:schemeClr val="tx2"/>
          </a:solidFill>
          <a:ln/>
        </p:spPr>
      </p:sp>
      <p:pic>
        <p:nvPicPr>
          <p:cNvPr id="9" name="Image 1" descr="preencoded.png">    </p:cNvPr>
          <p:cNvPicPr>
            <a:picLocks noChangeAspect="1"/>
          </p:cNvPicPr>
          <p:nvPr/>
        </p:nvPicPr>
        <p:blipFill>
          <a:blip r:embed="rId2"/>
          <a:stretch>
            <a:fillRect/>
          </a:stretch>
        </p:blipFill>
        <p:spPr>
          <a:xfrm>
            <a:off x="731520" y="2880360"/>
            <a:ext cx="365760" cy="365760"/>
          </a:xfrm>
          <a:prstGeom prst="rect">
            <a:avLst/>
          </a:prstGeom>
        </p:spPr>
      </p:pic>
      <p:sp>
        <p:nvSpPr>
          <p:cNvPr id="10" name="Text 5"/>
          <p:cNvSpPr txBox="1"/>
          <p:nvPr/>
        </p:nvSpPr>
        <p:spPr>
          <a:xfrm>
            <a:off x="1554480" y="2651760"/>
            <a:ext cx="5760720" cy="365760"/>
          </a:xfrm>
          <a:prstGeom prst="rect">
            <a:avLst/>
          </a:prstGeom>
          <a:noFill/>
          <a:ln/>
        </p:spPr>
        <p:txBody>
          <a:bodyPr wrap="square" lIns="0" tIns="0" rIns="0" bIns="0" rtlCol="0" anchor="t"/>
          <a:lstStyle/>
          <a:p>
            <a:pPr indent="0" marL="0">
              <a:buNone/>
            </a:pPr>
            <a:r>
              <a:rPr lang="en-US" sz="2200" b="1" dirty="0">
                <a:solidFill>
                  <a:schemeClr val="tx2"/>
                </a:solidFill>
              </a:rPr>
              <a:t>Fast to build</a:t>
            </a:r>
            <a:endParaRPr lang="en-US" sz="2200" dirty="0"/>
          </a:p>
        </p:txBody>
      </p:sp>
      <p:sp>
        <p:nvSpPr>
          <p:cNvPr id="11" name="Text 6"/>
          <p:cNvSpPr txBox="1"/>
          <p:nvPr/>
        </p:nvSpPr>
        <p:spPr>
          <a:xfrm>
            <a:off x="1554480" y="3063240"/>
            <a:ext cx="5760720" cy="640080"/>
          </a:xfrm>
          <a:prstGeom prst="rect">
            <a:avLst/>
          </a:prstGeom>
          <a:noFill/>
          <a:ln/>
        </p:spPr>
        <p:txBody>
          <a:bodyPr wrap="square" lIns="0" tIns="0" rIns="0" bIns="0" rtlCol="0" anchor="t"/>
          <a:lstStyle/>
          <a:p>
            <a:pPr indent="0" marL="0">
              <a:buNone/>
            </a:pPr>
            <a:r>
              <a:rPr lang="en-US" sz="1600" dirty="0">
                <a:solidFill>
                  <a:schemeClr val="tx1"/>
                </a:solidFill>
              </a:rPr>
              <a:t>A working site in minutes, with much less code than assembling libraries.</a:t>
            </a:r>
            <a:endParaRPr lang="en-US" sz="1600" dirty="0"/>
          </a:p>
        </p:txBody>
      </p:sp>
      <p:sp>
        <p:nvSpPr>
          <p:cNvPr id="12" name="icon-circle"/>
          <p:cNvSpPr/>
          <p:nvPr/>
        </p:nvSpPr>
        <p:spPr>
          <a:xfrm>
            <a:off x="548640" y="3886200"/>
            <a:ext cx="731520" cy="731520"/>
          </a:xfrm>
          <a:prstGeom prst="ellipse">
            <a:avLst/>
          </a:prstGeom>
          <a:solidFill>
            <a:schemeClr val="tx2"/>
          </a:solidFill>
          <a:ln/>
        </p:spPr>
      </p:sp>
      <p:pic>
        <p:nvPicPr>
          <p:cNvPr id="13" name="Image 2" descr="preencoded.png">    </p:cNvPr>
          <p:cNvPicPr>
            <a:picLocks noChangeAspect="1"/>
          </p:cNvPicPr>
          <p:nvPr/>
        </p:nvPicPr>
        <p:blipFill>
          <a:blip r:embed="rId3"/>
          <a:stretch>
            <a:fillRect/>
          </a:stretch>
        </p:blipFill>
        <p:spPr>
          <a:xfrm>
            <a:off x="731520" y="4069080"/>
            <a:ext cx="365760" cy="365760"/>
          </a:xfrm>
          <a:prstGeom prst="rect">
            <a:avLst/>
          </a:prstGeom>
        </p:spPr>
      </p:pic>
      <p:sp>
        <p:nvSpPr>
          <p:cNvPr id="14" name="Text 8"/>
          <p:cNvSpPr txBox="1"/>
          <p:nvPr/>
        </p:nvSpPr>
        <p:spPr>
          <a:xfrm>
            <a:off x="1554480" y="3840480"/>
            <a:ext cx="5760720" cy="365760"/>
          </a:xfrm>
          <a:prstGeom prst="rect">
            <a:avLst/>
          </a:prstGeom>
          <a:noFill/>
          <a:ln/>
        </p:spPr>
        <p:txBody>
          <a:bodyPr wrap="square" lIns="0" tIns="0" rIns="0" bIns="0" rtlCol="0" anchor="t"/>
          <a:lstStyle/>
          <a:p>
            <a:pPr indent="0" marL="0">
              <a:buNone/>
            </a:pPr>
            <a:r>
              <a:rPr lang="en-US" sz="2200" b="1" dirty="0">
                <a:solidFill>
                  <a:schemeClr val="tx2"/>
                </a:solidFill>
              </a:rPr>
              <a:t>Secure by default</a:t>
            </a:r>
            <a:endParaRPr lang="en-US" sz="2200" dirty="0"/>
          </a:p>
        </p:txBody>
      </p:sp>
      <p:sp>
        <p:nvSpPr>
          <p:cNvPr id="15" name="Text 9"/>
          <p:cNvSpPr txBox="1"/>
          <p:nvPr/>
        </p:nvSpPr>
        <p:spPr>
          <a:xfrm>
            <a:off x="1554480" y="4251960"/>
            <a:ext cx="5760720" cy="640080"/>
          </a:xfrm>
          <a:prstGeom prst="rect">
            <a:avLst/>
          </a:prstGeom>
          <a:noFill/>
          <a:ln/>
        </p:spPr>
        <p:txBody>
          <a:bodyPr wrap="square" lIns="0" tIns="0" rIns="0" bIns="0" rtlCol="0" anchor="t"/>
          <a:lstStyle/>
          <a:p>
            <a:pPr indent="0" marL="0">
              <a:buNone/>
            </a:pPr>
            <a:r>
              <a:rPr lang="en-US" sz="1600" dirty="0">
                <a:solidFill>
                  <a:schemeClr val="tx1"/>
                </a:solidFill>
              </a:rPr>
              <a:t>Protection against SQL injection, CSRF and XSS out of the box.</a:t>
            </a:r>
            <a:endParaRPr lang="en-US" sz="1600" dirty="0"/>
          </a:p>
        </p:txBody>
      </p:sp>
      <p:sp>
        <p:nvSpPr>
          <p:cNvPr id="16" name="icon-circle"/>
          <p:cNvSpPr/>
          <p:nvPr/>
        </p:nvSpPr>
        <p:spPr>
          <a:xfrm>
            <a:off x="548640" y="5074920"/>
            <a:ext cx="731520" cy="731520"/>
          </a:xfrm>
          <a:prstGeom prst="ellipse">
            <a:avLst/>
          </a:prstGeom>
          <a:solidFill>
            <a:schemeClr val="tx2"/>
          </a:solidFill>
          <a:ln/>
        </p:spPr>
      </p:sp>
      <p:pic>
        <p:nvPicPr>
          <p:cNvPr id="17" name="Image 3" descr="preencoded.png">    </p:cNvPr>
          <p:cNvPicPr>
            <a:picLocks noChangeAspect="1"/>
          </p:cNvPicPr>
          <p:nvPr/>
        </p:nvPicPr>
        <p:blipFill>
          <a:blip r:embed="rId4"/>
          <a:stretch>
            <a:fillRect/>
          </a:stretch>
        </p:blipFill>
        <p:spPr>
          <a:xfrm>
            <a:off x="731520" y="5257800"/>
            <a:ext cx="365760" cy="365760"/>
          </a:xfrm>
          <a:prstGeom prst="rect">
            <a:avLst/>
          </a:prstGeom>
        </p:spPr>
      </p:pic>
      <p:sp>
        <p:nvSpPr>
          <p:cNvPr id="18" name="Text 11"/>
          <p:cNvSpPr txBox="1"/>
          <p:nvPr/>
        </p:nvSpPr>
        <p:spPr>
          <a:xfrm>
            <a:off x="1554480" y="5029200"/>
            <a:ext cx="5760720" cy="365760"/>
          </a:xfrm>
          <a:prstGeom prst="rect">
            <a:avLst/>
          </a:prstGeom>
          <a:noFill/>
          <a:ln/>
        </p:spPr>
        <p:txBody>
          <a:bodyPr wrap="square" lIns="0" tIns="0" rIns="0" bIns="0" rtlCol="0" anchor="t"/>
          <a:lstStyle/>
          <a:p>
            <a:pPr indent="0" marL="0">
              <a:buNone/>
            </a:pPr>
            <a:r>
              <a:rPr lang="en-US" sz="2200" b="1" dirty="0">
                <a:solidFill>
                  <a:schemeClr val="tx2"/>
                </a:solidFill>
              </a:rPr>
              <a:t>Scales to real traffic</a:t>
            </a:r>
            <a:endParaRPr lang="en-US" sz="2200" dirty="0"/>
          </a:p>
        </p:txBody>
      </p:sp>
      <p:sp>
        <p:nvSpPr>
          <p:cNvPr id="19" name="Text 12"/>
          <p:cNvSpPr txBox="1"/>
          <p:nvPr/>
        </p:nvSpPr>
        <p:spPr>
          <a:xfrm>
            <a:off x="1554480" y="5440680"/>
            <a:ext cx="5760720" cy="640080"/>
          </a:xfrm>
          <a:prstGeom prst="rect">
            <a:avLst/>
          </a:prstGeom>
          <a:noFill/>
          <a:ln/>
        </p:spPr>
        <p:txBody>
          <a:bodyPr wrap="square" lIns="0" tIns="0" rIns="0" bIns="0" rtlCol="0" anchor="t"/>
          <a:lstStyle/>
          <a:p>
            <a:pPr indent="0" marL="0">
              <a:buNone/>
            </a:pPr>
            <a:r>
              <a:rPr lang="en-US" sz="1600" dirty="0">
                <a:solidFill>
                  <a:schemeClr val="tx1"/>
                </a:solidFill>
              </a:rPr>
              <a:t>Used in production by large sites such as Instagram and Pinterest.</a:t>
            </a:r>
            <a:endParaRPr lang="en-US" sz="1600" dirty="0"/>
          </a:p>
        </p:txBody>
      </p:sp>
      <p:sp>
        <p:nvSpPr>
          <p:cNvPr id="20" name="stat-panel"/>
          <p:cNvSpPr/>
          <p:nvPr/>
        </p:nvSpPr>
        <p:spPr>
          <a:xfrm>
            <a:off x="7863840" y="1417320"/>
            <a:ext cx="3776472" cy="4572000"/>
          </a:xfrm>
          <a:prstGeom prst="roundRect">
            <a:avLst>
              <a:gd name="adj" fmla="val 2906"/>
            </a:avLst>
          </a:prstGeom>
          <a:solidFill>
            <a:schemeClr val="tx2"/>
          </a:solidFill>
          <a:ln/>
        </p:spPr>
      </p:sp>
      <p:sp>
        <p:nvSpPr>
          <p:cNvPr id="21" name="Text 14"/>
          <p:cNvSpPr txBox="1"/>
          <p:nvPr/>
        </p:nvSpPr>
        <p:spPr>
          <a:xfrm>
            <a:off x="8183880" y="1691640"/>
            <a:ext cx="3200400" cy="822960"/>
          </a:xfrm>
          <a:prstGeom prst="rect">
            <a:avLst/>
          </a:prstGeom>
          <a:noFill/>
          <a:ln/>
        </p:spPr>
        <p:txBody>
          <a:bodyPr wrap="square" lIns="0" tIns="0" rIns="0" bIns="0" rtlCol="0" anchor="b"/>
          <a:lstStyle/>
          <a:p>
            <a:pPr indent="0" marL="0">
              <a:buNone/>
            </a:pPr>
            <a:r>
              <a:rPr lang="en-US" sz="4800" b="1" dirty="0">
                <a:solidFill>
                  <a:schemeClr val="bg1"/>
                </a:solidFill>
              </a:rPr>
              <a:t>2005</a:t>
            </a:r>
            <a:endParaRPr lang="en-US" sz="4800" dirty="0"/>
          </a:p>
        </p:txBody>
      </p:sp>
      <p:sp>
        <p:nvSpPr>
          <p:cNvPr id="22" name="Text 15"/>
          <p:cNvSpPr txBox="1"/>
          <p:nvPr/>
        </p:nvSpPr>
        <p:spPr>
          <a:xfrm>
            <a:off x="8183880" y="2560320"/>
            <a:ext cx="3200400" cy="365760"/>
          </a:xfrm>
          <a:prstGeom prst="rect">
            <a:avLst/>
          </a:prstGeom>
          <a:noFill/>
          <a:ln/>
        </p:spPr>
        <p:txBody>
          <a:bodyPr wrap="square" lIns="0" tIns="0" rIns="0" bIns="0" rtlCol="0" anchor="t"/>
          <a:lstStyle/>
          <a:p>
            <a:pPr indent="0" marL="0">
              <a:buNone/>
            </a:pPr>
            <a:r>
              <a:rPr lang="en-US" sz="1600" dirty="0">
                <a:solidFill>
                  <a:schemeClr val="accent1"/>
                </a:solidFill>
              </a:rPr>
              <a:t>first public release</a:t>
            </a:r>
            <a:endParaRPr lang="en-US" sz="1600" dirty="0"/>
          </a:p>
        </p:txBody>
      </p:sp>
      <p:sp>
        <p:nvSpPr>
          <p:cNvPr id="23" name="Text 16"/>
          <p:cNvSpPr txBox="1"/>
          <p:nvPr/>
        </p:nvSpPr>
        <p:spPr>
          <a:xfrm>
            <a:off x="8183880" y="3154680"/>
            <a:ext cx="3200400" cy="822960"/>
          </a:xfrm>
          <a:prstGeom prst="rect">
            <a:avLst/>
          </a:prstGeom>
          <a:noFill/>
          <a:ln/>
        </p:spPr>
        <p:txBody>
          <a:bodyPr wrap="square" lIns="0" tIns="0" rIns="0" bIns="0" rtlCol="0" anchor="b"/>
          <a:lstStyle/>
          <a:p>
            <a:pPr indent="0" marL="0">
              <a:buNone/>
            </a:pPr>
            <a:r>
              <a:rPr lang="en-US" sz="4800" b="1" dirty="0">
                <a:solidFill>
                  <a:schemeClr val="bg1"/>
                </a:solidFill>
              </a:rPr>
              <a:t>BSD</a:t>
            </a:r>
            <a:endParaRPr lang="en-US" sz="4800" dirty="0"/>
          </a:p>
        </p:txBody>
      </p:sp>
      <p:sp>
        <p:nvSpPr>
          <p:cNvPr id="24" name="Text 17"/>
          <p:cNvSpPr txBox="1"/>
          <p:nvPr/>
        </p:nvSpPr>
        <p:spPr>
          <a:xfrm>
            <a:off x="8183880" y="4023360"/>
            <a:ext cx="3200400" cy="365760"/>
          </a:xfrm>
          <a:prstGeom prst="rect">
            <a:avLst/>
          </a:prstGeom>
          <a:noFill/>
          <a:ln/>
        </p:spPr>
        <p:txBody>
          <a:bodyPr wrap="square" lIns="0" tIns="0" rIns="0" bIns="0" rtlCol="0" anchor="t"/>
          <a:lstStyle/>
          <a:p>
            <a:pPr indent="0" marL="0">
              <a:buNone/>
            </a:pPr>
            <a:r>
              <a:rPr lang="en-US" sz="1600" dirty="0">
                <a:solidFill>
                  <a:schemeClr val="accent1"/>
                </a:solidFill>
              </a:rPr>
              <a:t>free, open-source licence</a:t>
            </a:r>
            <a:endParaRPr lang="en-US" sz="1600" dirty="0"/>
          </a:p>
        </p:txBody>
      </p:sp>
      <p:sp>
        <p:nvSpPr>
          <p:cNvPr id="25" name="Text 18"/>
          <p:cNvSpPr txBox="1"/>
          <p:nvPr/>
        </p:nvSpPr>
        <p:spPr>
          <a:xfrm>
            <a:off x="8183880" y="4617720"/>
            <a:ext cx="3200400" cy="822960"/>
          </a:xfrm>
          <a:prstGeom prst="rect">
            <a:avLst/>
          </a:prstGeom>
          <a:noFill/>
          <a:ln/>
        </p:spPr>
        <p:txBody>
          <a:bodyPr wrap="square" lIns="0" tIns="0" rIns="0" bIns="0" rtlCol="0" anchor="b"/>
          <a:lstStyle/>
          <a:p>
            <a:pPr indent="0" marL="0">
              <a:buNone/>
            </a:pPr>
            <a:r>
              <a:rPr lang="en-US" sz="4800" b="1" dirty="0">
                <a:solidFill>
                  <a:schemeClr val="bg1"/>
                </a:solidFill>
              </a:rPr>
              <a:t>5.2 LTS</a:t>
            </a:r>
            <a:endParaRPr lang="en-US" sz="4800" dirty="0"/>
          </a:p>
        </p:txBody>
      </p:sp>
      <p:sp>
        <p:nvSpPr>
          <p:cNvPr id="26" name="Text 19"/>
          <p:cNvSpPr txBox="1"/>
          <p:nvPr/>
        </p:nvSpPr>
        <p:spPr>
          <a:xfrm>
            <a:off x="8183880" y="5486400"/>
            <a:ext cx="3200400" cy="365760"/>
          </a:xfrm>
          <a:prstGeom prst="rect">
            <a:avLst/>
          </a:prstGeom>
          <a:noFill/>
          <a:ln/>
        </p:spPr>
        <p:txBody>
          <a:bodyPr wrap="square" lIns="0" tIns="0" rIns="0" bIns="0" rtlCol="0" anchor="t"/>
          <a:lstStyle/>
          <a:p>
            <a:pPr indent="0" marL="0">
              <a:buNone/>
            </a:pPr>
            <a:r>
              <a:rPr lang="en-US" sz="1600" dirty="0">
                <a:solidFill>
                  <a:schemeClr val="accent1"/>
                </a:solidFill>
              </a:rPr>
              <a:t>version used in this seminar</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rPr>
              <a:t>Django vs the MERN stack</a:t>
            </a:r>
            <a:endParaRPr lang="en-US" sz="36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103120"/>
                <a:gridCol w="4480560"/>
                <a:gridCol w="4507992"/>
              </a:tblGrid>
              <a:tr h="566928">
                <a:tc>
                  <a:txBody>
                    <a:bodyPr/>
                    <a:lstStyle/>
                    <a:p>
                      <a:pPr indent="0" marL="0">
                        <a:buNone/>
                      </a:pP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600" b="1" dirty="0">
                          <a:solidFill>
                            <a:schemeClr val="bg1"/>
                          </a:solidFill>
                        </a:rPr>
                        <a:t>MERN stack</a:t>
                      </a: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600" b="1" dirty="0">
                          <a:solidFill>
                            <a:schemeClr val="bg1"/>
                          </a:solidFill>
                        </a:rPr>
                        <a:t>Django</a:t>
                      </a: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66928">
                <a:tc>
                  <a:txBody>
                    <a:bodyPr/>
                    <a:lstStyle/>
                    <a:p>
                      <a:pPr indent="0" marL="0">
                        <a:buNone/>
                      </a:pPr>
                      <a:r>
                        <a:rPr lang="en-US" sz="1500" b="1" dirty="0">
                          <a:solidFill>
                            <a:schemeClr val="tx1"/>
                          </a:solidFill>
                        </a:rPr>
                        <a:t>Language</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JavaScript everywhere</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Python</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500" b="1" dirty="0">
                          <a:solidFill>
                            <a:schemeClr val="tx1"/>
                          </a:solidFill>
                        </a:rPr>
                        <a:t>Approach</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Assemble libraries yourself (Express, Mongoose, React)</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One framework with batteries included</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500" b="1" dirty="0">
                          <a:solidFill>
                            <a:schemeClr val="tx1"/>
                          </a:solidFill>
                        </a:rPr>
                        <a:t>Database</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MongoDB (NoSQL, documents)</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SQL by default (SQLite, PostgreSQL, MySQL)</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500" b="1" dirty="0">
                          <a:solidFill>
                            <a:schemeClr val="tx1"/>
                          </a:solidFill>
                        </a:rPr>
                        <a:t>Frontend</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React single-page app in the browser</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HTML templates rendered on the server</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500" b="1" dirty="0">
                          <a:solidFill>
                            <a:schemeClr val="tx1"/>
                          </a:solidFill>
                        </a:rPr>
                        <a:t>Admin panel</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Build it yourself</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Built in, generated from your models</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500" b="1" dirty="0">
                          <a:solidFill>
                            <a:schemeClr val="tx1"/>
                          </a:solidFill>
                        </a:rPr>
                        <a:t>Authentication</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Passport / JWT libraries</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Built in (users, groups, permissions)</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5" name="callout"/>
          <p:cNvSpPr/>
          <p:nvPr/>
        </p:nvSpPr>
        <p:spPr>
          <a:xfrm>
            <a:off x="548640" y="5577840"/>
            <a:ext cx="11091672" cy="594360"/>
          </a:xfrm>
          <a:prstGeom prst="roundRect">
            <a:avLst>
              <a:gd name="adj" fmla="val 18462"/>
            </a:avLst>
          </a:prstGeom>
          <a:solidFill>
            <a:schemeClr val="bg2"/>
          </a:solidFill>
          <a:ln/>
        </p:spPr>
      </p:sp>
      <p:sp>
        <p:nvSpPr>
          <p:cNvPr id="6" name="Text 2"/>
          <p:cNvSpPr txBox="1"/>
          <p:nvPr/>
        </p:nvSpPr>
        <p:spPr>
          <a:xfrm>
            <a:off x="822960" y="5577840"/>
            <a:ext cx="10543032" cy="594360"/>
          </a:xfrm>
          <a:prstGeom prst="rect">
            <a:avLst/>
          </a:prstGeom>
          <a:noFill/>
          <a:ln/>
        </p:spPr>
        <p:txBody>
          <a:bodyPr wrap="square" lIns="0" tIns="0" rIns="0" bIns="0" rtlCol="0" anchor="ctr"/>
          <a:lstStyle/>
          <a:p>
            <a:pPr indent="0" marL="0">
              <a:buNone/>
            </a:pPr>
            <a:r>
              <a:rPr lang="en-US" sz="1600" dirty="0">
                <a:solidFill>
                  <a:schemeClr val="tx1"/>
                </a:solidFill>
              </a:rPr>
              <a:t>Not either / or: a React frontend plus a Django REST API is a very common combination.</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rPr>
              <a:t>Key terms: the basics</a:t>
            </a:r>
            <a:endParaRPr lang="en-US" sz="3600" dirty="0"/>
          </a:p>
        </p:txBody>
      </p:sp>
      <p:sp>
        <p:nvSpPr>
          <p:cNvPr id="4" name="term-card"/>
          <p:cNvSpPr/>
          <p:nvPr/>
        </p:nvSpPr>
        <p:spPr>
          <a:xfrm>
            <a:off x="548640" y="1371600"/>
            <a:ext cx="3520440" cy="2194560"/>
          </a:xfrm>
          <a:prstGeom prst="roundRect">
            <a:avLst>
              <a:gd name="adj" fmla="val 5000"/>
            </a:avLst>
          </a:prstGeom>
          <a:solidFill>
            <a:schemeClr val="bg2"/>
          </a:solidFill>
          <a:ln/>
        </p:spPr>
      </p:sp>
      <p:sp>
        <p:nvSpPr>
          <p:cNvPr id="5" name="Text 2"/>
          <p:cNvSpPr txBox="1"/>
          <p:nvPr/>
        </p:nvSpPr>
        <p:spPr>
          <a:xfrm>
            <a:off x="822960" y="1600200"/>
            <a:ext cx="2971800" cy="411480"/>
          </a:xfrm>
          <a:prstGeom prst="rect">
            <a:avLst/>
          </a:prstGeom>
          <a:noFill/>
          <a:ln/>
        </p:spPr>
        <p:txBody>
          <a:bodyPr wrap="square" lIns="0" tIns="0" rIns="0" bIns="0" rtlCol="0" anchor="t"/>
          <a:lstStyle/>
          <a:p>
            <a:pPr indent="0" marL="0">
              <a:buNone/>
            </a:pPr>
            <a:r>
              <a:rPr lang="en-US" sz="2200" b="1" dirty="0">
                <a:solidFill>
                  <a:schemeClr val="tx2"/>
                </a:solidFill>
              </a:rPr>
              <a:t>Framework</a:t>
            </a:r>
            <a:endParaRPr lang="en-US" sz="2200" dirty="0"/>
          </a:p>
        </p:txBody>
      </p:sp>
      <p:sp>
        <p:nvSpPr>
          <p:cNvPr id="6" name="Text 3"/>
          <p:cNvSpPr txBox="1"/>
          <p:nvPr/>
        </p:nvSpPr>
        <p:spPr>
          <a:xfrm>
            <a:off x="822960" y="2148840"/>
            <a:ext cx="2971800" cy="1280160"/>
          </a:xfrm>
          <a:prstGeom prst="rect">
            <a:avLst/>
          </a:prstGeom>
          <a:noFill/>
          <a:ln/>
        </p:spPr>
        <p:txBody>
          <a:bodyPr wrap="square" lIns="0" tIns="0" rIns="0" bIns="0" rtlCol="0" anchor="t"/>
          <a:lstStyle/>
          <a:p>
            <a:pPr indent="0" marL="0">
              <a:buNone/>
            </a:pPr>
            <a:r>
              <a:rPr lang="en-US" sz="1600" dirty="0">
                <a:solidFill>
                  <a:schemeClr val="tx1"/>
                </a:solidFill>
              </a:rPr>
              <a:t>A ready-made structure and toolset for building apps. It handles common tasks so you write only your own logic.</a:t>
            </a:r>
            <a:endParaRPr lang="en-US" sz="1600" dirty="0"/>
          </a:p>
        </p:txBody>
      </p:sp>
      <p:sp>
        <p:nvSpPr>
          <p:cNvPr id="7" name="term-card"/>
          <p:cNvSpPr/>
          <p:nvPr/>
        </p:nvSpPr>
        <p:spPr>
          <a:xfrm>
            <a:off x="4334256" y="1371600"/>
            <a:ext cx="3520440" cy="2194560"/>
          </a:xfrm>
          <a:prstGeom prst="roundRect">
            <a:avLst>
              <a:gd name="adj" fmla="val 5000"/>
            </a:avLst>
          </a:prstGeom>
          <a:solidFill>
            <a:schemeClr val="tx2"/>
          </a:solidFill>
          <a:ln/>
        </p:spPr>
      </p:sp>
      <p:sp>
        <p:nvSpPr>
          <p:cNvPr id="8" name="Text 5"/>
          <p:cNvSpPr txBox="1"/>
          <p:nvPr/>
        </p:nvSpPr>
        <p:spPr>
          <a:xfrm>
            <a:off x="4608576" y="1600200"/>
            <a:ext cx="2971800" cy="411480"/>
          </a:xfrm>
          <a:prstGeom prst="rect">
            <a:avLst/>
          </a:prstGeom>
          <a:noFill/>
          <a:ln/>
        </p:spPr>
        <p:txBody>
          <a:bodyPr wrap="square" lIns="0" tIns="0" rIns="0" bIns="0" rtlCol="0" anchor="t"/>
          <a:lstStyle/>
          <a:p>
            <a:pPr indent="0" marL="0">
              <a:buNone/>
            </a:pPr>
            <a:r>
              <a:rPr lang="en-US" sz="2200" b="1" dirty="0">
                <a:solidFill>
                  <a:schemeClr val="bg1"/>
                </a:solidFill>
              </a:rPr>
              <a:t>Batteries included</a:t>
            </a:r>
            <a:endParaRPr lang="en-US" sz="2200" dirty="0"/>
          </a:p>
        </p:txBody>
      </p:sp>
      <p:sp>
        <p:nvSpPr>
          <p:cNvPr id="9" name="Text 6"/>
          <p:cNvSpPr txBox="1"/>
          <p:nvPr/>
        </p:nvSpPr>
        <p:spPr>
          <a:xfrm>
            <a:off x="4608576" y="2148840"/>
            <a:ext cx="2971800" cy="1280160"/>
          </a:xfrm>
          <a:prstGeom prst="rect">
            <a:avLst/>
          </a:prstGeom>
          <a:noFill/>
          <a:ln/>
        </p:spPr>
        <p:txBody>
          <a:bodyPr wrap="square" lIns="0" tIns="0" rIns="0" bIns="0" rtlCol="0" anchor="t"/>
          <a:lstStyle/>
          <a:p>
            <a:pPr indent="0" marL="0">
              <a:buNone/>
            </a:pPr>
            <a:r>
              <a:rPr lang="en-US" sz="1600" dirty="0">
                <a:solidFill>
                  <a:schemeClr val="bg1"/>
                </a:solidFill>
              </a:rPr>
              <a:t>A framework that ships with the common features built in: admin panel, login, ORM, forms and security.</a:t>
            </a:r>
            <a:endParaRPr lang="en-US" sz="1600" dirty="0"/>
          </a:p>
        </p:txBody>
      </p:sp>
      <p:sp>
        <p:nvSpPr>
          <p:cNvPr id="10" name="term-card"/>
          <p:cNvSpPr/>
          <p:nvPr/>
        </p:nvSpPr>
        <p:spPr>
          <a:xfrm>
            <a:off x="8119872" y="1371600"/>
            <a:ext cx="3520440" cy="2194560"/>
          </a:xfrm>
          <a:prstGeom prst="roundRect">
            <a:avLst>
              <a:gd name="adj" fmla="val 5000"/>
            </a:avLst>
          </a:prstGeom>
          <a:solidFill>
            <a:schemeClr val="bg2"/>
          </a:solidFill>
          <a:ln/>
        </p:spPr>
      </p:sp>
      <p:sp>
        <p:nvSpPr>
          <p:cNvPr id="11" name="Text 8"/>
          <p:cNvSpPr txBox="1"/>
          <p:nvPr/>
        </p:nvSpPr>
        <p:spPr>
          <a:xfrm>
            <a:off x="8394192" y="1600200"/>
            <a:ext cx="2971800" cy="411480"/>
          </a:xfrm>
          <a:prstGeom prst="rect">
            <a:avLst/>
          </a:prstGeom>
          <a:noFill/>
          <a:ln/>
        </p:spPr>
        <p:txBody>
          <a:bodyPr wrap="square" lIns="0" tIns="0" rIns="0" bIns="0" rtlCol="0" anchor="t"/>
          <a:lstStyle/>
          <a:p>
            <a:pPr indent="0" marL="0">
              <a:buNone/>
            </a:pPr>
            <a:r>
              <a:rPr lang="en-US" sz="2200" b="1" dirty="0">
                <a:solidFill>
                  <a:schemeClr val="tx2"/>
                </a:solidFill>
              </a:rPr>
              <a:t>Django</a:t>
            </a:r>
            <a:endParaRPr lang="en-US" sz="2200" dirty="0"/>
          </a:p>
        </p:txBody>
      </p:sp>
      <p:sp>
        <p:nvSpPr>
          <p:cNvPr id="12" name="Text 9"/>
          <p:cNvSpPr txBox="1"/>
          <p:nvPr/>
        </p:nvSpPr>
        <p:spPr>
          <a:xfrm>
            <a:off x="8394192" y="2148840"/>
            <a:ext cx="2971800" cy="1280160"/>
          </a:xfrm>
          <a:prstGeom prst="rect">
            <a:avLst/>
          </a:prstGeom>
          <a:noFill/>
          <a:ln/>
        </p:spPr>
        <p:txBody>
          <a:bodyPr wrap="square" lIns="0" tIns="0" rIns="0" bIns="0" rtlCol="0" anchor="t"/>
          <a:lstStyle/>
          <a:p>
            <a:pPr indent="0" marL="0">
              <a:buNone/>
            </a:pPr>
            <a:r>
              <a:rPr lang="en-US" sz="1600" dirty="0">
                <a:solidFill>
                  <a:schemeClr val="tx1"/>
                </a:solidFill>
              </a:rPr>
              <a:t>A free, open-source Python web framework for building secure, maintainable websites quickly.</a:t>
            </a:r>
            <a:endParaRPr lang="en-US" sz="1600" dirty="0"/>
          </a:p>
        </p:txBody>
      </p:sp>
      <p:sp>
        <p:nvSpPr>
          <p:cNvPr id="13" name="term-card"/>
          <p:cNvSpPr/>
          <p:nvPr/>
        </p:nvSpPr>
        <p:spPr>
          <a:xfrm>
            <a:off x="548640" y="3840480"/>
            <a:ext cx="3520440" cy="2194560"/>
          </a:xfrm>
          <a:prstGeom prst="roundRect">
            <a:avLst>
              <a:gd name="adj" fmla="val 5000"/>
            </a:avLst>
          </a:prstGeom>
          <a:solidFill>
            <a:schemeClr val="bg2"/>
          </a:solidFill>
          <a:ln/>
        </p:spPr>
      </p:sp>
      <p:sp>
        <p:nvSpPr>
          <p:cNvPr id="14" name="Text 11"/>
          <p:cNvSpPr txBox="1"/>
          <p:nvPr/>
        </p:nvSpPr>
        <p:spPr>
          <a:xfrm>
            <a:off x="822960" y="4069080"/>
            <a:ext cx="2971800" cy="411480"/>
          </a:xfrm>
          <a:prstGeom prst="rect">
            <a:avLst/>
          </a:prstGeom>
          <a:noFill/>
          <a:ln/>
        </p:spPr>
        <p:txBody>
          <a:bodyPr wrap="square" lIns="0" tIns="0" rIns="0" bIns="0" rtlCol="0" anchor="t"/>
          <a:lstStyle/>
          <a:p>
            <a:pPr indent="0" marL="0">
              <a:buNone/>
            </a:pPr>
            <a:r>
              <a:rPr lang="en-US" sz="2200" b="1" dirty="0">
                <a:solidFill>
                  <a:schemeClr val="tx2"/>
                </a:solidFill>
              </a:rPr>
              <a:t>MVT</a:t>
            </a:r>
            <a:endParaRPr lang="en-US" sz="2200" dirty="0"/>
          </a:p>
        </p:txBody>
      </p:sp>
      <p:sp>
        <p:nvSpPr>
          <p:cNvPr id="15" name="Text 12"/>
          <p:cNvSpPr txBox="1"/>
          <p:nvPr/>
        </p:nvSpPr>
        <p:spPr>
          <a:xfrm>
            <a:off x="822960" y="4617720"/>
            <a:ext cx="2971800" cy="1280160"/>
          </a:xfrm>
          <a:prstGeom prst="rect">
            <a:avLst/>
          </a:prstGeom>
          <a:noFill/>
          <a:ln/>
        </p:spPr>
        <p:txBody>
          <a:bodyPr wrap="square" lIns="0" tIns="0" rIns="0" bIns="0" rtlCol="0" anchor="t"/>
          <a:lstStyle/>
          <a:p>
            <a:pPr indent="0" marL="0">
              <a:buNone/>
            </a:pPr>
            <a:r>
              <a:rPr lang="en-US" sz="1600" dirty="0">
                <a:solidFill>
                  <a:schemeClr val="tx1"/>
                </a:solidFill>
              </a:rPr>
              <a:t>Model - View - Template. Django's pattern: Model = data, View = logic, Template = what the user sees.</a:t>
            </a:r>
            <a:endParaRPr lang="en-US" sz="1600" dirty="0"/>
          </a:p>
        </p:txBody>
      </p:sp>
      <p:sp>
        <p:nvSpPr>
          <p:cNvPr id="16" name="term-card"/>
          <p:cNvSpPr/>
          <p:nvPr/>
        </p:nvSpPr>
        <p:spPr>
          <a:xfrm>
            <a:off x="4334256" y="3840480"/>
            <a:ext cx="3520440" cy="2194560"/>
          </a:xfrm>
          <a:prstGeom prst="roundRect">
            <a:avLst>
              <a:gd name="adj" fmla="val 5000"/>
            </a:avLst>
          </a:prstGeom>
          <a:solidFill>
            <a:schemeClr val="bg2"/>
          </a:solidFill>
          <a:ln/>
        </p:spPr>
      </p:sp>
      <p:sp>
        <p:nvSpPr>
          <p:cNvPr id="17" name="Text 14"/>
          <p:cNvSpPr txBox="1"/>
          <p:nvPr/>
        </p:nvSpPr>
        <p:spPr>
          <a:xfrm>
            <a:off x="4608576" y="4069080"/>
            <a:ext cx="2971800" cy="411480"/>
          </a:xfrm>
          <a:prstGeom prst="rect">
            <a:avLst/>
          </a:prstGeom>
          <a:noFill/>
          <a:ln/>
        </p:spPr>
        <p:txBody>
          <a:bodyPr wrap="square" lIns="0" tIns="0" rIns="0" bIns="0" rtlCol="0" anchor="t"/>
          <a:lstStyle/>
          <a:p>
            <a:pPr indent="0" marL="0">
              <a:buNone/>
            </a:pPr>
            <a:r>
              <a:rPr lang="en-US" sz="2200" b="1" dirty="0">
                <a:solidFill>
                  <a:schemeClr val="tx2"/>
                </a:solidFill>
              </a:rPr>
              <a:t>Virtual environment</a:t>
            </a:r>
            <a:endParaRPr lang="en-US" sz="2200" dirty="0"/>
          </a:p>
        </p:txBody>
      </p:sp>
      <p:sp>
        <p:nvSpPr>
          <p:cNvPr id="18" name="Text 15"/>
          <p:cNvSpPr txBox="1"/>
          <p:nvPr/>
        </p:nvSpPr>
        <p:spPr>
          <a:xfrm>
            <a:off x="4608576" y="4617720"/>
            <a:ext cx="2971800" cy="1280160"/>
          </a:xfrm>
          <a:prstGeom prst="rect">
            <a:avLst/>
          </a:prstGeom>
          <a:noFill/>
          <a:ln/>
        </p:spPr>
        <p:txBody>
          <a:bodyPr wrap="square" lIns="0" tIns="0" rIns="0" bIns="0" rtlCol="0" anchor="t"/>
          <a:lstStyle/>
          <a:p>
            <a:pPr indent="0" marL="0">
              <a:buNone/>
            </a:pPr>
            <a:r>
              <a:rPr lang="en-US" sz="1600" dirty="0">
                <a:solidFill>
                  <a:schemeClr val="tx1"/>
                </a:solidFill>
              </a:rPr>
              <a:t>An isolated folder of Python packages for one project, so different projects do not clash.</a:t>
            </a:r>
            <a:endParaRPr lang="en-US" sz="1600" dirty="0"/>
          </a:p>
        </p:txBody>
      </p:sp>
      <p:sp>
        <p:nvSpPr>
          <p:cNvPr id="19" name="term-card"/>
          <p:cNvSpPr/>
          <p:nvPr/>
        </p:nvSpPr>
        <p:spPr>
          <a:xfrm>
            <a:off x="8119872" y="3840480"/>
            <a:ext cx="3520440" cy="2194560"/>
          </a:xfrm>
          <a:prstGeom prst="roundRect">
            <a:avLst>
              <a:gd name="adj" fmla="val 5000"/>
            </a:avLst>
          </a:prstGeom>
          <a:solidFill>
            <a:schemeClr val="bg2"/>
          </a:solidFill>
          <a:ln/>
        </p:spPr>
      </p:sp>
      <p:sp>
        <p:nvSpPr>
          <p:cNvPr id="20" name="Text 17"/>
          <p:cNvSpPr txBox="1"/>
          <p:nvPr/>
        </p:nvSpPr>
        <p:spPr>
          <a:xfrm>
            <a:off x="8394192" y="4069080"/>
            <a:ext cx="2971800" cy="411480"/>
          </a:xfrm>
          <a:prstGeom prst="rect">
            <a:avLst/>
          </a:prstGeom>
          <a:noFill/>
          <a:ln/>
        </p:spPr>
        <p:txBody>
          <a:bodyPr wrap="square" lIns="0" tIns="0" rIns="0" bIns="0" rtlCol="0" anchor="t"/>
          <a:lstStyle/>
          <a:p>
            <a:pPr indent="0" marL="0">
              <a:buNone/>
            </a:pPr>
            <a:r>
              <a:rPr lang="en-US" sz="2200" b="1" dirty="0">
                <a:solidFill>
                  <a:schemeClr val="tx2"/>
                </a:solidFill>
              </a:rPr>
              <a:t>pip</a:t>
            </a:r>
            <a:endParaRPr lang="en-US" sz="2200" dirty="0"/>
          </a:p>
        </p:txBody>
      </p:sp>
      <p:sp>
        <p:nvSpPr>
          <p:cNvPr id="21" name="Text 18"/>
          <p:cNvSpPr txBox="1"/>
          <p:nvPr/>
        </p:nvSpPr>
        <p:spPr>
          <a:xfrm>
            <a:off x="8394192" y="4617720"/>
            <a:ext cx="2971800" cy="1280160"/>
          </a:xfrm>
          <a:prstGeom prst="rect">
            <a:avLst/>
          </a:prstGeom>
          <a:noFill/>
          <a:ln/>
        </p:spPr>
        <p:txBody>
          <a:bodyPr wrap="square" lIns="0" tIns="0" rIns="0" bIns="0" rtlCol="0" anchor="t"/>
          <a:lstStyle/>
          <a:p>
            <a:pPr indent="0" marL="0">
              <a:buNone/>
            </a:pPr>
            <a:r>
              <a:rPr lang="en-US" sz="1600" dirty="0">
                <a:solidFill>
                  <a:schemeClr val="tx1"/>
                </a:solidFill>
              </a:rPr>
              <a:t>Python's package installer, like npm. requirements.txt is the equivalent of package.json.</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rPr>
              <a:t>MVT architecture</a:t>
            </a:r>
            <a:endParaRPr lang="en-US" sz="3600" dirty="0"/>
          </a:p>
        </p:txBody>
      </p:sp>
      <p:sp>
        <p:nvSpPr>
          <p:cNvPr id="4" name="diagram-box"/>
          <p:cNvSpPr txBox="1"/>
          <p:nvPr/>
        </p:nvSpPr>
        <p:spPr>
          <a:xfrm>
            <a:off x="548640" y="1463040"/>
            <a:ext cx="2194560" cy="1005840"/>
          </a:xfrm>
          <a:prstGeom prst="roundRect">
            <a:avLst>
              <a:gd name="adj" fmla="val 10909"/>
            </a:avLst>
          </a:prstGeom>
          <a:solidFill>
            <a:schemeClr val="bg2"/>
          </a:solidFill>
          <a:ln/>
        </p:spPr>
        <p:txBody>
          <a:bodyPr wrap="square" lIns="76200" tIns="76200" rIns="76200" bIns="76200" rtlCol="0" anchor="ctr"/>
          <a:lstStyle/>
          <a:p>
            <a:pPr algn="ctr" indent="0" marL="0">
              <a:buNone/>
            </a:pPr>
            <a:r>
              <a:rPr lang="en-US" sz="2000" b="1" dirty="0">
                <a:solidFill>
                  <a:schemeClr val="tx2"/>
                </a:solidFill>
              </a:rPr>
              <a:t>Browser</a:t>
            </a:r>
            <a:endParaRPr lang="en-US" sz="2000" dirty="0"/>
          </a:p>
          <a:p>
            <a:pPr algn="ctr" indent="0" marL="0">
              <a:buNone/>
            </a:pPr>
            <a:r>
              <a:rPr lang="en-US" sz="1400" dirty="0">
                <a:solidFill>
                  <a:schemeClr val="tx2"/>
                </a:solidFill>
              </a:rPr>
              <a:t>user clicks a link</a:t>
            </a:r>
            <a:endParaRPr lang="en-US" sz="2000" dirty="0"/>
          </a:p>
        </p:txBody>
      </p:sp>
      <p:sp>
        <p:nvSpPr>
          <p:cNvPr id="5" name="diagram-box"/>
          <p:cNvSpPr txBox="1"/>
          <p:nvPr/>
        </p:nvSpPr>
        <p:spPr>
          <a:xfrm>
            <a:off x="3520440" y="1463040"/>
            <a:ext cx="2194560" cy="1005840"/>
          </a:xfrm>
          <a:prstGeom prst="roundRect">
            <a:avLst>
              <a:gd name="adj" fmla="val 10909"/>
            </a:avLst>
          </a:prstGeom>
          <a:solidFill>
            <a:schemeClr val="bg2"/>
          </a:solidFill>
          <a:ln/>
        </p:spPr>
        <p:txBody>
          <a:bodyPr wrap="square" lIns="76200" tIns="76200" rIns="76200" bIns="76200" rtlCol="0" anchor="ctr"/>
          <a:lstStyle/>
          <a:p>
            <a:pPr algn="ctr" indent="0" marL="0">
              <a:buNone/>
            </a:pPr>
            <a:r>
              <a:rPr lang="en-US" sz="2000" b="1" dirty="0">
                <a:solidFill>
                  <a:schemeClr val="tx2"/>
                </a:solidFill>
              </a:rPr>
              <a:t>urls.py</a:t>
            </a:r>
            <a:endParaRPr lang="en-US" sz="2000" dirty="0"/>
          </a:p>
          <a:p>
            <a:pPr algn="ctr" indent="0" marL="0">
              <a:buNone/>
            </a:pPr>
            <a:r>
              <a:rPr lang="en-US" sz="1400" dirty="0">
                <a:solidFill>
                  <a:schemeClr val="tx2"/>
                </a:solidFill>
              </a:rPr>
              <a:t>URL -&gt; view</a:t>
            </a:r>
            <a:endParaRPr lang="en-US" sz="2000" dirty="0"/>
          </a:p>
        </p:txBody>
      </p:sp>
      <p:sp>
        <p:nvSpPr>
          <p:cNvPr id="6" name="diagram-box"/>
          <p:cNvSpPr txBox="1"/>
          <p:nvPr/>
        </p:nvSpPr>
        <p:spPr>
          <a:xfrm>
            <a:off x="6492240" y="1463040"/>
            <a:ext cx="2194560" cy="1005840"/>
          </a:xfrm>
          <a:prstGeom prst="roundRect">
            <a:avLst>
              <a:gd name="adj" fmla="val 10909"/>
            </a:avLst>
          </a:prstGeom>
          <a:solidFill>
            <a:schemeClr val="tx2"/>
          </a:solidFill>
          <a:ln/>
        </p:spPr>
        <p:txBody>
          <a:bodyPr wrap="square" lIns="76200" tIns="76200" rIns="76200" bIns="76200" rtlCol="0" anchor="ctr"/>
          <a:lstStyle/>
          <a:p>
            <a:pPr algn="ctr" indent="0" marL="0">
              <a:buNone/>
            </a:pPr>
            <a:r>
              <a:rPr lang="en-US" sz="2000" b="1" dirty="0">
                <a:solidFill>
                  <a:schemeClr val="bg1"/>
                </a:solidFill>
              </a:rPr>
              <a:t>views.py</a:t>
            </a:r>
            <a:endParaRPr lang="en-US" sz="2000" dirty="0"/>
          </a:p>
          <a:p>
            <a:pPr algn="ctr" indent="0" marL="0">
              <a:buNone/>
            </a:pPr>
            <a:r>
              <a:rPr lang="en-US" sz="1400" dirty="0">
                <a:solidFill>
                  <a:schemeClr val="bg1"/>
                </a:solidFill>
              </a:rPr>
              <a:t>the logic (V)</a:t>
            </a:r>
            <a:endParaRPr lang="en-US" sz="2000" dirty="0"/>
          </a:p>
        </p:txBody>
      </p:sp>
      <p:sp>
        <p:nvSpPr>
          <p:cNvPr id="7" name="diagram-box"/>
          <p:cNvSpPr txBox="1"/>
          <p:nvPr/>
        </p:nvSpPr>
        <p:spPr>
          <a:xfrm>
            <a:off x="9445752" y="1463040"/>
            <a:ext cx="2194560" cy="1005840"/>
          </a:xfrm>
          <a:prstGeom prst="roundRect">
            <a:avLst>
              <a:gd name="adj" fmla="val 10909"/>
            </a:avLst>
          </a:prstGeom>
          <a:solidFill>
            <a:schemeClr val="tx2"/>
          </a:solidFill>
          <a:ln/>
        </p:spPr>
        <p:txBody>
          <a:bodyPr wrap="square" lIns="76200" tIns="76200" rIns="76200" bIns="76200" rtlCol="0" anchor="ctr"/>
          <a:lstStyle/>
          <a:p>
            <a:pPr algn="ctr" indent="0" marL="0">
              <a:buNone/>
            </a:pPr>
            <a:r>
              <a:rPr lang="en-US" sz="2000" b="1" dirty="0">
                <a:solidFill>
                  <a:schemeClr val="bg1"/>
                </a:solidFill>
              </a:rPr>
              <a:t>models.py</a:t>
            </a:r>
            <a:endParaRPr lang="en-US" sz="2000" dirty="0"/>
          </a:p>
          <a:p>
            <a:pPr algn="ctr" indent="0" marL="0">
              <a:buNone/>
            </a:pPr>
            <a:r>
              <a:rPr lang="en-US" sz="1400" dirty="0">
                <a:solidFill>
                  <a:schemeClr val="bg1"/>
                </a:solidFill>
              </a:rPr>
              <a:t>the data (M)</a:t>
            </a:r>
            <a:endParaRPr lang="en-US" sz="2000" dirty="0"/>
          </a:p>
        </p:txBody>
      </p:sp>
      <p:sp>
        <p:nvSpPr>
          <p:cNvPr id="8" name="diagram-box"/>
          <p:cNvSpPr txBox="1"/>
          <p:nvPr/>
        </p:nvSpPr>
        <p:spPr>
          <a:xfrm>
            <a:off x="6492240" y="3154680"/>
            <a:ext cx="2194560" cy="1005840"/>
          </a:xfrm>
          <a:prstGeom prst="roundRect">
            <a:avLst>
              <a:gd name="adj" fmla="val 10909"/>
            </a:avLst>
          </a:prstGeom>
          <a:solidFill>
            <a:schemeClr val="tx2"/>
          </a:solidFill>
          <a:ln/>
        </p:spPr>
        <p:txBody>
          <a:bodyPr wrap="square" lIns="76200" tIns="76200" rIns="76200" bIns="76200" rtlCol="0" anchor="ctr"/>
          <a:lstStyle/>
          <a:p>
            <a:pPr algn="ctr" indent="0" marL="0">
              <a:buNone/>
            </a:pPr>
            <a:r>
              <a:rPr lang="en-US" sz="2000" b="1" dirty="0">
                <a:solidFill>
                  <a:schemeClr val="bg1"/>
                </a:solidFill>
              </a:rPr>
              <a:t>Template / JSON</a:t>
            </a:r>
            <a:endParaRPr lang="en-US" sz="2000" dirty="0"/>
          </a:p>
          <a:p>
            <a:pPr algn="ctr" indent="0" marL="0">
              <a:buNone/>
            </a:pPr>
            <a:r>
              <a:rPr lang="en-US" sz="1400" dirty="0">
                <a:solidFill>
                  <a:schemeClr val="bg1"/>
                </a:solidFill>
              </a:rPr>
              <a:t>the response (T)</a:t>
            </a:r>
            <a:endParaRPr lang="en-US" sz="2000" dirty="0"/>
          </a:p>
        </p:txBody>
      </p:sp>
      <p:sp>
        <p:nvSpPr>
          <p:cNvPr id="9" name="diagram-box"/>
          <p:cNvSpPr txBox="1"/>
          <p:nvPr/>
        </p:nvSpPr>
        <p:spPr>
          <a:xfrm>
            <a:off x="9445752" y="3154680"/>
            <a:ext cx="2194560" cy="1005840"/>
          </a:xfrm>
          <a:prstGeom prst="roundRect">
            <a:avLst>
              <a:gd name="adj" fmla="val 10909"/>
            </a:avLst>
          </a:prstGeom>
          <a:solidFill>
            <a:schemeClr val="bg2"/>
          </a:solidFill>
          <a:ln/>
        </p:spPr>
        <p:txBody>
          <a:bodyPr wrap="square" lIns="76200" tIns="76200" rIns="76200" bIns="76200" rtlCol="0" anchor="ctr"/>
          <a:lstStyle/>
          <a:p>
            <a:pPr algn="ctr" indent="0" marL="0">
              <a:buNone/>
            </a:pPr>
            <a:r>
              <a:rPr lang="en-US" sz="2000" b="1" dirty="0">
                <a:solidFill>
                  <a:schemeClr val="tx2"/>
                </a:solidFill>
              </a:rPr>
              <a:t>Database</a:t>
            </a:r>
            <a:endParaRPr lang="en-US" sz="2000" dirty="0"/>
          </a:p>
          <a:p>
            <a:pPr algn="ctr" indent="0" marL="0">
              <a:buNone/>
            </a:pPr>
            <a:r>
              <a:rPr lang="en-US" sz="1400" dirty="0">
                <a:solidFill>
                  <a:schemeClr val="tx2"/>
                </a:solidFill>
              </a:rPr>
              <a:t>SQLite / MySQL / ...</a:t>
            </a:r>
            <a:endParaRPr lang="en-US" sz="2000" dirty="0"/>
          </a:p>
        </p:txBody>
      </p:sp>
      <p:sp>
        <p:nvSpPr>
          <p:cNvPr id="10" name="arrow"/>
          <p:cNvSpPr/>
          <p:nvPr/>
        </p:nvSpPr>
        <p:spPr>
          <a:xfrm>
            <a:off x="2743200" y="1965960"/>
            <a:ext cx="777240" cy="0"/>
          </a:xfrm>
          <a:prstGeom prst="line">
            <a:avLst/>
          </a:prstGeom>
          <a:noFill/>
          <a:ln w="28575">
            <a:solidFill>
              <a:schemeClr val="tx2"/>
            </a:solidFill>
            <a:prstDash val="solid"/>
            <a:tailEnd type="triangle"/>
          </a:ln>
        </p:spPr>
      </p:sp>
      <p:sp>
        <p:nvSpPr>
          <p:cNvPr id="11" name="arrow"/>
          <p:cNvSpPr/>
          <p:nvPr/>
        </p:nvSpPr>
        <p:spPr>
          <a:xfrm>
            <a:off x="5715000" y="1965960"/>
            <a:ext cx="777240" cy="0"/>
          </a:xfrm>
          <a:prstGeom prst="line">
            <a:avLst/>
          </a:prstGeom>
          <a:noFill/>
          <a:ln w="28575">
            <a:solidFill>
              <a:schemeClr val="tx2"/>
            </a:solidFill>
            <a:prstDash val="solid"/>
            <a:tailEnd type="triangle"/>
          </a:ln>
        </p:spPr>
      </p:sp>
      <p:sp>
        <p:nvSpPr>
          <p:cNvPr id="12" name="arrow"/>
          <p:cNvSpPr/>
          <p:nvPr/>
        </p:nvSpPr>
        <p:spPr>
          <a:xfrm>
            <a:off x="8686800" y="1965960"/>
            <a:ext cx="758952" cy="0"/>
          </a:xfrm>
          <a:prstGeom prst="line">
            <a:avLst/>
          </a:prstGeom>
          <a:noFill/>
          <a:ln w="28575">
            <a:solidFill>
              <a:schemeClr val="tx2"/>
            </a:solidFill>
            <a:prstDash val="solid"/>
            <a:headEnd type="triangle"/>
            <a:tailEnd type="triangle"/>
          </a:ln>
        </p:spPr>
      </p:sp>
      <p:sp>
        <p:nvSpPr>
          <p:cNvPr id="13" name="arrow"/>
          <p:cNvSpPr/>
          <p:nvPr/>
        </p:nvSpPr>
        <p:spPr>
          <a:xfrm>
            <a:off x="7589520" y="2468880"/>
            <a:ext cx="0" cy="685800"/>
          </a:xfrm>
          <a:prstGeom prst="line">
            <a:avLst/>
          </a:prstGeom>
          <a:noFill/>
          <a:ln w="28575">
            <a:solidFill>
              <a:schemeClr val="tx2"/>
            </a:solidFill>
            <a:prstDash val="solid"/>
            <a:tailEnd type="triangle"/>
          </a:ln>
        </p:spPr>
      </p:sp>
      <p:sp>
        <p:nvSpPr>
          <p:cNvPr id="14" name="arrow"/>
          <p:cNvSpPr/>
          <p:nvPr/>
        </p:nvSpPr>
        <p:spPr>
          <a:xfrm>
            <a:off x="10543032" y="2468880"/>
            <a:ext cx="0" cy="685800"/>
          </a:xfrm>
          <a:prstGeom prst="line">
            <a:avLst/>
          </a:prstGeom>
          <a:noFill/>
          <a:ln w="28575">
            <a:solidFill>
              <a:schemeClr val="tx2"/>
            </a:solidFill>
            <a:prstDash val="solid"/>
            <a:headEnd type="triangle"/>
            <a:tailEnd type="triangle"/>
          </a:ln>
        </p:spPr>
      </p:sp>
      <p:sp>
        <p:nvSpPr>
          <p:cNvPr id="15" name="arrow"/>
          <p:cNvSpPr/>
          <p:nvPr/>
        </p:nvSpPr>
        <p:spPr>
          <a:xfrm flipH="1">
            <a:off x="1645920" y="3657600"/>
            <a:ext cx="4846320" cy="0"/>
          </a:xfrm>
          <a:prstGeom prst="line">
            <a:avLst/>
          </a:prstGeom>
          <a:noFill/>
          <a:ln w="28575">
            <a:solidFill>
              <a:schemeClr val="tx2"/>
            </a:solidFill>
            <a:prstDash val="solid"/>
          </a:ln>
        </p:spPr>
      </p:sp>
      <p:sp>
        <p:nvSpPr>
          <p:cNvPr id="16" name="arrow"/>
          <p:cNvSpPr/>
          <p:nvPr/>
        </p:nvSpPr>
        <p:spPr>
          <a:xfrm flipV="1">
            <a:off x="1645920" y="2468880"/>
            <a:ext cx="0" cy="1188720"/>
          </a:xfrm>
          <a:prstGeom prst="line">
            <a:avLst/>
          </a:prstGeom>
          <a:noFill/>
          <a:ln w="28575">
            <a:solidFill>
              <a:schemeClr val="tx2"/>
            </a:solidFill>
            <a:prstDash val="solid"/>
            <a:tailEnd type="triangle"/>
          </a:ln>
        </p:spPr>
      </p:sp>
      <p:sp>
        <p:nvSpPr>
          <p:cNvPr id="17" name="Text 14"/>
          <p:cNvSpPr txBox="1"/>
          <p:nvPr/>
        </p:nvSpPr>
        <p:spPr>
          <a:xfrm>
            <a:off x="2743200" y="1600200"/>
            <a:ext cx="777240" cy="274320"/>
          </a:xfrm>
          <a:prstGeom prst="rect">
            <a:avLst/>
          </a:prstGeom>
          <a:noFill/>
          <a:ln/>
        </p:spPr>
        <p:txBody>
          <a:bodyPr wrap="square" lIns="0" tIns="0" rIns="0" bIns="0" rtlCol="0" anchor="t"/>
          <a:lstStyle/>
          <a:p>
            <a:pPr algn="ctr" indent="0" marL="0">
              <a:buNone/>
            </a:pPr>
            <a:r>
              <a:rPr lang="en-US" sz="1200" dirty="0">
                <a:solidFill>
                  <a:schemeClr val="accent5"/>
                </a:solidFill>
              </a:rPr>
              <a:t>request</a:t>
            </a:r>
            <a:endParaRPr lang="en-US" sz="1200" dirty="0"/>
          </a:p>
        </p:txBody>
      </p:sp>
      <p:sp>
        <p:nvSpPr>
          <p:cNvPr id="18" name="Text 15"/>
          <p:cNvSpPr txBox="1"/>
          <p:nvPr/>
        </p:nvSpPr>
        <p:spPr>
          <a:xfrm>
            <a:off x="5715000" y="1600200"/>
            <a:ext cx="777240" cy="274320"/>
          </a:xfrm>
          <a:prstGeom prst="rect">
            <a:avLst/>
          </a:prstGeom>
          <a:noFill/>
          <a:ln/>
        </p:spPr>
        <p:txBody>
          <a:bodyPr wrap="square" lIns="0" tIns="0" rIns="0" bIns="0" rtlCol="0" anchor="t"/>
          <a:lstStyle/>
          <a:p>
            <a:pPr algn="ctr" indent="0" marL="0">
              <a:buNone/>
            </a:pPr>
            <a:r>
              <a:rPr lang="en-US" sz="1200" dirty="0">
                <a:solidFill>
                  <a:schemeClr val="accent5"/>
                </a:solidFill>
              </a:rPr>
              <a:t>calls</a:t>
            </a:r>
            <a:endParaRPr lang="en-US" sz="1200" dirty="0"/>
          </a:p>
        </p:txBody>
      </p:sp>
      <p:sp>
        <p:nvSpPr>
          <p:cNvPr id="19" name="Text 16"/>
          <p:cNvSpPr txBox="1"/>
          <p:nvPr/>
        </p:nvSpPr>
        <p:spPr>
          <a:xfrm>
            <a:off x="8686800" y="1600200"/>
            <a:ext cx="758952" cy="274320"/>
          </a:xfrm>
          <a:prstGeom prst="rect">
            <a:avLst/>
          </a:prstGeom>
          <a:noFill/>
          <a:ln/>
        </p:spPr>
        <p:txBody>
          <a:bodyPr wrap="square" lIns="0" tIns="0" rIns="0" bIns="0" rtlCol="0" anchor="t"/>
          <a:lstStyle/>
          <a:p>
            <a:pPr algn="ctr" indent="0" marL="0">
              <a:buNone/>
            </a:pPr>
            <a:r>
              <a:rPr lang="en-US" sz="1200" dirty="0">
                <a:solidFill>
                  <a:schemeClr val="accent5"/>
                </a:solidFill>
              </a:rPr>
              <a:t>ORM</a:t>
            </a:r>
            <a:endParaRPr lang="en-US" sz="1200" dirty="0"/>
          </a:p>
        </p:txBody>
      </p:sp>
      <p:sp>
        <p:nvSpPr>
          <p:cNvPr id="20" name="Text 17"/>
          <p:cNvSpPr txBox="1"/>
          <p:nvPr/>
        </p:nvSpPr>
        <p:spPr>
          <a:xfrm>
            <a:off x="2743200" y="3310128"/>
            <a:ext cx="3200400" cy="274320"/>
          </a:xfrm>
          <a:prstGeom prst="rect">
            <a:avLst/>
          </a:prstGeom>
          <a:noFill/>
          <a:ln/>
        </p:spPr>
        <p:txBody>
          <a:bodyPr wrap="square" lIns="0" tIns="0" rIns="0" bIns="0" rtlCol="0" anchor="t"/>
          <a:lstStyle/>
          <a:p>
            <a:pPr algn="ctr" indent="0" marL="0">
              <a:buNone/>
            </a:pPr>
            <a:r>
              <a:rPr lang="en-US" sz="1400" b="1" dirty="0">
                <a:solidFill>
                  <a:schemeClr val="tx2"/>
                </a:solidFill>
              </a:rPr>
              <a:t>response sent back</a:t>
            </a:r>
            <a:endParaRPr lang="en-US" sz="1400" dirty="0"/>
          </a:p>
        </p:txBody>
      </p:sp>
      <p:sp>
        <p:nvSpPr>
          <p:cNvPr id="21" name="mvt-card"/>
          <p:cNvSpPr/>
          <p:nvPr/>
        </p:nvSpPr>
        <p:spPr>
          <a:xfrm>
            <a:off x="548640" y="4526280"/>
            <a:ext cx="3593592" cy="1600200"/>
          </a:xfrm>
          <a:prstGeom prst="roundRect">
            <a:avLst>
              <a:gd name="adj" fmla="val 6857"/>
            </a:avLst>
          </a:prstGeom>
          <a:solidFill>
            <a:schemeClr val="bg2"/>
          </a:solidFill>
          <a:ln/>
        </p:spPr>
      </p:sp>
      <p:sp>
        <p:nvSpPr>
          <p:cNvPr id="22" name="step-number"/>
          <p:cNvSpPr txBox="1"/>
          <p:nvPr/>
        </p:nvSpPr>
        <p:spPr>
          <a:xfrm>
            <a:off x="777240" y="4709160"/>
            <a:ext cx="457200" cy="45720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M</a:t>
            </a:r>
            <a:endParaRPr lang="en-US" sz="1600" dirty="0"/>
          </a:p>
        </p:txBody>
      </p:sp>
      <p:sp>
        <p:nvSpPr>
          <p:cNvPr id="23" name="Text 20"/>
          <p:cNvSpPr txBox="1"/>
          <p:nvPr/>
        </p:nvSpPr>
        <p:spPr>
          <a:xfrm>
            <a:off x="1417320" y="4709160"/>
            <a:ext cx="2560320" cy="457200"/>
          </a:xfrm>
          <a:prstGeom prst="rect">
            <a:avLst/>
          </a:prstGeom>
          <a:noFill/>
          <a:ln/>
        </p:spPr>
        <p:txBody>
          <a:bodyPr wrap="square" lIns="0" tIns="0" rIns="0" bIns="0" rtlCol="0" anchor="ctr"/>
          <a:lstStyle/>
          <a:p>
            <a:pPr indent="0" marL="0">
              <a:buNone/>
            </a:pPr>
            <a:r>
              <a:rPr lang="en-US" sz="2000" b="1" dirty="0">
                <a:solidFill>
                  <a:schemeClr val="tx2"/>
                </a:solidFill>
              </a:rPr>
              <a:t>Model</a:t>
            </a:r>
            <a:endParaRPr lang="en-US" sz="2000" dirty="0"/>
          </a:p>
        </p:txBody>
      </p:sp>
      <p:sp>
        <p:nvSpPr>
          <p:cNvPr id="24" name="Text 21"/>
          <p:cNvSpPr txBox="1"/>
          <p:nvPr/>
        </p:nvSpPr>
        <p:spPr>
          <a:xfrm>
            <a:off x="777240" y="5303520"/>
            <a:ext cx="3154680" cy="777240"/>
          </a:xfrm>
          <a:prstGeom prst="rect">
            <a:avLst/>
          </a:prstGeom>
          <a:noFill/>
          <a:ln/>
        </p:spPr>
        <p:txBody>
          <a:bodyPr wrap="square" lIns="0" tIns="0" rIns="0" bIns="0" rtlCol="0" anchor="t"/>
          <a:lstStyle/>
          <a:p>
            <a:pPr indent="0" marL="0">
              <a:buNone/>
            </a:pPr>
            <a:r>
              <a:rPr lang="en-US" sz="1400" dirty="0">
                <a:solidFill>
                  <a:schemeClr val="tx1"/>
                </a:solidFill>
              </a:rPr>
              <a:t>Defines the data and talks to the database.</a:t>
            </a:r>
            <a:endParaRPr lang="en-US" sz="1400" dirty="0"/>
          </a:p>
        </p:txBody>
      </p:sp>
      <p:sp>
        <p:nvSpPr>
          <p:cNvPr id="25" name="mvt-card"/>
          <p:cNvSpPr/>
          <p:nvPr/>
        </p:nvSpPr>
        <p:spPr>
          <a:xfrm>
            <a:off x="4297680" y="4526280"/>
            <a:ext cx="3593592" cy="1600200"/>
          </a:xfrm>
          <a:prstGeom prst="roundRect">
            <a:avLst>
              <a:gd name="adj" fmla="val 6857"/>
            </a:avLst>
          </a:prstGeom>
          <a:solidFill>
            <a:schemeClr val="bg2"/>
          </a:solidFill>
          <a:ln/>
        </p:spPr>
      </p:sp>
      <p:sp>
        <p:nvSpPr>
          <p:cNvPr id="26" name="step-number"/>
          <p:cNvSpPr txBox="1"/>
          <p:nvPr/>
        </p:nvSpPr>
        <p:spPr>
          <a:xfrm>
            <a:off x="4526280" y="4709160"/>
            <a:ext cx="457200" cy="45720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V</a:t>
            </a:r>
            <a:endParaRPr lang="en-US" sz="1600" dirty="0"/>
          </a:p>
        </p:txBody>
      </p:sp>
      <p:sp>
        <p:nvSpPr>
          <p:cNvPr id="27" name="Text 24"/>
          <p:cNvSpPr txBox="1"/>
          <p:nvPr/>
        </p:nvSpPr>
        <p:spPr>
          <a:xfrm>
            <a:off x="5166360" y="4709160"/>
            <a:ext cx="2560320" cy="457200"/>
          </a:xfrm>
          <a:prstGeom prst="rect">
            <a:avLst/>
          </a:prstGeom>
          <a:noFill/>
          <a:ln/>
        </p:spPr>
        <p:txBody>
          <a:bodyPr wrap="square" lIns="0" tIns="0" rIns="0" bIns="0" rtlCol="0" anchor="ctr"/>
          <a:lstStyle/>
          <a:p>
            <a:pPr indent="0" marL="0">
              <a:buNone/>
            </a:pPr>
            <a:r>
              <a:rPr lang="en-US" sz="2000" b="1" dirty="0">
                <a:solidFill>
                  <a:schemeClr val="tx2"/>
                </a:solidFill>
              </a:rPr>
              <a:t>View</a:t>
            </a:r>
            <a:endParaRPr lang="en-US" sz="2000" dirty="0"/>
          </a:p>
        </p:txBody>
      </p:sp>
      <p:sp>
        <p:nvSpPr>
          <p:cNvPr id="28" name="Text 25"/>
          <p:cNvSpPr txBox="1"/>
          <p:nvPr/>
        </p:nvSpPr>
        <p:spPr>
          <a:xfrm>
            <a:off x="4526280" y="5303520"/>
            <a:ext cx="3154680" cy="777240"/>
          </a:xfrm>
          <a:prstGeom prst="rect">
            <a:avLst/>
          </a:prstGeom>
          <a:noFill/>
          <a:ln/>
        </p:spPr>
        <p:txBody>
          <a:bodyPr wrap="square" lIns="0" tIns="0" rIns="0" bIns="0" rtlCol="0" anchor="t"/>
          <a:lstStyle/>
          <a:p>
            <a:pPr indent="0" marL="0">
              <a:buNone/>
            </a:pPr>
            <a:r>
              <a:rPr lang="en-US" sz="1400" dirty="0">
                <a:solidFill>
                  <a:schemeClr val="tx1"/>
                </a:solidFill>
              </a:rPr>
              <a:t>Handles the request and decides what to return. Plays the Controller role of MVC.</a:t>
            </a:r>
            <a:endParaRPr lang="en-US" sz="1400" dirty="0"/>
          </a:p>
        </p:txBody>
      </p:sp>
      <p:sp>
        <p:nvSpPr>
          <p:cNvPr id="29" name="mvt-card"/>
          <p:cNvSpPr/>
          <p:nvPr/>
        </p:nvSpPr>
        <p:spPr>
          <a:xfrm>
            <a:off x="8046720" y="4526280"/>
            <a:ext cx="3593592" cy="1600200"/>
          </a:xfrm>
          <a:prstGeom prst="roundRect">
            <a:avLst>
              <a:gd name="adj" fmla="val 6857"/>
            </a:avLst>
          </a:prstGeom>
          <a:solidFill>
            <a:schemeClr val="bg2"/>
          </a:solidFill>
          <a:ln/>
        </p:spPr>
      </p:sp>
      <p:sp>
        <p:nvSpPr>
          <p:cNvPr id="30" name="step-number"/>
          <p:cNvSpPr txBox="1"/>
          <p:nvPr/>
        </p:nvSpPr>
        <p:spPr>
          <a:xfrm>
            <a:off x="8275320" y="4709160"/>
            <a:ext cx="457200" cy="45720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T</a:t>
            </a:r>
            <a:endParaRPr lang="en-US" sz="1600" dirty="0"/>
          </a:p>
        </p:txBody>
      </p:sp>
      <p:sp>
        <p:nvSpPr>
          <p:cNvPr id="31" name="Text 28"/>
          <p:cNvSpPr txBox="1"/>
          <p:nvPr/>
        </p:nvSpPr>
        <p:spPr>
          <a:xfrm>
            <a:off x="8915400" y="4709160"/>
            <a:ext cx="2560320" cy="457200"/>
          </a:xfrm>
          <a:prstGeom prst="rect">
            <a:avLst/>
          </a:prstGeom>
          <a:noFill/>
          <a:ln/>
        </p:spPr>
        <p:txBody>
          <a:bodyPr wrap="square" lIns="0" tIns="0" rIns="0" bIns="0" rtlCol="0" anchor="ctr"/>
          <a:lstStyle/>
          <a:p>
            <a:pPr indent="0" marL="0">
              <a:buNone/>
            </a:pPr>
            <a:r>
              <a:rPr lang="en-US" sz="2000" b="1" dirty="0">
                <a:solidFill>
                  <a:schemeClr val="tx2"/>
                </a:solidFill>
              </a:rPr>
              <a:t>Template</a:t>
            </a:r>
            <a:endParaRPr lang="en-US" sz="2000" dirty="0"/>
          </a:p>
        </p:txBody>
      </p:sp>
      <p:sp>
        <p:nvSpPr>
          <p:cNvPr id="32" name="Text 29"/>
          <p:cNvSpPr txBox="1"/>
          <p:nvPr/>
        </p:nvSpPr>
        <p:spPr>
          <a:xfrm>
            <a:off x="8275320" y="5303520"/>
            <a:ext cx="3154680" cy="777240"/>
          </a:xfrm>
          <a:prstGeom prst="rect">
            <a:avLst/>
          </a:prstGeom>
          <a:noFill/>
          <a:ln/>
        </p:spPr>
        <p:txBody>
          <a:bodyPr wrap="square" lIns="0" tIns="0" rIns="0" bIns="0" rtlCol="0" anchor="t"/>
          <a:lstStyle/>
          <a:p>
            <a:pPr indent="0" marL="0">
              <a:buNone/>
            </a:pPr>
            <a:r>
              <a:rPr lang="en-US" sz="1400" dirty="0">
                <a:solidFill>
                  <a:schemeClr val="tx1"/>
                </a:solidFill>
              </a:rPr>
              <a:t>What is sent back: an HTML page, or JSON from a DRF serializer in our project.</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rPr>
              <a:t>MERN to Django cheat sheet</a:t>
            </a:r>
            <a:endParaRPr lang="en-US" sz="36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5394960"/>
                <a:gridCol w="5696712"/>
              </a:tblGrid>
              <a:tr h="512064">
                <a:tc>
                  <a:txBody>
                    <a:bodyPr/>
                    <a:lstStyle/>
                    <a:p>
                      <a:pPr indent="0" marL="0">
                        <a:buNone/>
                      </a:pPr>
                      <a:r>
                        <a:rPr lang="en-US" sz="1600" b="1" dirty="0">
                          <a:solidFill>
                            <a:schemeClr val="bg1"/>
                          </a:solidFill>
                        </a:rPr>
                        <a:t>In MERN you write...</a:t>
                      </a: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600" b="1" dirty="0">
                          <a:solidFill>
                            <a:schemeClr val="bg1"/>
                          </a:solidFill>
                        </a:rPr>
                        <a:t>In Django you write...</a:t>
                      </a: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12064">
                <a:tc>
                  <a:txBody>
                    <a:bodyPr/>
                    <a:lstStyle/>
                    <a:p>
                      <a:pPr indent="0" marL="0">
                        <a:buNone/>
                      </a:pPr>
                      <a:r>
                        <a:rPr lang="en-US" sz="1500" dirty="0">
                          <a:solidFill>
                            <a:schemeClr val="tx1"/>
                          </a:solidFill>
                        </a:rPr>
                        <a:t>Express route: app.get('/items', ...)</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urls.py: path('items/', views.item_list)</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500" dirty="0">
                          <a:solidFill>
                            <a:schemeClr val="tx1"/>
                          </a:solidFill>
                        </a:rPr>
                        <a:t>Express handler / controller</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A view function in views.py</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500" dirty="0">
                          <a:solidFill>
                            <a:schemeClr val="tx1"/>
                          </a:solidFill>
                        </a:rPr>
                        <a:t>Mongoose schema and model</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A model class in models.py</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500" dirty="0">
                          <a:solidFill>
                            <a:schemeClr val="tx1"/>
                          </a:solidFill>
                        </a:rPr>
                        <a:t>React component / EJS template</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A template, or a DRF serializer for JSON</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500" dirty="0">
                          <a:solidFill>
                            <a:schemeClr val="tx1"/>
                          </a:solidFill>
                        </a:rPr>
                        <a:t>MongoDB collection and document</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Database table and row</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500" dirty="0">
                          <a:solidFill>
                            <a:schemeClr val="tx1"/>
                          </a:solidFill>
                        </a:rPr>
                        <a:t>npm install  +  package.json</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pip install  +  requirements.txt</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500" dirty="0">
                          <a:solidFill>
                            <a:schemeClr val="tx1"/>
                          </a:solidFill>
                        </a:rPr>
                        <a:t>node_modules per project</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venv (virtual environment) per project</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500" dirty="0">
                          <a:solidFill>
                            <a:schemeClr val="tx1"/>
                          </a:solidFill>
                        </a:rPr>
                        <a:t>npm start / nodemon</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python manage.py runserver</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rPr>
              <a:t>Django templates vs React (JSX)</a:t>
            </a:r>
            <a:endParaRPr lang="en-US" sz="3600" dirty="0"/>
          </a:p>
        </p:txBody>
      </p:sp>
      <p:sp>
        <p:nvSpPr>
          <p:cNvPr id="4" name="Text 1"/>
          <p:cNvSpPr txBox="1"/>
          <p:nvPr/>
        </p:nvSpPr>
        <p:spPr>
          <a:xfrm>
            <a:off x="548640" y="1325880"/>
            <a:ext cx="5431536" cy="274320"/>
          </a:xfrm>
          <a:prstGeom prst="rect">
            <a:avLst/>
          </a:prstGeom>
          <a:noFill/>
          <a:ln/>
        </p:spPr>
        <p:txBody>
          <a:bodyPr wrap="square" lIns="0" tIns="0" rIns="0" bIns="0" rtlCol="0" anchor="t"/>
          <a:lstStyle/>
          <a:p>
            <a:pPr indent="0" marL="0">
              <a:buNone/>
            </a:pPr>
            <a:r>
              <a:rPr lang="en-US" sz="1400" b="1" dirty="0">
                <a:solidFill>
                  <a:schemeClr val="accent5"/>
                </a:solidFill>
              </a:rPr>
              <a:t>Django template  (runs on the server)</a:t>
            </a:r>
            <a:endParaRPr lang="en-US" sz="1400" dirty="0"/>
          </a:p>
        </p:txBody>
      </p:sp>
      <p:sp>
        <p:nvSpPr>
          <p:cNvPr id="5" name="template-code"/>
          <p:cNvSpPr txBox="1"/>
          <p:nvPr/>
        </p:nvSpPr>
        <p:spPr>
          <a:xfrm>
            <a:off x="548640" y="1645920"/>
            <a:ext cx="5431536" cy="2194560"/>
          </a:xfrm>
          <a:prstGeom prst="roundRect">
            <a:avLst>
              <a:gd name="adj" fmla="val 4167"/>
            </a:avLst>
          </a:prstGeom>
          <a:solidFill>
            <a:schemeClr val="accent6"/>
          </a:solidFill>
          <a:ln/>
        </p:spPr>
        <p:txBody>
          <a:bodyPr wrap="square" lIns="152400" tIns="152400" rIns="152400" bIns="15240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&lt;ul&gt;</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 for item in items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&lt;li&gt;{{ item.name }}: {{ item.price }}&lt;/li&gt;</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 empty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&lt;li&gt;No items yet&lt;/li&gt;</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 endfor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&lt;/ul&gt;</a:t>
            </a:r>
            <a:endParaRPr lang="en-US" sz="1400" dirty="0"/>
          </a:p>
        </p:txBody>
      </p:sp>
      <p:sp>
        <p:nvSpPr>
          <p:cNvPr id="6" name="Text 3"/>
          <p:cNvSpPr txBox="1"/>
          <p:nvPr/>
        </p:nvSpPr>
        <p:spPr>
          <a:xfrm>
            <a:off x="6208776" y="1325880"/>
            <a:ext cx="5431536" cy="274320"/>
          </a:xfrm>
          <a:prstGeom prst="rect">
            <a:avLst/>
          </a:prstGeom>
          <a:noFill/>
          <a:ln/>
        </p:spPr>
        <p:txBody>
          <a:bodyPr wrap="square" lIns="0" tIns="0" rIns="0" bIns="0" rtlCol="0" anchor="t"/>
          <a:lstStyle/>
          <a:p>
            <a:pPr indent="0" marL="0">
              <a:buNone/>
            </a:pPr>
            <a:r>
              <a:rPr lang="en-US" sz="1400" b="1" dirty="0">
                <a:solidFill>
                  <a:schemeClr val="accent5"/>
                </a:solidFill>
              </a:rPr>
              <a:t>React JSX  (runs in the browser)</a:t>
            </a:r>
            <a:endParaRPr lang="en-US" sz="1400" dirty="0"/>
          </a:p>
        </p:txBody>
      </p:sp>
      <p:sp>
        <p:nvSpPr>
          <p:cNvPr id="7" name="jsx-code"/>
          <p:cNvSpPr txBox="1"/>
          <p:nvPr/>
        </p:nvSpPr>
        <p:spPr>
          <a:xfrm>
            <a:off x="6208776" y="1645920"/>
            <a:ext cx="5431536" cy="2194560"/>
          </a:xfrm>
          <a:prstGeom prst="roundRect">
            <a:avLst>
              <a:gd name="adj" fmla="val 4167"/>
            </a:avLst>
          </a:prstGeom>
          <a:solidFill>
            <a:schemeClr val="accent6"/>
          </a:solidFill>
          <a:ln/>
        </p:spPr>
        <p:txBody>
          <a:bodyPr wrap="square" lIns="152400" tIns="152400" rIns="152400" bIns="15240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&lt;ul&gt;</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{items.length === 0 ?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&lt;li&gt;No items yet&lt;/li&gt;</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 : items.map((item) =&gt;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&lt;li key={item.id}&gt;</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{item.name}: {item.price}</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&lt;/li&gt;</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&lt;/ul&gt;</a:t>
            </a:r>
            <a:endParaRPr lang="en-US" sz="14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4114800"/>
          <a:ext cx="11091672" cy="914400"/>
        </p:xfrm>
        <a:graphic>
          <a:graphicData uri="http://schemas.openxmlformats.org/drawingml/2006/table">
            <a:tbl>
              <a:tblPr/>
              <a:tblGrid>
                <a:gridCol w="2194560"/>
                <a:gridCol w="4389120"/>
                <a:gridCol w="4507992"/>
              </a:tblGrid>
              <a:tr h="393192">
                <a:tc>
                  <a:txBody>
                    <a:bodyPr/>
                    <a:lstStyle/>
                    <a:p>
                      <a:pPr indent="0" marL="0">
                        <a:buNone/>
                      </a:pP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600" b="1" dirty="0">
                          <a:solidFill>
                            <a:schemeClr val="bg1"/>
                          </a:solidFill>
                        </a:rPr>
                        <a:t>Django template</a:t>
                      </a: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600" b="1" dirty="0">
                          <a:solidFill>
                            <a:schemeClr val="bg1"/>
                          </a:solidFill>
                        </a:rPr>
                        <a:t>React (JSX)</a:t>
                      </a: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393192">
                <a:tc>
                  <a:txBody>
                    <a:bodyPr/>
                    <a:lstStyle/>
                    <a:p>
                      <a:pPr indent="0" marL="0">
                        <a:buNone/>
                      </a:pPr>
                      <a:r>
                        <a:rPr lang="en-US" sz="1400" b="1" dirty="0">
                          <a:solidFill>
                            <a:schemeClr val="tx1"/>
                          </a:solidFill>
                        </a:rPr>
                        <a:t>Runs on</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The server, before the page is sent</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The browser, after the page loads</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93192">
                <a:tc>
                  <a:txBody>
                    <a:bodyPr/>
                    <a:lstStyle/>
                    <a:p>
                      <a:pPr indent="0" marL="0">
                        <a:buNone/>
                      </a:pPr>
                      <a:r>
                        <a:rPr lang="en-US" sz="1400" b="1" dirty="0">
                          <a:solidFill>
                            <a:schemeClr val="tx1"/>
                          </a:solidFill>
                        </a:rPr>
                        <a:t>Loop</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 for item in items %}</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items.map(...)</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93192">
                <a:tc>
                  <a:txBody>
                    <a:bodyPr/>
                    <a:lstStyle/>
                    <a:p>
                      <a:pPr indent="0" marL="0">
                        <a:buNone/>
                      </a:pPr>
                      <a:r>
                        <a:rPr lang="en-US" sz="1400" b="1" dirty="0">
                          <a:solidFill>
                            <a:schemeClr val="tx1"/>
                          </a:solidFill>
                        </a:rPr>
                        <a:t>Print a value</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 item.name }}</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{item.name}</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93192">
                <a:tc>
                  <a:txBody>
                    <a:bodyPr/>
                    <a:lstStyle/>
                    <a:p>
                      <a:pPr indent="0" marL="0">
                        <a:buNone/>
                      </a:pPr>
                      <a:r>
                        <a:rPr lang="en-US" sz="1400" b="1" dirty="0">
                          <a:solidFill>
                            <a:schemeClr val="tx1"/>
                          </a:solidFill>
                        </a:rPr>
                        <a:t>Sent to the browser</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Finished HTML</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JSON data, then React builds the HTML</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rPr>
              <a:t>What is Django REST Framework?</a:t>
            </a:r>
            <a:endParaRPr lang="en-US" sz="3600" dirty="0"/>
          </a:p>
        </p:txBody>
      </p:sp>
      <p:sp>
        <p:nvSpPr>
          <p:cNvPr id="4" name="definition"/>
          <p:cNvSpPr/>
          <p:nvPr/>
        </p:nvSpPr>
        <p:spPr>
          <a:xfrm>
            <a:off x="548640" y="1371600"/>
            <a:ext cx="5943600" cy="1463040"/>
          </a:xfrm>
          <a:prstGeom prst="roundRect">
            <a:avLst>
              <a:gd name="adj" fmla="val 7500"/>
            </a:avLst>
          </a:prstGeom>
          <a:solidFill>
            <a:schemeClr val="tx2"/>
          </a:solidFill>
          <a:ln/>
        </p:spPr>
      </p:sp>
      <p:sp>
        <p:nvSpPr>
          <p:cNvPr id="5" name="Text 2"/>
          <p:cNvSpPr txBox="1"/>
          <p:nvPr/>
        </p:nvSpPr>
        <p:spPr>
          <a:xfrm>
            <a:off x="822960" y="1481328"/>
            <a:ext cx="5394960" cy="320040"/>
          </a:xfrm>
          <a:prstGeom prst="rect">
            <a:avLst/>
          </a:prstGeom>
          <a:noFill/>
          <a:ln/>
        </p:spPr>
        <p:txBody>
          <a:bodyPr wrap="square" lIns="0" tIns="0" rIns="0" bIns="0" rtlCol="0" anchor="t"/>
          <a:lstStyle/>
          <a:p>
            <a:pPr indent="0" marL="0">
              <a:buNone/>
            </a:pPr>
            <a:r>
              <a:rPr lang="en-US" sz="1400" b="1" dirty="0">
                <a:solidFill>
                  <a:schemeClr val="accent1"/>
                </a:solidFill>
              </a:rPr>
              <a:t>Definition</a:t>
            </a:r>
            <a:endParaRPr lang="en-US" sz="1400" dirty="0"/>
          </a:p>
        </p:txBody>
      </p:sp>
      <p:sp>
        <p:nvSpPr>
          <p:cNvPr id="6" name="Text 3"/>
          <p:cNvSpPr txBox="1"/>
          <p:nvPr/>
        </p:nvSpPr>
        <p:spPr>
          <a:xfrm>
            <a:off x="822960" y="1828800"/>
            <a:ext cx="5394960" cy="914400"/>
          </a:xfrm>
          <a:prstGeom prst="rect">
            <a:avLst/>
          </a:prstGeom>
          <a:noFill/>
          <a:ln/>
        </p:spPr>
        <p:txBody>
          <a:bodyPr wrap="square" lIns="0" tIns="0" rIns="0" bIns="0" rtlCol="0" anchor="t"/>
          <a:lstStyle/>
          <a:p>
            <a:pPr indent="0" marL="0">
              <a:buNone/>
            </a:pPr>
            <a:r>
              <a:rPr lang="en-US" sz="1900" b="1" dirty="0">
                <a:solidFill>
                  <a:schemeClr val="bg1"/>
                </a:solidFill>
              </a:rPr>
              <a:t>DRF is a toolkit on top of Django for building web APIs that send and receive JSON.</a:t>
            </a:r>
            <a:endParaRPr lang="en-US" sz="1900" dirty="0"/>
          </a:p>
        </p:txBody>
      </p:sp>
      <p:sp>
        <p:nvSpPr>
          <p:cNvPr id="7" name="feature-row"/>
          <p:cNvSpPr/>
          <p:nvPr/>
        </p:nvSpPr>
        <p:spPr>
          <a:xfrm>
            <a:off x="548640" y="3017520"/>
            <a:ext cx="5943600" cy="530352"/>
          </a:xfrm>
          <a:prstGeom prst="roundRect">
            <a:avLst>
              <a:gd name="adj" fmla="val 20690"/>
            </a:avLst>
          </a:prstGeom>
          <a:solidFill>
            <a:schemeClr val="bg2"/>
          </a:solidFill>
          <a:ln/>
        </p:spPr>
      </p:sp>
      <p:sp>
        <p:nvSpPr>
          <p:cNvPr id="8" name="Text 5"/>
          <p:cNvSpPr txBox="1"/>
          <p:nvPr/>
        </p:nvSpPr>
        <p:spPr>
          <a:xfrm>
            <a:off x="777240" y="3017520"/>
            <a:ext cx="2103120" cy="530352"/>
          </a:xfrm>
          <a:prstGeom prst="rect">
            <a:avLst/>
          </a:prstGeom>
          <a:noFill/>
          <a:ln/>
        </p:spPr>
        <p:txBody>
          <a:bodyPr wrap="square" lIns="0" tIns="0" rIns="0" bIns="0" rtlCol="0" anchor="ctr"/>
          <a:lstStyle/>
          <a:p>
            <a:pPr indent="0" marL="0">
              <a:buNone/>
            </a:pPr>
            <a:r>
              <a:rPr lang="en-US" sz="1600" b="1" dirty="0">
                <a:solidFill>
                  <a:schemeClr val="tx2"/>
                </a:solidFill>
              </a:rPr>
              <a:t>Serializers</a:t>
            </a:r>
            <a:endParaRPr lang="en-US" sz="1600" dirty="0"/>
          </a:p>
        </p:txBody>
      </p:sp>
      <p:sp>
        <p:nvSpPr>
          <p:cNvPr id="9" name="Text 6"/>
          <p:cNvSpPr txBox="1"/>
          <p:nvPr/>
        </p:nvSpPr>
        <p:spPr>
          <a:xfrm>
            <a:off x="2926080" y="3017520"/>
            <a:ext cx="3474720" cy="530352"/>
          </a:xfrm>
          <a:prstGeom prst="rect">
            <a:avLst/>
          </a:prstGeom>
          <a:noFill/>
          <a:ln/>
        </p:spPr>
        <p:txBody>
          <a:bodyPr wrap="square" lIns="0" tIns="0" rIns="0" bIns="0" rtlCol="0" anchor="ctr"/>
          <a:lstStyle/>
          <a:p>
            <a:pPr indent="0" marL="0">
              <a:buNone/>
            </a:pPr>
            <a:r>
              <a:rPr lang="en-US" sz="1500" dirty="0">
                <a:solidFill>
                  <a:schemeClr val="tx1"/>
                </a:solidFill>
              </a:rPr>
              <a:t>convert models to JSON and validate input</a:t>
            </a:r>
            <a:endParaRPr lang="en-US" sz="1500" dirty="0"/>
          </a:p>
        </p:txBody>
      </p:sp>
      <p:sp>
        <p:nvSpPr>
          <p:cNvPr id="10" name="feature-row"/>
          <p:cNvSpPr/>
          <p:nvPr/>
        </p:nvSpPr>
        <p:spPr>
          <a:xfrm>
            <a:off x="548640" y="3639312"/>
            <a:ext cx="5943600" cy="530352"/>
          </a:xfrm>
          <a:prstGeom prst="roundRect">
            <a:avLst>
              <a:gd name="adj" fmla="val 20690"/>
            </a:avLst>
          </a:prstGeom>
          <a:solidFill>
            <a:schemeClr val="bg2"/>
          </a:solidFill>
          <a:ln/>
        </p:spPr>
      </p:sp>
      <p:sp>
        <p:nvSpPr>
          <p:cNvPr id="11" name="Text 8"/>
          <p:cNvSpPr txBox="1"/>
          <p:nvPr/>
        </p:nvSpPr>
        <p:spPr>
          <a:xfrm>
            <a:off x="777240" y="3639312"/>
            <a:ext cx="2103120" cy="530352"/>
          </a:xfrm>
          <a:prstGeom prst="rect">
            <a:avLst/>
          </a:prstGeom>
          <a:noFill/>
          <a:ln/>
        </p:spPr>
        <p:txBody>
          <a:bodyPr wrap="square" lIns="0" tIns="0" rIns="0" bIns="0" rtlCol="0" anchor="ctr"/>
          <a:lstStyle/>
          <a:p>
            <a:pPr indent="0" marL="0">
              <a:buNone/>
            </a:pPr>
            <a:r>
              <a:rPr lang="en-US" sz="1600" b="1" dirty="0">
                <a:solidFill>
                  <a:schemeClr val="tx2"/>
                </a:solidFill>
              </a:rPr>
              <a:t>API views</a:t>
            </a:r>
            <a:endParaRPr lang="en-US" sz="1600" dirty="0"/>
          </a:p>
        </p:txBody>
      </p:sp>
      <p:sp>
        <p:nvSpPr>
          <p:cNvPr id="12" name="Text 9"/>
          <p:cNvSpPr txBox="1"/>
          <p:nvPr/>
        </p:nvSpPr>
        <p:spPr>
          <a:xfrm>
            <a:off x="2926080" y="3639312"/>
            <a:ext cx="3474720" cy="530352"/>
          </a:xfrm>
          <a:prstGeom prst="rect">
            <a:avLst/>
          </a:prstGeom>
          <a:noFill/>
          <a:ln/>
        </p:spPr>
        <p:txBody>
          <a:bodyPr wrap="square" lIns="0" tIns="0" rIns="0" bIns="0" rtlCol="0" anchor="ctr"/>
          <a:lstStyle/>
          <a:p>
            <a:pPr indent="0" marL="0">
              <a:buNone/>
            </a:pPr>
            <a:r>
              <a:rPr lang="en-US" sz="1500" dirty="0">
                <a:solidFill>
                  <a:schemeClr val="tx1"/>
                </a:solidFill>
              </a:rPr>
              <a:t>@api_view functions or ViewSets</a:t>
            </a:r>
            <a:endParaRPr lang="en-US" sz="1500" dirty="0"/>
          </a:p>
        </p:txBody>
      </p:sp>
      <p:sp>
        <p:nvSpPr>
          <p:cNvPr id="13" name="feature-row"/>
          <p:cNvSpPr/>
          <p:nvPr/>
        </p:nvSpPr>
        <p:spPr>
          <a:xfrm>
            <a:off x="548640" y="4261104"/>
            <a:ext cx="5943600" cy="530352"/>
          </a:xfrm>
          <a:prstGeom prst="roundRect">
            <a:avLst>
              <a:gd name="adj" fmla="val 20690"/>
            </a:avLst>
          </a:prstGeom>
          <a:solidFill>
            <a:schemeClr val="bg2"/>
          </a:solidFill>
          <a:ln/>
        </p:spPr>
      </p:sp>
      <p:sp>
        <p:nvSpPr>
          <p:cNvPr id="14" name="Text 11"/>
          <p:cNvSpPr txBox="1"/>
          <p:nvPr/>
        </p:nvSpPr>
        <p:spPr>
          <a:xfrm>
            <a:off x="777240" y="4261104"/>
            <a:ext cx="2103120" cy="530352"/>
          </a:xfrm>
          <a:prstGeom prst="rect">
            <a:avLst/>
          </a:prstGeom>
          <a:noFill/>
          <a:ln/>
        </p:spPr>
        <p:txBody>
          <a:bodyPr wrap="square" lIns="0" tIns="0" rIns="0" bIns="0" rtlCol="0" anchor="ctr"/>
          <a:lstStyle/>
          <a:p>
            <a:pPr indent="0" marL="0">
              <a:buNone/>
            </a:pPr>
            <a:r>
              <a:rPr lang="en-US" sz="1600" b="1" dirty="0">
                <a:solidFill>
                  <a:schemeClr val="tx2"/>
                </a:solidFill>
              </a:rPr>
              <a:t>Routers</a:t>
            </a:r>
            <a:endParaRPr lang="en-US" sz="1600" dirty="0"/>
          </a:p>
        </p:txBody>
      </p:sp>
      <p:sp>
        <p:nvSpPr>
          <p:cNvPr id="15" name="Text 12"/>
          <p:cNvSpPr txBox="1"/>
          <p:nvPr/>
        </p:nvSpPr>
        <p:spPr>
          <a:xfrm>
            <a:off x="2926080" y="4261104"/>
            <a:ext cx="3474720" cy="530352"/>
          </a:xfrm>
          <a:prstGeom prst="rect">
            <a:avLst/>
          </a:prstGeom>
          <a:noFill/>
          <a:ln/>
        </p:spPr>
        <p:txBody>
          <a:bodyPr wrap="square" lIns="0" tIns="0" rIns="0" bIns="0" rtlCol="0" anchor="ctr"/>
          <a:lstStyle/>
          <a:p>
            <a:pPr indent="0" marL="0">
              <a:buNone/>
            </a:pPr>
            <a:r>
              <a:rPr lang="en-US" sz="1500" dirty="0">
                <a:solidFill>
                  <a:schemeClr val="tx1"/>
                </a:solidFill>
              </a:rPr>
              <a:t>generate the URLs for you</a:t>
            </a:r>
            <a:endParaRPr lang="en-US" sz="1500" dirty="0"/>
          </a:p>
        </p:txBody>
      </p:sp>
      <p:sp>
        <p:nvSpPr>
          <p:cNvPr id="16" name="feature-row"/>
          <p:cNvSpPr/>
          <p:nvPr/>
        </p:nvSpPr>
        <p:spPr>
          <a:xfrm>
            <a:off x="548640" y="4882896"/>
            <a:ext cx="5943600" cy="530352"/>
          </a:xfrm>
          <a:prstGeom prst="roundRect">
            <a:avLst>
              <a:gd name="adj" fmla="val 20690"/>
            </a:avLst>
          </a:prstGeom>
          <a:solidFill>
            <a:schemeClr val="bg2"/>
          </a:solidFill>
          <a:ln/>
        </p:spPr>
      </p:sp>
      <p:sp>
        <p:nvSpPr>
          <p:cNvPr id="17" name="Text 14"/>
          <p:cNvSpPr txBox="1"/>
          <p:nvPr/>
        </p:nvSpPr>
        <p:spPr>
          <a:xfrm>
            <a:off x="777240" y="4882896"/>
            <a:ext cx="2103120" cy="530352"/>
          </a:xfrm>
          <a:prstGeom prst="rect">
            <a:avLst/>
          </a:prstGeom>
          <a:noFill/>
          <a:ln/>
        </p:spPr>
        <p:txBody>
          <a:bodyPr wrap="square" lIns="0" tIns="0" rIns="0" bIns="0" rtlCol="0" anchor="ctr"/>
          <a:lstStyle/>
          <a:p>
            <a:pPr indent="0" marL="0">
              <a:buNone/>
            </a:pPr>
            <a:r>
              <a:rPr lang="en-US" sz="1600" b="1" dirty="0">
                <a:solidFill>
                  <a:schemeClr val="tx2"/>
                </a:solidFill>
              </a:rPr>
              <a:t>Browsable API</a:t>
            </a:r>
            <a:endParaRPr lang="en-US" sz="1600" dirty="0"/>
          </a:p>
        </p:txBody>
      </p:sp>
      <p:sp>
        <p:nvSpPr>
          <p:cNvPr id="18" name="Text 15"/>
          <p:cNvSpPr txBox="1"/>
          <p:nvPr/>
        </p:nvSpPr>
        <p:spPr>
          <a:xfrm>
            <a:off x="2926080" y="4882896"/>
            <a:ext cx="3474720" cy="530352"/>
          </a:xfrm>
          <a:prstGeom prst="rect">
            <a:avLst/>
          </a:prstGeom>
          <a:noFill/>
          <a:ln/>
        </p:spPr>
        <p:txBody>
          <a:bodyPr wrap="square" lIns="0" tIns="0" rIns="0" bIns="0" rtlCol="0" anchor="ctr"/>
          <a:lstStyle/>
          <a:p>
            <a:pPr indent="0" marL="0">
              <a:buNone/>
            </a:pPr>
            <a:r>
              <a:rPr lang="en-US" sz="1500" dirty="0">
                <a:solidFill>
                  <a:schemeClr val="tx1"/>
                </a:solidFill>
              </a:rPr>
              <a:t>test your endpoints in the browser</a:t>
            </a:r>
            <a:endParaRPr lang="en-US" sz="1500" dirty="0"/>
          </a:p>
        </p:txBody>
      </p:sp>
      <p:sp>
        <p:nvSpPr>
          <p:cNvPr id="19" name="feature-row"/>
          <p:cNvSpPr/>
          <p:nvPr/>
        </p:nvSpPr>
        <p:spPr>
          <a:xfrm>
            <a:off x="548640" y="5504688"/>
            <a:ext cx="5943600" cy="530352"/>
          </a:xfrm>
          <a:prstGeom prst="roundRect">
            <a:avLst>
              <a:gd name="adj" fmla="val 20690"/>
            </a:avLst>
          </a:prstGeom>
          <a:solidFill>
            <a:schemeClr val="bg2"/>
          </a:solidFill>
          <a:ln/>
        </p:spPr>
      </p:sp>
      <p:sp>
        <p:nvSpPr>
          <p:cNvPr id="20" name="Text 17"/>
          <p:cNvSpPr txBox="1"/>
          <p:nvPr/>
        </p:nvSpPr>
        <p:spPr>
          <a:xfrm>
            <a:off x="777240" y="5504688"/>
            <a:ext cx="2103120" cy="530352"/>
          </a:xfrm>
          <a:prstGeom prst="rect">
            <a:avLst/>
          </a:prstGeom>
          <a:noFill/>
          <a:ln/>
        </p:spPr>
        <p:txBody>
          <a:bodyPr wrap="square" lIns="0" tIns="0" rIns="0" bIns="0" rtlCol="0" anchor="ctr"/>
          <a:lstStyle/>
          <a:p>
            <a:pPr indent="0" marL="0">
              <a:buNone/>
            </a:pPr>
            <a:r>
              <a:rPr lang="en-US" sz="1600" b="1" dirty="0">
                <a:solidFill>
                  <a:schemeClr val="tx2"/>
                </a:solidFill>
              </a:rPr>
              <a:t>Auth and permissions</a:t>
            </a:r>
            <a:endParaRPr lang="en-US" sz="1600" dirty="0"/>
          </a:p>
        </p:txBody>
      </p:sp>
      <p:sp>
        <p:nvSpPr>
          <p:cNvPr id="21" name="Text 18"/>
          <p:cNvSpPr txBox="1"/>
          <p:nvPr/>
        </p:nvSpPr>
        <p:spPr>
          <a:xfrm>
            <a:off x="2926080" y="5504688"/>
            <a:ext cx="3474720" cy="530352"/>
          </a:xfrm>
          <a:prstGeom prst="rect">
            <a:avLst/>
          </a:prstGeom>
          <a:noFill/>
          <a:ln/>
        </p:spPr>
        <p:txBody>
          <a:bodyPr wrap="square" lIns="0" tIns="0" rIns="0" bIns="0" rtlCol="0" anchor="ctr"/>
          <a:lstStyle/>
          <a:p>
            <a:pPr indent="0" marL="0">
              <a:buNone/>
            </a:pPr>
            <a:r>
              <a:rPr lang="en-US" sz="1500" dirty="0">
                <a:solidFill>
                  <a:schemeClr val="tx1"/>
                </a:solidFill>
              </a:rPr>
              <a:t>control who can do what</a:t>
            </a:r>
            <a:endParaRPr lang="en-US" sz="1500" dirty="0"/>
          </a:p>
        </p:txBody>
      </p:sp>
      <p:sp>
        <p:nvSpPr>
          <p:cNvPr id="22" name="diagram-box"/>
          <p:cNvSpPr txBox="1"/>
          <p:nvPr/>
        </p:nvSpPr>
        <p:spPr>
          <a:xfrm>
            <a:off x="6949440" y="1371600"/>
            <a:ext cx="4690872" cy="822960"/>
          </a:xfrm>
          <a:prstGeom prst="roundRect">
            <a:avLst>
              <a:gd name="adj" fmla="val 13333"/>
            </a:avLst>
          </a:prstGeom>
          <a:solidFill>
            <a:schemeClr val="bg2"/>
          </a:solidFill>
          <a:ln/>
        </p:spPr>
        <p:txBody>
          <a:bodyPr wrap="square" lIns="76200" tIns="76200" rIns="76200" bIns="76200" rtlCol="0" anchor="ctr"/>
          <a:lstStyle/>
          <a:p>
            <a:pPr algn="ctr" indent="0" marL="0">
              <a:buNone/>
            </a:pPr>
            <a:r>
              <a:rPr lang="en-US" sz="1700" b="1" dirty="0">
                <a:solidFill>
                  <a:schemeClr val="tx2"/>
                </a:solidFill>
              </a:rPr>
              <a:t>React app / mobile app / Postman</a:t>
            </a:r>
            <a:endParaRPr lang="en-US" sz="1700" dirty="0"/>
          </a:p>
          <a:p>
            <a:pPr algn="ctr" indent="0" marL="0">
              <a:buNone/>
            </a:pPr>
            <a:r>
              <a:rPr lang="en-US" sz="1400" dirty="0">
                <a:solidFill>
                  <a:schemeClr val="tx2"/>
                </a:solidFill>
              </a:rPr>
              <a:t>the client</a:t>
            </a:r>
            <a:endParaRPr lang="en-US" sz="1700" dirty="0"/>
          </a:p>
        </p:txBody>
      </p:sp>
      <p:sp>
        <p:nvSpPr>
          <p:cNvPr id="23" name="arrow"/>
          <p:cNvSpPr/>
          <p:nvPr/>
        </p:nvSpPr>
        <p:spPr>
          <a:xfrm>
            <a:off x="9299448" y="2194560"/>
            <a:ext cx="0" cy="457200"/>
          </a:xfrm>
          <a:prstGeom prst="line">
            <a:avLst/>
          </a:prstGeom>
          <a:noFill/>
          <a:ln w="28575">
            <a:solidFill>
              <a:schemeClr val="tx2"/>
            </a:solidFill>
            <a:prstDash val="solid"/>
            <a:headEnd type="triangle"/>
            <a:tailEnd type="triangle"/>
          </a:ln>
        </p:spPr>
      </p:sp>
      <p:sp>
        <p:nvSpPr>
          <p:cNvPr id="24" name="diagram-box"/>
          <p:cNvSpPr txBox="1"/>
          <p:nvPr/>
        </p:nvSpPr>
        <p:spPr>
          <a:xfrm>
            <a:off x="6949440" y="2651760"/>
            <a:ext cx="4690872" cy="822960"/>
          </a:xfrm>
          <a:prstGeom prst="roundRect">
            <a:avLst>
              <a:gd name="adj" fmla="val 13333"/>
            </a:avLst>
          </a:prstGeom>
          <a:solidFill>
            <a:schemeClr val="tx2"/>
          </a:solidFill>
          <a:ln/>
        </p:spPr>
        <p:txBody>
          <a:bodyPr wrap="square" lIns="76200" tIns="76200" rIns="76200" bIns="76200" rtlCol="0" anchor="ctr"/>
          <a:lstStyle/>
          <a:p>
            <a:pPr algn="ctr" indent="0" marL="0">
              <a:buNone/>
            </a:pPr>
            <a:r>
              <a:rPr lang="en-US" sz="1700" b="1" dirty="0">
                <a:solidFill>
                  <a:schemeClr val="bg1"/>
                </a:solidFill>
              </a:rPr>
              <a:t>Django REST Framework</a:t>
            </a:r>
            <a:endParaRPr lang="en-US" sz="1700" dirty="0"/>
          </a:p>
          <a:p>
            <a:pPr algn="ctr" indent="0" marL="0">
              <a:buNone/>
            </a:pPr>
            <a:r>
              <a:rPr lang="en-US" sz="1400" dirty="0">
                <a:solidFill>
                  <a:schemeClr val="bg1"/>
                </a:solidFill>
              </a:rPr>
              <a:t>serializers, API views, routers</a:t>
            </a:r>
            <a:endParaRPr lang="en-US" sz="1700" dirty="0"/>
          </a:p>
        </p:txBody>
      </p:sp>
      <p:sp>
        <p:nvSpPr>
          <p:cNvPr id="25" name="arrow"/>
          <p:cNvSpPr/>
          <p:nvPr/>
        </p:nvSpPr>
        <p:spPr>
          <a:xfrm>
            <a:off x="9299448" y="3474720"/>
            <a:ext cx="0" cy="457200"/>
          </a:xfrm>
          <a:prstGeom prst="line">
            <a:avLst/>
          </a:prstGeom>
          <a:noFill/>
          <a:ln w="28575">
            <a:solidFill>
              <a:schemeClr val="tx2"/>
            </a:solidFill>
            <a:prstDash val="solid"/>
            <a:headEnd type="triangle"/>
            <a:tailEnd type="triangle"/>
          </a:ln>
        </p:spPr>
      </p:sp>
      <p:sp>
        <p:nvSpPr>
          <p:cNvPr id="26" name="diagram-box"/>
          <p:cNvSpPr txBox="1"/>
          <p:nvPr/>
        </p:nvSpPr>
        <p:spPr>
          <a:xfrm>
            <a:off x="6949440" y="3931920"/>
            <a:ext cx="4690872" cy="822960"/>
          </a:xfrm>
          <a:prstGeom prst="roundRect">
            <a:avLst>
              <a:gd name="adj" fmla="val 13333"/>
            </a:avLst>
          </a:prstGeom>
          <a:solidFill>
            <a:schemeClr val="tx2"/>
          </a:solidFill>
          <a:ln/>
        </p:spPr>
        <p:txBody>
          <a:bodyPr wrap="square" lIns="76200" tIns="76200" rIns="76200" bIns="76200" rtlCol="0" anchor="ctr"/>
          <a:lstStyle/>
          <a:p>
            <a:pPr algn="ctr" indent="0" marL="0">
              <a:buNone/>
            </a:pPr>
            <a:r>
              <a:rPr lang="en-US" sz="1700" b="1" dirty="0">
                <a:solidFill>
                  <a:schemeClr val="bg1"/>
                </a:solidFill>
              </a:rPr>
              <a:t>Django</a:t>
            </a:r>
            <a:endParaRPr lang="en-US" sz="1700" dirty="0"/>
          </a:p>
          <a:p>
            <a:pPr algn="ctr" indent="0" marL="0">
              <a:buNone/>
            </a:pPr>
            <a:r>
              <a:rPr lang="en-US" sz="1400" dirty="0">
                <a:solidFill>
                  <a:schemeClr val="bg1"/>
                </a:solidFill>
              </a:rPr>
              <a:t>models, ORM, admin, security</a:t>
            </a:r>
            <a:endParaRPr lang="en-US" sz="1700" dirty="0"/>
          </a:p>
        </p:txBody>
      </p:sp>
      <p:sp>
        <p:nvSpPr>
          <p:cNvPr id="27" name="arrow"/>
          <p:cNvSpPr/>
          <p:nvPr/>
        </p:nvSpPr>
        <p:spPr>
          <a:xfrm>
            <a:off x="9299448" y="4754880"/>
            <a:ext cx="0" cy="457200"/>
          </a:xfrm>
          <a:prstGeom prst="line">
            <a:avLst/>
          </a:prstGeom>
          <a:noFill/>
          <a:ln w="28575">
            <a:solidFill>
              <a:schemeClr val="tx2"/>
            </a:solidFill>
            <a:prstDash val="solid"/>
            <a:headEnd type="triangle"/>
            <a:tailEnd type="triangle"/>
          </a:ln>
        </p:spPr>
      </p:sp>
      <p:sp>
        <p:nvSpPr>
          <p:cNvPr id="28" name="diagram-box"/>
          <p:cNvSpPr txBox="1"/>
          <p:nvPr/>
        </p:nvSpPr>
        <p:spPr>
          <a:xfrm>
            <a:off x="6949440" y="5212080"/>
            <a:ext cx="4690872" cy="822960"/>
          </a:xfrm>
          <a:prstGeom prst="roundRect">
            <a:avLst>
              <a:gd name="adj" fmla="val 13333"/>
            </a:avLst>
          </a:prstGeom>
          <a:solidFill>
            <a:schemeClr val="bg2"/>
          </a:solidFill>
          <a:ln/>
        </p:spPr>
        <p:txBody>
          <a:bodyPr wrap="square" lIns="76200" tIns="76200" rIns="76200" bIns="76200" rtlCol="0" anchor="ctr"/>
          <a:lstStyle/>
          <a:p>
            <a:pPr algn="ctr" indent="0" marL="0">
              <a:buNone/>
            </a:pPr>
            <a:r>
              <a:rPr lang="en-US" sz="1700" b="1" dirty="0">
                <a:solidFill>
                  <a:schemeClr val="tx2"/>
                </a:solidFill>
              </a:rPr>
              <a:t>Database</a:t>
            </a:r>
            <a:endParaRPr lang="en-US" sz="1700" dirty="0"/>
          </a:p>
          <a:p>
            <a:pPr algn="ctr" indent="0" marL="0">
              <a:buNone/>
            </a:pPr>
            <a:r>
              <a:rPr lang="en-US" sz="1400" dirty="0">
                <a:solidFill>
                  <a:schemeClr val="tx2"/>
                </a:solidFill>
              </a:rPr>
              <a:t>SQLite / MySQL / PostgreSQL</a:t>
            </a:r>
            <a:endParaRPr lang="en-US" sz="1700" dirty="0"/>
          </a:p>
        </p:txBody>
      </p:sp>
      <p:sp>
        <p:nvSpPr>
          <p:cNvPr id="29" name="Text 26"/>
          <p:cNvSpPr txBox="1"/>
          <p:nvPr/>
        </p:nvSpPr>
        <p:spPr>
          <a:xfrm>
            <a:off x="9464040" y="2286000"/>
            <a:ext cx="2103120" cy="274320"/>
          </a:xfrm>
          <a:prstGeom prst="rect">
            <a:avLst/>
          </a:prstGeom>
          <a:noFill/>
          <a:ln/>
        </p:spPr>
        <p:txBody>
          <a:bodyPr wrap="square" lIns="0" tIns="0" rIns="0" bIns="0" rtlCol="0" anchor="t"/>
          <a:lstStyle/>
          <a:p>
            <a:pPr indent="0" marL="0">
              <a:buNone/>
            </a:pPr>
            <a:r>
              <a:rPr lang="en-US" sz="1200" dirty="0">
                <a:solidFill>
                  <a:schemeClr val="accent5"/>
                </a:solidFill>
              </a:rPr>
              <a:t>JSON over HTTP</a:t>
            </a:r>
            <a:endParaRPr lang="en-US" sz="12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rPr>
              <a:t>Templates vs DRF + React vs MERN</a:t>
            </a:r>
            <a:endParaRPr lang="en-US" sz="36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286000"/>
                <a:gridCol w="2834640"/>
                <a:gridCol w="3108960"/>
                <a:gridCol w="2862072"/>
              </a:tblGrid>
              <a:tr h="566928">
                <a:tc>
                  <a:txBody>
                    <a:bodyPr/>
                    <a:lstStyle/>
                    <a:p>
                      <a:pPr indent="0" marL="0">
                        <a:buNone/>
                      </a:pP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600" b="1" dirty="0">
                          <a:solidFill>
                            <a:schemeClr val="bg1"/>
                          </a:solidFill>
                        </a:rPr>
                        <a:t>Django templates</a:t>
                      </a: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600" b="1" dirty="0">
                          <a:solidFill>
                            <a:schemeClr val="bg1"/>
                          </a:solidFill>
                        </a:rPr>
                        <a:t>Django + DRF + React</a:t>
                      </a: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600" b="1" dirty="0">
                          <a:solidFill>
                            <a:schemeClr val="bg1"/>
                          </a:solidFill>
                        </a:rPr>
                        <a:t>MERN</a:t>
                      </a: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66928">
                <a:tc>
                  <a:txBody>
                    <a:bodyPr/>
                    <a:lstStyle/>
                    <a:p>
                      <a:pPr indent="0" marL="0">
                        <a:buNone/>
                      </a:pPr>
                      <a:r>
                        <a:rPr lang="en-US" sz="1500" b="1" dirty="0">
                          <a:solidFill>
                            <a:schemeClr val="tx1"/>
                          </a:solidFill>
                        </a:rPr>
                        <a:t>Page is built by</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Django, on the server</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React, in the browser</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React, in the browser</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500" b="1" dirty="0">
                          <a:solidFill>
                            <a:schemeClr val="tx1"/>
                          </a:solidFill>
                        </a:rPr>
                        <a:t>Backend</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Django views</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Django views + DRF</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Express on Node.js</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500" b="1" dirty="0">
                          <a:solidFill>
                            <a:schemeClr val="tx1"/>
                          </a:solidFill>
                        </a:rPr>
                        <a:t>Data sent to browser</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Finished HTML pages</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JSON</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JSON</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500" b="1" dirty="0">
                          <a:solidFill>
                            <a:schemeClr val="tx1"/>
                          </a:solidFill>
                        </a:rPr>
                        <a:t>Database layer</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Django ORM (SQL)</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Django ORM (SQL)</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Mongoose + MongoDB</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500" b="1" dirty="0">
                          <a:solidFill>
                            <a:schemeClr val="tx1"/>
                          </a:solidFill>
                        </a:rPr>
                        <a:t>Admin panel</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Built in</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Built in</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Build it yourself</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500" b="1" dirty="0">
                          <a:solidFill>
                            <a:schemeClr val="tx1"/>
                          </a:solidFill>
                        </a:rPr>
                        <a:t>Best for</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Content sites, quick MVPs</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Rich UIs and mobile apps</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JavaScript-only teams</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5" name="callout"/>
          <p:cNvSpPr/>
          <p:nvPr/>
        </p:nvSpPr>
        <p:spPr>
          <a:xfrm>
            <a:off x="548640" y="5532120"/>
            <a:ext cx="11091672" cy="594360"/>
          </a:xfrm>
          <a:prstGeom prst="roundRect">
            <a:avLst>
              <a:gd name="adj" fmla="val 18462"/>
            </a:avLst>
          </a:prstGeom>
          <a:solidFill>
            <a:schemeClr val="bg2"/>
          </a:solidFill>
          <a:ln/>
        </p:spPr>
      </p:sp>
      <p:sp>
        <p:nvSpPr>
          <p:cNvPr id="6" name="Text 2"/>
          <p:cNvSpPr txBox="1"/>
          <p:nvPr/>
        </p:nvSpPr>
        <p:spPr>
          <a:xfrm>
            <a:off x="822960" y="5532120"/>
            <a:ext cx="10543032" cy="594360"/>
          </a:xfrm>
          <a:prstGeom prst="rect">
            <a:avLst/>
          </a:prstGeom>
          <a:noFill/>
          <a:ln/>
        </p:spPr>
        <p:txBody>
          <a:bodyPr wrap="square" lIns="0" tIns="0" rIns="0" bIns="0" rtlCol="0" anchor="ctr"/>
          <a:lstStyle/>
          <a:p>
            <a:pPr indent="0" marL="0">
              <a:buNone/>
            </a:pPr>
            <a:r>
              <a:rPr lang="en-US" sz="1600" dirty="0">
                <a:solidFill>
                  <a:schemeClr val="tx1"/>
                </a:solidFill>
              </a:rPr>
              <a:t>In this seminar we build the Django + DRF part: the API. A React frontend can plug into it later.</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rPr>
              <a:t>Project setup: step by step</a:t>
            </a:r>
            <a:endParaRPr lang="en-US" sz="3600" dirty="0"/>
          </a:p>
        </p:txBody>
      </p:sp>
      <p:sp>
        <p:nvSpPr>
          <p:cNvPr id="4" name="step-number"/>
          <p:cNvSpPr txBox="1"/>
          <p:nvPr/>
        </p:nvSpPr>
        <p:spPr>
          <a:xfrm>
            <a:off x="548640" y="1554480"/>
            <a:ext cx="457200" cy="45720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2"/>
          <p:cNvSpPr txBox="1"/>
          <p:nvPr/>
        </p:nvSpPr>
        <p:spPr>
          <a:xfrm>
            <a:off x="1234440" y="1371600"/>
            <a:ext cx="5760720" cy="274320"/>
          </a:xfrm>
          <a:prstGeom prst="rect">
            <a:avLst/>
          </a:prstGeom>
          <a:noFill/>
          <a:ln/>
        </p:spPr>
        <p:txBody>
          <a:bodyPr wrap="square" lIns="0" tIns="0" rIns="0" bIns="0" rtlCol="0" anchor="t"/>
          <a:lstStyle/>
          <a:p>
            <a:pPr indent="0" marL="0">
              <a:buNone/>
            </a:pPr>
            <a:r>
              <a:rPr lang="en-US" sz="1400" b="1" dirty="0">
                <a:solidFill>
                  <a:schemeClr val="accent5"/>
                </a:solidFill>
              </a:rPr>
              <a:t>Create a virtual environment</a:t>
            </a:r>
            <a:endParaRPr lang="en-US" sz="1400" dirty="0"/>
          </a:p>
        </p:txBody>
      </p:sp>
      <p:sp>
        <p:nvSpPr>
          <p:cNvPr id="6" name="command"/>
          <p:cNvSpPr txBox="1"/>
          <p:nvPr/>
        </p:nvSpPr>
        <p:spPr>
          <a:xfrm>
            <a:off x="1234440" y="1645920"/>
            <a:ext cx="5760720" cy="457200"/>
          </a:xfrm>
          <a:prstGeom prst="roundRect">
            <a:avLst>
              <a:gd name="adj" fmla="val 20000"/>
            </a:avLst>
          </a:prstGeom>
          <a:solidFill>
            <a:schemeClr val="accent6"/>
          </a:solidFill>
          <a:ln/>
        </p:spPr>
        <p:txBody>
          <a:bodyPr wrap="square" lIns="152400" tIns="152400" rIns="152400" bIns="15240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python -m venv venv</a:t>
            </a:r>
            <a:endParaRPr lang="en-US" sz="1400" dirty="0"/>
          </a:p>
        </p:txBody>
      </p:sp>
      <p:sp>
        <p:nvSpPr>
          <p:cNvPr id="7" name="step-number"/>
          <p:cNvSpPr txBox="1"/>
          <p:nvPr/>
        </p:nvSpPr>
        <p:spPr>
          <a:xfrm>
            <a:off x="548640" y="2340864"/>
            <a:ext cx="457200" cy="45720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5"/>
          <p:cNvSpPr txBox="1"/>
          <p:nvPr/>
        </p:nvSpPr>
        <p:spPr>
          <a:xfrm>
            <a:off x="1234440" y="2157984"/>
            <a:ext cx="5760720" cy="274320"/>
          </a:xfrm>
          <a:prstGeom prst="rect">
            <a:avLst/>
          </a:prstGeom>
          <a:noFill/>
          <a:ln/>
        </p:spPr>
        <p:txBody>
          <a:bodyPr wrap="square" lIns="0" tIns="0" rIns="0" bIns="0" rtlCol="0" anchor="t"/>
          <a:lstStyle/>
          <a:p>
            <a:pPr indent="0" marL="0">
              <a:buNone/>
            </a:pPr>
            <a:r>
              <a:rPr lang="en-US" sz="1400" b="1" dirty="0">
                <a:solidFill>
                  <a:schemeClr val="accent5"/>
                </a:solidFill>
              </a:rPr>
              <a:t>Activate it (Windows)</a:t>
            </a:r>
            <a:endParaRPr lang="en-US" sz="1400" dirty="0"/>
          </a:p>
        </p:txBody>
      </p:sp>
      <p:sp>
        <p:nvSpPr>
          <p:cNvPr id="9" name="command"/>
          <p:cNvSpPr txBox="1"/>
          <p:nvPr/>
        </p:nvSpPr>
        <p:spPr>
          <a:xfrm>
            <a:off x="1234440" y="2432304"/>
            <a:ext cx="5760720" cy="457200"/>
          </a:xfrm>
          <a:prstGeom prst="roundRect">
            <a:avLst>
              <a:gd name="adj" fmla="val 20000"/>
            </a:avLst>
          </a:prstGeom>
          <a:solidFill>
            <a:schemeClr val="accent6"/>
          </a:solidFill>
          <a:ln/>
        </p:spPr>
        <p:txBody>
          <a:bodyPr wrap="square" lIns="152400" tIns="152400" rIns="152400" bIns="15240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venv\Scripts\activate</a:t>
            </a:r>
            <a:endParaRPr lang="en-US" sz="1400" dirty="0"/>
          </a:p>
        </p:txBody>
      </p:sp>
      <p:sp>
        <p:nvSpPr>
          <p:cNvPr id="10" name="step-number"/>
          <p:cNvSpPr txBox="1"/>
          <p:nvPr/>
        </p:nvSpPr>
        <p:spPr>
          <a:xfrm>
            <a:off x="548640" y="3127248"/>
            <a:ext cx="457200" cy="45720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 8"/>
          <p:cNvSpPr txBox="1"/>
          <p:nvPr/>
        </p:nvSpPr>
        <p:spPr>
          <a:xfrm>
            <a:off x="1234440" y="2944368"/>
            <a:ext cx="5760720" cy="274320"/>
          </a:xfrm>
          <a:prstGeom prst="rect">
            <a:avLst/>
          </a:prstGeom>
          <a:noFill/>
          <a:ln/>
        </p:spPr>
        <p:txBody>
          <a:bodyPr wrap="square" lIns="0" tIns="0" rIns="0" bIns="0" rtlCol="0" anchor="t"/>
          <a:lstStyle/>
          <a:p>
            <a:pPr indent="0" marL="0">
              <a:buNone/>
            </a:pPr>
            <a:r>
              <a:rPr lang="en-US" sz="1400" b="1" dirty="0">
                <a:solidFill>
                  <a:schemeClr val="accent5"/>
                </a:solidFill>
              </a:rPr>
              <a:t>Install Django, DRF and Pillow</a:t>
            </a:r>
            <a:endParaRPr lang="en-US" sz="1400" dirty="0"/>
          </a:p>
        </p:txBody>
      </p:sp>
      <p:sp>
        <p:nvSpPr>
          <p:cNvPr id="12" name="command"/>
          <p:cNvSpPr txBox="1"/>
          <p:nvPr/>
        </p:nvSpPr>
        <p:spPr>
          <a:xfrm>
            <a:off x="1234440" y="3218688"/>
            <a:ext cx="5760720" cy="457200"/>
          </a:xfrm>
          <a:prstGeom prst="roundRect">
            <a:avLst>
              <a:gd name="adj" fmla="val 20000"/>
            </a:avLst>
          </a:prstGeom>
          <a:solidFill>
            <a:schemeClr val="accent6"/>
          </a:solidFill>
          <a:ln/>
        </p:spPr>
        <p:txBody>
          <a:bodyPr wrap="square" lIns="152400" tIns="152400" rIns="152400" bIns="15240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pip install django djangorestframework pillow</a:t>
            </a:r>
            <a:endParaRPr lang="en-US" sz="1400" dirty="0"/>
          </a:p>
        </p:txBody>
      </p:sp>
      <p:sp>
        <p:nvSpPr>
          <p:cNvPr id="13" name="step-number"/>
          <p:cNvSpPr txBox="1"/>
          <p:nvPr/>
        </p:nvSpPr>
        <p:spPr>
          <a:xfrm>
            <a:off x="548640" y="3913632"/>
            <a:ext cx="457200" cy="45720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ext 11"/>
          <p:cNvSpPr txBox="1"/>
          <p:nvPr/>
        </p:nvSpPr>
        <p:spPr>
          <a:xfrm>
            <a:off x="1234440" y="3730752"/>
            <a:ext cx="5760720" cy="274320"/>
          </a:xfrm>
          <a:prstGeom prst="rect">
            <a:avLst/>
          </a:prstGeom>
          <a:noFill/>
          <a:ln/>
        </p:spPr>
        <p:txBody>
          <a:bodyPr wrap="square" lIns="0" tIns="0" rIns="0" bIns="0" rtlCol="0" anchor="t"/>
          <a:lstStyle/>
          <a:p>
            <a:pPr indent="0" marL="0">
              <a:buNone/>
            </a:pPr>
            <a:r>
              <a:rPr lang="en-US" sz="1400" b="1" dirty="0">
                <a:solidFill>
                  <a:schemeClr val="accent5"/>
                </a:solidFill>
              </a:rPr>
              <a:t>Create the project (note the dot)</a:t>
            </a:r>
            <a:endParaRPr lang="en-US" sz="1400" dirty="0"/>
          </a:p>
        </p:txBody>
      </p:sp>
      <p:sp>
        <p:nvSpPr>
          <p:cNvPr id="15" name="command"/>
          <p:cNvSpPr txBox="1"/>
          <p:nvPr/>
        </p:nvSpPr>
        <p:spPr>
          <a:xfrm>
            <a:off x="1234440" y="4005072"/>
            <a:ext cx="5760720" cy="457200"/>
          </a:xfrm>
          <a:prstGeom prst="roundRect">
            <a:avLst>
              <a:gd name="adj" fmla="val 20000"/>
            </a:avLst>
          </a:prstGeom>
          <a:solidFill>
            <a:schemeClr val="accent6"/>
          </a:solidFill>
          <a:ln/>
        </p:spPr>
        <p:txBody>
          <a:bodyPr wrap="square" lIns="152400" tIns="152400" rIns="152400" bIns="15240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django-admin startproject config .</a:t>
            </a:r>
            <a:endParaRPr lang="en-US" sz="1400" dirty="0"/>
          </a:p>
        </p:txBody>
      </p:sp>
      <p:sp>
        <p:nvSpPr>
          <p:cNvPr id="16" name="step-number"/>
          <p:cNvSpPr txBox="1"/>
          <p:nvPr/>
        </p:nvSpPr>
        <p:spPr>
          <a:xfrm>
            <a:off x="548640" y="4700016"/>
            <a:ext cx="457200" cy="45720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7" name="Text 14"/>
          <p:cNvSpPr txBox="1"/>
          <p:nvPr/>
        </p:nvSpPr>
        <p:spPr>
          <a:xfrm>
            <a:off x="1234440" y="4517136"/>
            <a:ext cx="5760720" cy="274320"/>
          </a:xfrm>
          <a:prstGeom prst="rect">
            <a:avLst/>
          </a:prstGeom>
          <a:noFill/>
          <a:ln/>
        </p:spPr>
        <p:txBody>
          <a:bodyPr wrap="square" lIns="0" tIns="0" rIns="0" bIns="0" rtlCol="0" anchor="t"/>
          <a:lstStyle/>
          <a:p>
            <a:pPr indent="0" marL="0">
              <a:buNone/>
            </a:pPr>
            <a:r>
              <a:rPr lang="en-US" sz="1400" b="1" dirty="0">
                <a:solidFill>
                  <a:schemeClr val="accent5"/>
                </a:solidFill>
              </a:rPr>
              <a:t>Create an app</a:t>
            </a:r>
            <a:endParaRPr lang="en-US" sz="1400" dirty="0"/>
          </a:p>
        </p:txBody>
      </p:sp>
      <p:sp>
        <p:nvSpPr>
          <p:cNvPr id="18" name="command"/>
          <p:cNvSpPr txBox="1"/>
          <p:nvPr/>
        </p:nvSpPr>
        <p:spPr>
          <a:xfrm>
            <a:off x="1234440" y="4791456"/>
            <a:ext cx="5760720" cy="457200"/>
          </a:xfrm>
          <a:prstGeom prst="roundRect">
            <a:avLst>
              <a:gd name="adj" fmla="val 20000"/>
            </a:avLst>
          </a:prstGeom>
          <a:solidFill>
            <a:schemeClr val="accent6"/>
          </a:solidFill>
          <a:ln/>
        </p:spPr>
        <p:txBody>
          <a:bodyPr wrap="square" lIns="152400" tIns="152400" rIns="152400" bIns="15240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python manage.py startapp items</a:t>
            </a:r>
            <a:endParaRPr lang="en-US" sz="1400" dirty="0"/>
          </a:p>
        </p:txBody>
      </p:sp>
      <p:sp>
        <p:nvSpPr>
          <p:cNvPr id="19" name="step-number"/>
          <p:cNvSpPr txBox="1"/>
          <p:nvPr/>
        </p:nvSpPr>
        <p:spPr>
          <a:xfrm>
            <a:off x="548640" y="5486400"/>
            <a:ext cx="457200" cy="45720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0" name="Text 17"/>
          <p:cNvSpPr txBox="1"/>
          <p:nvPr/>
        </p:nvSpPr>
        <p:spPr>
          <a:xfrm>
            <a:off x="1234440" y="5303520"/>
            <a:ext cx="5760720" cy="274320"/>
          </a:xfrm>
          <a:prstGeom prst="rect">
            <a:avLst/>
          </a:prstGeom>
          <a:noFill/>
          <a:ln/>
        </p:spPr>
        <p:txBody>
          <a:bodyPr wrap="square" lIns="0" tIns="0" rIns="0" bIns="0" rtlCol="0" anchor="t"/>
          <a:lstStyle/>
          <a:p>
            <a:pPr indent="0" marL="0">
              <a:buNone/>
            </a:pPr>
            <a:r>
              <a:rPr lang="en-US" sz="1400" b="1" dirty="0">
                <a:solidFill>
                  <a:schemeClr val="accent5"/>
                </a:solidFill>
              </a:rPr>
              <a:t>Run the development server</a:t>
            </a:r>
            <a:endParaRPr lang="en-US" sz="1400" dirty="0"/>
          </a:p>
        </p:txBody>
      </p:sp>
      <p:sp>
        <p:nvSpPr>
          <p:cNvPr id="21" name="command"/>
          <p:cNvSpPr txBox="1"/>
          <p:nvPr/>
        </p:nvSpPr>
        <p:spPr>
          <a:xfrm>
            <a:off x="1234440" y="5577840"/>
            <a:ext cx="5760720" cy="457200"/>
          </a:xfrm>
          <a:prstGeom prst="roundRect">
            <a:avLst>
              <a:gd name="adj" fmla="val 20000"/>
            </a:avLst>
          </a:prstGeom>
          <a:solidFill>
            <a:schemeClr val="accent6"/>
          </a:solidFill>
          <a:ln/>
        </p:spPr>
        <p:txBody>
          <a:bodyPr wrap="square" lIns="152400" tIns="152400" rIns="152400" bIns="15240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python manage.py runserver</a:t>
            </a:r>
            <a:endParaRPr lang="en-US" sz="1400" dirty="0"/>
          </a:p>
        </p:txBody>
      </p:sp>
      <p:sp>
        <p:nvSpPr>
          <p:cNvPr id="22" name="side-panel"/>
          <p:cNvSpPr/>
          <p:nvPr/>
        </p:nvSpPr>
        <p:spPr>
          <a:xfrm>
            <a:off x="7498080" y="1371600"/>
            <a:ext cx="4142232" cy="4663440"/>
          </a:xfrm>
          <a:prstGeom prst="roundRect">
            <a:avLst>
              <a:gd name="adj" fmla="val 2649"/>
            </a:avLst>
          </a:prstGeom>
          <a:solidFill>
            <a:schemeClr val="bg2"/>
          </a:solidFill>
          <a:ln/>
        </p:spPr>
      </p:sp>
      <p:sp>
        <p:nvSpPr>
          <p:cNvPr id="23" name="Text 20"/>
          <p:cNvSpPr txBox="1"/>
          <p:nvPr/>
        </p:nvSpPr>
        <p:spPr>
          <a:xfrm>
            <a:off x="7772400" y="1600200"/>
            <a:ext cx="3657600" cy="365760"/>
          </a:xfrm>
          <a:prstGeom prst="rect">
            <a:avLst/>
          </a:prstGeom>
          <a:noFill/>
          <a:ln/>
        </p:spPr>
        <p:txBody>
          <a:bodyPr wrap="square" lIns="0" tIns="0" rIns="0" bIns="0" rtlCol="0" anchor="t"/>
          <a:lstStyle/>
          <a:p>
            <a:pPr indent="0" marL="0">
              <a:buNone/>
            </a:pPr>
            <a:r>
              <a:rPr lang="en-US" sz="2000" b="1" dirty="0">
                <a:solidFill>
                  <a:schemeClr val="tx2"/>
                </a:solidFill>
              </a:rPr>
              <a:t>Why a virtual environment?</a:t>
            </a:r>
            <a:endParaRPr lang="en-US" sz="2000" dirty="0"/>
          </a:p>
        </p:txBody>
      </p:sp>
      <p:sp>
        <p:nvSpPr>
          <p:cNvPr id="24" name="Text 21"/>
          <p:cNvSpPr txBox="1"/>
          <p:nvPr/>
        </p:nvSpPr>
        <p:spPr>
          <a:xfrm>
            <a:off x="7772400" y="2057400"/>
            <a:ext cx="3611880" cy="1371600"/>
          </a:xfrm>
          <a:prstGeom prst="rect">
            <a:avLst/>
          </a:prstGeom>
          <a:noFill/>
          <a:ln/>
        </p:spPr>
        <p:txBody>
          <a:bodyPr wrap="square" lIns="0" tIns="0" rIns="0" bIns="0" rtlCol="0" anchor="t"/>
          <a:lstStyle/>
          <a:p>
            <a:pPr indent="0" marL="0">
              <a:buNone/>
            </a:pPr>
            <a:r>
              <a:rPr lang="en-US" sz="1600" dirty="0">
                <a:solidFill>
                  <a:schemeClr val="tx1"/>
                </a:solidFill>
              </a:rPr>
              <a:t>Each project gets its own isolated set of packages, so projects never clash. It is the Python version of node_modules.</a:t>
            </a:r>
            <a:endParaRPr lang="en-US" sz="1600" dirty="0"/>
          </a:p>
        </p:txBody>
      </p:sp>
      <p:sp>
        <p:nvSpPr>
          <p:cNvPr id="25" name="Text 22"/>
          <p:cNvSpPr txBox="1"/>
          <p:nvPr/>
        </p:nvSpPr>
        <p:spPr>
          <a:xfrm>
            <a:off x="7772400" y="3657600"/>
            <a:ext cx="3657600" cy="365760"/>
          </a:xfrm>
          <a:prstGeom prst="rect">
            <a:avLst/>
          </a:prstGeom>
          <a:noFill/>
          <a:ln/>
        </p:spPr>
        <p:txBody>
          <a:bodyPr wrap="square" lIns="0" tIns="0" rIns="0" bIns="0" rtlCol="0" anchor="t"/>
          <a:lstStyle/>
          <a:p>
            <a:pPr indent="0" marL="0">
              <a:buNone/>
            </a:pPr>
            <a:r>
              <a:rPr lang="en-US" sz="2000" b="1" dirty="0">
                <a:solidFill>
                  <a:schemeClr val="tx2"/>
                </a:solidFill>
              </a:rPr>
              <a:t>Mac / Linux</a:t>
            </a:r>
            <a:endParaRPr lang="en-US" sz="2000" dirty="0"/>
          </a:p>
        </p:txBody>
      </p:sp>
      <p:sp>
        <p:nvSpPr>
          <p:cNvPr id="26" name="command"/>
          <p:cNvSpPr txBox="1"/>
          <p:nvPr/>
        </p:nvSpPr>
        <p:spPr>
          <a:xfrm>
            <a:off x="7772400" y="4114800"/>
            <a:ext cx="3611880" cy="457200"/>
          </a:xfrm>
          <a:prstGeom prst="roundRect">
            <a:avLst>
              <a:gd name="adj" fmla="val 20000"/>
            </a:avLst>
          </a:prstGeom>
          <a:solidFill>
            <a:schemeClr val="accent6"/>
          </a:solidFill>
          <a:ln/>
        </p:spPr>
        <p:txBody>
          <a:bodyPr wrap="square" lIns="152400" tIns="152400" rIns="152400" bIns="15240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source venv/bin/activate</a:t>
            </a:r>
            <a:endParaRPr lang="en-US" sz="1400" dirty="0"/>
          </a:p>
        </p:txBody>
      </p:sp>
      <p:sp>
        <p:nvSpPr>
          <p:cNvPr id="27" name="Text 24"/>
          <p:cNvSpPr txBox="1"/>
          <p:nvPr/>
        </p:nvSpPr>
        <p:spPr>
          <a:xfrm>
            <a:off x="7772400" y="4754880"/>
            <a:ext cx="3611880" cy="914400"/>
          </a:xfrm>
          <a:prstGeom prst="rect">
            <a:avLst/>
          </a:prstGeom>
          <a:noFill/>
          <a:ln/>
        </p:spPr>
        <p:txBody>
          <a:bodyPr wrap="square" lIns="0" tIns="0" rIns="0" bIns="0" rtlCol="0" anchor="t"/>
          <a:lstStyle/>
          <a:p>
            <a:pPr indent="0" marL="0">
              <a:buNone/>
            </a:pPr>
            <a:r>
              <a:rPr lang="en-US" sz="1600" dirty="0">
                <a:solidFill>
                  <a:schemeClr val="tx1"/>
                </a:solidFill>
              </a:rPr>
              <a:t>You know it worked when (venv) appears at the start of your prompt.</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rPr>
              <a:t>Anatomy of a Django project</a:t>
            </a:r>
            <a:endParaRPr lang="en-US" sz="3600" dirty="0"/>
          </a:p>
        </p:txBody>
      </p:sp>
      <p:sp>
        <p:nvSpPr>
          <p:cNvPr id="4" name="file-tree"/>
          <p:cNvSpPr txBox="1"/>
          <p:nvPr/>
        </p:nvSpPr>
        <p:spPr>
          <a:xfrm>
            <a:off x="548640" y="1371600"/>
            <a:ext cx="5394960" cy="4572000"/>
          </a:xfrm>
          <a:prstGeom prst="roundRect">
            <a:avLst>
              <a:gd name="adj" fmla="val 2000"/>
            </a:avLst>
          </a:prstGeom>
          <a:solidFill>
            <a:schemeClr val="accent6"/>
          </a:solidFill>
          <a:ln/>
        </p:spPr>
        <p:txBody>
          <a:bodyPr wrap="square" lIns="152400" tIns="152400" rIns="152400" bIns="152400" rtlCol="0" anchor="t"/>
          <a:lstStyle/>
          <a:p>
            <a:pPr indent="0" marL="0">
              <a:buNone/>
            </a:pPr>
            <a:r>
              <a:rPr lang="en-US" sz="1500" dirty="0">
                <a:solidFill>
                  <a:schemeClr val="bg2"/>
                </a:solidFill>
                <a:latin typeface="Courier New" pitchFamily="34" charset="0"/>
                <a:ea typeface="Courier New" pitchFamily="34" charset="-122"/>
                <a:cs typeface="Courier New" pitchFamily="34" charset="-120"/>
              </a:rPr>
              <a:t>django-seminar/</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manage.py</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requirements.txt</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config/        &lt;- project</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 settings.py</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 urls.py</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 wsgi.py</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items/         &lt;- app</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 models.py</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 serializers.py</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 views.py</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 urls.py</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 admin.py</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 migrations/</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docs/</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slides/</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media/</a:t>
            </a:r>
            <a:endParaRPr lang="en-US" sz="1500" dirty="0"/>
          </a:p>
        </p:txBody>
      </p:sp>
      <p:sp>
        <p:nvSpPr>
          <p:cNvPr id="5" name="note-card"/>
          <p:cNvSpPr/>
          <p:nvPr/>
        </p:nvSpPr>
        <p:spPr>
          <a:xfrm>
            <a:off x="6355080" y="1371600"/>
            <a:ext cx="5285232" cy="822960"/>
          </a:xfrm>
          <a:prstGeom prst="roundRect">
            <a:avLst>
              <a:gd name="adj" fmla="val 13333"/>
            </a:avLst>
          </a:prstGeom>
          <a:solidFill>
            <a:schemeClr val="bg2"/>
          </a:solidFill>
          <a:ln/>
        </p:spPr>
      </p:sp>
      <p:sp>
        <p:nvSpPr>
          <p:cNvPr id="6" name="Text 3"/>
          <p:cNvSpPr txBox="1"/>
          <p:nvPr/>
        </p:nvSpPr>
        <p:spPr>
          <a:xfrm>
            <a:off x="6583680" y="1444752"/>
            <a:ext cx="4846320" cy="310896"/>
          </a:xfrm>
          <a:prstGeom prst="rect">
            <a:avLst/>
          </a:prstGeom>
          <a:noFill/>
          <a:ln/>
        </p:spPr>
        <p:txBody>
          <a:bodyPr wrap="square" lIns="0" tIns="0" rIns="0" bIns="0" rtlCol="0" anchor="t"/>
          <a:lstStyle/>
          <a:p>
            <a:pPr indent="0" marL="0">
              <a:buNone/>
            </a:pPr>
            <a:r>
              <a:rPr lang="en-US" sz="1800" b="1" dirty="0">
                <a:solidFill>
                  <a:schemeClr val="tx2"/>
                </a:solidFill>
              </a:rPr>
              <a:t>manage.py</a:t>
            </a:r>
            <a:endParaRPr lang="en-US" sz="1800" dirty="0"/>
          </a:p>
        </p:txBody>
      </p:sp>
      <p:sp>
        <p:nvSpPr>
          <p:cNvPr id="7" name="Text 4"/>
          <p:cNvSpPr txBox="1"/>
          <p:nvPr/>
        </p:nvSpPr>
        <p:spPr>
          <a:xfrm>
            <a:off x="6583680" y="1792224"/>
            <a:ext cx="4846320" cy="365760"/>
          </a:xfrm>
          <a:prstGeom prst="rect">
            <a:avLst/>
          </a:prstGeom>
          <a:noFill/>
          <a:ln/>
        </p:spPr>
        <p:txBody>
          <a:bodyPr wrap="square" lIns="0" tIns="0" rIns="0" bIns="0" rtlCol="0" anchor="t"/>
          <a:lstStyle/>
          <a:p>
            <a:pPr indent="0" marL="0">
              <a:buNone/>
            </a:pPr>
            <a:r>
              <a:rPr lang="en-US" sz="1500" dirty="0">
                <a:solidFill>
                  <a:schemeClr val="tx1"/>
                </a:solidFill>
              </a:rPr>
              <a:t>Command-line tool: runserver, migrate, createsuperuser...</a:t>
            </a:r>
            <a:endParaRPr lang="en-US" sz="1500" dirty="0"/>
          </a:p>
        </p:txBody>
      </p:sp>
      <p:sp>
        <p:nvSpPr>
          <p:cNvPr id="8" name="note-card"/>
          <p:cNvSpPr/>
          <p:nvPr/>
        </p:nvSpPr>
        <p:spPr>
          <a:xfrm>
            <a:off x="6355080" y="2304288"/>
            <a:ext cx="5285232" cy="822960"/>
          </a:xfrm>
          <a:prstGeom prst="roundRect">
            <a:avLst>
              <a:gd name="adj" fmla="val 13333"/>
            </a:avLst>
          </a:prstGeom>
          <a:solidFill>
            <a:schemeClr val="bg2"/>
          </a:solidFill>
          <a:ln/>
        </p:spPr>
      </p:sp>
      <p:sp>
        <p:nvSpPr>
          <p:cNvPr id="9" name="Text 6"/>
          <p:cNvSpPr txBox="1"/>
          <p:nvPr/>
        </p:nvSpPr>
        <p:spPr>
          <a:xfrm>
            <a:off x="6583680" y="2377440"/>
            <a:ext cx="4846320" cy="310896"/>
          </a:xfrm>
          <a:prstGeom prst="rect">
            <a:avLst/>
          </a:prstGeom>
          <a:noFill/>
          <a:ln/>
        </p:spPr>
        <p:txBody>
          <a:bodyPr wrap="square" lIns="0" tIns="0" rIns="0" bIns="0" rtlCol="0" anchor="t"/>
          <a:lstStyle/>
          <a:p>
            <a:pPr indent="0" marL="0">
              <a:buNone/>
            </a:pPr>
            <a:r>
              <a:rPr lang="en-US" sz="1800" b="1" dirty="0">
                <a:solidFill>
                  <a:schemeClr val="tx2"/>
                </a:solidFill>
              </a:rPr>
              <a:t>config/</a:t>
            </a:r>
            <a:endParaRPr lang="en-US" sz="1800" dirty="0"/>
          </a:p>
        </p:txBody>
      </p:sp>
      <p:sp>
        <p:nvSpPr>
          <p:cNvPr id="10" name="Text 7"/>
          <p:cNvSpPr txBox="1"/>
          <p:nvPr/>
        </p:nvSpPr>
        <p:spPr>
          <a:xfrm>
            <a:off x="6583680" y="2724912"/>
            <a:ext cx="4846320" cy="365760"/>
          </a:xfrm>
          <a:prstGeom prst="rect">
            <a:avLst/>
          </a:prstGeom>
          <a:noFill/>
          <a:ln/>
        </p:spPr>
        <p:txBody>
          <a:bodyPr wrap="square" lIns="0" tIns="0" rIns="0" bIns="0" rtlCol="0" anchor="t"/>
          <a:lstStyle/>
          <a:p>
            <a:pPr indent="0" marL="0">
              <a:buNone/>
            </a:pPr>
            <a:r>
              <a:rPr lang="en-US" sz="1500" dirty="0">
                <a:solidFill>
                  <a:schemeClr val="tx1"/>
                </a:solidFill>
              </a:rPr>
              <a:t>The project: settings.py and the root urls.py</a:t>
            </a:r>
            <a:endParaRPr lang="en-US" sz="1500" dirty="0"/>
          </a:p>
        </p:txBody>
      </p:sp>
      <p:sp>
        <p:nvSpPr>
          <p:cNvPr id="11" name="note-card"/>
          <p:cNvSpPr/>
          <p:nvPr/>
        </p:nvSpPr>
        <p:spPr>
          <a:xfrm>
            <a:off x="6355080" y="3236976"/>
            <a:ext cx="5285232" cy="822960"/>
          </a:xfrm>
          <a:prstGeom prst="roundRect">
            <a:avLst>
              <a:gd name="adj" fmla="val 13333"/>
            </a:avLst>
          </a:prstGeom>
          <a:solidFill>
            <a:schemeClr val="bg2"/>
          </a:solidFill>
          <a:ln/>
        </p:spPr>
      </p:sp>
      <p:sp>
        <p:nvSpPr>
          <p:cNvPr id="12" name="Text 9"/>
          <p:cNvSpPr txBox="1"/>
          <p:nvPr/>
        </p:nvSpPr>
        <p:spPr>
          <a:xfrm>
            <a:off x="6583680" y="3310128"/>
            <a:ext cx="4846320" cy="310896"/>
          </a:xfrm>
          <a:prstGeom prst="rect">
            <a:avLst/>
          </a:prstGeom>
          <a:noFill/>
          <a:ln/>
        </p:spPr>
        <p:txBody>
          <a:bodyPr wrap="square" lIns="0" tIns="0" rIns="0" bIns="0" rtlCol="0" anchor="t"/>
          <a:lstStyle/>
          <a:p>
            <a:pPr indent="0" marL="0">
              <a:buNone/>
            </a:pPr>
            <a:r>
              <a:rPr lang="en-US" sz="1800" b="1" dirty="0">
                <a:solidFill>
                  <a:schemeClr val="tx2"/>
                </a:solidFill>
              </a:rPr>
              <a:t>items/</a:t>
            </a:r>
            <a:endParaRPr lang="en-US" sz="1800" dirty="0"/>
          </a:p>
        </p:txBody>
      </p:sp>
      <p:sp>
        <p:nvSpPr>
          <p:cNvPr id="13" name="Text 10"/>
          <p:cNvSpPr txBox="1"/>
          <p:nvPr/>
        </p:nvSpPr>
        <p:spPr>
          <a:xfrm>
            <a:off x="6583680" y="3657600"/>
            <a:ext cx="4846320" cy="365760"/>
          </a:xfrm>
          <a:prstGeom prst="rect">
            <a:avLst/>
          </a:prstGeom>
          <a:noFill/>
          <a:ln/>
        </p:spPr>
        <p:txBody>
          <a:bodyPr wrap="square" lIns="0" tIns="0" rIns="0" bIns="0" rtlCol="0" anchor="t"/>
          <a:lstStyle/>
          <a:p>
            <a:pPr indent="0" marL="0">
              <a:buNone/>
            </a:pPr>
            <a:r>
              <a:rPr lang="en-US" sz="1500" dirty="0">
                <a:solidFill>
                  <a:schemeClr val="tx1"/>
                </a:solidFill>
              </a:rPr>
              <a:t>Our app: models, serializers, views, urls, admin</a:t>
            </a:r>
            <a:endParaRPr lang="en-US" sz="1500" dirty="0"/>
          </a:p>
        </p:txBody>
      </p:sp>
      <p:sp>
        <p:nvSpPr>
          <p:cNvPr id="14" name="note-card"/>
          <p:cNvSpPr/>
          <p:nvPr/>
        </p:nvSpPr>
        <p:spPr>
          <a:xfrm>
            <a:off x="6355080" y="4169664"/>
            <a:ext cx="5285232" cy="822960"/>
          </a:xfrm>
          <a:prstGeom prst="roundRect">
            <a:avLst>
              <a:gd name="adj" fmla="val 13333"/>
            </a:avLst>
          </a:prstGeom>
          <a:solidFill>
            <a:schemeClr val="bg2"/>
          </a:solidFill>
          <a:ln/>
        </p:spPr>
      </p:sp>
      <p:sp>
        <p:nvSpPr>
          <p:cNvPr id="15" name="Text 12"/>
          <p:cNvSpPr txBox="1"/>
          <p:nvPr/>
        </p:nvSpPr>
        <p:spPr>
          <a:xfrm>
            <a:off x="6583680" y="4242816"/>
            <a:ext cx="4846320" cy="310896"/>
          </a:xfrm>
          <a:prstGeom prst="rect">
            <a:avLst/>
          </a:prstGeom>
          <a:noFill/>
          <a:ln/>
        </p:spPr>
        <p:txBody>
          <a:bodyPr wrap="square" lIns="0" tIns="0" rIns="0" bIns="0" rtlCol="0" anchor="t"/>
          <a:lstStyle/>
          <a:p>
            <a:pPr indent="0" marL="0">
              <a:buNone/>
            </a:pPr>
            <a:r>
              <a:rPr lang="en-US" sz="1800" b="1" dirty="0">
                <a:solidFill>
                  <a:schemeClr val="tx2"/>
                </a:solidFill>
              </a:rPr>
              <a:t>docs/ and slides/</a:t>
            </a:r>
            <a:endParaRPr lang="en-US" sz="1800" dirty="0"/>
          </a:p>
        </p:txBody>
      </p:sp>
      <p:sp>
        <p:nvSpPr>
          <p:cNvPr id="16" name="Text 13"/>
          <p:cNvSpPr txBox="1"/>
          <p:nvPr/>
        </p:nvSpPr>
        <p:spPr>
          <a:xfrm>
            <a:off x="6583680" y="4590288"/>
            <a:ext cx="4846320" cy="365760"/>
          </a:xfrm>
          <a:prstGeom prst="rect">
            <a:avLst/>
          </a:prstGeom>
          <a:noFill/>
          <a:ln/>
        </p:spPr>
        <p:txBody>
          <a:bodyPr wrap="square" lIns="0" tIns="0" rIns="0" bIns="0" rtlCol="0" anchor="t"/>
          <a:lstStyle/>
          <a:p>
            <a:pPr indent="0" marL="0">
              <a:buNone/>
            </a:pPr>
            <a:r>
              <a:rPr lang="en-US" sz="1500" dirty="0">
                <a:solidFill>
                  <a:schemeClr val="tx1"/>
                </a:solidFill>
              </a:rPr>
              <a:t>Guides and this presentation (PPT)</a:t>
            </a:r>
            <a:endParaRPr lang="en-US" sz="1500" dirty="0"/>
          </a:p>
        </p:txBody>
      </p:sp>
      <p:sp>
        <p:nvSpPr>
          <p:cNvPr id="17" name="note-card"/>
          <p:cNvSpPr/>
          <p:nvPr/>
        </p:nvSpPr>
        <p:spPr>
          <a:xfrm>
            <a:off x="6355080" y="5102352"/>
            <a:ext cx="5285232" cy="822960"/>
          </a:xfrm>
          <a:prstGeom prst="roundRect">
            <a:avLst>
              <a:gd name="adj" fmla="val 13333"/>
            </a:avLst>
          </a:prstGeom>
          <a:solidFill>
            <a:schemeClr val="bg2"/>
          </a:solidFill>
          <a:ln/>
        </p:spPr>
      </p:sp>
      <p:sp>
        <p:nvSpPr>
          <p:cNvPr id="18" name="Text 15"/>
          <p:cNvSpPr txBox="1"/>
          <p:nvPr/>
        </p:nvSpPr>
        <p:spPr>
          <a:xfrm>
            <a:off x="6583680" y="5175504"/>
            <a:ext cx="4846320" cy="310896"/>
          </a:xfrm>
          <a:prstGeom prst="rect">
            <a:avLst/>
          </a:prstGeom>
          <a:noFill/>
          <a:ln/>
        </p:spPr>
        <p:txBody>
          <a:bodyPr wrap="square" lIns="0" tIns="0" rIns="0" bIns="0" rtlCol="0" anchor="t"/>
          <a:lstStyle/>
          <a:p>
            <a:pPr indent="0" marL="0">
              <a:buNone/>
            </a:pPr>
            <a:r>
              <a:rPr lang="en-US" sz="1800" b="1" dirty="0">
                <a:solidFill>
                  <a:schemeClr val="tx2"/>
                </a:solidFill>
              </a:rPr>
              <a:t>media/</a:t>
            </a:r>
            <a:endParaRPr lang="en-US" sz="1800" dirty="0"/>
          </a:p>
        </p:txBody>
      </p:sp>
      <p:sp>
        <p:nvSpPr>
          <p:cNvPr id="19" name="Text 16"/>
          <p:cNvSpPr txBox="1"/>
          <p:nvPr/>
        </p:nvSpPr>
        <p:spPr>
          <a:xfrm>
            <a:off x="6583680" y="5522976"/>
            <a:ext cx="4846320" cy="365760"/>
          </a:xfrm>
          <a:prstGeom prst="rect">
            <a:avLst/>
          </a:prstGeom>
          <a:noFill/>
          <a:ln/>
        </p:spPr>
        <p:txBody>
          <a:bodyPr wrap="square" lIns="0" tIns="0" rIns="0" bIns="0" rtlCol="0" anchor="t"/>
          <a:lstStyle/>
          <a:p>
            <a:pPr indent="0" marL="0">
              <a:buNone/>
            </a:pPr>
            <a:r>
              <a:rPr lang="en-US" sz="1500" dirty="0">
                <a:solidFill>
                  <a:schemeClr val="tx1"/>
                </a:solidFill>
              </a:rPr>
              <a:t>Files uploaded by users (bonus image feature)</a:t>
            </a:r>
            <a:endParaRPr lang="en-US" sz="15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rPr>
              <a:t>Project vs app</a:t>
            </a:r>
            <a:endParaRPr lang="en-US" sz="3600" dirty="0"/>
          </a:p>
        </p:txBody>
      </p:sp>
      <p:sp>
        <p:nvSpPr>
          <p:cNvPr id="4" name="project-frame"/>
          <p:cNvSpPr/>
          <p:nvPr/>
        </p:nvSpPr>
        <p:spPr>
          <a:xfrm>
            <a:off x="548640" y="1417320"/>
            <a:ext cx="5760720" cy="4572000"/>
          </a:xfrm>
          <a:prstGeom prst="roundRect">
            <a:avLst>
              <a:gd name="adj" fmla="val 2400"/>
            </a:avLst>
          </a:prstGeom>
          <a:solidFill>
            <a:schemeClr val="bg2"/>
          </a:solidFill>
          <a:ln/>
        </p:spPr>
      </p:sp>
      <p:sp>
        <p:nvSpPr>
          <p:cNvPr id="5" name="Text 2"/>
          <p:cNvSpPr txBox="1"/>
          <p:nvPr/>
        </p:nvSpPr>
        <p:spPr>
          <a:xfrm>
            <a:off x="822960" y="1600200"/>
            <a:ext cx="5212080" cy="411480"/>
          </a:xfrm>
          <a:prstGeom prst="rect">
            <a:avLst/>
          </a:prstGeom>
          <a:noFill/>
          <a:ln/>
        </p:spPr>
        <p:txBody>
          <a:bodyPr wrap="square" lIns="0" tIns="0" rIns="0" bIns="0" rtlCol="0" anchor="t"/>
          <a:lstStyle/>
          <a:p>
            <a:pPr indent="0" marL="0">
              <a:buNone/>
            </a:pPr>
            <a:r>
              <a:rPr lang="en-US" sz="2000" b="1" dirty="0">
                <a:solidFill>
                  <a:schemeClr val="tx2"/>
                </a:solidFill>
              </a:rPr>
              <a:t>PROJECT: college_site</a:t>
            </a:r>
            <a:endParaRPr lang="en-US" sz="2000" dirty="0"/>
          </a:p>
        </p:txBody>
      </p:sp>
      <p:sp>
        <p:nvSpPr>
          <p:cNvPr id="6" name="diagram-box"/>
          <p:cNvSpPr txBox="1"/>
          <p:nvPr/>
        </p:nvSpPr>
        <p:spPr>
          <a:xfrm>
            <a:off x="822960" y="2331720"/>
            <a:ext cx="1600200" cy="1463040"/>
          </a:xfrm>
          <a:prstGeom prst="roundRect">
            <a:avLst>
              <a:gd name="adj" fmla="val 7500"/>
            </a:avLst>
          </a:prstGeom>
          <a:solidFill>
            <a:schemeClr val="bg1"/>
          </a:solidFill>
          <a:ln/>
        </p:spPr>
        <p:txBody>
          <a:bodyPr wrap="square" lIns="76200" tIns="76200" rIns="76200" bIns="76200" rtlCol="0" anchor="ctr"/>
          <a:lstStyle/>
          <a:p>
            <a:pPr algn="ctr" indent="0" marL="0">
              <a:buNone/>
            </a:pPr>
            <a:r>
              <a:rPr lang="en-US" sz="2000" b="1" dirty="0">
                <a:solidFill>
                  <a:schemeClr val="tx2"/>
                </a:solidFill>
              </a:rPr>
              <a:t>admissions</a:t>
            </a:r>
            <a:endParaRPr lang="en-US" sz="2000" dirty="0"/>
          </a:p>
          <a:p>
            <a:pPr algn="ctr" indent="0" marL="0">
              <a:buNone/>
            </a:pPr>
            <a:r>
              <a:rPr lang="en-US" sz="1400" dirty="0">
                <a:solidFill>
                  <a:schemeClr val="tx2"/>
                </a:solidFill>
              </a:rPr>
              <a:t>app</a:t>
            </a:r>
            <a:endParaRPr lang="en-US" sz="2000" dirty="0"/>
          </a:p>
        </p:txBody>
      </p:sp>
      <p:sp>
        <p:nvSpPr>
          <p:cNvPr id="7" name="diagram-box"/>
          <p:cNvSpPr txBox="1"/>
          <p:nvPr/>
        </p:nvSpPr>
        <p:spPr>
          <a:xfrm>
            <a:off x="2606040" y="2331720"/>
            <a:ext cx="1600200" cy="1463040"/>
          </a:xfrm>
          <a:prstGeom prst="roundRect">
            <a:avLst>
              <a:gd name="adj" fmla="val 7500"/>
            </a:avLst>
          </a:prstGeom>
          <a:solidFill>
            <a:schemeClr val="bg1"/>
          </a:solidFill>
          <a:ln/>
        </p:spPr>
        <p:txBody>
          <a:bodyPr wrap="square" lIns="76200" tIns="76200" rIns="76200" bIns="76200" rtlCol="0" anchor="ctr"/>
          <a:lstStyle/>
          <a:p>
            <a:pPr algn="ctr" indent="0" marL="0">
              <a:buNone/>
            </a:pPr>
            <a:r>
              <a:rPr lang="en-US" sz="2000" b="1" dirty="0">
                <a:solidFill>
                  <a:schemeClr val="tx2"/>
                </a:solidFill>
              </a:rPr>
              <a:t>library</a:t>
            </a:r>
            <a:endParaRPr lang="en-US" sz="2000" dirty="0"/>
          </a:p>
          <a:p>
            <a:pPr algn="ctr" indent="0" marL="0">
              <a:buNone/>
            </a:pPr>
            <a:r>
              <a:rPr lang="en-US" sz="1400" dirty="0">
                <a:solidFill>
                  <a:schemeClr val="tx2"/>
                </a:solidFill>
              </a:rPr>
              <a:t>app</a:t>
            </a:r>
            <a:endParaRPr lang="en-US" sz="2000" dirty="0"/>
          </a:p>
        </p:txBody>
      </p:sp>
      <p:sp>
        <p:nvSpPr>
          <p:cNvPr id="8" name="diagram-box"/>
          <p:cNvSpPr txBox="1"/>
          <p:nvPr/>
        </p:nvSpPr>
        <p:spPr>
          <a:xfrm>
            <a:off x="4389120" y="2331720"/>
            <a:ext cx="1600200" cy="1463040"/>
          </a:xfrm>
          <a:prstGeom prst="roundRect">
            <a:avLst>
              <a:gd name="adj" fmla="val 7500"/>
            </a:avLst>
          </a:prstGeom>
          <a:solidFill>
            <a:schemeClr val="bg1"/>
          </a:solidFill>
          <a:ln/>
        </p:spPr>
        <p:txBody>
          <a:bodyPr wrap="square" lIns="76200" tIns="76200" rIns="76200" bIns="76200" rtlCol="0" anchor="ctr"/>
          <a:lstStyle/>
          <a:p>
            <a:pPr algn="ctr" indent="0" marL="0">
              <a:buNone/>
            </a:pPr>
            <a:r>
              <a:rPr lang="en-US" sz="2000" b="1" dirty="0">
                <a:solidFill>
                  <a:schemeClr val="tx2"/>
                </a:solidFill>
              </a:rPr>
              <a:t>results</a:t>
            </a:r>
            <a:endParaRPr lang="en-US" sz="2000" dirty="0"/>
          </a:p>
          <a:p>
            <a:pPr algn="ctr" indent="0" marL="0">
              <a:buNone/>
            </a:pPr>
            <a:r>
              <a:rPr lang="en-US" sz="1400" dirty="0">
                <a:solidFill>
                  <a:schemeClr val="tx2"/>
                </a:solidFill>
              </a:rPr>
              <a:t>app</a:t>
            </a:r>
            <a:endParaRPr lang="en-US" sz="2000" dirty="0"/>
          </a:p>
        </p:txBody>
      </p:sp>
      <p:sp>
        <p:nvSpPr>
          <p:cNvPr id="9" name="diagram-box"/>
          <p:cNvSpPr txBox="1"/>
          <p:nvPr/>
        </p:nvSpPr>
        <p:spPr>
          <a:xfrm>
            <a:off x="822960" y="4160520"/>
            <a:ext cx="5212080" cy="731520"/>
          </a:xfrm>
          <a:prstGeom prst="roundRect">
            <a:avLst>
              <a:gd name="adj" fmla="val 15000"/>
            </a:avLst>
          </a:prstGeom>
          <a:solidFill>
            <a:schemeClr val="tx2"/>
          </a:solidFill>
          <a:ln/>
        </p:spPr>
        <p:txBody>
          <a:bodyPr wrap="square" lIns="76200" tIns="76200" rIns="76200" bIns="76200" rtlCol="0" anchor="ctr"/>
          <a:lstStyle/>
          <a:p>
            <a:pPr algn="ctr" indent="0" marL="0">
              <a:buNone/>
            </a:pPr>
            <a:r>
              <a:rPr lang="en-US" sz="1700" b="1" dirty="0">
                <a:solidFill>
                  <a:schemeClr val="bg1"/>
                </a:solidFill>
              </a:rPr>
              <a:t>settings.py  |  root urls.py</a:t>
            </a:r>
            <a:endParaRPr lang="en-US" sz="1700" dirty="0"/>
          </a:p>
        </p:txBody>
      </p:sp>
      <p:sp>
        <p:nvSpPr>
          <p:cNvPr id="10" name="Text 7"/>
          <p:cNvSpPr txBox="1"/>
          <p:nvPr/>
        </p:nvSpPr>
        <p:spPr>
          <a:xfrm>
            <a:off x="822960" y="5029200"/>
            <a:ext cx="5212080" cy="365760"/>
          </a:xfrm>
          <a:prstGeom prst="rect">
            <a:avLst/>
          </a:prstGeom>
          <a:noFill/>
          <a:ln/>
        </p:spPr>
        <p:txBody>
          <a:bodyPr wrap="square" lIns="0" tIns="0" rIns="0" bIns="0" rtlCol="0" anchor="t"/>
          <a:lstStyle/>
          <a:p>
            <a:pPr indent="0" marL="0">
              <a:buNone/>
            </a:pPr>
            <a:r>
              <a:rPr lang="en-US" sz="1400" dirty="0">
                <a:solidFill>
                  <a:schemeClr val="accent5"/>
                </a:solidFill>
              </a:rPr>
              <a:t>Shared configuration for every app</a:t>
            </a:r>
            <a:endParaRPr lang="en-US" sz="1400" dirty="0"/>
          </a:p>
        </p:txBody>
      </p:sp>
      <p:sp>
        <p:nvSpPr>
          <p:cNvPr id="11" name="def-card"/>
          <p:cNvSpPr/>
          <p:nvPr/>
        </p:nvSpPr>
        <p:spPr>
          <a:xfrm>
            <a:off x="6583680" y="1417320"/>
            <a:ext cx="5056632" cy="2148840"/>
          </a:xfrm>
          <a:prstGeom prst="roundRect">
            <a:avLst>
              <a:gd name="adj" fmla="val 5106"/>
            </a:avLst>
          </a:prstGeom>
          <a:solidFill>
            <a:schemeClr val="bg2"/>
          </a:solidFill>
          <a:ln/>
        </p:spPr>
      </p:sp>
      <p:sp>
        <p:nvSpPr>
          <p:cNvPr id="12" name="Text 9"/>
          <p:cNvSpPr txBox="1"/>
          <p:nvPr/>
        </p:nvSpPr>
        <p:spPr>
          <a:xfrm>
            <a:off x="6858000" y="1554480"/>
            <a:ext cx="4572000" cy="365760"/>
          </a:xfrm>
          <a:prstGeom prst="rect">
            <a:avLst/>
          </a:prstGeom>
          <a:noFill/>
          <a:ln/>
        </p:spPr>
        <p:txBody>
          <a:bodyPr wrap="square" lIns="0" tIns="0" rIns="0" bIns="0" rtlCol="0" anchor="t"/>
          <a:lstStyle/>
          <a:p>
            <a:pPr indent="0" marL="0">
              <a:buNone/>
            </a:pPr>
            <a:r>
              <a:rPr lang="en-US" sz="2200" b="1" dirty="0">
                <a:solidFill>
                  <a:schemeClr val="tx2"/>
                </a:solidFill>
              </a:rPr>
              <a:t>Project</a:t>
            </a:r>
            <a:endParaRPr lang="en-US" sz="2200" dirty="0"/>
          </a:p>
        </p:txBody>
      </p:sp>
      <p:sp>
        <p:nvSpPr>
          <p:cNvPr id="13" name="Text 10"/>
          <p:cNvSpPr txBox="1"/>
          <p:nvPr/>
        </p:nvSpPr>
        <p:spPr>
          <a:xfrm>
            <a:off x="6858000" y="2011680"/>
            <a:ext cx="4572000" cy="14630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The whole website</a:t>
            </a:r>
            <a:endParaRPr lang="en-US" sz="1600" dirty="0"/>
          </a:p>
          <a:p>
            <a:pPr marL="342900" indent="-342900">
              <a:spcAft>
                <a:spcPts val="600"/>
              </a:spcAft>
              <a:buSzPct val="100000"/>
              <a:buChar char="•"/>
            </a:pPr>
            <a:r>
              <a:rPr lang="en-US" sz="1600" dirty="0">
                <a:solidFill>
                  <a:schemeClr val="tx1"/>
                </a:solidFill>
              </a:rPr>
              <a:t>One per site (our config/ folder)</a:t>
            </a:r>
            <a:endParaRPr lang="en-US" sz="1600" dirty="0"/>
          </a:p>
          <a:p>
            <a:pPr marL="342900" indent="-342900">
              <a:spcAft>
                <a:spcPts val="600"/>
              </a:spcAft>
              <a:buSzPct val="100000"/>
              <a:buChar char="•"/>
            </a:pPr>
            <a:r>
              <a:rPr lang="en-US" sz="1600" dirty="0">
                <a:solidFill>
                  <a:schemeClr val="tx1"/>
                </a:solidFill>
              </a:rPr>
              <a:t>Holds settings.py and the root urls.py</a:t>
            </a:r>
            <a:endParaRPr lang="en-US" sz="1600" dirty="0"/>
          </a:p>
        </p:txBody>
      </p:sp>
      <p:sp>
        <p:nvSpPr>
          <p:cNvPr id="14" name="def-card"/>
          <p:cNvSpPr/>
          <p:nvPr/>
        </p:nvSpPr>
        <p:spPr>
          <a:xfrm>
            <a:off x="6583680" y="3703320"/>
            <a:ext cx="5056632" cy="1783080"/>
          </a:xfrm>
          <a:prstGeom prst="roundRect">
            <a:avLst>
              <a:gd name="adj" fmla="val 6154"/>
            </a:avLst>
          </a:prstGeom>
          <a:solidFill>
            <a:schemeClr val="bg2"/>
          </a:solidFill>
          <a:ln/>
        </p:spPr>
      </p:sp>
      <p:sp>
        <p:nvSpPr>
          <p:cNvPr id="15" name="Text 12"/>
          <p:cNvSpPr txBox="1"/>
          <p:nvPr/>
        </p:nvSpPr>
        <p:spPr>
          <a:xfrm>
            <a:off x="6858000" y="3840480"/>
            <a:ext cx="4572000" cy="365760"/>
          </a:xfrm>
          <a:prstGeom prst="rect">
            <a:avLst/>
          </a:prstGeom>
          <a:noFill/>
          <a:ln/>
        </p:spPr>
        <p:txBody>
          <a:bodyPr wrap="square" lIns="0" tIns="0" rIns="0" bIns="0" rtlCol="0" anchor="t"/>
          <a:lstStyle/>
          <a:p>
            <a:pPr indent="0" marL="0">
              <a:buNone/>
            </a:pPr>
            <a:r>
              <a:rPr lang="en-US" sz="2200" b="1" dirty="0">
                <a:solidFill>
                  <a:schemeClr val="tx2"/>
                </a:solidFill>
              </a:rPr>
              <a:t>App</a:t>
            </a:r>
            <a:endParaRPr lang="en-US" sz="2200" dirty="0"/>
          </a:p>
        </p:txBody>
      </p:sp>
      <p:sp>
        <p:nvSpPr>
          <p:cNvPr id="16" name="Text 13"/>
          <p:cNvSpPr txBox="1"/>
          <p:nvPr/>
        </p:nvSpPr>
        <p:spPr>
          <a:xfrm>
            <a:off x="6858000" y="4297680"/>
            <a:ext cx="4572000" cy="11887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One feature (our items/ folder)</a:t>
            </a:r>
            <a:endParaRPr lang="en-US" sz="1600" dirty="0"/>
          </a:p>
          <a:p>
            <a:pPr marL="342900" indent="-342900">
              <a:spcAft>
                <a:spcPts val="600"/>
              </a:spcAft>
              <a:buSzPct val="100000"/>
              <a:buChar char="•"/>
            </a:pPr>
            <a:r>
              <a:rPr lang="en-US" sz="1600" dirty="0">
                <a:solidFill>
                  <a:schemeClr val="tx1"/>
                </a:solidFill>
              </a:rPr>
              <a:t>Many per project, and reusable</a:t>
            </a:r>
            <a:endParaRPr lang="en-US" sz="1600" dirty="0"/>
          </a:p>
          <a:p>
            <a:pPr marL="342900" indent="-342900">
              <a:spcAft>
                <a:spcPts val="600"/>
              </a:spcAft>
              <a:buSzPct val="100000"/>
              <a:buChar char="•"/>
            </a:pPr>
            <a:r>
              <a:rPr lang="en-US" sz="1600" dirty="0">
                <a:solidFill>
                  <a:schemeClr val="tx1"/>
                </a:solidFill>
              </a:rPr>
              <a:t>Own models, views, serializers, admin</a:t>
            </a:r>
            <a:endParaRPr lang="en-US" sz="1600" dirty="0"/>
          </a:p>
        </p:txBody>
      </p:sp>
      <p:sp>
        <p:nvSpPr>
          <p:cNvPr id="17" name="tip"/>
          <p:cNvSpPr/>
          <p:nvPr/>
        </p:nvSpPr>
        <p:spPr>
          <a:xfrm>
            <a:off x="6583680" y="5623560"/>
            <a:ext cx="5056632" cy="365760"/>
          </a:xfrm>
          <a:prstGeom prst="roundRect">
            <a:avLst>
              <a:gd name="adj" fmla="val 30000"/>
            </a:avLst>
          </a:prstGeom>
          <a:solidFill>
            <a:schemeClr val="tx2"/>
          </a:solidFill>
          <a:ln/>
        </p:spPr>
      </p:sp>
      <p:sp>
        <p:nvSpPr>
          <p:cNvPr id="18" name="Text 15"/>
          <p:cNvSpPr txBox="1"/>
          <p:nvPr/>
        </p:nvSpPr>
        <p:spPr>
          <a:xfrm>
            <a:off x="6766560" y="5623560"/>
            <a:ext cx="4754880" cy="365760"/>
          </a:xfrm>
          <a:prstGeom prst="rect">
            <a:avLst/>
          </a:prstGeom>
          <a:noFill/>
          <a:ln/>
        </p:spPr>
        <p:txBody>
          <a:bodyPr wrap="square" lIns="0" tIns="0" rIns="0" bIns="0" rtlCol="0" anchor="ctr"/>
          <a:lstStyle/>
          <a:p>
            <a:pPr indent="0" marL="0">
              <a:buNone/>
            </a:pPr>
            <a:r>
              <a:rPr lang="en-US" sz="1400" b="1" dirty="0">
                <a:solidFill>
                  <a:schemeClr val="bg1"/>
                </a:solidFill>
              </a:rPr>
              <a:t>After startapp, add the app to INSTALLED_APPS</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rPr>
              <a:t>settings.py: the control panel</a:t>
            </a:r>
            <a:endParaRPr lang="en-US" sz="36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1371600"/>
          <a:ext cx="6766560" cy="914400"/>
        </p:xfrm>
        <a:graphic>
          <a:graphicData uri="http://schemas.openxmlformats.org/drawingml/2006/table">
            <a:tbl>
              <a:tblPr/>
              <a:tblGrid>
                <a:gridCol w="2286000"/>
                <a:gridCol w="4480560"/>
              </a:tblGrid>
              <a:tr h="603504">
                <a:tc>
                  <a:txBody>
                    <a:bodyPr/>
                    <a:lstStyle/>
                    <a:p>
                      <a:pPr indent="0" marL="0">
                        <a:buNone/>
                      </a:pPr>
                      <a:r>
                        <a:rPr lang="en-US" sz="1600" b="1" dirty="0">
                          <a:solidFill>
                            <a:schemeClr val="bg1"/>
                          </a:solidFill>
                        </a:rPr>
                        <a:t>Setting</a:t>
                      </a: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600" b="1" dirty="0">
                          <a:solidFill>
                            <a:schemeClr val="bg1"/>
                          </a:solidFill>
                        </a:rPr>
                        <a:t>What it controls</a:t>
                      </a: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603504">
                <a:tc>
                  <a:txBody>
                    <a:bodyPr/>
                    <a:lstStyle/>
                    <a:p>
                      <a:pPr indent="0" marL="0">
                        <a:buNone/>
                      </a:pPr>
                      <a:r>
                        <a:rPr lang="en-US" sz="1500" b="1" dirty="0">
                          <a:solidFill>
                            <a:schemeClr val="tx1"/>
                          </a:solidFill>
                        </a:rPr>
                        <a:t>INSTALLED_APPS</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Which apps Django loads (admin, auth, ours)</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603504">
                <a:tc>
                  <a:txBody>
                    <a:bodyPr/>
                    <a:lstStyle/>
                    <a:p>
                      <a:pPr indent="0" marL="0">
                        <a:buNone/>
                      </a:pPr>
                      <a:r>
                        <a:rPr lang="en-US" sz="1500" b="1" dirty="0">
                          <a:solidFill>
                            <a:schemeClr val="tx1"/>
                          </a:solidFill>
                        </a:rPr>
                        <a:t>DATABASES</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Which database to use and how to connect</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03504">
                <a:tc>
                  <a:txBody>
                    <a:bodyPr/>
                    <a:lstStyle/>
                    <a:p>
                      <a:pPr indent="0" marL="0">
                        <a:buNone/>
                      </a:pPr>
                      <a:r>
                        <a:rPr lang="en-US" sz="1500" b="1" dirty="0">
                          <a:solidFill>
                            <a:schemeClr val="tx1"/>
                          </a:solidFill>
                        </a:rPr>
                        <a:t>MIDDLEWARE</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Code run on every request (security, sessions)</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603504">
                <a:tc>
                  <a:txBody>
                    <a:bodyPr/>
                    <a:lstStyle/>
                    <a:p>
                      <a:pPr indent="0" marL="0">
                        <a:buNone/>
                      </a:pPr>
                      <a:r>
                        <a:rPr lang="en-US" sz="1500" b="1" dirty="0">
                          <a:solidFill>
                            <a:schemeClr val="tx1"/>
                          </a:solidFill>
                        </a:rPr>
                        <a:t>TEMPLATES</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Template engine config (the admin needs it)</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03504">
                <a:tc>
                  <a:txBody>
                    <a:bodyPr/>
                    <a:lstStyle/>
                    <a:p>
                      <a:pPr indent="0" marL="0">
                        <a:buNone/>
                      </a:pPr>
                      <a:r>
                        <a:rPr lang="en-US" sz="1500" b="1" dirty="0">
                          <a:solidFill>
                            <a:schemeClr val="tx1"/>
                          </a:solidFill>
                        </a:rPr>
                        <a:t>STATIC / MEDIA</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CSS and JS files, and user-uploaded files</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603504">
                <a:tc>
                  <a:txBody>
                    <a:bodyPr/>
                    <a:lstStyle/>
                    <a:p>
                      <a:pPr indent="0" marL="0">
                        <a:buNone/>
                      </a:pPr>
                      <a:r>
                        <a:rPr lang="en-US" sz="1500" b="1" dirty="0">
                          <a:solidFill>
                            <a:schemeClr val="tx1"/>
                          </a:solidFill>
                        </a:rPr>
                        <a:t>DEBUG, SECRET_KEY</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Dev error pages; signing key - keep secret</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5" name="settings-code"/>
          <p:cNvSpPr txBox="1"/>
          <p:nvPr/>
        </p:nvSpPr>
        <p:spPr>
          <a:xfrm>
            <a:off x="7589520" y="1371600"/>
            <a:ext cx="4050792" cy="3108960"/>
          </a:xfrm>
          <a:prstGeom prst="roundRect">
            <a:avLst>
              <a:gd name="adj" fmla="val 2941"/>
            </a:avLst>
          </a:prstGeom>
          <a:solidFill>
            <a:schemeClr val="accent6"/>
          </a:solidFill>
          <a:ln/>
        </p:spPr>
        <p:txBody>
          <a:bodyPr wrap="square" lIns="152400" tIns="152400" rIns="152400" bIns="15240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INSTALLED_APPS =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"rest_framework",</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"items",</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DEBUG = True</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ALLOWED_HOSTS = []</a:t>
            </a:r>
            <a:endParaRPr lang="en-US" sz="1400" dirty="0"/>
          </a:p>
          <a:p>
            <a:pPr indent="0" marL="0">
              <a:buNone/>
            </a:pP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MEDIA_ROOT = BASE_DIR / "media"</a:t>
            </a:r>
            <a:endParaRPr lang="en-US" sz="1400" dirty="0"/>
          </a:p>
        </p:txBody>
      </p:sp>
      <p:sp>
        <p:nvSpPr>
          <p:cNvPr id="6" name="warning"/>
          <p:cNvSpPr/>
          <p:nvPr/>
        </p:nvSpPr>
        <p:spPr>
          <a:xfrm>
            <a:off x="7589520" y="4663440"/>
            <a:ext cx="4050792" cy="914400"/>
          </a:xfrm>
          <a:prstGeom prst="roundRect">
            <a:avLst>
              <a:gd name="adj" fmla="val 12000"/>
            </a:avLst>
          </a:prstGeom>
          <a:solidFill>
            <a:schemeClr val="accent2"/>
          </a:solidFill>
          <a:ln/>
        </p:spPr>
      </p:sp>
      <p:sp>
        <p:nvSpPr>
          <p:cNvPr id="7" name="Text 3"/>
          <p:cNvSpPr txBox="1"/>
          <p:nvPr/>
        </p:nvSpPr>
        <p:spPr>
          <a:xfrm>
            <a:off x="7818120" y="4663440"/>
            <a:ext cx="3611880" cy="914400"/>
          </a:xfrm>
          <a:prstGeom prst="rect">
            <a:avLst/>
          </a:prstGeom>
          <a:noFill/>
          <a:ln/>
        </p:spPr>
        <p:txBody>
          <a:bodyPr wrap="square" lIns="0" tIns="0" rIns="0" bIns="0" rtlCol="0" anchor="ctr"/>
          <a:lstStyle/>
          <a:p>
            <a:pPr indent="0" marL="0">
              <a:buNone/>
            </a:pPr>
            <a:r>
              <a:rPr lang="en-US" sz="1600" b="1" dirty="0">
                <a:solidFill>
                  <a:schemeClr val="accent6"/>
                </a:solidFill>
              </a:rPr>
              <a:t>Never deploy with DEBUG = True</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rPr>
              <a:t>Key terms: data and APIs</a:t>
            </a:r>
            <a:endParaRPr lang="en-US" sz="3600" dirty="0"/>
          </a:p>
        </p:txBody>
      </p:sp>
      <p:sp>
        <p:nvSpPr>
          <p:cNvPr id="4" name="term-card"/>
          <p:cNvSpPr/>
          <p:nvPr/>
        </p:nvSpPr>
        <p:spPr>
          <a:xfrm>
            <a:off x="548640" y="1371600"/>
            <a:ext cx="3520440" cy="2194560"/>
          </a:xfrm>
          <a:prstGeom prst="roundRect">
            <a:avLst>
              <a:gd name="adj" fmla="val 5000"/>
            </a:avLst>
          </a:prstGeom>
          <a:solidFill>
            <a:schemeClr val="tx2"/>
          </a:solidFill>
          <a:ln/>
        </p:spPr>
      </p:sp>
      <p:sp>
        <p:nvSpPr>
          <p:cNvPr id="5" name="Text 2"/>
          <p:cNvSpPr txBox="1"/>
          <p:nvPr/>
        </p:nvSpPr>
        <p:spPr>
          <a:xfrm>
            <a:off x="822960" y="1600200"/>
            <a:ext cx="2971800" cy="411480"/>
          </a:xfrm>
          <a:prstGeom prst="rect">
            <a:avLst/>
          </a:prstGeom>
          <a:noFill/>
          <a:ln/>
        </p:spPr>
        <p:txBody>
          <a:bodyPr wrap="square" lIns="0" tIns="0" rIns="0" bIns="0" rtlCol="0" anchor="t"/>
          <a:lstStyle/>
          <a:p>
            <a:pPr indent="0" marL="0">
              <a:buNone/>
            </a:pPr>
            <a:r>
              <a:rPr lang="en-US" sz="2200" b="1" dirty="0">
                <a:solidFill>
                  <a:schemeClr val="bg1"/>
                </a:solidFill>
              </a:rPr>
              <a:t>ORM</a:t>
            </a:r>
            <a:endParaRPr lang="en-US" sz="2200" dirty="0"/>
          </a:p>
        </p:txBody>
      </p:sp>
      <p:sp>
        <p:nvSpPr>
          <p:cNvPr id="6" name="Text 3"/>
          <p:cNvSpPr txBox="1"/>
          <p:nvPr/>
        </p:nvSpPr>
        <p:spPr>
          <a:xfrm>
            <a:off x="822960" y="2148840"/>
            <a:ext cx="2971800" cy="1280160"/>
          </a:xfrm>
          <a:prstGeom prst="rect">
            <a:avLst/>
          </a:prstGeom>
          <a:noFill/>
          <a:ln/>
        </p:spPr>
        <p:txBody>
          <a:bodyPr wrap="square" lIns="0" tIns="0" rIns="0" bIns="0" rtlCol="0" anchor="t"/>
          <a:lstStyle/>
          <a:p>
            <a:pPr indent="0" marL="0">
              <a:buNone/>
            </a:pPr>
            <a:r>
              <a:rPr lang="en-US" sz="1600" dirty="0">
                <a:solidFill>
                  <a:schemeClr val="bg1"/>
                </a:solidFill>
              </a:rPr>
              <a:t>Object-Relational Mapper. Lets you use Python classes and objects instead of SQL to work with database tables.</a:t>
            </a:r>
            <a:endParaRPr lang="en-US" sz="1600" dirty="0"/>
          </a:p>
        </p:txBody>
      </p:sp>
      <p:sp>
        <p:nvSpPr>
          <p:cNvPr id="7" name="term-card"/>
          <p:cNvSpPr/>
          <p:nvPr/>
        </p:nvSpPr>
        <p:spPr>
          <a:xfrm>
            <a:off x="4334256" y="1371600"/>
            <a:ext cx="3520440" cy="2194560"/>
          </a:xfrm>
          <a:prstGeom prst="roundRect">
            <a:avLst>
              <a:gd name="adj" fmla="val 5000"/>
            </a:avLst>
          </a:prstGeom>
          <a:solidFill>
            <a:schemeClr val="bg2"/>
          </a:solidFill>
          <a:ln/>
        </p:spPr>
      </p:sp>
      <p:sp>
        <p:nvSpPr>
          <p:cNvPr id="8" name="Text 5"/>
          <p:cNvSpPr txBox="1"/>
          <p:nvPr/>
        </p:nvSpPr>
        <p:spPr>
          <a:xfrm>
            <a:off x="4608576" y="1600200"/>
            <a:ext cx="2971800" cy="411480"/>
          </a:xfrm>
          <a:prstGeom prst="rect">
            <a:avLst/>
          </a:prstGeom>
          <a:noFill/>
          <a:ln/>
        </p:spPr>
        <p:txBody>
          <a:bodyPr wrap="square" lIns="0" tIns="0" rIns="0" bIns="0" rtlCol="0" anchor="t"/>
          <a:lstStyle/>
          <a:p>
            <a:pPr indent="0" marL="0">
              <a:buNone/>
            </a:pPr>
            <a:r>
              <a:rPr lang="en-US" sz="2200" b="1" dirty="0">
                <a:solidFill>
                  <a:schemeClr val="tx2"/>
                </a:solidFill>
              </a:rPr>
              <a:t>Model</a:t>
            </a:r>
            <a:endParaRPr lang="en-US" sz="2200" dirty="0"/>
          </a:p>
        </p:txBody>
      </p:sp>
      <p:sp>
        <p:nvSpPr>
          <p:cNvPr id="9" name="Text 6"/>
          <p:cNvSpPr txBox="1"/>
          <p:nvPr/>
        </p:nvSpPr>
        <p:spPr>
          <a:xfrm>
            <a:off x="4608576" y="2148840"/>
            <a:ext cx="2971800" cy="1280160"/>
          </a:xfrm>
          <a:prstGeom prst="rect">
            <a:avLst/>
          </a:prstGeom>
          <a:noFill/>
          <a:ln/>
        </p:spPr>
        <p:txBody>
          <a:bodyPr wrap="square" lIns="0" tIns="0" rIns="0" bIns="0" rtlCol="0" anchor="t"/>
          <a:lstStyle/>
          <a:p>
            <a:pPr indent="0" marL="0">
              <a:buNone/>
            </a:pPr>
            <a:r>
              <a:rPr lang="en-US" sz="1600" dirty="0">
                <a:solidFill>
                  <a:schemeClr val="tx1"/>
                </a:solidFill>
              </a:rPr>
              <a:t>A Python class that describes your data. One model = one table, one field = one column.</a:t>
            </a:r>
            <a:endParaRPr lang="en-US" sz="1600" dirty="0"/>
          </a:p>
        </p:txBody>
      </p:sp>
      <p:sp>
        <p:nvSpPr>
          <p:cNvPr id="10" name="term-card"/>
          <p:cNvSpPr/>
          <p:nvPr/>
        </p:nvSpPr>
        <p:spPr>
          <a:xfrm>
            <a:off x="8119872" y="1371600"/>
            <a:ext cx="3520440" cy="2194560"/>
          </a:xfrm>
          <a:prstGeom prst="roundRect">
            <a:avLst>
              <a:gd name="adj" fmla="val 5000"/>
            </a:avLst>
          </a:prstGeom>
          <a:solidFill>
            <a:schemeClr val="bg2"/>
          </a:solidFill>
          <a:ln/>
        </p:spPr>
      </p:sp>
      <p:sp>
        <p:nvSpPr>
          <p:cNvPr id="11" name="Text 8"/>
          <p:cNvSpPr txBox="1"/>
          <p:nvPr/>
        </p:nvSpPr>
        <p:spPr>
          <a:xfrm>
            <a:off x="8394192" y="1600200"/>
            <a:ext cx="2971800" cy="411480"/>
          </a:xfrm>
          <a:prstGeom prst="rect">
            <a:avLst/>
          </a:prstGeom>
          <a:noFill/>
          <a:ln/>
        </p:spPr>
        <p:txBody>
          <a:bodyPr wrap="square" lIns="0" tIns="0" rIns="0" bIns="0" rtlCol="0" anchor="t"/>
          <a:lstStyle/>
          <a:p>
            <a:pPr indent="0" marL="0">
              <a:buNone/>
            </a:pPr>
            <a:r>
              <a:rPr lang="en-US" sz="2200" b="1" dirty="0">
                <a:solidFill>
                  <a:schemeClr val="tx2"/>
                </a:solidFill>
              </a:rPr>
              <a:t>Migration</a:t>
            </a:r>
            <a:endParaRPr lang="en-US" sz="2200" dirty="0"/>
          </a:p>
        </p:txBody>
      </p:sp>
      <p:sp>
        <p:nvSpPr>
          <p:cNvPr id="12" name="Text 9"/>
          <p:cNvSpPr txBox="1"/>
          <p:nvPr/>
        </p:nvSpPr>
        <p:spPr>
          <a:xfrm>
            <a:off x="8394192" y="2148840"/>
            <a:ext cx="2971800" cy="1280160"/>
          </a:xfrm>
          <a:prstGeom prst="rect">
            <a:avLst/>
          </a:prstGeom>
          <a:noFill/>
          <a:ln/>
        </p:spPr>
        <p:txBody>
          <a:bodyPr wrap="square" lIns="0" tIns="0" rIns="0" bIns="0" rtlCol="0" anchor="t"/>
          <a:lstStyle/>
          <a:p>
            <a:pPr indent="0" marL="0">
              <a:buNone/>
            </a:pPr>
            <a:r>
              <a:rPr lang="en-US" sz="1600" dirty="0">
                <a:solidFill>
                  <a:schemeClr val="tx1"/>
                </a:solidFill>
              </a:rPr>
              <a:t>A file that records a change to the database structure, so it can be applied again or shared with others.</a:t>
            </a:r>
            <a:endParaRPr lang="en-US" sz="1600" dirty="0"/>
          </a:p>
        </p:txBody>
      </p:sp>
      <p:sp>
        <p:nvSpPr>
          <p:cNvPr id="13" name="term-card"/>
          <p:cNvSpPr/>
          <p:nvPr/>
        </p:nvSpPr>
        <p:spPr>
          <a:xfrm>
            <a:off x="548640" y="3840480"/>
            <a:ext cx="3520440" cy="2194560"/>
          </a:xfrm>
          <a:prstGeom prst="roundRect">
            <a:avLst>
              <a:gd name="adj" fmla="val 5000"/>
            </a:avLst>
          </a:prstGeom>
          <a:solidFill>
            <a:schemeClr val="bg2"/>
          </a:solidFill>
          <a:ln/>
        </p:spPr>
      </p:sp>
      <p:sp>
        <p:nvSpPr>
          <p:cNvPr id="14" name="Text 11"/>
          <p:cNvSpPr txBox="1"/>
          <p:nvPr/>
        </p:nvSpPr>
        <p:spPr>
          <a:xfrm>
            <a:off x="822960" y="4069080"/>
            <a:ext cx="2971800" cy="411480"/>
          </a:xfrm>
          <a:prstGeom prst="rect">
            <a:avLst/>
          </a:prstGeom>
          <a:noFill/>
          <a:ln/>
        </p:spPr>
        <p:txBody>
          <a:bodyPr wrap="square" lIns="0" tIns="0" rIns="0" bIns="0" rtlCol="0" anchor="t"/>
          <a:lstStyle/>
          <a:p>
            <a:pPr indent="0" marL="0">
              <a:buNone/>
            </a:pPr>
            <a:r>
              <a:rPr lang="en-US" sz="2200" b="1" dirty="0">
                <a:solidFill>
                  <a:schemeClr val="tx2"/>
                </a:solidFill>
              </a:rPr>
              <a:t>API</a:t>
            </a:r>
            <a:endParaRPr lang="en-US" sz="2200" dirty="0"/>
          </a:p>
        </p:txBody>
      </p:sp>
      <p:sp>
        <p:nvSpPr>
          <p:cNvPr id="15" name="Text 12"/>
          <p:cNvSpPr txBox="1"/>
          <p:nvPr/>
        </p:nvSpPr>
        <p:spPr>
          <a:xfrm>
            <a:off x="822960" y="4617720"/>
            <a:ext cx="2971800" cy="1280160"/>
          </a:xfrm>
          <a:prstGeom prst="rect">
            <a:avLst/>
          </a:prstGeom>
          <a:noFill/>
          <a:ln/>
        </p:spPr>
        <p:txBody>
          <a:bodyPr wrap="square" lIns="0" tIns="0" rIns="0" bIns="0" rtlCol="0" anchor="t"/>
          <a:lstStyle/>
          <a:p>
            <a:pPr indent="0" marL="0">
              <a:buNone/>
            </a:pPr>
            <a:r>
              <a:rPr lang="en-US" sz="1600" dirty="0">
                <a:solidFill>
                  <a:schemeClr val="tx1"/>
                </a:solidFill>
              </a:rPr>
              <a:t>A set of URLs that programs use to exchange data with your app, usually as JSON.</a:t>
            </a:r>
            <a:endParaRPr lang="en-US" sz="1600" dirty="0"/>
          </a:p>
        </p:txBody>
      </p:sp>
      <p:sp>
        <p:nvSpPr>
          <p:cNvPr id="16" name="term-card"/>
          <p:cNvSpPr/>
          <p:nvPr/>
        </p:nvSpPr>
        <p:spPr>
          <a:xfrm>
            <a:off x="4334256" y="3840480"/>
            <a:ext cx="3520440" cy="2194560"/>
          </a:xfrm>
          <a:prstGeom prst="roundRect">
            <a:avLst>
              <a:gd name="adj" fmla="val 5000"/>
            </a:avLst>
          </a:prstGeom>
          <a:solidFill>
            <a:schemeClr val="bg2"/>
          </a:solidFill>
          <a:ln/>
        </p:spPr>
      </p:sp>
      <p:sp>
        <p:nvSpPr>
          <p:cNvPr id="17" name="Text 14"/>
          <p:cNvSpPr txBox="1"/>
          <p:nvPr/>
        </p:nvSpPr>
        <p:spPr>
          <a:xfrm>
            <a:off x="4608576" y="4069080"/>
            <a:ext cx="2971800" cy="411480"/>
          </a:xfrm>
          <a:prstGeom prst="rect">
            <a:avLst/>
          </a:prstGeom>
          <a:noFill/>
          <a:ln/>
        </p:spPr>
        <p:txBody>
          <a:bodyPr wrap="square" lIns="0" tIns="0" rIns="0" bIns="0" rtlCol="0" anchor="t"/>
          <a:lstStyle/>
          <a:p>
            <a:pPr indent="0" marL="0">
              <a:buNone/>
            </a:pPr>
            <a:r>
              <a:rPr lang="en-US" sz="2200" b="1" dirty="0">
                <a:solidFill>
                  <a:schemeClr val="tx2"/>
                </a:solidFill>
              </a:rPr>
              <a:t>REST</a:t>
            </a:r>
            <a:endParaRPr lang="en-US" sz="2200" dirty="0"/>
          </a:p>
        </p:txBody>
      </p:sp>
      <p:sp>
        <p:nvSpPr>
          <p:cNvPr id="18" name="Text 15"/>
          <p:cNvSpPr txBox="1"/>
          <p:nvPr/>
        </p:nvSpPr>
        <p:spPr>
          <a:xfrm>
            <a:off x="4608576" y="4617720"/>
            <a:ext cx="2971800" cy="1280160"/>
          </a:xfrm>
          <a:prstGeom prst="rect">
            <a:avLst/>
          </a:prstGeom>
          <a:noFill/>
          <a:ln/>
        </p:spPr>
        <p:txBody>
          <a:bodyPr wrap="square" lIns="0" tIns="0" rIns="0" bIns="0" rtlCol="0" anchor="t"/>
          <a:lstStyle/>
          <a:p>
            <a:pPr indent="0" marL="0">
              <a:buNone/>
            </a:pPr>
            <a:r>
              <a:rPr lang="en-US" sz="1600" dirty="0">
                <a:solidFill>
                  <a:schemeClr val="tx1"/>
                </a:solidFill>
              </a:rPr>
              <a:t>An API design style: each thing has a URL, and HTTP methods (GET, POST, PUT, DELETE) say what to do.</a:t>
            </a:r>
            <a:endParaRPr lang="en-US" sz="1600" dirty="0"/>
          </a:p>
        </p:txBody>
      </p:sp>
      <p:sp>
        <p:nvSpPr>
          <p:cNvPr id="19" name="term-card"/>
          <p:cNvSpPr/>
          <p:nvPr/>
        </p:nvSpPr>
        <p:spPr>
          <a:xfrm>
            <a:off x="8119872" y="3840480"/>
            <a:ext cx="3520440" cy="2194560"/>
          </a:xfrm>
          <a:prstGeom prst="roundRect">
            <a:avLst>
              <a:gd name="adj" fmla="val 5000"/>
            </a:avLst>
          </a:prstGeom>
          <a:solidFill>
            <a:schemeClr val="bg2"/>
          </a:solidFill>
          <a:ln/>
        </p:spPr>
      </p:sp>
      <p:sp>
        <p:nvSpPr>
          <p:cNvPr id="20" name="Text 17"/>
          <p:cNvSpPr txBox="1"/>
          <p:nvPr/>
        </p:nvSpPr>
        <p:spPr>
          <a:xfrm>
            <a:off x="8394192" y="4069080"/>
            <a:ext cx="2971800" cy="411480"/>
          </a:xfrm>
          <a:prstGeom prst="rect">
            <a:avLst/>
          </a:prstGeom>
          <a:noFill/>
          <a:ln/>
        </p:spPr>
        <p:txBody>
          <a:bodyPr wrap="square" lIns="0" tIns="0" rIns="0" bIns="0" rtlCol="0" anchor="t"/>
          <a:lstStyle/>
          <a:p>
            <a:pPr indent="0" marL="0">
              <a:buNone/>
            </a:pPr>
            <a:r>
              <a:rPr lang="en-US" sz="2200" b="1" dirty="0">
                <a:solidFill>
                  <a:schemeClr val="tx2"/>
                </a:solidFill>
              </a:rPr>
              <a:t>Serializer</a:t>
            </a:r>
            <a:endParaRPr lang="en-US" sz="2200" dirty="0"/>
          </a:p>
        </p:txBody>
      </p:sp>
      <p:sp>
        <p:nvSpPr>
          <p:cNvPr id="21" name="Text 18"/>
          <p:cNvSpPr txBox="1"/>
          <p:nvPr/>
        </p:nvSpPr>
        <p:spPr>
          <a:xfrm>
            <a:off x="8394192" y="4617720"/>
            <a:ext cx="2971800" cy="1280160"/>
          </a:xfrm>
          <a:prstGeom prst="rect">
            <a:avLst/>
          </a:prstGeom>
          <a:noFill/>
          <a:ln/>
        </p:spPr>
        <p:txBody>
          <a:bodyPr wrap="square" lIns="0" tIns="0" rIns="0" bIns="0" rtlCol="0" anchor="t"/>
          <a:lstStyle/>
          <a:p>
            <a:pPr indent="0" marL="0">
              <a:buNone/>
            </a:pPr>
            <a:r>
              <a:rPr lang="en-US" sz="1600" dirty="0">
                <a:solidFill>
                  <a:schemeClr val="tx1"/>
                </a:solidFill>
              </a:rPr>
              <a:t>Converts model objects to JSON and back, and validates incoming data.</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rPr>
              <a:t>Models: Python class to table</a:t>
            </a:r>
            <a:endParaRPr lang="en-US" sz="3600" dirty="0"/>
          </a:p>
        </p:txBody>
      </p:sp>
      <p:sp>
        <p:nvSpPr>
          <p:cNvPr id="4" name="Text 1"/>
          <p:cNvSpPr txBox="1"/>
          <p:nvPr/>
        </p:nvSpPr>
        <p:spPr>
          <a:xfrm>
            <a:off x="548640" y="1371600"/>
            <a:ext cx="5303520" cy="274320"/>
          </a:xfrm>
          <a:prstGeom prst="rect">
            <a:avLst/>
          </a:prstGeom>
          <a:noFill/>
          <a:ln/>
        </p:spPr>
        <p:txBody>
          <a:bodyPr wrap="square" lIns="0" tIns="0" rIns="0" bIns="0" rtlCol="0" anchor="t"/>
          <a:lstStyle/>
          <a:p>
            <a:pPr indent="0" marL="0">
              <a:buNone/>
            </a:pPr>
            <a:r>
              <a:rPr lang="en-US" sz="1400" b="1" dirty="0">
                <a:solidFill>
                  <a:schemeClr val="accent5"/>
                </a:solidFill>
              </a:rPr>
              <a:t>items/models.py  (Python)</a:t>
            </a:r>
            <a:endParaRPr lang="en-US" sz="1400" dirty="0"/>
          </a:p>
        </p:txBody>
      </p:sp>
      <p:sp>
        <p:nvSpPr>
          <p:cNvPr id="5" name="model-code"/>
          <p:cNvSpPr txBox="1"/>
          <p:nvPr/>
        </p:nvSpPr>
        <p:spPr>
          <a:xfrm>
            <a:off x="548640" y="1691640"/>
            <a:ext cx="5394960" cy="3749040"/>
          </a:xfrm>
          <a:prstGeom prst="roundRect">
            <a:avLst>
              <a:gd name="adj" fmla="val 2439"/>
            </a:avLst>
          </a:prstGeom>
          <a:solidFill>
            <a:schemeClr val="accent6"/>
          </a:solidFill>
          <a:ln/>
        </p:spPr>
        <p:txBody>
          <a:bodyPr wrap="square" lIns="152400" tIns="152400" rIns="152400" bIns="15240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class Item(models.Model):</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name = models.CharField(</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max_length=100)</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description = models.TextField(</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blank=True)</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price = models.DecimalField(</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max_digits=8, decimal_places=2)</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quantity = models.PositiveIntegerField(</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default=0)</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is_available = models.BooleanField(</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default=True)</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created_at = models.DateTimeField(</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auto_now_add=True)</a:t>
            </a:r>
            <a:endParaRPr lang="en-US" sz="1400" dirty="0"/>
          </a:p>
        </p:txBody>
      </p:sp>
      <p:sp>
        <p:nvSpPr>
          <p:cNvPr id="6" name="arrow"/>
          <p:cNvSpPr/>
          <p:nvPr/>
        </p:nvSpPr>
        <p:spPr>
          <a:xfrm>
            <a:off x="6053328" y="3291840"/>
            <a:ext cx="548640" cy="548640"/>
          </a:xfrm>
          <a:prstGeom prst="rightArrow">
            <a:avLst/>
          </a:prstGeom>
          <a:solidFill>
            <a:schemeClr val="accent1"/>
          </a:solidFill>
          <a:ln/>
        </p:spPr>
      </p:sp>
      <p:sp>
        <p:nvSpPr>
          <p:cNvPr id="7" name="Text 4"/>
          <p:cNvSpPr txBox="1"/>
          <p:nvPr/>
        </p:nvSpPr>
        <p:spPr>
          <a:xfrm>
            <a:off x="6702552" y="1371600"/>
            <a:ext cx="4937760" cy="274320"/>
          </a:xfrm>
          <a:prstGeom prst="rect">
            <a:avLst/>
          </a:prstGeom>
          <a:noFill/>
          <a:ln/>
        </p:spPr>
        <p:txBody>
          <a:bodyPr wrap="square" lIns="0" tIns="0" rIns="0" bIns="0" rtlCol="0" anchor="t"/>
          <a:lstStyle/>
          <a:p>
            <a:pPr indent="0" marL="0">
              <a:buNone/>
            </a:pPr>
            <a:r>
              <a:rPr lang="en-US" sz="1400" b="1" dirty="0">
                <a:solidFill>
                  <a:schemeClr val="accent5"/>
                </a:solidFill>
              </a:rPr>
              <a:t>Database table  (SQL, shortened)</a:t>
            </a:r>
            <a:endParaRPr lang="en-US" sz="1400" dirty="0"/>
          </a:p>
        </p:txBody>
      </p:sp>
      <p:sp>
        <p:nvSpPr>
          <p:cNvPr id="8" name="sql-code"/>
          <p:cNvSpPr txBox="1"/>
          <p:nvPr/>
        </p:nvSpPr>
        <p:spPr>
          <a:xfrm>
            <a:off x="6702552" y="1691640"/>
            <a:ext cx="4937760" cy="3749040"/>
          </a:xfrm>
          <a:prstGeom prst="roundRect">
            <a:avLst>
              <a:gd name="adj" fmla="val 2439"/>
            </a:avLst>
          </a:prstGeom>
          <a:solidFill>
            <a:schemeClr val="accent6"/>
          </a:solidFill>
          <a:ln/>
        </p:spPr>
        <p:txBody>
          <a:bodyPr wrap="square" lIns="152400" tIns="152400" rIns="152400" bIns="15240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CREATE TABLE "items_item"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"id" integer PRIMARY KEY</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AUTOINCREMENT,</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"name" varchar(100)</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NOT NULL,</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"description" text NOT NULL,</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"price" decimal NOT NULL,</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"quantity" integer unsigned</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NOT NULL,</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"is_available" bool NOT NULL,</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"created_at" datetime</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NOT NULL</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a:t>
            </a:r>
            <a:endParaRPr lang="en-US" sz="1400" dirty="0"/>
          </a:p>
        </p:txBody>
      </p:sp>
      <p:sp>
        <p:nvSpPr>
          <p:cNvPr id="9" name="callout"/>
          <p:cNvSpPr/>
          <p:nvPr/>
        </p:nvSpPr>
        <p:spPr>
          <a:xfrm>
            <a:off x="548640" y="5623560"/>
            <a:ext cx="11091672" cy="548640"/>
          </a:xfrm>
          <a:prstGeom prst="roundRect">
            <a:avLst>
              <a:gd name="adj" fmla="val 20000"/>
            </a:avLst>
          </a:prstGeom>
          <a:solidFill>
            <a:schemeClr val="bg2"/>
          </a:solidFill>
          <a:ln/>
        </p:spPr>
      </p:sp>
      <p:sp>
        <p:nvSpPr>
          <p:cNvPr id="10" name="Text 7"/>
          <p:cNvSpPr txBox="1"/>
          <p:nvPr/>
        </p:nvSpPr>
        <p:spPr>
          <a:xfrm>
            <a:off x="822960" y="5623560"/>
            <a:ext cx="10543032" cy="548640"/>
          </a:xfrm>
          <a:prstGeom prst="rect">
            <a:avLst/>
          </a:prstGeom>
          <a:noFill/>
          <a:ln/>
        </p:spPr>
        <p:txBody>
          <a:bodyPr wrap="square" lIns="0" tIns="0" rIns="0" bIns="0" rtlCol="0" anchor="ctr"/>
          <a:lstStyle/>
          <a:p>
            <a:pPr indent="0" marL="0">
              <a:buNone/>
            </a:pPr>
            <a:r>
              <a:rPr lang="en-US" sz="1600" dirty="0">
                <a:solidFill>
                  <a:schemeClr val="tx1"/>
                </a:solidFill>
              </a:rPr>
              <a:t>Class = table   |   field = column   |   object = row.   Django adds the id column for you.</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rPr>
              <a:t>Field types and attributes</a:t>
            </a:r>
            <a:endParaRPr lang="en-US" sz="3600" dirty="0"/>
          </a:p>
        </p:txBody>
      </p:sp>
      <p:sp>
        <p:nvSpPr>
          <p:cNvPr id="4" name="Text 1"/>
          <p:cNvSpPr txBox="1"/>
          <p:nvPr/>
        </p:nvSpPr>
        <p:spPr>
          <a:xfrm>
            <a:off x="548640" y="1325880"/>
            <a:ext cx="5760720" cy="274320"/>
          </a:xfrm>
          <a:prstGeom prst="rect">
            <a:avLst/>
          </a:prstGeom>
          <a:noFill/>
          <a:ln/>
        </p:spPr>
        <p:txBody>
          <a:bodyPr wrap="square" lIns="0" tIns="0" rIns="0" bIns="0" rtlCol="0" anchor="t"/>
          <a:lstStyle/>
          <a:p>
            <a:pPr indent="0" marL="0">
              <a:buNone/>
            </a:pPr>
            <a:r>
              <a:rPr lang="en-US" sz="1400" b="1" dirty="0">
                <a:solidFill>
                  <a:schemeClr val="accent5"/>
                </a:solidFill>
              </a:rPr>
              <a:t>Field type  -&gt;  database column</a:t>
            </a:r>
            <a:endParaRPr lang="en-US" sz="14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645920"/>
          <a:ext cx="5760720" cy="914400"/>
        </p:xfrm>
        <a:graphic>
          <a:graphicData uri="http://schemas.openxmlformats.org/drawingml/2006/table">
            <a:tbl>
              <a:tblPr/>
              <a:tblGrid>
                <a:gridCol w="2651760"/>
                <a:gridCol w="3108960"/>
              </a:tblGrid>
              <a:tr h="457200">
                <a:tc>
                  <a:txBody>
                    <a:bodyPr/>
                    <a:lstStyle/>
                    <a:p>
                      <a:pPr indent="0" marL="0">
                        <a:buNone/>
                      </a:pPr>
                      <a:r>
                        <a:rPr lang="en-US" sz="1600" b="1" dirty="0">
                          <a:solidFill>
                            <a:schemeClr val="bg1"/>
                          </a:solidFill>
                        </a:rPr>
                        <a:t>Field type</a:t>
                      </a: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600" b="1" dirty="0">
                          <a:solidFill>
                            <a:schemeClr val="bg1"/>
                          </a:solidFill>
                        </a:rPr>
                        <a:t>Column</a:t>
                      </a: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457200">
                <a:tc>
                  <a:txBody>
                    <a:bodyPr/>
                    <a:lstStyle/>
                    <a:p>
                      <a:pPr indent="0" marL="0">
                        <a:buNone/>
                      </a:pPr>
                      <a:r>
                        <a:rPr lang="en-US" sz="1500" b="1" dirty="0">
                          <a:solidFill>
                            <a:schemeClr val="tx1"/>
                          </a:solidFill>
                        </a:rPr>
                        <a:t>CharField</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VARCHAR - short text</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500" b="1" dirty="0">
                          <a:solidFill>
                            <a:schemeClr val="tx1"/>
                          </a:solidFill>
                        </a:rPr>
                        <a:t>TextField</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TEXT - long text</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indent="0" marL="0">
                        <a:buNone/>
                      </a:pPr>
                      <a:r>
                        <a:rPr lang="en-US" sz="1500" b="1" dirty="0">
                          <a:solidFill>
                            <a:schemeClr val="tx1"/>
                          </a:solidFill>
                        </a:rPr>
                        <a:t>IntegerField</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INTEGER</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500" b="1" dirty="0">
                          <a:solidFill>
                            <a:schemeClr val="tx1"/>
                          </a:solidFill>
                        </a:rPr>
                        <a:t>DecimalField</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DECIMAL - exact numbers (money)</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indent="0" marL="0">
                        <a:buNone/>
                      </a:pPr>
                      <a:r>
                        <a:rPr lang="en-US" sz="1500" b="1" dirty="0">
                          <a:solidFill>
                            <a:schemeClr val="tx1"/>
                          </a:solidFill>
                        </a:rPr>
                        <a:t>BooleanField</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BOOLEAN</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500" b="1" dirty="0">
                          <a:solidFill>
                            <a:schemeClr val="tx1"/>
                          </a:solidFill>
                        </a:rPr>
                        <a:t>DateTimeField</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DATETIME</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indent="0" marL="0">
                        <a:buNone/>
                      </a:pPr>
                      <a:r>
                        <a:rPr lang="en-US" sz="1500" b="1" dirty="0">
                          <a:solidFill>
                            <a:schemeClr val="tx1"/>
                          </a:solidFill>
                        </a:rPr>
                        <a:t>ImageField</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VARCHAR - stores the file path</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Text 2"/>
          <p:cNvSpPr txBox="1"/>
          <p:nvPr/>
        </p:nvSpPr>
        <p:spPr>
          <a:xfrm>
            <a:off x="6583680" y="1325880"/>
            <a:ext cx="5029200" cy="274320"/>
          </a:xfrm>
          <a:prstGeom prst="rect">
            <a:avLst/>
          </a:prstGeom>
          <a:noFill/>
          <a:ln/>
        </p:spPr>
        <p:txBody>
          <a:bodyPr wrap="square" lIns="0" tIns="0" rIns="0" bIns="0" rtlCol="0" anchor="t"/>
          <a:lstStyle/>
          <a:p>
            <a:pPr indent="0" marL="0">
              <a:buNone/>
            </a:pPr>
            <a:r>
              <a:rPr lang="en-US" sz="1400" b="1" dirty="0">
                <a:solidFill>
                  <a:schemeClr val="accent5"/>
                </a:solidFill>
              </a:rPr>
              <a:t>Common attributes</a:t>
            </a:r>
            <a:endParaRPr lang="en-US" sz="1400" dirty="0"/>
          </a:p>
        </p:txBody>
      </p:sp>
      <p:graphicFrame>
        <p:nvGraphicFramePr>
          <p:cNvPr id="35" name="table"/>
          <p:cNvGraphicFramePr>
            <a:graphicFrameLocks noGrp="1"/>
          </p:cNvGraphicFramePr>
          <p:nvPr>
            <p:extLst>
              <p:ext uri="{D42A27DB-BD31-4B8C-83A1-F6EECF244321}">
                <p14:modId xmlns:p14="http://schemas.microsoft.com/office/powerpoint/2010/main" val="1579011935"/>
              </p:ext>
            </p:extLst>
          </p:nvPr>
        </p:nvGraphicFramePr>
        <p:xfrm>
          <a:off x="6583680" y="1645920"/>
          <a:ext cx="5056632" cy="914400"/>
        </p:xfrm>
        <a:graphic>
          <a:graphicData uri="http://schemas.openxmlformats.org/drawingml/2006/table">
            <a:tbl>
              <a:tblPr/>
              <a:tblGrid>
                <a:gridCol w="1828800"/>
                <a:gridCol w="3227832"/>
              </a:tblGrid>
              <a:tr h="457200">
                <a:tc>
                  <a:txBody>
                    <a:bodyPr/>
                    <a:lstStyle/>
                    <a:p>
                      <a:pPr indent="0" marL="0">
                        <a:buNone/>
                      </a:pPr>
                      <a:r>
                        <a:rPr lang="en-US" sz="1600" b="1" dirty="0">
                          <a:solidFill>
                            <a:schemeClr val="bg1"/>
                          </a:solidFill>
                        </a:rPr>
                        <a:t>Attribute</a:t>
                      </a: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600" b="1" dirty="0">
                          <a:solidFill>
                            <a:schemeClr val="bg1"/>
                          </a:solidFill>
                        </a:rPr>
                        <a:t>Meaning</a:t>
                      </a: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457200">
                <a:tc>
                  <a:txBody>
                    <a:bodyPr/>
                    <a:lstStyle/>
                    <a:p>
                      <a:pPr indent="0" marL="0">
                        <a:buNone/>
                      </a:pPr>
                      <a:r>
                        <a:rPr lang="en-US" sz="1500" b="1" dirty="0">
                          <a:solidFill>
                            <a:schemeClr val="tx1"/>
                          </a:solidFill>
                        </a:rPr>
                        <a:t>max_length</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Maximum characters</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500" b="1" dirty="0">
                          <a:solidFill>
                            <a:schemeClr val="tx1"/>
                          </a:solidFill>
                        </a:rPr>
                        <a:t>null=True</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Database may store NULL</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indent="0" marL="0">
                        <a:buNone/>
                      </a:pPr>
                      <a:r>
                        <a:rPr lang="en-US" sz="1500" b="1" dirty="0">
                          <a:solidFill>
                            <a:schemeClr val="tx1"/>
                          </a:solidFill>
                        </a:rPr>
                        <a:t>blank=True</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Form may be left empty</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500" b="1" dirty="0">
                          <a:solidFill>
                            <a:schemeClr val="tx1"/>
                          </a:solidFill>
                        </a:rPr>
                        <a:t>default=...</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Value used if none is given</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indent="0" marL="0">
                        <a:buNone/>
                      </a:pPr>
                      <a:r>
                        <a:rPr lang="en-US" sz="1500" b="1" dirty="0">
                          <a:solidFill>
                            <a:schemeClr val="tx1"/>
                          </a:solidFill>
                        </a:rPr>
                        <a:t>unique=True</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No duplicate values</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500" b="1" dirty="0">
                          <a:solidFill>
                            <a:schemeClr val="tx1"/>
                          </a:solidFill>
                        </a:rPr>
                        <a:t>choices=...</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500" dirty="0">
                          <a:solidFill>
                            <a:schemeClr val="tx1"/>
                          </a:solidFill>
                        </a:rPr>
                        <a:t>Fixed list of allowed values</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indent="0" marL="0">
                        <a:buNone/>
                      </a:pPr>
                      <a:r>
                        <a:rPr lang="en-US" sz="1500" b="1" dirty="0">
                          <a:solidFill>
                            <a:schemeClr val="tx1"/>
                          </a:solidFill>
                        </a:rPr>
                        <a:t>auto_now_add</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500" dirty="0">
                          <a:solidFill>
                            <a:schemeClr val="tx1"/>
                          </a:solidFill>
                        </a:rPr>
                        <a:t>Set once when created</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8" name="callout"/>
          <p:cNvSpPr/>
          <p:nvPr/>
        </p:nvSpPr>
        <p:spPr>
          <a:xfrm>
            <a:off x="548640" y="5577840"/>
            <a:ext cx="11091672" cy="548640"/>
          </a:xfrm>
          <a:prstGeom prst="roundRect">
            <a:avLst>
              <a:gd name="adj" fmla="val 20000"/>
            </a:avLst>
          </a:prstGeom>
          <a:solidFill>
            <a:schemeClr val="bg2"/>
          </a:solidFill>
          <a:ln/>
        </p:spPr>
      </p:sp>
      <p:sp>
        <p:nvSpPr>
          <p:cNvPr id="9" name="Text 4"/>
          <p:cNvSpPr txBox="1"/>
          <p:nvPr/>
        </p:nvSpPr>
        <p:spPr>
          <a:xfrm>
            <a:off x="822960" y="5577840"/>
            <a:ext cx="10543032" cy="548640"/>
          </a:xfrm>
          <a:prstGeom prst="rect">
            <a:avLst/>
          </a:prstGeom>
          <a:noFill/>
          <a:ln/>
        </p:spPr>
        <p:txBody>
          <a:bodyPr wrap="square" lIns="0" tIns="0" rIns="0" bIns="0" rtlCol="0" anchor="ctr"/>
          <a:lstStyle/>
          <a:p>
            <a:pPr indent="0" marL="0">
              <a:buNone/>
            </a:pPr>
            <a:r>
              <a:rPr lang="en-US" sz="1600" dirty="0">
                <a:solidFill>
                  <a:schemeClr val="tx1"/>
                </a:solidFill>
              </a:rPr>
              <a:t>null is about the database.   blank is about form validation.</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rPr>
              <a:t>Database: SQLite by default</a:t>
            </a:r>
            <a:endParaRPr lang="en-US" sz="3600" dirty="0"/>
          </a:p>
        </p:txBody>
      </p:sp>
      <p:sp>
        <p:nvSpPr>
          <p:cNvPr id="4" name="db-code"/>
          <p:cNvSpPr txBox="1"/>
          <p:nvPr/>
        </p:nvSpPr>
        <p:spPr>
          <a:xfrm>
            <a:off x="548640" y="1371600"/>
            <a:ext cx="5760720" cy="2011680"/>
          </a:xfrm>
          <a:prstGeom prst="roundRect">
            <a:avLst>
              <a:gd name="adj" fmla="val 4545"/>
            </a:avLst>
          </a:prstGeom>
          <a:solidFill>
            <a:schemeClr val="accent6"/>
          </a:solidFill>
          <a:ln/>
        </p:spPr>
        <p:txBody>
          <a:bodyPr wrap="square" lIns="152400" tIns="152400" rIns="152400" bIns="15240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DATABASES =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"default":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"ENGINE": "django.db.backends.sqlite3",</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"NAME": BASE_DIR / "db.sqlite3",</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a:t>
            </a:r>
            <a:endParaRPr lang="en-US" sz="1400" dirty="0"/>
          </a:p>
        </p:txBody>
      </p:sp>
      <p:sp>
        <p:nvSpPr>
          <p:cNvPr id="5" name="db-note"/>
          <p:cNvSpPr/>
          <p:nvPr/>
        </p:nvSpPr>
        <p:spPr>
          <a:xfrm>
            <a:off x="548640" y="3611880"/>
            <a:ext cx="5760720" cy="2377440"/>
          </a:xfrm>
          <a:prstGeom prst="roundRect">
            <a:avLst>
              <a:gd name="adj" fmla="val 4615"/>
            </a:avLst>
          </a:prstGeom>
          <a:solidFill>
            <a:schemeClr val="bg2"/>
          </a:solidFill>
          <a:ln/>
        </p:spPr>
      </p:sp>
      <p:sp>
        <p:nvSpPr>
          <p:cNvPr id="6" name="Text 3"/>
          <p:cNvSpPr txBox="1"/>
          <p:nvPr/>
        </p:nvSpPr>
        <p:spPr>
          <a:xfrm>
            <a:off x="822960" y="3794760"/>
            <a:ext cx="5212080" cy="365760"/>
          </a:xfrm>
          <a:prstGeom prst="rect">
            <a:avLst/>
          </a:prstGeom>
          <a:noFill/>
          <a:ln/>
        </p:spPr>
        <p:txBody>
          <a:bodyPr wrap="square" lIns="0" tIns="0" rIns="0" bIns="0" rtlCol="0" anchor="t"/>
          <a:lstStyle/>
          <a:p>
            <a:pPr indent="0" marL="0">
              <a:buNone/>
            </a:pPr>
            <a:r>
              <a:rPr lang="en-US" sz="2000" b="1" dirty="0">
                <a:solidFill>
                  <a:schemeClr val="tx2"/>
                </a:solidFill>
              </a:rPr>
              <a:t>Where is my data?</a:t>
            </a:r>
            <a:endParaRPr lang="en-US" sz="2000" dirty="0"/>
          </a:p>
        </p:txBody>
      </p:sp>
      <p:sp>
        <p:nvSpPr>
          <p:cNvPr id="7" name="Text 4"/>
          <p:cNvSpPr txBox="1"/>
          <p:nvPr/>
        </p:nvSpPr>
        <p:spPr>
          <a:xfrm>
            <a:off x="822960" y="4251960"/>
            <a:ext cx="5212080" cy="1554480"/>
          </a:xfrm>
          <a:prstGeom prst="rect">
            <a:avLst/>
          </a:prstGeom>
          <a:noFill/>
          <a:ln/>
        </p:spPr>
        <p:txBody>
          <a:bodyPr wrap="square" lIns="0" tIns="0" rIns="0" bIns="0" rtlCol="0" anchor="t"/>
          <a:lstStyle/>
          <a:p>
            <a:pPr indent="0" marL="0">
              <a:buNone/>
            </a:pPr>
            <a:r>
              <a:rPr lang="en-US" sz="1600" dirty="0">
                <a:solidFill>
                  <a:schemeClr val="tx1"/>
                </a:solidFill>
              </a:rPr>
              <a:t>The file db.sqlite3 appears in the project folder after your first migrate. It is ignored by Git, so every student gets a fresh database.</a:t>
            </a:r>
            <a:endParaRPr lang="en-US" sz="1600" dirty="0"/>
          </a:p>
        </p:txBody>
      </p:sp>
      <p:sp>
        <p:nvSpPr>
          <p:cNvPr id="8" name="icon-circle"/>
          <p:cNvSpPr/>
          <p:nvPr/>
        </p:nvSpPr>
        <p:spPr>
          <a:xfrm>
            <a:off x="6766560" y="1463040"/>
            <a:ext cx="640080" cy="640080"/>
          </a:xfrm>
          <a:prstGeom prst="ellipse">
            <a:avLst/>
          </a:prstGeom>
          <a:solidFill>
            <a:schemeClr val="tx2"/>
          </a:solidFill>
          <a:ln/>
        </p:spPr>
      </p:sp>
      <p:pic>
        <p:nvPicPr>
          <p:cNvPr id="9" name="Image 0" descr="preencoded.png">    </p:cNvPr>
          <p:cNvPicPr>
            <a:picLocks noChangeAspect="1"/>
          </p:cNvPicPr>
          <p:nvPr/>
        </p:nvPicPr>
        <p:blipFill>
          <a:blip r:embed="rId1"/>
          <a:stretch>
            <a:fillRect/>
          </a:stretch>
        </p:blipFill>
        <p:spPr>
          <a:xfrm>
            <a:off x="6926580" y="1623060"/>
            <a:ext cx="320040" cy="320040"/>
          </a:xfrm>
          <a:prstGeom prst="rect">
            <a:avLst/>
          </a:prstGeom>
        </p:spPr>
      </p:pic>
      <p:sp>
        <p:nvSpPr>
          <p:cNvPr id="10" name="Text 6"/>
          <p:cNvSpPr txBox="1"/>
          <p:nvPr/>
        </p:nvSpPr>
        <p:spPr>
          <a:xfrm>
            <a:off x="7589520" y="1417320"/>
            <a:ext cx="4023360" cy="365760"/>
          </a:xfrm>
          <a:prstGeom prst="rect">
            <a:avLst/>
          </a:prstGeom>
          <a:noFill/>
          <a:ln/>
        </p:spPr>
        <p:txBody>
          <a:bodyPr wrap="square" lIns="0" tIns="0" rIns="0" bIns="0" rtlCol="0" anchor="t"/>
          <a:lstStyle/>
          <a:p>
            <a:pPr indent="0" marL="0">
              <a:buNone/>
            </a:pPr>
            <a:r>
              <a:rPr lang="en-US" sz="1900" b="1" dirty="0">
                <a:solidFill>
                  <a:schemeClr val="tx2"/>
                </a:solidFill>
              </a:rPr>
              <a:t>One file</a:t>
            </a:r>
            <a:endParaRPr lang="en-US" sz="1900" dirty="0"/>
          </a:p>
        </p:txBody>
      </p:sp>
      <p:sp>
        <p:nvSpPr>
          <p:cNvPr id="11" name="Text 7"/>
          <p:cNvSpPr txBox="1"/>
          <p:nvPr/>
        </p:nvSpPr>
        <p:spPr>
          <a:xfrm>
            <a:off x="7589520" y="1828800"/>
            <a:ext cx="4023360" cy="548640"/>
          </a:xfrm>
          <a:prstGeom prst="rect">
            <a:avLst/>
          </a:prstGeom>
          <a:noFill/>
          <a:ln/>
        </p:spPr>
        <p:txBody>
          <a:bodyPr wrap="square" lIns="0" tIns="0" rIns="0" bIns="0" rtlCol="0" anchor="t"/>
          <a:lstStyle/>
          <a:p>
            <a:pPr indent="0" marL="0">
              <a:buNone/>
            </a:pPr>
            <a:r>
              <a:rPr lang="en-US" sz="1600" dirty="0">
                <a:solidFill>
                  <a:schemeClr val="tx1"/>
                </a:solidFill>
              </a:rPr>
              <a:t>The whole database is db.sqlite3.</a:t>
            </a:r>
            <a:endParaRPr lang="en-US" sz="1600" dirty="0"/>
          </a:p>
        </p:txBody>
      </p:sp>
      <p:sp>
        <p:nvSpPr>
          <p:cNvPr id="12" name="icon-circle"/>
          <p:cNvSpPr/>
          <p:nvPr/>
        </p:nvSpPr>
        <p:spPr>
          <a:xfrm>
            <a:off x="6766560" y="2633472"/>
            <a:ext cx="640080" cy="640080"/>
          </a:xfrm>
          <a:prstGeom prst="ellipse">
            <a:avLst/>
          </a:prstGeom>
          <a:solidFill>
            <a:schemeClr val="tx2"/>
          </a:solidFill>
          <a:ln/>
        </p:spPr>
      </p:sp>
      <p:pic>
        <p:nvPicPr>
          <p:cNvPr id="13" name="Image 1" descr="preencoded.png">    </p:cNvPr>
          <p:cNvPicPr>
            <a:picLocks noChangeAspect="1"/>
          </p:cNvPicPr>
          <p:nvPr/>
        </p:nvPicPr>
        <p:blipFill>
          <a:blip r:embed="rId2"/>
          <a:stretch>
            <a:fillRect/>
          </a:stretch>
        </p:blipFill>
        <p:spPr>
          <a:xfrm>
            <a:off x="6926580" y="2793492"/>
            <a:ext cx="320040" cy="320040"/>
          </a:xfrm>
          <a:prstGeom prst="rect">
            <a:avLst/>
          </a:prstGeom>
        </p:spPr>
      </p:pic>
      <p:sp>
        <p:nvSpPr>
          <p:cNvPr id="14" name="Text 9"/>
          <p:cNvSpPr txBox="1"/>
          <p:nvPr/>
        </p:nvSpPr>
        <p:spPr>
          <a:xfrm>
            <a:off x="7589520" y="2587752"/>
            <a:ext cx="4023360" cy="365760"/>
          </a:xfrm>
          <a:prstGeom prst="rect">
            <a:avLst/>
          </a:prstGeom>
          <a:noFill/>
          <a:ln/>
        </p:spPr>
        <p:txBody>
          <a:bodyPr wrap="square" lIns="0" tIns="0" rIns="0" bIns="0" rtlCol="0" anchor="t"/>
          <a:lstStyle/>
          <a:p>
            <a:pPr indent="0" marL="0">
              <a:buNone/>
            </a:pPr>
            <a:r>
              <a:rPr lang="en-US" sz="1900" b="1" dirty="0">
                <a:solidFill>
                  <a:schemeClr val="tx2"/>
                </a:solidFill>
              </a:rPr>
              <a:t>Nothing to install</a:t>
            </a:r>
            <a:endParaRPr lang="en-US" sz="1900" dirty="0"/>
          </a:p>
        </p:txBody>
      </p:sp>
      <p:sp>
        <p:nvSpPr>
          <p:cNvPr id="15" name="Text 10"/>
          <p:cNvSpPr txBox="1"/>
          <p:nvPr/>
        </p:nvSpPr>
        <p:spPr>
          <a:xfrm>
            <a:off x="7589520" y="2999232"/>
            <a:ext cx="4023360" cy="548640"/>
          </a:xfrm>
          <a:prstGeom prst="rect">
            <a:avLst/>
          </a:prstGeom>
          <a:noFill/>
          <a:ln/>
        </p:spPr>
        <p:txBody>
          <a:bodyPr wrap="square" lIns="0" tIns="0" rIns="0" bIns="0" rtlCol="0" anchor="t"/>
          <a:lstStyle/>
          <a:p>
            <a:pPr indent="0" marL="0">
              <a:buNone/>
            </a:pPr>
            <a:r>
              <a:rPr lang="en-US" sz="1600" dirty="0">
                <a:solidFill>
                  <a:schemeClr val="tx1"/>
                </a:solidFill>
              </a:rPr>
              <a:t>SQLite comes with Python.</a:t>
            </a:r>
            <a:endParaRPr lang="en-US" sz="1600" dirty="0"/>
          </a:p>
        </p:txBody>
      </p:sp>
      <p:sp>
        <p:nvSpPr>
          <p:cNvPr id="16" name="icon-circle"/>
          <p:cNvSpPr/>
          <p:nvPr/>
        </p:nvSpPr>
        <p:spPr>
          <a:xfrm>
            <a:off x="6766560" y="3803904"/>
            <a:ext cx="640080" cy="640080"/>
          </a:xfrm>
          <a:prstGeom prst="ellipse">
            <a:avLst/>
          </a:prstGeom>
          <a:solidFill>
            <a:schemeClr val="tx2"/>
          </a:solidFill>
          <a:ln/>
        </p:spPr>
      </p:sp>
      <p:pic>
        <p:nvPicPr>
          <p:cNvPr id="17" name="Image 2" descr="preencoded.png">    </p:cNvPr>
          <p:cNvPicPr>
            <a:picLocks noChangeAspect="1"/>
          </p:cNvPicPr>
          <p:nvPr/>
        </p:nvPicPr>
        <p:blipFill>
          <a:blip r:embed="rId3"/>
          <a:stretch>
            <a:fillRect/>
          </a:stretch>
        </p:blipFill>
        <p:spPr>
          <a:xfrm>
            <a:off x="6926580" y="3963924"/>
            <a:ext cx="320040" cy="320040"/>
          </a:xfrm>
          <a:prstGeom prst="rect">
            <a:avLst/>
          </a:prstGeom>
        </p:spPr>
      </p:pic>
      <p:sp>
        <p:nvSpPr>
          <p:cNvPr id="18" name="Text 12"/>
          <p:cNvSpPr txBox="1"/>
          <p:nvPr/>
        </p:nvSpPr>
        <p:spPr>
          <a:xfrm>
            <a:off x="7589520" y="3758184"/>
            <a:ext cx="4023360" cy="365760"/>
          </a:xfrm>
          <a:prstGeom prst="rect">
            <a:avLst/>
          </a:prstGeom>
          <a:noFill/>
          <a:ln/>
        </p:spPr>
        <p:txBody>
          <a:bodyPr wrap="square" lIns="0" tIns="0" rIns="0" bIns="0" rtlCol="0" anchor="t"/>
          <a:lstStyle/>
          <a:p>
            <a:pPr indent="0" marL="0">
              <a:buNone/>
            </a:pPr>
            <a:r>
              <a:rPr lang="en-US" sz="1900" b="1" dirty="0">
                <a:solidFill>
                  <a:schemeClr val="tx2"/>
                </a:solidFill>
              </a:rPr>
              <a:t>Perfect for learning</a:t>
            </a:r>
            <a:endParaRPr lang="en-US" sz="1900" dirty="0"/>
          </a:p>
        </p:txBody>
      </p:sp>
      <p:sp>
        <p:nvSpPr>
          <p:cNvPr id="19" name="Text 13"/>
          <p:cNvSpPr txBox="1"/>
          <p:nvPr/>
        </p:nvSpPr>
        <p:spPr>
          <a:xfrm>
            <a:off x="7589520" y="4169664"/>
            <a:ext cx="4023360" cy="548640"/>
          </a:xfrm>
          <a:prstGeom prst="rect">
            <a:avLst/>
          </a:prstGeom>
          <a:noFill/>
          <a:ln/>
        </p:spPr>
        <p:txBody>
          <a:bodyPr wrap="square" lIns="0" tIns="0" rIns="0" bIns="0" rtlCol="0" anchor="t"/>
          <a:lstStyle/>
          <a:p>
            <a:pPr indent="0" marL="0">
              <a:buNone/>
            </a:pPr>
            <a:r>
              <a:rPr lang="en-US" sz="1600" dirty="0">
                <a:solidFill>
                  <a:schemeClr val="tx1"/>
                </a:solidFill>
              </a:rPr>
              <a:t>Same ORM code as bigger databases.</a:t>
            </a:r>
            <a:endParaRPr lang="en-US" sz="1600" dirty="0"/>
          </a:p>
        </p:txBody>
      </p:sp>
      <p:sp>
        <p:nvSpPr>
          <p:cNvPr id="20" name="icon-circle"/>
          <p:cNvSpPr/>
          <p:nvPr/>
        </p:nvSpPr>
        <p:spPr>
          <a:xfrm>
            <a:off x="6766560" y="4974336"/>
            <a:ext cx="640080" cy="640080"/>
          </a:xfrm>
          <a:prstGeom prst="ellipse">
            <a:avLst/>
          </a:prstGeom>
          <a:solidFill>
            <a:schemeClr val="accent3"/>
          </a:solidFill>
          <a:ln/>
        </p:spPr>
      </p:sp>
      <p:pic>
        <p:nvPicPr>
          <p:cNvPr id="21" name="Image 3" descr="preencoded.png">    </p:cNvPr>
          <p:cNvPicPr>
            <a:picLocks noChangeAspect="1"/>
          </p:cNvPicPr>
          <p:nvPr/>
        </p:nvPicPr>
        <p:blipFill>
          <a:blip r:embed="rId4"/>
          <a:stretch>
            <a:fillRect/>
          </a:stretch>
        </p:blipFill>
        <p:spPr>
          <a:xfrm>
            <a:off x="6926580" y="5134356"/>
            <a:ext cx="320040" cy="320040"/>
          </a:xfrm>
          <a:prstGeom prst="rect">
            <a:avLst/>
          </a:prstGeom>
        </p:spPr>
      </p:pic>
      <p:sp>
        <p:nvSpPr>
          <p:cNvPr id="22" name="Text 15"/>
          <p:cNvSpPr txBox="1"/>
          <p:nvPr/>
        </p:nvSpPr>
        <p:spPr>
          <a:xfrm>
            <a:off x="7589520" y="4928616"/>
            <a:ext cx="4023360" cy="365760"/>
          </a:xfrm>
          <a:prstGeom prst="rect">
            <a:avLst/>
          </a:prstGeom>
          <a:noFill/>
          <a:ln/>
        </p:spPr>
        <p:txBody>
          <a:bodyPr wrap="square" lIns="0" tIns="0" rIns="0" bIns="0" rtlCol="0" anchor="t"/>
          <a:lstStyle/>
          <a:p>
            <a:pPr indent="0" marL="0">
              <a:buNone/>
            </a:pPr>
            <a:r>
              <a:rPr lang="en-US" sz="1900" b="1" dirty="0">
                <a:solidFill>
                  <a:schemeClr val="tx2"/>
                </a:solidFill>
              </a:rPr>
              <a:t>Not for heavy traffic</a:t>
            </a:r>
            <a:endParaRPr lang="en-US" sz="1900" dirty="0"/>
          </a:p>
        </p:txBody>
      </p:sp>
      <p:sp>
        <p:nvSpPr>
          <p:cNvPr id="23" name="Text 16"/>
          <p:cNvSpPr txBox="1"/>
          <p:nvPr/>
        </p:nvSpPr>
        <p:spPr>
          <a:xfrm>
            <a:off x="7589520" y="5340096"/>
            <a:ext cx="4023360" cy="548640"/>
          </a:xfrm>
          <a:prstGeom prst="rect">
            <a:avLst/>
          </a:prstGeom>
          <a:noFill/>
          <a:ln/>
        </p:spPr>
        <p:txBody>
          <a:bodyPr wrap="square" lIns="0" tIns="0" rIns="0" bIns="0" rtlCol="0" anchor="t"/>
          <a:lstStyle/>
          <a:p>
            <a:pPr indent="0" marL="0">
              <a:buNone/>
            </a:pPr>
            <a:r>
              <a:rPr lang="en-US" sz="1600" dirty="0">
                <a:solidFill>
                  <a:schemeClr val="tx1"/>
                </a:solidFill>
              </a:rPr>
              <a:t>Use PostgreSQL or MySQL in production.</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rPr>
              <a:t>What is an ORM and why it matters</a:t>
            </a:r>
            <a:endParaRPr lang="en-US" sz="3600" dirty="0"/>
          </a:p>
        </p:txBody>
      </p:sp>
      <p:sp>
        <p:nvSpPr>
          <p:cNvPr id="4" name="diagram-box"/>
          <p:cNvSpPr txBox="1"/>
          <p:nvPr/>
        </p:nvSpPr>
        <p:spPr>
          <a:xfrm>
            <a:off x="548640" y="1417320"/>
            <a:ext cx="3291840" cy="1554480"/>
          </a:xfrm>
          <a:prstGeom prst="roundRect">
            <a:avLst>
              <a:gd name="adj" fmla="val 7059"/>
            </a:avLst>
          </a:prstGeom>
          <a:solidFill>
            <a:schemeClr val="bg2"/>
          </a:solidFill>
          <a:ln/>
        </p:spPr>
        <p:txBody>
          <a:bodyPr wrap="square" lIns="76200" tIns="76200" rIns="76200" bIns="76200" rtlCol="0" anchor="ctr"/>
          <a:lstStyle/>
          <a:p>
            <a:pPr algn="ctr" indent="0" marL="0">
              <a:buNone/>
            </a:pPr>
            <a:r>
              <a:rPr lang="en-US" sz="2000" b="1" dirty="0">
                <a:solidFill>
                  <a:schemeClr val="tx2"/>
                </a:solidFill>
              </a:rPr>
              <a:t>Your Python</a:t>
            </a:r>
            <a:endParaRPr lang="en-US" sz="2000" dirty="0"/>
          </a:p>
          <a:p>
            <a:pPr algn="ctr" indent="0" marL="0">
              <a:buNone/>
            </a:pPr>
            <a:r>
              <a:rPr lang="en-US" sz="1400" dirty="0">
                <a:solidFill>
                  <a:schemeClr val="tx2"/>
                </a:solidFill>
                <a:latin typeface="Courier New" pitchFamily="34" charset="0"/>
                <a:ea typeface="Courier New" pitchFamily="34" charset="-122"/>
                <a:cs typeface="Courier New" pitchFamily="34" charset="-120"/>
              </a:rPr>
              <a:t>Item.objects.create(</a:t>
            </a:r>
            <a:endParaRPr lang="en-US" sz="2000" dirty="0"/>
          </a:p>
          <a:p>
            <a:pPr algn="ctr" indent="0" marL="0">
              <a:buNone/>
            </a:pPr>
            <a:r>
              <a:rPr lang="en-US" sz="1400" dirty="0">
                <a:solidFill>
                  <a:schemeClr val="tx2"/>
                </a:solidFill>
                <a:latin typeface="Courier New" pitchFamily="34" charset="0"/>
                <a:ea typeface="Courier New" pitchFamily="34" charset="-122"/>
                <a:cs typeface="Courier New" pitchFamily="34" charset="-120"/>
              </a:rPr>
              <a:t>    name="Notebook")</a:t>
            </a:r>
            <a:endParaRPr lang="en-US" sz="2000" dirty="0"/>
          </a:p>
        </p:txBody>
      </p:sp>
      <p:sp>
        <p:nvSpPr>
          <p:cNvPr id="5" name="diagram-box"/>
          <p:cNvSpPr txBox="1"/>
          <p:nvPr/>
        </p:nvSpPr>
        <p:spPr>
          <a:xfrm>
            <a:off x="4434840" y="1417320"/>
            <a:ext cx="3291840" cy="1554480"/>
          </a:xfrm>
          <a:prstGeom prst="roundRect">
            <a:avLst>
              <a:gd name="adj" fmla="val 7059"/>
            </a:avLst>
          </a:prstGeom>
          <a:solidFill>
            <a:schemeClr val="tx2"/>
          </a:solidFill>
          <a:ln/>
        </p:spPr>
        <p:txBody>
          <a:bodyPr wrap="square" lIns="76200" tIns="76200" rIns="76200" bIns="76200" rtlCol="0" anchor="ctr"/>
          <a:lstStyle/>
          <a:p>
            <a:pPr algn="ctr" indent="0" marL="0">
              <a:buNone/>
            </a:pPr>
            <a:r>
              <a:rPr lang="en-US" sz="2000" b="1" dirty="0">
                <a:solidFill>
                  <a:schemeClr val="bg1"/>
                </a:solidFill>
              </a:rPr>
              <a:t>Django ORM</a:t>
            </a:r>
            <a:endParaRPr lang="en-US" sz="2000" dirty="0"/>
          </a:p>
          <a:p>
            <a:pPr algn="ctr" indent="0" marL="0">
              <a:buNone/>
            </a:pPr>
            <a:r>
              <a:rPr lang="en-US" sz="1400" dirty="0">
                <a:solidFill>
                  <a:schemeClr val="bg1"/>
                </a:solidFill>
              </a:rPr>
              <a:t>translates and runs</a:t>
            </a:r>
            <a:endParaRPr lang="en-US" sz="2000" dirty="0"/>
          </a:p>
        </p:txBody>
      </p:sp>
      <p:sp>
        <p:nvSpPr>
          <p:cNvPr id="6" name="diagram-box"/>
          <p:cNvSpPr txBox="1"/>
          <p:nvPr/>
        </p:nvSpPr>
        <p:spPr>
          <a:xfrm>
            <a:off x="8348472" y="1417320"/>
            <a:ext cx="3291840" cy="1554480"/>
          </a:xfrm>
          <a:prstGeom prst="roundRect">
            <a:avLst>
              <a:gd name="adj" fmla="val 7059"/>
            </a:avLst>
          </a:prstGeom>
          <a:solidFill>
            <a:schemeClr val="bg2"/>
          </a:solidFill>
          <a:ln/>
        </p:spPr>
        <p:txBody>
          <a:bodyPr wrap="square" lIns="76200" tIns="76200" rIns="76200" bIns="76200" rtlCol="0" anchor="ctr"/>
          <a:lstStyle/>
          <a:p>
            <a:pPr algn="ctr" indent="0" marL="0">
              <a:buNone/>
            </a:pPr>
            <a:r>
              <a:rPr lang="en-US" sz="2000" b="1" dirty="0">
                <a:solidFill>
                  <a:schemeClr val="tx2"/>
                </a:solidFill>
              </a:rPr>
              <a:t>SQL on the database</a:t>
            </a:r>
            <a:endParaRPr lang="en-US" sz="2000" dirty="0"/>
          </a:p>
          <a:p>
            <a:pPr algn="ctr" indent="0" marL="0">
              <a:buNone/>
            </a:pPr>
            <a:r>
              <a:rPr lang="en-US" sz="1400" dirty="0">
                <a:solidFill>
                  <a:schemeClr val="tx2"/>
                </a:solidFill>
                <a:latin typeface="Courier New" pitchFamily="34" charset="0"/>
                <a:ea typeface="Courier New" pitchFamily="34" charset="-122"/>
                <a:cs typeface="Courier New" pitchFamily="34" charset="-120"/>
              </a:rPr>
              <a:t>INSERT INTO items_item</a:t>
            </a:r>
            <a:endParaRPr lang="en-US" sz="2000" dirty="0"/>
          </a:p>
          <a:p>
            <a:pPr algn="ctr" indent="0" marL="0">
              <a:buNone/>
            </a:pPr>
            <a:r>
              <a:rPr lang="en-US" sz="1400" dirty="0">
                <a:solidFill>
                  <a:schemeClr val="tx2"/>
                </a:solidFill>
                <a:latin typeface="Courier New" pitchFamily="34" charset="0"/>
                <a:ea typeface="Courier New" pitchFamily="34" charset="-122"/>
                <a:cs typeface="Courier New" pitchFamily="34" charset="-120"/>
              </a:rPr>
              <a:t>(name) VALUES (?)</a:t>
            </a:r>
            <a:endParaRPr lang="en-US" sz="2000" dirty="0"/>
          </a:p>
        </p:txBody>
      </p:sp>
      <p:sp>
        <p:nvSpPr>
          <p:cNvPr id="7" name="arrow"/>
          <p:cNvSpPr/>
          <p:nvPr/>
        </p:nvSpPr>
        <p:spPr>
          <a:xfrm>
            <a:off x="3840480" y="2194560"/>
            <a:ext cx="594360" cy="0"/>
          </a:xfrm>
          <a:prstGeom prst="line">
            <a:avLst/>
          </a:prstGeom>
          <a:noFill/>
          <a:ln w="28575">
            <a:solidFill>
              <a:schemeClr val="tx2"/>
            </a:solidFill>
            <a:prstDash val="solid"/>
            <a:tailEnd type="triangle"/>
          </a:ln>
        </p:spPr>
      </p:sp>
      <p:sp>
        <p:nvSpPr>
          <p:cNvPr id="8" name="arrow"/>
          <p:cNvSpPr/>
          <p:nvPr/>
        </p:nvSpPr>
        <p:spPr>
          <a:xfrm>
            <a:off x="7726680" y="2194560"/>
            <a:ext cx="621792" cy="0"/>
          </a:xfrm>
          <a:prstGeom prst="line">
            <a:avLst/>
          </a:prstGeom>
          <a:noFill/>
          <a:ln w="28575">
            <a:solidFill>
              <a:schemeClr val="tx2"/>
            </a:solidFill>
            <a:prstDash val="solid"/>
            <a:tailEnd type="triangle"/>
          </a:ln>
        </p:spPr>
      </p:sp>
      <p:sp>
        <p:nvSpPr>
          <p:cNvPr id="9" name="definition"/>
          <p:cNvSpPr/>
          <p:nvPr/>
        </p:nvSpPr>
        <p:spPr>
          <a:xfrm>
            <a:off x="548640" y="3154680"/>
            <a:ext cx="11091672" cy="685800"/>
          </a:xfrm>
          <a:prstGeom prst="roundRect">
            <a:avLst>
              <a:gd name="adj" fmla="val 16000"/>
            </a:avLst>
          </a:prstGeom>
          <a:solidFill>
            <a:schemeClr val="tx2"/>
          </a:solidFill>
          <a:ln/>
        </p:spPr>
      </p:sp>
      <p:sp>
        <p:nvSpPr>
          <p:cNvPr id="10" name="Text 7"/>
          <p:cNvSpPr txBox="1"/>
          <p:nvPr/>
        </p:nvSpPr>
        <p:spPr>
          <a:xfrm>
            <a:off x="822960" y="3154680"/>
            <a:ext cx="10543032" cy="685800"/>
          </a:xfrm>
          <a:prstGeom prst="rect">
            <a:avLst/>
          </a:prstGeom>
          <a:noFill/>
          <a:ln/>
        </p:spPr>
        <p:txBody>
          <a:bodyPr wrap="square" lIns="0" tIns="0" rIns="0" bIns="0" rtlCol="0" anchor="ctr"/>
          <a:lstStyle/>
          <a:p>
            <a:pPr indent="0" marL="0">
              <a:buNone/>
            </a:pPr>
            <a:r>
              <a:rPr lang="en-US" sz="1600" b="1" dirty="0">
                <a:solidFill>
                  <a:schemeClr val="accent1"/>
                </a:solidFill>
              </a:rPr>
              <a:t>ORM</a:t>
            </a:r>
            <a:pPr indent="0" marL="0">
              <a:buNone/>
            </a:pPr>
            <a:r>
              <a:rPr lang="en-US" sz="1600" dirty="0">
                <a:solidFill>
                  <a:schemeClr val="bg1"/>
                </a:solidFill>
              </a:rPr>
              <a:t> (Object-Relational Mapper): a layer that lets you read and write database tables using Python classes and objects instead of SQL.</a:t>
            </a:r>
            <a:endParaRPr lang="en-US" sz="1600" dirty="0"/>
          </a:p>
        </p:txBody>
      </p:sp>
      <p:sp>
        <p:nvSpPr>
          <p:cNvPr id="11" name="benefit-card"/>
          <p:cNvSpPr/>
          <p:nvPr/>
        </p:nvSpPr>
        <p:spPr>
          <a:xfrm>
            <a:off x="548640" y="4023360"/>
            <a:ext cx="2596896" cy="2103120"/>
          </a:xfrm>
          <a:prstGeom prst="roundRect">
            <a:avLst>
              <a:gd name="adj" fmla="val 5217"/>
            </a:avLst>
          </a:prstGeom>
          <a:solidFill>
            <a:schemeClr val="bg2"/>
          </a:solidFill>
          <a:ln/>
        </p:spPr>
      </p:sp>
      <p:sp>
        <p:nvSpPr>
          <p:cNvPr id="12" name="icon-circle"/>
          <p:cNvSpPr/>
          <p:nvPr/>
        </p:nvSpPr>
        <p:spPr>
          <a:xfrm>
            <a:off x="777240" y="4160520"/>
            <a:ext cx="640080" cy="640080"/>
          </a:xfrm>
          <a:prstGeom prst="ellipse">
            <a:avLst/>
          </a:prstGeom>
          <a:solidFill>
            <a:schemeClr val="tx2"/>
          </a:solidFill>
          <a:ln/>
        </p:spPr>
      </p:sp>
      <p:pic>
        <p:nvPicPr>
          <p:cNvPr id="13" name="Image 0" descr="preencoded.png">    </p:cNvPr>
          <p:cNvPicPr>
            <a:picLocks noChangeAspect="1"/>
          </p:cNvPicPr>
          <p:nvPr/>
        </p:nvPicPr>
        <p:blipFill>
          <a:blip r:embed="rId1"/>
          <a:stretch>
            <a:fillRect/>
          </a:stretch>
        </p:blipFill>
        <p:spPr>
          <a:xfrm>
            <a:off x="937260" y="4320540"/>
            <a:ext cx="320040" cy="320040"/>
          </a:xfrm>
          <a:prstGeom prst="rect">
            <a:avLst/>
          </a:prstGeom>
        </p:spPr>
      </p:pic>
      <p:sp>
        <p:nvSpPr>
          <p:cNvPr id="14" name="Text 10"/>
          <p:cNvSpPr txBox="1"/>
          <p:nvPr/>
        </p:nvSpPr>
        <p:spPr>
          <a:xfrm>
            <a:off x="777240" y="4846320"/>
            <a:ext cx="2139696" cy="365760"/>
          </a:xfrm>
          <a:prstGeom prst="rect">
            <a:avLst/>
          </a:prstGeom>
          <a:noFill/>
          <a:ln/>
        </p:spPr>
        <p:txBody>
          <a:bodyPr wrap="square" lIns="0" tIns="0" rIns="0" bIns="0" rtlCol="0" anchor="t"/>
          <a:lstStyle/>
          <a:p>
            <a:pPr indent="0" marL="0">
              <a:buNone/>
            </a:pPr>
            <a:r>
              <a:rPr lang="en-US" sz="2000" b="1" dirty="0">
                <a:solidFill>
                  <a:schemeClr val="tx2"/>
                </a:solidFill>
              </a:rPr>
              <a:t>Python, not SQL</a:t>
            </a:r>
            <a:endParaRPr lang="en-US" sz="2000" dirty="0"/>
          </a:p>
        </p:txBody>
      </p:sp>
      <p:sp>
        <p:nvSpPr>
          <p:cNvPr id="15" name="Text 11"/>
          <p:cNvSpPr txBox="1"/>
          <p:nvPr/>
        </p:nvSpPr>
        <p:spPr>
          <a:xfrm>
            <a:off x="777240" y="5257800"/>
            <a:ext cx="2139696" cy="822960"/>
          </a:xfrm>
          <a:prstGeom prst="rect">
            <a:avLst/>
          </a:prstGeom>
          <a:noFill/>
          <a:ln/>
        </p:spPr>
        <p:txBody>
          <a:bodyPr wrap="square" lIns="0" tIns="0" rIns="0" bIns="0" rtlCol="0" anchor="t"/>
          <a:lstStyle/>
          <a:p>
            <a:pPr indent="0" marL="0">
              <a:buNone/>
            </a:pPr>
            <a:r>
              <a:rPr lang="en-US" sz="1500" dirty="0">
                <a:solidFill>
                  <a:schemeClr val="tx1"/>
                </a:solidFill>
              </a:rPr>
              <a:t>Work with objects and methods you already know.</a:t>
            </a:r>
            <a:endParaRPr lang="en-US" sz="1500" dirty="0"/>
          </a:p>
        </p:txBody>
      </p:sp>
      <p:sp>
        <p:nvSpPr>
          <p:cNvPr id="16" name="benefit-card"/>
          <p:cNvSpPr/>
          <p:nvPr/>
        </p:nvSpPr>
        <p:spPr>
          <a:xfrm>
            <a:off x="3380537" y="4023360"/>
            <a:ext cx="2596896" cy="2103120"/>
          </a:xfrm>
          <a:prstGeom prst="roundRect">
            <a:avLst>
              <a:gd name="adj" fmla="val 5217"/>
            </a:avLst>
          </a:prstGeom>
          <a:solidFill>
            <a:schemeClr val="bg2"/>
          </a:solidFill>
          <a:ln/>
        </p:spPr>
      </p:sp>
      <p:sp>
        <p:nvSpPr>
          <p:cNvPr id="17" name="icon-circle"/>
          <p:cNvSpPr/>
          <p:nvPr/>
        </p:nvSpPr>
        <p:spPr>
          <a:xfrm>
            <a:off x="3609137" y="4160520"/>
            <a:ext cx="640080" cy="640080"/>
          </a:xfrm>
          <a:prstGeom prst="ellipse">
            <a:avLst/>
          </a:prstGeom>
          <a:solidFill>
            <a:schemeClr val="tx2"/>
          </a:solidFill>
          <a:ln/>
        </p:spPr>
      </p:sp>
      <p:pic>
        <p:nvPicPr>
          <p:cNvPr id="18" name="Image 1" descr="preencoded.png">    </p:cNvPr>
          <p:cNvPicPr>
            <a:picLocks noChangeAspect="1"/>
          </p:cNvPicPr>
          <p:nvPr/>
        </p:nvPicPr>
        <p:blipFill>
          <a:blip r:embed="rId2"/>
          <a:stretch>
            <a:fillRect/>
          </a:stretch>
        </p:blipFill>
        <p:spPr>
          <a:xfrm>
            <a:off x="3769157" y="4320540"/>
            <a:ext cx="320040" cy="320040"/>
          </a:xfrm>
          <a:prstGeom prst="rect">
            <a:avLst/>
          </a:prstGeom>
        </p:spPr>
      </p:pic>
      <p:sp>
        <p:nvSpPr>
          <p:cNvPr id="19" name="Text 14"/>
          <p:cNvSpPr txBox="1"/>
          <p:nvPr/>
        </p:nvSpPr>
        <p:spPr>
          <a:xfrm>
            <a:off x="3609137" y="4846320"/>
            <a:ext cx="2139696" cy="365760"/>
          </a:xfrm>
          <a:prstGeom prst="rect">
            <a:avLst/>
          </a:prstGeom>
          <a:noFill/>
          <a:ln/>
        </p:spPr>
        <p:txBody>
          <a:bodyPr wrap="square" lIns="0" tIns="0" rIns="0" bIns="0" rtlCol="0" anchor="t"/>
          <a:lstStyle/>
          <a:p>
            <a:pPr indent="0" marL="0">
              <a:buNone/>
            </a:pPr>
            <a:r>
              <a:rPr lang="en-US" sz="2000" b="1" dirty="0">
                <a:solidFill>
                  <a:schemeClr val="tx2"/>
                </a:solidFill>
              </a:rPr>
              <a:t>Any database</a:t>
            </a:r>
            <a:endParaRPr lang="en-US" sz="2000" dirty="0"/>
          </a:p>
        </p:txBody>
      </p:sp>
      <p:sp>
        <p:nvSpPr>
          <p:cNvPr id="20" name="Text 15"/>
          <p:cNvSpPr txBox="1"/>
          <p:nvPr/>
        </p:nvSpPr>
        <p:spPr>
          <a:xfrm>
            <a:off x="3609137" y="5257800"/>
            <a:ext cx="2139696" cy="822960"/>
          </a:xfrm>
          <a:prstGeom prst="rect">
            <a:avLst/>
          </a:prstGeom>
          <a:noFill/>
          <a:ln/>
        </p:spPr>
        <p:txBody>
          <a:bodyPr wrap="square" lIns="0" tIns="0" rIns="0" bIns="0" rtlCol="0" anchor="t"/>
          <a:lstStyle/>
          <a:p>
            <a:pPr indent="0" marL="0">
              <a:buNone/>
            </a:pPr>
            <a:r>
              <a:rPr lang="en-US" sz="1500" dirty="0">
                <a:solidFill>
                  <a:schemeClr val="tx1"/>
                </a:solidFill>
              </a:rPr>
              <a:t>Switch SQLite to PostgreSQL without rewriting code.</a:t>
            </a:r>
            <a:endParaRPr lang="en-US" sz="1500" dirty="0"/>
          </a:p>
        </p:txBody>
      </p:sp>
      <p:sp>
        <p:nvSpPr>
          <p:cNvPr id="21" name="benefit-card"/>
          <p:cNvSpPr/>
          <p:nvPr/>
        </p:nvSpPr>
        <p:spPr>
          <a:xfrm>
            <a:off x="6212434" y="4023360"/>
            <a:ext cx="2596896" cy="2103120"/>
          </a:xfrm>
          <a:prstGeom prst="roundRect">
            <a:avLst>
              <a:gd name="adj" fmla="val 5217"/>
            </a:avLst>
          </a:prstGeom>
          <a:solidFill>
            <a:schemeClr val="bg2"/>
          </a:solidFill>
          <a:ln/>
        </p:spPr>
      </p:sp>
      <p:sp>
        <p:nvSpPr>
          <p:cNvPr id="22" name="icon-circle"/>
          <p:cNvSpPr/>
          <p:nvPr/>
        </p:nvSpPr>
        <p:spPr>
          <a:xfrm>
            <a:off x="6441034" y="4160520"/>
            <a:ext cx="640080" cy="640080"/>
          </a:xfrm>
          <a:prstGeom prst="ellipse">
            <a:avLst/>
          </a:prstGeom>
          <a:solidFill>
            <a:schemeClr val="tx2"/>
          </a:solidFill>
          <a:ln/>
        </p:spPr>
      </p:sp>
      <p:pic>
        <p:nvPicPr>
          <p:cNvPr id="23" name="Image 2" descr="preencoded.png">    </p:cNvPr>
          <p:cNvPicPr>
            <a:picLocks noChangeAspect="1"/>
          </p:cNvPicPr>
          <p:nvPr/>
        </p:nvPicPr>
        <p:blipFill>
          <a:blip r:embed="rId3"/>
          <a:stretch>
            <a:fillRect/>
          </a:stretch>
        </p:blipFill>
        <p:spPr>
          <a:xfrm>
            <a:off x="6601054" y="4320540"/>
            <a:ext cx="320040" cy="320040"/>
          </a:xfrm>
          <a:prstGeom prst="rect">
            <a:avLst/>
          </a:prstGeom>
        </p:spPr>
      </p:pic>
      <p:sp>
        <p:nvSpPr>
          <p:cNvPr id="24" name="Text 18"/>
          <p:cNvSpPr txBox="1"/>
          <p:nvPr/>
        </p:nvSpPr>
        <p:spPr>
          <a:xfrm>
            <a:off x="6441034" y="4846320"/>
            <a:ext cx="2139696" cy="365760"/>
          </a:xfrm>
          <a:prstGeom prst="rect">
            <a:avLst/>
          </a:prstGeom>
          <a:noFill/>
          <a:ln/>
        </p:spPr>
        <p:txBody>
          <a:bodyPr wrap="square" lIns="0" tIns="0" rIns="0" bIns="0" rtlCol="0" anchor="t"/>
          <a:lstStyle/>
          <a:p>
            <a:pPr indent="0" marL="0">
              <a:buNone/>
            </a:pPr>
            <a:r>
              <a:rPr lang="en-US" sz="2000" b="1" dirty="0">
                <a:solidFill>
                  <a:schemeClr val="tx2"/>
                </a:solidFill>
              </a:rPr>
              <a:t>Safer</a:t>
            </a:r>
            <a:endParaRPr lang="en-US" sz="2000" dirty="0"/>
          </a:p>
        </p:txBody>
      </p:sp>
      <p:sp>
        <p:nvSpPr>
          <p:cNvPr id="25" name="Text 19"/>
          <p:cNvSpPr txBox="1"/>
          <p:nvPr/>
        </p:nvSpPr>
        <p:spPr>
          <a:xfrm>
            <a:off x="6441034" y="5257800"/>
            <a:ext cx="2139696" cy="822960"/>
          </a:xfrm>
          <a:prstGeom prst="rect">
            <a:avLst/>
          </a:prstGeom>
          <a:noFill/>
          <a:ln/>
        </p:spPr>
        <p:txBody>
          <a:bodyPr wrap="square" lIns="0" tIns="0" rIns="0" bIns="0" rtlCol="0" anchor="t"/>
          <a:lstStyle/>
          <a:p>
            <a:pPr indent="0" marL="0">
              <a:buNone/>
            </a:pPr>
            <a:r>
              <a:rPr lang="en-US" sz="1500" dirty="0">
                <a:solidFill>
                  <a:schemeClr val="tx1"/>
                </a:solidFill>
              </a:rPr>
              <a:t>Values are sent as parameters, blocking SQL injection.</a:t>
            </a:r>
            <a:endParaRPr lang="en-US" sz="1500" dirty="0"/>
          </a:p>
        </p:txBody>
      </p:sp>
      <p:sp>
        <p:nvSpPr>
          <p:cNvPr id="26" name="benefit-card"/>
          <p:cNvSpPr/>
          <p:nvPr/>
        </p:nvSpPr>
        <p:spPr>
          <a:xfrm>
            <a:off x="9044330" y="4023360"/>
            <a:ext cx="2596896" cy="2103120"/>
          </a:xfrm>
          <a:prstGeom prst="roundRect">
            <a:avLst>
              <a:gd name="adj" fmla="val 5217"/>
            </a:avLst>
          </a:prstGeom>
          <a:solidFill>
            <a:schemeClr val="bg2"/>
          </a:solidFill>
          <a:ln/>
        </p:spPr>
      </p:sp>
      <p:sp>
        <p:nvSpPr>
          <p:cNvPr id="27" name="icon-circle"/>
          <p:cNvSpPr/>
          <p:nvPr/>
        </p:nvSpPr>
        <p:spPr>
          <a:xfrm>
            <a:off x="9272930" y="4160520"/>
            <a:ext cx="640080" cy="640080"/>
          </a:xfrm>
          <a:prstGeom prst="ellipse">
            <a:avLst/>
          </a:prstGeom>
          <a:solidFill>
            <a:schemeClr val="tx2"/>
          </a:solidFill>
          <a:ln/>
        </p:spPr>
      </p:sp>
      <p:pic>
        <p:nvPicPr>
          <p:cNvPr id="28" name="Image 3" descr="preencoded.png">    </p:cNvPr>
          <p:cNvPicPr>
            <a:picLocks noChangeAspect="1"/>
          </p:cNvPicPr>
          <p:nvPr/>
        </p:nvPicPr>
        <p:blipFill>
          <a:blip r:embed="rId4"/>
          <a:stretch>
            <a:fillRect/>
          </a:stretch>
        </p:blipFill>
        <p:spPr>
          <a:xfrm>
            <a:off x="9432950" y="4320540"/>
            <a:ext cx="320040" cy="320040"/>
          </a:xfrm>
          <a:prstGeom prst="rect">
            <a:avLst/>
          </a:prstGeom>
        </p:spPr>
      </p:pic>
      <p:sp>
        <p:nvSpPr>
          <p:cNvPr id="29" name="Text 22"/>
          <p:cNvSpPr txBox="1"/>
          <p:nvPr/>
        </p:nvSpPr>
        <p:spPr>
          <a:xfrm>
            <a:off x="9272930" y="4846320"/>
            <a:ext cx="2139696" cy="365760"/>
          </a:xfrm>
          <a:prstGeom prst="rect">
            <a:avLst/>
          </a:prstGeom>
          <a:noFill/>
          <a:ln/>
        </p:spPr>
        <p:txBody>
          <a:bodyPr wrap="square" lIns="0" tIns="0" rIns="0" bIns="0" rtlCol="0" anchor="t"/>
          <a:lstStyle/>
          <a:p>
            <a:pPr indent="0" marL="0">
              <a:buNone/>
            </a:pPr>
            <a:r>
              <a:rPr lang="en-US" sz="2000" b="1" dirty="0">
                <a:solidFill>
                  <a:schemeClr val="tx2"/>
                </a:solidFill>
              </a:rPr>
              <a:t>Less code</a:t>
            </a:r>
            <a:endParaRPr lang="en-US" sz="2000" dirty="0"/>
          </a:p>
        </p:txBody>
      </p:sp>
      <p:sp>
        <p:nvSpPr>
          <p:cNvPr id="30" name="Text 23"/>
          <p:cNvSpPr txBox="1"/>
          <p:nvPr/>
        </p:nvSpPr>
        <p:spPr>
          <a:xfrm>
            <a:off x="9272930" y="5257800"/>
            <a:ext cx="2139696" cy="822960"/>
          </a:xfrm>
          <a:prstGeom prst="rect">
            <a:avLst/>
          </a:prstGeom>
          <a:noFill/>
          <a:ln/>
        </p:spPr>
        <p:txBody>
          <a:bodyPr wrap="square" lIns="0" tIns="0" rIns="0" bIns="0" rtlCol="0" anchor="t"/>
          <a:lstStyle/>
          <a:p>
            <a:pPr indent="0" marL="0">
              <a:buNone/>
            </a:pPr>
            <a:r>
              <a:rPr lang="en-US" sz="1500" dirty="0">
                <a:solidFill>
                  <a:schemeClr val="tx1"/>
                </a:solidFill>
              </a:rPr>
              <a:t>Readable queries, fewer bugs, faster development.</a:t>
            </a:r>
            <a:endParaRPr lang="en-US" sz="15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rPr>
              <a:t>ORM in action: CRUD</a:t>
            </a:r>
            <a:endParaRPr lang="en-US" sz="3600" dirty="0"/>
          </a:p>
        </p:txBody>
      </p:sp>
      <p:graphicFrame>
        <p:nvGraphicFramePr>
          <p:cNvPr id="21" name="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1554480"/>
                <a:gridCol w="5212080"/>
                <a:gridCol w="4325112"/>
              </a:tblGrid>
              <a:tr h="530352">
                <a:tc>
                  <a:txBody>
                    <a:bodyPr/>
                    <a:lstStyle/>
                    <a:p>
                      <a:pPr indent="0" marL="0">
                        <a:buNone/>
                      </a:pPr>
                      <a:r>
                        <a:rPr lang="en-US" sz="1600" b="1" dirty="0">
                          <a:solidFill>
                            <a:schemeClr val="bg1"/>
                          </a:solidFill>
                        </a:rPr>
                        <a:t>Operation</a:t>
                      </a: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600" b="1" dirty="0">
                          <a:solidFill>
                            <a:schemeClr val="bg1"/>
                          </a:solidFill>
                        </a:rPr>
                        <a:t>Django ORM</a:t>
                      </a: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600" b="1" dirty="0">
                          <a:solidFill>
                            <a:schemeClr val="bg1"/>
                          </a:solidFill>
                        </a:rPr>
                        <a:t>SQL it runs</a:t>
                      </a: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30352">
                <a:tc>
                  <a:txBody>
                    <a:bodyPr/>
                    <a:lstStyle/>
                    <a:p>
                      <a:pPr indent="0" marL="0">
                        <a:buNone/>
                      </a:pPr>
                      <a:r>
                        <a:rPr lang="en-US" sz="1500" b="1" dirty="0">
                          <a:solidFill>
                            <a:schemeClr val="tx1"/>
                          </a:solidFill>
                        </a:rPr>
                        <a:t>Create</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Item.objects.create(name="Pen", ...)</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INSERT INTO items_item ...</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30352">
                <a:tc>
                  <a:txBody>
                    <a:bodyPr/>
                    <a:lstStyle/>
                    <a:p>
                      <a:pPr indent="0" marL="0">
                        <a:buNone/>
                      </a:pPr>
                      <a:r>
                        <a:rPr lang="en-US" sz="1500" b="1" dirty="0">
                          <a:solidFill>
                            <a:schemeClr val="tx1"/>
                          </a:solidFill>
                        </a:rPr>
                        <a:t>Read all</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Item.objects.all()</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SELECT * FROM items_item</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30352">
                <a:tc>
                  <a:txBody>
                    <a:bodyPr/>
                    <a:lstStyle/>
                    <a:p>
                      <a:pPr indent="0" marL="0">
                        <a:buNone/>
                      </a:pPr>
                      <a:r>
                        <a:rPr lang="en-US" sz="1500" b="1" dirty="0">
                          <a:solidFill>
                            <a:schemeClr val="tx1"/>
                          </a:solidFill>
                        </a:rPr>
                        <a:t>Filter</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Item.objects.filter(is_available=True)</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 WHERE is_available = 1</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30352">
                <a:tc>
                  <a:txBody>
                    <a:bodyPr/>
                    <a:lstStyle/>
                    <a:p>
                      <a:pPr indent="0" marL="0">
                        <a:buNone/>
                      </a:pPr>
                      <a:r>
                        <a:rPr lang="en-US" sz="1500" b="1" dirty="0">
                          <a:solidFill>
                            <a:schemeClr val="tx1"/>
                          </a:solidFill>
                        </a:rPr>
                        <a:t>Get one</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Item.objects.get(pk=1)</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 WHERE id = 1</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30352">
                <a:tc>
                  <a:txBody>
                    <a:bodyPr/>
                    <a:lstStyle/>
                    <a:p>
                      <a:pPr indent="0" marL="0">
                        <a:buNone/>
                      </a:pPr>
                      <a:r>
                        <a:rPr lang="en-US" sz="1500" b="1" dirty="0">
                          <a:solidFill>
                            <a:schemeClr val="tx1"/>
                          </a:solidFill>
                        </a:rPr>
                        <a:t>Update</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item.quantity = 10; item.save()</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UPDATE items_item SET ...</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30352">
                <a:tc>
                  <a:txBody>
                    <a:bodyPr/>
                    <a:lstStyle/>
                    <a:p>
                      <a:pPr indent="0" marL="0">
                        <a:buNone/>
                      </a:pPr>
                      <a:r>
                        <a:rPr lang="en-US" sz="1500" b="1" dirty="0">
                          <a:solidFill>
                            <a:schemeClr val="tx1"/>
                          </a:solidFill>
                        </a:rPr>
                        <a:t>Delete</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item.delete()</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DELETE FROM items_item ...</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30352">
                <a:tc>
                  <a:txBody>
                    <a:bodyPr/>
                    <a:lstStyle/>
                    <a:p>
                      <a:pPr indent="0" marL="0">
                        <a:buNone/>
                      </a:pPr>
                      <a:r>
                        <a:rPr lang="en-US" sz="1500" b="1" dirty="0">
                          <a:solidFill>
                            <a:schemeClr val="tx1"/>
                          </a:solidFill>
                        </a:rPr>
                        <a:t>Sort</a:t>
                      </a:r>
                      <a:endParaRPr lang="en-US" sz="15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Item.objects.order_by("-price")</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 ORDER BY price DESC</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5" name="callout"/>
          <p:cNvSpPr/>
          <p:nvPr/>
        </p:nvSpPr>
        <p:spPr>
          <a:xfrm>
            <a:off x="548640" y="5760720"/>
            <a:ext cx="11091672" cy="502920"/>
          </a:xfrm>
          <a:prstGeom prst="roundRect">
            <a:avLst>
              <a:gd name="adj" fmla="val 21818"/>
            </a:avLst>
          </a:prstGeom>
          <a:solidFill>
            <a:schemeClr val="bg2"/>
          </a:solidFill>
          <a:ln/>
        </p:spPr>
      </p:sp>
      <p:sp>
        <p:nvSpPr>
          <p:cNvPr id="6" name="Text 2"/>
          <p:cNvSpPr txBox="1"/>
          <p:nvPr/>
        </p:nvSpPr>
        <p:spPr>
          <a:xfrm>
            <a:off x="822960" y="5760720"/>
            <a:ext cx="10543032" cy="502920"/>
          </a:xfrm>
          <a:prstGeom prst="rect">
            <a:avLst/>
          </a:prstGeom>
          <a:noFill/>
          <a:ln/>
        </p:spPr>
        <p:txBody>
          <a:bodyPr wrap="square" lIns="0" tIns="0" rIns="0" bIns="0" rtlCol="0" anchor="ctr"/>
          <a:lstStyle/>
          <a:p>
            <a:pPr indent="0" marL="0">
              <a:buNone/>
            </a:pPr>
            <a:r>
              <a:rPr lang="en-US" sz="1600" dirty="0">
                <a:solidFill>
                  <a:schemeClr val="tx1"/>
                </a:solidFill>
              </a:rPr>
              <a:t>Try it yourself:  python manage.py shell  and type these lines.</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rPr>
              <a:t>Migrations: makemigrations vs migrate</a:t>
            </a:r>
            <a:endParaRPr lang="en-US" sz="3600" dirty="0"/>
          </a:p>
        </p:txBody>
      </p:sp>
      <p:sp>
        <p:nvSpPr>
          <p:cNvPr id="4" name="diagram-box"/>
          <p:cNvSpPr txBox="1"/>
          <p:nvPr/>
        </p:nvSpPr>
        <p:spPr>
          <a:xfrm>
            <a:off x="548640" y="1417320"/>
            <a:ext cx="2377440" cy="1371600"/>
          </a:xfrm>
          <a:prstGeom prst="roundRect">
            <a:avLst>
              <a:gd name="adj" fmla="val 8000"/>
            </a:avLst>
          </a:prstGeom>
          <a:solidFill>
            <a:schemeClr val="bg2"/>
          </a:solidFill>
          <a:ln/>
        </p:spPr>
        <p:txBody>
          <a:bodyPr wrap="square" lIns="76200" tIns="76200" rIns="76200" bIns="76200" rtlCol="0" anchor="ctr"/>
          <a:lstStyle/>
          <a:p>
            <a:pPr algn="ctr" indent="0" marL="0">
              <a:buNone/>
            </a:pPr>
            <a:r>
              <a:rPr lang="en-US" sz="1800" b="1" dirty="0">
                <a:solidFill>
                  <a:schemeClr val="tx2"/>
                </a:solidFill>
              </a:rPr>
              <a:t>Edit models.py</a:t>
            </a:r>
            <a:endParaRPr lang="en-US" sz="1800" dirty="0"/>
          </a:p>
          <a:p>
            <a:pPr algn="ctr" indent="0" marL="0">
              <a:buNone/>
            </a:pPr>
            <a:r>
              <a:rPr lang="en-US" sz="1400" dirty="0">
                <a:solidFill>
                  <a:schemeClr val="tx2"/>
                </a:solidFill>
              </a:rPr>
              <a:t>add or change a field</a:t>
            </a:r>
            <a:endParaRPr lang="en-US" sz="1800" dirty="0"/>
          </a:p>
        </p:txBody>
      </p:sp>
      <p:sp>
        <p:nvSpPr>
          <p:cNvPr id="5" name="arrow"/>
          <p:cNvSpPr/>
          <p:nvPr/>
        </p:nvSpPr>
        <p:spPr>
          <a:xfrm>
            <a:off x="2926080" y="2103120"/>
            <a:ext cx="457200" cy="0"/>
          </a:xfrm>
          <a:prstGeom prst="line">
            <a:avLst/>
          </a:prstGeom>
          <a:noFill/>
          <a:ln w="28575">
            <a:solidFill>
              <a:schemeClr val="tx2"/>
            </a:solidFill>
            <a:prstDash val="solid"/>
            <a:tailEnd type="triangle"/>
          </a:ln>
        </p:spPr>
      </p:sp>
      <p:sp>
        <p:nvSpPr>
          <p:cNvPr id="6" name="diagram-box"/>
          <p:cNvSpPr txBox="1"/>
          <p:nvPr/>
        </p:nvSpPr>
        <p:spPr>
          <a:xfrm>
            <a:off x="3383280" y="1417320"/>
            <a:ext cx="2377440" cy="1371600"/>
          </a:xfrm>
          <a:prstGeom prst="roundRect">
            <a:avLst>
              <a:gd name="adj" fmla="val 8000"/>
            </a:avLst>
          </a:prstGeom>
          <a:solidFill>
            <a:schemeClr val="tx2"/>
          </a:solidFill>
          <a:ln/>
        </p:spPr>
        <p:txBody>
          <a:bodyPr wrap="square" lIns="76200" tIns="76200" rIns="76200" bIns="76200" rtlCol="0" anchor="ctr"/>
          <a:lstStyle/>
          <a:p>
            <a:pPr algn="ctr" indent="0" marL="0">
              <a:buNone/>
            </a:pPr>
            <a:r>
              <a:rPr lang="en-US" sz="1800" b="1" dirty="0">
                <a:solidFill>
                  <a:schemeClr val="bg1"/>
                </a:solidFill>
              </a:rPr>
              <a:t>makemigrations</a:t>
            </a:r>
            <a:endParaRPr lang="en-US" sz="1800" dirty="0"/>
          </a:p>
          <a:p>
            <a:pPr algn="ctr" indent="0" marL="0">
              <a:buNone/>
            </a:pPr>
            <a:r>
              <a:rPr lang="en-US" sz="1400" dirty="0">
                <a:solidFill>
                  <a:schemeClr val="bg1"/>
                </a:solidFill>
              </a:rPr>
              <a:t>creates 0001_initial.py</a:t>
            </a:r>
            <a:endParaRPr lang="en-US" sz="1800" dirty="0"/>
          </a:p>
        </p:txBody>
      </p:sp>
      <p:sp>
        <p:nvSpPr>
          <p:cNvPr id="7" name="arrow"/>
          <p:cNvSpPr/>
          <p:nvPr/>
        </p:nvSpPr>
        <p:spPr>
          <a:xfrm>
            <a:off x="5760720" y="2103120"/>
            <a:ext cx="457200" cy="0"/>
          </a:xfrm>
          <a:prstGeom prst="line">
            <a:avLst/>
          </a:prstGeom>
          <a:noFill/>
          <a:ln w="28575">
            <a:solidFill>
              <a:schemeClr val="tx2"/>
            </a:solidFill>
            <a:prstDash val="solid"/>
            <a:tailEnd type="triangle"/>
          </a:ln>
        </p:spPr>
      </p:sp>
      <p:sp>
        <p:nvSpPr>
          <p:cNvPr id="8" name="diagram-box"/>
          <p:cNvSpPr txBox="1"/>
          <p:nvPr/>
        </p:nvSpPr>
        <p:spPr>
          <a:xfrm>
            <a:off x="6217920" y="1417320"/>
            <a:ext cx="2377440" cy="1371600"/>
          </a:xfrm>
          <a:prstGeom prst="roundRect">
            <a:avLst>
              <a:gd name="adj" fmla="val 8000"/>
            </a:avLst>
          </a:prstGeom>
          <a:solidFill>
            <a:schemeClr val="tx2"/>
          </a:solidFill>
          <a:ln/>
        </p:spPr>
        <p:txBody>
          <a:bodyPr wrap="square" lIns="76200" tIns="76200" rIns="76200" bIns="76200" rtlCol="0" anchor="ctr"/>
          <a:lstStyle/>
          <a:p>
            <a:pPr algn="ctr" indent="0" marL="0">
              <a:buNone/>
            </a:pPr>
            <a:r>
              <a:rPr lang="en-US" sz="1800" b="1" dirty="0">
                <a:solidFill>
                  <a:schemeClr val="bg1"/>
                </a:solidFill>
              </a:rPr>
              <a:t>migrate</a:t>
            </a:r>
            <a:endParaRPr lang="en-US" sz="1800" dirty="0"/>
          </a:p>
          <a:p>
            <a:pPr algn="ctr" indent="0" marL="0">
              <a:buNone/>
            </a:pPr>
            <a:r>
              <a:rPr lang="en-US" sz="1400" dirty="0">
                <a:solidFill>
                  <a:schemeClr val="bg1"/>
                </a:solidFill>
              </a:rPr>
              <a:t>runs the SQL on the database</a:t>
            </a:r>
            <a:endParaRPr lang="en-US" sz="1800" dirty="0"/>
          </a:p>
        </p:txBody>
      </p:sp>
      <p:sp>
        <p:nvSpPr>
          <p:cNvPr id="9" name="arrow"/>
          <p:cNvSpPr/>
          <p:nvPr/>
        </p:nvSpPr>
        <p:spPr>
          <a:xfrm>
            <a:off x="8595360" y="2103120"/>
            <a:ext cx="457200" cy="0"/>
          </a:xfrm>
          <a:prstGeom prst="line">
            <a:avLst/>
          </a:prstGeom>
          <a:noFill/>
          <a:ln w="28575">
            <a:solidFill>
              <a:schemeClr val="tx2"/>
            </a:solidFill>
            <a:prstDash val="solid"/>
            <a:tailEnd type="triangle"/>
          </a:ln>
        </p:spPr>
      </p:sp>
      <p:sp>
        <p:nvSpPr>
          <p:cNvPr id="10" name="diagram-box"/>
          <p:cNvSpPr txBox="1"/>
          <p:nvPr/>
        </p:nvSpPr>
        <p:spPr>
          <a:xfrm>
            <a:off x="9052560" y="1417320"/>
            <a:ext cx="2377440" cy="1371600"/>
          </a:xfrm>
          <a:prstGeom prst="roundRect">
            <a:avLst>
              <a:gd name="adj" fmla="val 8000"/>
            </a:avLst>
          </a:prstGeom>
          <a:solidFill>
            <a:schemeClr val="bg2"/>
          </a:solidFill>
          <a:ln/>
        </p:spPr>
        <p:txBody>
          <a:bodyPr wrap="square" lIns="76200" tIns="76200" rIns="76200" bIns="76200" rtlCol="0" anchor="ctr"/>
          <a:lstStyle/>
          <a:p>
            <a:pPr algn="ctr" indent="0" marL="0">
              <a:buNone/>
            </a:pPr>
            <a:r>
              <a:rPr lang="en-US" sz="1800" b="1" dirty="0">
                <a:solidFill>
                  <a:schemeClr val="tx2"/>
                </a:solidFill>
              </a:rPr>
              <a:t>Tables ready</a:t>
            </a:r>
            <a:endParaRPr lang="en-US" sz="1800" dirty="0"/>
          </a:p>
          <a:p>
            <a:pPr algn="ctr" indent="0" marL="0">
              <a:buNone/>
            </a:pPr>
            <a:r>
              <a:rPr lang="en-US" sz="1400" dirty="0">
                <a:solidFill>
                  <a:schemeClr val="tx2"/>
                </a:solidFill>
              </a:rPr>
              <a:t>app can read and write data</a:t>
            </a:r>
            <a:endParaRPr lang="en-US" sz="1800" dirty="0"/>
          </a:p>
        </p:txBody>
      </p:sp>
      <p:sp>
        <p:nvSpPr>
          <p:cNvPr id="11" name="compare-card"/>
          <p:cNvSpPr/>
          <p:nvPr/>
        </p:nvSpPr>
        <p:spPr>
          <a:xfrm>
            <a:off x="548640" y="3154680"/>
            <a:ext cx="5431536" cy="2468880"/>
          </a:xfrm>
          <a:prstGeom prst="roundRect">
            <a:avLst>
              <a:gd name="adj" fmla="val 4444"/>
            </a:avLst>
          </a:prstGeom>
          <a:solidFill>
            <a:schemeClr val="bg2"/>
          </a:solidFill>
          <a:ln/>
        </p:spPr>
      </p:sp>
      <p:sp>
        <p:nvSpPr>
          <p:cNvPr id="12" name="Text 9"/>
          <p:cNvSpPr txBox="1"/>
          <p:nvPr/>
        </p:nvSpPr>
        <p:spPr>
          <a:xfrm>
            <a:off x="822960" y="3291840"/>
            <a:ext cx="4846320" cy="411480"/>
          </a:xfrm>
          <a:prstGeom prst="rect">
            <a:avLst/>
          </a:prstGeom>
          <a:noFill/>
          <a:ln/>
        </p:spPr>
        <p:txBody>
          <a:bodyPr wrap="square" lIns="0" tIns="0" rIns="0" bIns="0" rtlCol="0" anchor="t"/>
          <a:lstStyle/>
          <a:p>
            <a:pPr indent="0" marL="0">
              <a:buNone/>
            </a:pPr>
            <a:r>
              <a:rPr lang="en-US" sz="2200" b="1" dirty="0">
                <a:solidFill>
                  <a:schemeClr val="tx2"/>
                </a:solidFill>
              </a:rPr>
              <a:t>makemigrations</a:t>
            </a:r>
            <a:endParaRPr lang="en-US" sz="2200" dirty="0"/>
          </a:p>
        </p:txBody>
      </p:sp>
      <p:sp>
        <p:nvSpPr>
          <p:cNvPr id="13" name="Text 10"/>
          <p:cNvSpPr txBox="1"/>
          <p:nvPr/>
        </p:nvSpPr>
        <p:spPr>
          <a:xfrm>
            <a:off x="822960" y="3794760"/>
            <a:ext cx="4846320" cy="17373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Reads your models, writes a migration file</a:t>
            </a:r>
            <a:endParaRPr lang="en-US" sz="1600" dirty="0"/>
          </a:p>
          <a:p>
            <a:pPr marL="342900" indent="-342900">
              <a:spcAft>
                <a:spcPts val="800"/>
              </a:spcAft>
              <a:buSzPct val="100000"/>
              <a:buChar char="•"/>
            </a:pPr>
            <a:r>
              <a:rPr lang="en-US" sz="1600" dirty="0">
                <a:solidFill>
                  <a:schemeClr val="tx1"/>
                </a:solidFill>
              </a:rPr>
              <a:t>Does NOT touch the database</a:t>
            </a:r>
            <a:endParaRPr lang="en-US" sz="1600" dirty="0"/>
          </a:p>
          <a:p>
            <a:pPr marL="342900" indent="-342900">
              <a:spcAft>
                <a:spcPts val="800"/>
              </a:spcAft>
              <a:buSzPct val="100000"/>
              <a:buChar char="•"/>
            </a:pPr>
            <a:r>
              <a:rPr lang="en-US" sz="1600" dirty="0">
                <a:solidFill>
                  <a:schemeClr val="tx1"/>
                </a:solidFill>
              </a:rPr>
              <a:t>Commit the file to Git</a:t>
            </a:r>
            <a:endParaRPr lang="en-US" sz="1600" dirty="0"/>
          </a:p>
        </p:txBody>
      </p:sp>
      <p:sp>
        <p:nvSpPr>
          <p:cNvPr id="14" name="compare-card"/>
          <p:cNvSpPr/>
          <p:nvPr/>
        </p:nvSpPr>
        <p:spPr>
          <a:xfrm>
            <a:off x="6208776" y="3154680"/>
            <a:ext cx="5431536" cy="2468880"/>
          </a:xfrm>
          <a:prstGeom prst="roundRect">
            <a:avLst>
              <a:gd name="adj" fmla="val 4444"/>
            </a:avLst>
          </a:prstGeom>
          <a:solidFill>
            <a:schemeClr val="bg2"/>
          </a:solidFill>
          <a:ln/>
        </p:spPr>
      </p:sp>
      <p:sp>
        <p:nvSpPr>
          <p:cNvPr id="15" name="Text 12"/>
          <p:cNvSpPr txBox="1"/>
          <p:nvPr/>
        </p:nvSpPr>
        <p:spPr>
          <a:xfrm>
            <a:off x="6483096" y="3291840"/>
            <a:ext cx="4846320" cy="411480"/>
          </a:xfrm>
          <a:prstGeom prst="rect">
            <a:avLst/>
          </a:prstGeom>
          <a:noFill/>
          <a:ln/>
        </p:spPr>
        <p:txBody>
          <a:bodyPr wrap="square" lIns="0" tIns="0" rIns="0" bIns="0" rtlCol="0" anchor="t"/>
          <a:lstStyle/>
          <a:p>
            <a:pPr indent="0" marL="0">
              <a:buNone/>
            </a:pPr>
            <a:r>
              <a:rPr lang="en-US" sz="2200" b="1" dirty="0">
                <a:solidFill>
                  <a:schemeClr val="tx2"/>
                </a:solidFill>
              </a:rPr>
              <a:t>migrate</a:t>
            </a:r>
            <a:endParaRPr lang="en-US" sz="2200" dirty="0"/>
          </a:p>
        </p:txBody>
      </p:sp>
      <p:sp>
        <p:nvSpPr>
          <p:cNvPr id="16" name="Text 13"/>
          <p:cNvSpPr txBox="1"/>
          <p:nvPr/>
        </p:nvSpPr>
        <p:spPr>
          <a:xfrm>
            <a:off x="6483096" y="3794760"/>
            <a:ext cx="4846320" cy="17373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Runs unapplied migrations on the database</a:t>
            </a:r>
            <a:endParaRPr lang="en-US" sz="1600" dirty="0"/>
          </a:p>
          <a:p>
            <a:pPr marL="342900" indent="-342900">
              <a:spcAft>
                <a:spcPts val="800"/>
              </a:spcAft>
              <a:buSzPct val="100000"/>
              <a:buChar char="•"/>
            </a:pPr>
            <a:r>
              <a:rPr lang="en-US" sz="1600" dirty="0">
                <a:solidFill>
                  <a:schemeClr val="tx1"/>
                </a:solidFill>
              </a:rPr>
              <a:t>Creates or alters the real tables</a:t>
            </a:r>
            <a:endParaRPr lang="en-US" sz="1600" dirty="0"/>
          </a:p>
          <a:p>
            <a:pPr marL="342900" indent="-342900">
              <a:spcAft>
                <a:spcPts val="800"/>
              </a:spcAft>
              <a:buSzPct val="100000"/>
              <a:buChar char="•"/>
            </a:pPr>
            <a:r>
              <a:rPr lang="en-US" sz="1600" dirty="0">
                <a:solidFill>
                  <a:schemeClr val="tx1"/>
                </a:solidFill>
              </a:rPr>
              <a:t>Run it again after every git pull</a:t>
            </a:r>
            <a:endParaRPr lang="en-US" sz="1600" dirty="0"/>
          </a:p>
        </p:txBody>
      </p:sp>
      <p:sp>
        <p:nvSpPr>
          <p:cNvPr id="17" name="callout"/>
          <p:cNvSpPr/>
          <p:nvPr/>
        </p:nvSpPr>
        <p:spPr>
          <a:xfrm>
            <a:off x="548640" y="5760720"/>
            <a:ext cx="11091672" cy="457200"/>
          </a:xfrm>
          <a:prstGeom prst="roundRect">
            <a:avLst>
              <a:gd name="adj" fmla="val 24000"/>
            </a:avLst>
          </a:prstGeom>
          <a:solidFill>
            <a:schemeClr val="bg2"/>
          </a:solidFill>
          <a:ln/>
        </p:spPr>
      </p:sp>
      <p:sp>
        <p:nvSpPr>
          <p:cNvPr id="18" name="Text 15"/>
          <p:cNvSpPr txBox="1"/>
          <p:nvPr/>
        </p:nvSpPr>
        <p:spPr>
          <a:xfrm>
            <a:off x="822960" y="5760720"/>
            <a:ext cx="10543032" cy="457200"/>
          </a:xfrm>
          <a:prstGeom prst="rect">
            <a:avLst/>
          </a:prstGeom>
          <a:noFill/>
          <a:ln/>
        </p:spPr>
        <p:txBody>
          <a:bodyPr wrap="square" lIns="0" tIns="0" rIns="0" bIns="0" rtlCol="0" anchor="ctr"/>
          <a:lstStyle/>
          <a:p>
            <a:pPr indent="0" marL="0">
              <a:buNone/>
            </a:pPr>
            <a:r>
              <a:rPr lang="en-US" sz="1500" dirty="0">
                <a:solidFill>
                  <a:schemeClr val="tx1"/>
                </a:solidFill>
              </a:rPr>
              <a:t>Handy:  python manage.py showmigrations   |   python manage.py sqlmigrate items 0001</a:t>
            </a:r>
            <a:endParaRPr lang="en-US" sz="15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rPr>
              <a:t>Views: the logic</a:t>
            </a:r>
            <a:endParaRPr lang="en-US" sz="3600" dirty="0"/>
          </a:p>
        </p:txBody>
      </p:sp>
      <p:sp>
        <p:nvSpPr>
          <p:cNvPr id="4" name="views-code"/>
          <p:cNvSpPr txBox="1"/>
          <p:nvPr/>
        </p:nvSpPr>
        <p:spPr>
          <a:xfrm>
            <a:off x="548640" y="1371600"/>
            <a:ext cx="6583680" cy="3200400"/>
          </a:xfrm>
          <a:prstGeom prst="roundRect">
            <a:avLst>
              <a:gd name="adj" fmla="val 2857"/>
            </a:avLst>
          </a:prstGeom>
          <a:solidFill>
            <a:schemeClr val="accent6"/>
          </a:solidFill>
          <a:ln/>
        </p:spPr>
        <p:txBody>
          <a:bodyPr wrap="square" lIns="152400" tIns="152400" rIns="152400" bIns="15240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@api_view(["GET", "POST"])</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def item_list(request):</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if request.method == "GET":</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items = Item.objects.all()</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data = ItemSerializer(items, many=True).data</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return Response(data)</a:t>
            </a:r>
            <a:endParaRPr lang="en-US" sz="1400" dirty="0"/>
          </a:p>
          <a:p>
            <a:pPr indent="0" marL="0">
              <a:buNone/>
            </a:pP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serializer = ItemSerializer(data=request.data)</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if serializer.is_valid():</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serializer.save()</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return Response(serializer.data, status=201)</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return Response(serializer.errors, status=400)</a:t>
            </a:r>
            <a:endParaRPr lang="en-US" sz="1400" dirty="0"/>
          </a:p>
        </p:txBody>
      </p:sp>
      <p:sp>
        <p:nvSpPr>
          <p:cNvPr id="5" name="callout"/>
          <p:cNvSpPr/>
          <p:nvPr/>
        </p:nvSpPr>
        <p:spPr>
          <a:xfrm>
            <a:off x="548640" y="4846320"/>
            <a:ext cx="6583680" cy="822960"/>
          </a:xfrm>
          <a:prstGeom prst="roundRect">
            <a:avLst>
              <a:gd name="adj" fmla="val 13333"/>
            </a:avLst>
          </a:prstGeom>
          <a:solidFill>
            <a:schemeClr val="bg2"/>
          </a:solidFill>
          <a:ln/>
        </p:spPr>
      </p:sp>
      <p:sp>
        <p:nvSpPr>
          <p:cNvPr id="6" name="Text 3"/>
          <p:cNvSpPr txBox="1"/>
          <p:nvPr/>
        </p:nvSpPr>
        <p:spPr>
          <a:xfrm>
            <a:off x="822960" y="4846320"/>
            <a:ext cx="6035040" cy="822960"/>
          </a:xfrm>
          <a:prstGeom prst="rect">
            <a:avLst/>
          </a:prstGeom>
          <a:noFill/>
          <a:ln/>
        </p:spPr>
        <p:txBody>
          <a:bodyPr wrap="square" lIns="0" tIns="0" rIns="0" bIns="0" rtlCol="0" anchor="ctr"/>
          <a:lstStyle/>
          <a:p>
            <a:pPr indent="0" marL="0">
              <a:buNone/>
            </a:pPr>
            <a:r>
              <a:rPr lang="en-US" sz="1600" dirty="0">
                <a:solidFill>
                  <a:schemeClr val="tx1"/>
                </a:solidFill>
              </a:rPr>
              <a:t>item_detail(request, pk) works the same way for GET, PUT and DELETE on one item.</a:t>
            </a:r>
            <a:endParaRPr lang="en-US" sz="1600" dirty="0"/>
          </a:p>
        </p:txBody>
      </p:sp>
      <p:sp>
        <p:nvSpPr>
          <p:cNvPr id="7" name="step-card"/>
          <p:cNvSpPr/>
          <p:nvPr/>
        </p:nvSpPr>
        <p:spPr>
          <a:xfrm>
            <a:off x="7406640" y="1371600"/>
            <a:ext cx="4233672" cy="1280160"/>
          </a:xfrm>
          <a:prstGeom prst="roundRect">
            <a:avLst>
              <a:gd name="adj" fmla="val 8571"/>
            </a:avLst>
          </a:prstGeom>
          <a:solidFill>
            <a:schemeClr val="bg2"/>
          </a:solidFill>
          <a:ln/>
        </p:spPr>
      </p:sp>
      <p:sp>
        <p:nvSpPr>
          <p:cNvPr id="8" name="step-number"/>
          <p:cNvSpPr txBox="1"/>
          <p:nvPr/>
        </p:nvSpPr>
        <p:spPr>
          <a:xfrm>
            <a:off x="7635240" y="1554480"/>
            <a:ext cx="457200" cy="45720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 6"/>
          <p:cNvSpPr txBox="1"/>
          <p:nvPr/>
        </p:nvSpPr>
        <p:spPr>
          <a:xfrm>
            <a:off x="8275320" y="1536192"/>
            <a:ext cx="3246120" cy="365760"/>
          </a:xfrm>
          <a:prstGeom prst="rect">
            <a:avLst/>
          </a:prstGeom>
          <a:noFill/>
          <a:ln/>
        </p:spPr>
        <p:txBody>
          <a:bodyPr wrap="square" lIns="0" tIns="0" rIns="0" bIns="0" rtlCol="0" anchor="t"/>
          <a:lstStyle/>
          <a:p>
            <a:pPr indent="0" marL="0">
              <a:buNone/>
            </a:pPr>
            <a:r>
              <a:rPr lang="en-US" sz="1900" b="1" dirty="0">
                <a:solidFill>
                  <a:schemeClr val="tx2"/>
                </a:solidFill>
              </a:rPr>
              <a:t>Receive the request</a:t>
            </a:r>
            <a:endParaRPr lang="en-US" sz="1900" dirty="0"/>
          </a:p>
        </p:txBody>
      </p:sp>
      <p:sp>
        <p:nvSpPr>
          <p:cNvPr id="10" name="Text 7"/>
          <p:cNvSpPr txBox="1"/>
          <p:nvPr/>
        </p:nvSpPr>
        <p:spPr>
          <a:xfrm>
            <a:off x="8275320" y="1938528"/>
            <a:ext cx="3246120" cy="640080"/>
          </a:xfrm>
          <a:prstGeom prst="rect">
            <a:avLst/>
          </a:prstGeom>
          <a:noFill/>
          <a:ln/>
        </p:spPr>
        <p:txBody>
          <a:bodyPr wrap="square" lIns="0" tIns="0" rIns="0" bIns="0" rtlCol="0" anchor="t"/>
          <a:lstStyle/>
          <a:p>
            <a:pPr indent="0" marL="0">
              <a:buNone/>
            </a:pPr>
            <a:r>
              <a:rPr lang="en-US" sz="1500" dirty="0">
                <a:solidFill>
                  <a:schemeClr val="tx1"/>
                </a:solidFill>
              </a:rPr>
              <a:t>Which method: GET, POST, PUT or DELETE?</a:t>
            </a:r>
            <a:endParaRPr lang="en-US" sz="1500" dirty="0"/>
          </a:p>
        </p:txBody>
      </p:sp>
      <p:sp>
        <p:nvSpPr>
          <p:cNvPr id="11" name="step-card"/>
          <p:cNvSpPr/>
          <p:nvPr/>
        </p:nvSpPr>
        <p:spPr>
          <a:xfrm>
            <a:off x="7406640" y="2788920"/>
            <a:ext cx="4233672" cy="1280160"/>
          </a:xfrm>
          <a:prstGeom prst="roundRect">
            <a:avLst>
              <a:gd name="adj" fmla="val 8571"/>
            </a:avLst>
          </a:prstGeom>
          <a:solidFill>
            <a:schemeClr val="bg2"/>
          </a:solidFill>
          <a:ln/>
        </p:spPr>
      </p:sp>
      <p:sp>
        <p:nvSpPr>
          <p:cNvPr id="12" name="step-number"/>
          <p:cNvSpPr txBox="1"/>
          <p:nvPr/>
        </p:nvSpPr>
        <p:spPr>
          <a:xfrm>
            <a:off x="7635240" y="2971800"/>
            <a:ext cx="457200" cy="45720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0"/>
          <p:cNvSpPr txBox="1"/>
          <p:nvPr/>
        </p:nvSpPr>
        <p:spPr>
          <a:xfrm>
            <a:off x="8275320" y="2953512"/>
            <a:ext cx="3246120" cy="365760"/>
          </a:xfrm>
          <a:prstGeom prst="rect">
            <a:avLst/>
          </a:prstGeom>
          <a:noFill/>
          <a:ln/>
        </p:spPr>
        <p:txBody>
          <a:bodyPr wrap="square" lIns="0" tIns="0" rIns="0" bIns="0" rtlCol="0" anchor="t"/>
          <a:lstStyle/>
          <a:p>
            <a:pPr indent="0" marL="0">
              <a:buNone/>
            </a:pPr>
            <a:r>
              <a:rPr lang="en-US" sz="1900" b="1" dirty="0">
                <a:solidFill>
                  <a:schemeClr val="tx2"/>
                </a:solidFill>
              </a:rPr>
              <a:t>Use the model</a:t>
            </a:r>
            <a:endParaRPr lang="en-US" sz="1900" dirty="0"/>
          </a:p>
        </p:txBody>
      </p:sp>
      <p:sp>
        <p:nvSpPr>
          <p:cNvPr id="14" name="Text 11"/>
          <p:cNvSpPr txBox="1"/>
          <p:nvPr/>
        </p:nvSpPr>
        <p:spPr>
          <a:xfrm>
            <a:off x="8275320" y="3355848"/>
            <a:ext cx="3246120" cy="640080"/>
          </a:xfrm>
          <a:prstGeom prst="rect">
            <a:avLst/>
          </a:prstGeom>
          <a:noFill/>
          <a:ln/>
        </p:spPr>
        <p:txBody>
          <a:bodyPr wrap="square" lIns="0" tIns="0" rIns="0" bIns="0" rtlCol="0" anchor="t"/>
          <a:lstStyle/>
          <a:p>
            <a:pPr indent="0" marL="0">
              <a:buNone/>
            </a:pPr>
            <a:r>
              <a:rPr lang="en-US" sz="1500" dirty="0">
                <a:solidFill>
                  <a:schemeClr val="tx1"/>
                </a:solidFill>
              </a:rPr>
              <a:t>Ask the ORM for data, or save new data.</a:t>
            </a:r>
            <a:endParaRPr lang="en-US" sz="1500" dirty="0"/>
          </a:p>
        </p:txBody>
      </p:sp>
      <p:sp>
        <p:nvSpPr>
          <p:cNvPr id="15" name="step-card"/>
          <p:cNvSpPr/>
          <p:nvPr/>
        </p:nvSpPr>
        <p:spPr>
          <a:xfrm>
            <a:off x="7406640" y="4206240"/>
            <a:ext cx="4233672" cy="1280160"/>
          </a:xfrm>
          <a:prstGeom prst="roundRect">
            <a:avLst>
              <a:gd name="adj" fmla="val 8571"/>
            </a:avLst>
          </a:prstGeom>
          <a:solidFill>
            <a:schemeClr val="bg2"/>
          </a:solidFill>
          <a:ln/>
        </p:spPr>
      </p:sp>
      <p:sp>
        <p:nvSpPr>
          <p:cNvPr id="16" name="step-number"/>
          <p:cNvSpPr txBox="1"/>
          <p:nvPr/>
        </p:nvSpPr>
        <p:spPr>
          <a:xfrm>
            <a:off x="7635240" y="4389120"/>
            <a:ext cx="457200" cy="45720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4"/>
          <p:cNvSpPr txBox="1"/>
          <p:nvPr/>
        </p:nvSpPr>
        <p:spPr>
          <a:xfrm>
            <a:off x="8275320" y="4370832"/>
            <a:ext cx="3246120" cy="365760"/>
          </a:xfrm>
          <a:prstGeom prst="rect">
            <a:avLst/>
          </a:prstGeom>
          <a:noFill/>
          <a:ln/>
        </p:spPr>
        <p:txBody>
          <a:bodyPr wrap="square" lIns="0" tIns="0" rIns="0" bIns="0" rtlCol="0" anchor="t"/>
          <a:lstStyle/>
          <a:p>
            <a:pPr indent="0" marL="0">
              <a:buNone/>
            </a:pPr>
            <a:r>
              <a:rPr lang="en-US" sz="1900" b="1" dirty="0">
                <a:solidFill>
                  <a:schemeClr val="tx2"/>
                </a:solidFill>
              </a:rPr>
              <a:t>Return a response</a:t>
            </a:r>
            <a:endParaRPr lang="en-US" sz="1900" dirty="0"/>
          </a:p>
        </p:txBody>
      </p:sp>
      <p:sp>
        <p:nvSpPr>
          <p:cNvPr id="18" name="Text 15"/>
          <p:cNvSpPr txBox="1"/>
          <p:nvPr/>
        </p:nvSpPr>
        <p:spPr>
          <a:xfrm>
            <a:off x="8275320" y="4773168"/>
            <a:ext cx="3246120" cy="640080"/>
          </a:xfrm>
          <a:prstGeom prst="rect">
            <a:avLst/>
          </a:prstGeom>
          <a:noFill/>
          <a:ln/>
        </p:spPr>
        <p:txBody>
          <a:bodyPr wrap="square" lIns="0" tIns="0" rIns="0" bIns="0" rtlCol="0" anchor="t"/>
          <a:lstStyle/>
          <a:p>
            <a:pPr indent="0" marL="0">
              <a:buNone/>
            </a:pPr>
            <a:r>
              <a:rPr lang="en-US" sz="1500" dirty="0">
                <a:solidFill>
                  <a:schemeClr val="tx1"/>
                </a:solidFill>
              </a:rPr>
              <a:t>JSON with a status code (200, 201, 400, 404...).</a:t>
            </a:r>
            <a:endParaRPr lang="en-US" sz="1500" dirty="0"/>
          </a:p>
        </p:txBody>
      </p:sp>
      <p:sp>
        <p:nvSpPr>
          <p:cNvPr id="19" name="Text 16"/>
          <p:cNvSpPr txBox="1"/>
          <p:nvPr/>
        </p:nvSpPr>
        <p:spPr>
          <a:xfrm>
            <a:off x="7406640" y="5669280"/>
            <a:ext cx="4233672" cy="548640"/>
          </a:xfrm>
          <a:prstGeom prst="rect">
            <a:avLst/>
          </a:prstGeom>
          <a:noFill/>
          <a:ln/>
        </p:spPr>
        <p:txBody>
          <a:bodyPr wrap="square" lIns="0" tIns="0" rIns="0" bIns="0" rtlCol="0" anchor="t"/>
          <a:lstStyle/>
          <a:p>
            <a:pPr indent="0" marL="0">
              <a:buNone/>
            </a:pPr>
            <a:r>
              <a:rPr lang="en-US" sz="1400" dirty="0">
                <a:solidFill>
                  <a:schemeClr val="accent5"/>
                </a:solidFill>
              </a:rPr>
              <a:t>Function-based views, kept simple. Class-based views and ViewSets also exist.</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rPr>
              <a:t>URLs: from address to view</a:t>
            </a:r>
            <a:endParaRPr lang="en-US" sz="3600" dirty="0"/>
          </a:p>
        </p:txBody>
      </p:sp>
      <p:sp>
        <p:nvSpPr>
          <p:cNvPr id="4" name="Text 1"/>
          <p:cNvSpPr txBox="1"/>
          <p:nvPr/>
        </p:nvSpPr>
        <p:spPr>
          <a:xfrm>
            <a:off x="548640" y="1325880"/>
            <a:ext cx="5852160" cy="274320"/>
          </a:xfrm>
          <a:prstGeom prst="rect">
            <a:avLst/>
          </a:prstGeom>
          <a:noFill/>
          <a:ln/>
        </p:spPr>
        <p:txBody>
          <a:bodyPr wrap="square" lIns="0" tIns="0" rIns="0" bIns="0" rtlCol="0" anchor="t"/>
          <a:lstStyle/>
          <a:p>
            <a:pPr indent="0" marL="0">
              <a:buNone/>
            </a:pPr>
            <a:r>
              <a:rPr lang="en-US" sz="1400" b="1" dirty="0">
                <a:solidFill>
                  <a:schemeClr val="accent5"/>
                </a:solidFill>
              </a:rPr>
              <a:t>config/urls.py  (root)</a:t>
            </a:r>
            <a:endParaRPr lang="en-US" sz="1400" dirty="0"/>
          </a:p>
        </p:txBody>
      </p:sp>
      <p:sp>
        <p:nvSpPr>
          <p:cNvPr id="5" name="urls-root"/>
          <p:cNvSpPr txBox="1"/>
          <p:nvPr/>
        </p:nvSpPr>
        <p:spPr>
          <a:xfrm>
            <a:off x="548640" y="1645920"/>
            <a:ext cx="5943600" cy="1371600"/>
          </a:xfrm>
          <a:prstGeom prst="roundRect">
            <a:avLst>
              <a:gd name="adj" fmla="val 6667"/>
            </a:avLst>
          </a:prstGeom>
          <a:solidFill>
            <a:schemeClr val="accent6"/>
          </a:solidFill>
          <a:ln/>
        </p:spPr>
        <p:txBody>
          <a:bodyPr wrap="square" lIns="152400" tIns="152400" rIns="152400" bIns="15240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urlpatterns =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path("admin/", admin.site.urls),</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path("api/", include("items.urls")),</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a:t>
            </a:r>
            <a:endParaRPr lang="en-US" sz="1400" dirty="0"/>
          </a:p>
        </p:txBody>
      </p:sp>
      <p:sp>
        <p:nvSpPr>
          <p:cNvPr id="6" name="Text 3"/>
          <p:cNvSpPr txBox="1"/>
          <p:nvPr/>
        </p:nvSpPr>
        <p:spPr>
          <a:xfrm>
            <a:off x="548640" y="3200400"/>
            <a:ext cx="5852160" cy="274320"/>
          </a:xfrm>
          <a:prstGeom prst="rect">
            <a:avLst/>
          </a:prstGeom>
          <a:noFill/>
          <a:ln/>
        </p:spPr>
        <p:txBody>
          <a:bodyPr wrap="square" lIns="0" tIns="0" rIns="0" bIns="0" rtlCol="0" anchor="t"/>
          <a:lstStyle/>
          <a:p>
            <a:pPr indent="0" marL="0">
              <a:buNone/>
            </a:pPr>
            <a:r>
              <a:rPr lang="en-US" sz="1400" b="1" dirty="0">
                <a:solidFill>
                  <a:schemeClr val="accent5"/>
                </a:solidFill>
              </a:rPr>
              <a:t>items/urls.py  (app)</a:t>
            </a:r>
            <a:endParaRPr lang="en-US" sz="1400" dirty="0"/>
          </a:p>
        </p:txBody>
      </p:sp>
      <p:sp>
        <p:nvSpPr>
          <p:cNvPr id="7" name="urls-app"/>
          <p:cNvSpPr txBox="1"/>
          <p:nvPr/>
        </p:nvSpPr>
        <p:spPr>
          <a:xfrm>
            <a:off x="548640" y="3520440"/>
            <a:ext cx="5943600" cy="2103120"/>
          </a:xfrm>
          <a:prstGeom prst="roundRect">
            <a:avLst>
              <a:gd name="adj" fmla="val 4348"/>
            </a:avLst>
          </a:prstGeom>
          <a:solidFill>
            <a:schemeClr val="accent6"/>
          </a:solidFill>
          <a:ln/>
        </p:spPr>
        <p:txBody>
          <a:bodyPr wrap="square" lIns="152400" tIns="152400" rIns="152400" bIns="15240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urlpatterns =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path("items/", views.item_list,</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name="item_list"),</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path("items/&lt;int:pk&gt;/",</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views.item_detail,</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name="item_detail"),</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a:t>
            </a:r>
            <a:endParaRPr lang="en-US" sz="1400" dirty="0"/>
          </a:p>
        </p:txBody>
      </p:sp>
      <p:sp>
        <p:nvSpPr>
          <p:cNvPr id="8" name="route-example"/>
          <p:cNvSpPr/>
          <p:nvPr/>
        </p:nvSpPr>
        <p:spPr>
          <a:xfrm>
            <a:off x="6812280" y="1371600"/>
            <a:ext cx="4828032" cy="1234440"/>
          </a:xfrm>
          <a:prstGeom prst="roundRect">
            <a:avLst>
              <a:gd name="adj" fmla="val 8889"/>
            </a:avLst>
          </a:prstGeom>
          <a:solidFill>
            <a:schemeClr val="bg2"/>
          </a:solidFill>
          <a:ln/>
        </p:spPr>
      </p:sp>
      <p:sp>
        <p:nvSpPr>
          <p:cNvPr id="9" name="Text 6"/>
          <p:cNvSpPr txBox="1"/>
          <p:nvPr/>
        </p:nvSpPr>
        <p:spPr>
          <a:xfrm>
            <a:off x="7040880" y="1508760"/>
            <a:ext cx="1828800" cy="960120"/>
          </a:xfrm>
          <a:prstGeom prst="rect">
            <a:avLst/>
          </a:prstGeom>
          <a:noFill/>
          <a:ln/>
        </p:spPr>
        <p:txBody>
          <a:bodyPr wrap="square" lIns="0" tIns="0" rIns="0" bIns="0" rtlCol="0" anchor="ctr"/>
          <a:lstStyle/>
          <a:p>
            <a:pPr indent="0" marL="0">
              <a:buNone/>
            </a:pPr>
            <a:r>
              <a:rPr lang="en-US" sz="1500" b="1" dirty="0">
                <a:solidFill>
                  <a:schemeClr val="tx2"/>
                </a:solidFill>
                <a:latin typeface="Courier New" pitchFamily="34" charset="0"/>
                <a:ea typeface="Courier New" pitchFamily="34" charset="-122"/>
                <a:cs typeface="Courier New" pitchFamily="34" charset="-120"/>
              </a:rPr>
              <a:t>/api/items/3/</a:t>
            </a:r>
            <a:endParaRPr lang="en-US" sz="1500" dirty="0"/>
          </a:p>
        </p:txBody>
      </p:sp>
      <p:sp>
        <p:nvSpPr>
          <p:cNvPr id="10" name="arrow"/>
          <p:cNvSpPr/>
          <p:nvPr/>
        </p:nvSpPr>
        <p:spPr>
          <a:xfrm>
            <a:off x="8915400" y="1828800"/>
            <a:ext cx="457200" cy="320040"/>
          </a:xfrm>
          <a:prstGeom prst="rightArrow">
            <a:avLst/>
          </a:prstGeom>
          <a:solidFill>
            <a:schemeClr val="accent1"/>
          </a:solidFill>
          <a:ln/>
        </p:spPr>
      </p:sp>
      <p:sp>
        <p:nvSpPr>
          <p:cNvPr id="11" name="Text 8"/>
          <p:cNvSpPr txBox="1"/>
          <p:nvPr/>
        </p:nvSpPr>
        <p:spPr>
          <a:xfrm>
            <a:off x="9509760" y="1508760"/>
            <a:ext cx="2057400" cy="960120"/>
          </a:xfrm>
          <a:prstGeom prst="rect">
            <a:avLst/>
          </a:prstGeom>
          <a:noFill/>
          <a:ln/>
        </p:spPr>
        <p:txBody>
          <a:bodyPr wrap="square" lIns="0" tIns="0" rIns="0" bIns="0" rtlCol="0" anchor="ctr"/>
          <a:lstStyle/>
          <a:p>
            <a:pPr indent="0" marL="0">
              <a:buNone/>
            </a:pPr>
            <a:r>
              <a:rPr lang="en-US" sz="1500" b="1" dirty="0">
                <a:solidFill>
                  <a:schemeClr val="tx2"/>
                </a:solidFill>
                <a:latin typeface="Courier New" pitchFamily="34" charset="0"/>
                <a:ea typeface="Courier New" pitchFamily="34" charset="-122"/>
                <a:cs typeface="Courier New" pitchFamily="34" charset="-120"/>
              </a:rPr>
              <a:t>item_detail(</a:t>
            </a:r>
            <a:endParaRPr lang="en-US" sz="1500" dirty="0"/>
          </a:p>
          <a:p>
            <a:pPr indent="0" marL="0">
              <a:buNone/>
            </a:pPr>
            <a:r>
              <a:rPr lang="en-US" sz="1500" b="1" dirty="0">
                <a:solidFill>
                  <a:schemeClr val="tx2"/>
                </a:solidFill>
                <a:latin typeface="Courier New" pitchFamily="34" charset="0"/>
                <a:ea typeface="Courier New" pitchFamily="34" charset="-122"/>
                <a:cs typeface="Courier New" pitchFamily="34" charset="-120"/>
              </a:rPr>
              <a:t>request, pk=3)</a:t>
            </a:r>
            <a:endParaRPr lang="en-US" sz="1500" dirty="0"/>
          </a:p>
        </p:txBody>
      </p:sp>
      <p:graphicFrame>
        <p:nvGraphicFramePr>
          <p:cNvPr id="24" name="table"/>
          <p:cNvGraphicFramePr>
            <a:graphicFrameLocks noGrp="1"/>
          </p:cNvGraphicFramePr>
          <p:nvPr>
            <p:extLst>
              <p:ext uri="{D42A27DB-BD31-4B8C-83A1-F6EECF244321}">
                <p14:modId xmlns:p14="http://schemas.microsoft.com/office/powerpoint/2010/main" val="1579011935"/>
              </p:ext>
            </p:extLst>
          </p:nvPr>
        </p:nvGraphicFramePr>
        <p:xfrm>
          <a:off x="6812280" y="2880360"/>
          <a:ext cx="4828032" cy="914400"/>
        </p:xfrm>
        <a:graphic>
          <a:graphicData uri="http://schemas.openxmlformats.org/drawingml/2006/table">
            <a:tbl>
              <a:tblPr/>
              <a:tblGrid>
                <a:gridCol w="1188720"/>
                <a:gridCol w="1920240"/>
                <a:gridCol w="1719072"/>
              </a:tblGrid>
              <a:tr h="457200">
                <a:tc>
                  <a:txBody>
                    <a:bodyPr/>
                    <a:lstStyle/>
                    <a:p>
                      <a:pPr indent="0" marL="0">
                        <a:buNone/>
                      </a:pPr>
                      <a:r>
                        <a:rPr lang="en-US" sz="1600" b="1" dirty="0">
                          <a:solidFill>
                            <a:schemeClr val="bg1"/>
                          </a:solidFill>
                        </a:rPr>
                        <a:t>Method</a:t>
                      </a: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600" b="1" dirty="0">
                          <a:solidFill>
                            <a:schemeClr val="bg1"/>
                          </a:solidFill>
                        </a:rPr>
                        <a:t>URL</a:t>
                      </a: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600" b="1" dirty="0">
                          <a:solidFill>
                            <a:schemeClr val="bg1"/>
                          </a:solidFill>
                        </a:rPr>
                        <a:t>View</a:t>
                      </a: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457200">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GET</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/api/items/</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item_list</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POST</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/api/items/</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item_list</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GET</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/api/items/3/</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item_detail</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PUT</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/api/items/3/</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item_detail</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DELETE</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/api/items/3/</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item_detail</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13" name="Text 9"/>
          <p:cNvSpPr txBox="1"/>
          <p:nvPr/>
        </p:nvSpPr>
        <p:spPr>
          <a:xfrm>
            <a:off x="6812280" y="5760720"/>
            <a:ext cx="4828032" cy="411480"/>
          </a:xfrm>
          <a:prstGeom prst="rect">
            <a:avLst/>
          </a:prstGeom>
          <a:noFill/>
          <a:ln/>
        </p:spPr>
        <p:txBody>
          <a:bodyPr wrap="square" lIns="0" tIns="0" rIns="0" bIns="0" rtlCol="0" anchor="t"/>
          <a:lstStyle/>
          <a:p>
            <a:pPr indent="0" marL="0">
              <a:buNone/>
            </a:pPr>
            <a:r>
              <a:rPr lang="en-US" sz="1400" dirty="0">
                <a:solidFill>
                  <a:schemeClr val="accent5"/>
                </a:solidFill>
              </a:rPr>
              <a:t>Open /api/items/ in the browser to use the browsable API page.</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rPr>
              <a:t>Serializers: model to JSON</a:t>
            </a:r>
            <a:endParaRPr lang="en-US" sz="3600" dirty="0"/>
          </a:p>
        </p:txBody>
      </p:sp>
      <p:sp>
        <p:nvSpPr>
          <p:cNvPr id="4" name="Text 1"/>
          <p:cNvSpPr txBox="1"/>
          <p:nvPr/>
        </p:nvSpPr>
        <p:spPr>
          <a:xfrm>
            <a:off x="548640" y="1325880"/>
            <a:ext cx="6400800" cy="274320"/>
          </a:xfrm>
          <a:prstGeom prst="rect">
            <a:avLst/>
          </a:prstGeom>
          <a:noFill/>
          <a:ln/>
        </p:spPr>
        <p:txBody>
          <a:bodyPr wrap="square" lIns="0" tIns="0" rIns="0" bIns="0" rtlCol="0" anchor="t"/>
          <a:lstStyle/>
          <a:p>
            <a:pPr indent="0" marL="0">
              <a:buNone/>
            </a:pPr>
            <a:r>
              <a:rPr lang="en-US" sz="1400" b="1" dirty="0">
                <a:solidFill>
                  <a:schemeClr val="accent5"/>
                </a:solidFill>
              </a:rPr>
              <a:t>items/serializers.py</a:t>
            </a:r>
            <a:endParaRPr lang="en-US" sz="1400" dirty="0"/>
          </a:p>
        </p:txBody>
      </p:sp>
      <p:sp>
        <p:nvSpPr>
          <p:cNvPr id="5" name="serializer-code"/>
          <p:cNvSpPr txBox="1"/>
          <p:nvPr/>
        </p:nvSpPr>
        <p:spPr>
          <a:xfrm>
            <a:off x="548640" y="1645920"/>
            <a:ext cx="6675120" cy="1554480"/>
          </a:xfrm>
          <a:prstGeom prst="roundRect">
            <a:avLst>
              <a:gd name="adj" fmla="val 5882"/>
            </a:avLst>
          </a:prstGeom>
          <a:solidFill>
            <a:schemeClr val="accent6"/>
          </a:solidFill>
          <a:ln/>
        </p:spPr>
        <p:txBody>
          <a:bodyPr wrap="square" lIns="152400" tIns="152400" rIns="152400" bIns="15240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class ItemSerializer(serializers.ModelSerializer):</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class Meta:</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model = Item</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fields = ["id", "name", "price",</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"quantity", "is_available"]</a:t>
            </a:r>
            <a:endParaRPr lang="en-US" sz="1400" dirty="0"/>
          </a:p>
        </p:txBody>
      </p:sp>
      <p:sp>
        <p:nvSpPr>
          <p:cNvPr id="6" name="Text 3"/>
          <p:cNvSpPr txBox="1"/>
          <p:nvPr/>
        </p:nvSpPr>
        <p:spPr>
          <a:xfrm>
            <a:off x="7498080" y="1325880"/>
            <a:ext cx="4114800" cy="274320"/>
          </a:xfrm>
          <a:prstGeom prst="rect">
            <a:avLst/>
          </a:prstGeom>
          <a:noFill/>
          <a:ln/>
        </p:spPr>
        <p:txBody>
          <a:bodyPr wrap="square" lIns="0" tIns="0" rIns="0" bIns="0" rtlCol="0" anchor="t"/>
          <a:lstStyle/>
          <a:p>
            <a:pPr indent="0" marL="0">
              <a:buNone/>
            </a:pPr>
            <a:r>
              <a:rPr lang="en-US" sz="1400" b="1" dirty="0">
                <a:solidFill>
                  <a:schemeClr val="accent5"/>
                </a:solidFill>
              </a:rPr>
              <a:t>JSON the API returns</a:t>
            </a:r>
            <a:endParaRPr lang="en-US" sz="1400" dirty="0"/>
          </a:p>
        </p:txBody>
      </p:sp>
      <p:sp>
        <p:nvSpPr>
          <p:cNvPr id="7" name="json-code"/>
          <p:cNvSpPr txBox="1"/>
          <p:nvPr/>
        </p:nvSpPr>
        <p:spPr>
          <a:xfrm>
            <a:off x="7498080" y="1645920"/>
            <a:ext cx="4142232" cy="2103120"/>
          </a:xfrm>
          <a:prstGeom prst="roundRect">
            <a:avLst>
              <a:gd name="adj" fmla="val 4348"/>
            </a:avLst>
          </a:prstGeom>
          <a:solidFill>
            <a:schemeClr val="accent6"/>
          </a:solidFill>
          <a:ln/>
        </p:spPr>
        <p:txBody>
          <a:bodyPr wrap="square" lIns="152400" tIns="152400" rIns="152400" bIns="15240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"id": 1,</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"name": "Notebook",</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"price": "60.00",</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"quantity": 40,</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"is_available": true</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a:t>
            </a:r>
            <a:endParaRPr lang="en-US" sz="1400" dirty="0"/>
          </a:p>
        </p:txBody>
      </p:sp>
      <p:sp>
        <p:nvSpPr>
          <p:cNvPr id="8" name="concept-card"/>
          <p:cNvSpPr/>
          <p:nvPr/>
        </p:nvSpPr>
        <p:spPr>
          <a:xfrm>
            <a:off x="548640" y="4114800"/>
            <a:ext cx="3566160" cy="1828800"/>
          </a:xfrm>
          <a:prstGeom prst="roundRect">
            <a:avLst>
              <a:gd name="adj" fmla="val 6000"/>
            </a:avLst>
          </a:prstGeom>
          <a:solidFill>
            <a:schemeClr val="bg2"/>
          </a:solidFill>
          <a:ln/>
        </p:spPr>
      </p:sp>
      <p:sp>
        <p:nvSpPr>
          <p:cNvPr id="9" name="Text 6"/>
          <p:cNvSpPr txBox="1"/>
          <p:nvPr/>
        </p:nvSpPr>
        <p:spPr>
          <a:xfrm>
            <a:off x="777240" y="4251960"/>
            <a:ext cx="3108960" cy="411480"/>
          </a:xfrm>
          <a:prstGeom prst="rect">
            <a:avLst/>
          </a:prstGeom>
          <a:noFill/>
          <a:ln/>
        </p:spPr>
        <p:txBody>
          <a:bodyPr wrap="square" lIns="0" tIns="0" rIns="0" bIns="0" rtlCol="0" anchor="t"/>
          <a:lstStyle/>
          <a:p>
            <a:pPr indent="0" marL="0">
              <a:buNone/>
            </a:pPr>
            <a:r>
              <a:rPr lang="en-US" sz="2000" b="1" dirty="0">
                <a:solidFill>
                  <a:schemeClr val="tx2"/>
                </a:solidFill>
              </a:rPr>
              <a:t>Converts</a:t>
            </a:r>
            <a:endParaRPr lang="en-US" sz="2000" dirty="0"/>
          </a:p>
        </p:txBody>
      </p:sp>
      <p:sp>
        <p:nvSpPr>
          <p:cNvPr id="10" name="Text 7"/>
          <p:cNvSpPr txBox="1"/>
          <p:nvPr/>
        </p:nvSpPr>
        <p:spPr>
          <a:xfrm>
            <a:off x="777240" y="4754880"/>
            <a:ext cx="3108960" cy="1097280"/>
          </a:xfrm>
          <a:prstGeom prst="rect">
            <a:avLst/>
          </a:prstGeom>
          <a:noFill/>
          <a:ln/>
        </p:spPr>
        <p:txBody>
          <a:bodyPr wrap="square" lIns="0" tIns="0" rIns="0" bIns="0" rtlCol="0" anchor="t"/>
          <a:lstStyle/>
          <a:p>
            <a:pPr indent="0" marL="0">
              <a:buNone/>
            </a:pPr>
            <a:r>
              <a:rPr lang="en-US" sz="1600" dirty="0">
                <a:solidFill>
                  <a:schemeClr val="tx1"/>
                </a:solidFill>
              </a:rPr>
              <a:t>Model objects to JSON, and JSON back to objects.</a:t>
            </a:r>
            <a:endParaRPr lang="en-US" sz="1600" dirty="0"/>
          </a:p>
        </p:txBody>
      </p:sp>
      <p:sp>
        <p:nvSpPr>
          <p:cNvPr id="11" name="concept-card"/>
          <p:cNvSpPr/>
          <p:nvPr/>
        </p:nvSpPr>
        <p:spPr>
          <a:xfrm>
            <a:off x="4311396" y="4114800"/>
            <a:ext cx="3566160" cy="1828800"/>
          </a:xfrm>
          <a:prstGeom prst="roundRect">
            <a:avLst>
              <a:gd name="adj" fmla="val 6000"/>
            </a:avLst>
          </a:prstGeom>
          <a:solidFill>
            <a:schemeClr val="bg2"/>
          </a:solidFill>
          <a:ln/>
        </p:spPr>
      </p:sp>
      <p:sp>
        <p:nvSpPr>
          <p:cNvPr id="12" name="Text 9"/>
          <p:cNvSpPr txBox="1"/>
          <p:nvPr/>
        </p:nvSpPr>
        <p:spPr>
          <a:xfrm>
            <a:off x="4539996" y="4251960"/>
            <a:ext cx="3108960" cy="411480"/>
          </a:xfrm>
          <a:prstGeom prst="rect">
            <a:avLst/>
          </a:prstGeom>
          <a:noFill/>
          <a:ln/>
        </p:spPr>
        <p:txBody>
          <a:bodyPr wrap="square" lIns="0" tIns="0" rIns="0" bIns="0" rtlCol="0" anchor="t"/>
          <a:lstStyle/>
          <a:p>
            <a:pPr indent="0" marL="0">
              <a:buNone/>
            </a:pPr>
            <a:r>
              <a:rPr lang="en-US" sz="2000" b="1" dirty="0">
                <a:solidFill>
                  <a:schemeClr val="tx2"/>
                </a:solidFill>
              </a:rPr>
              <a:t>Validates</a:t>
            </a:r>
            <a:endParaRPr lang="en-US" sz="2000" dirty="0"/>
          </a:p>
        </p:txBody>
      </p:sp>
      <p:sp>
        <p:nvSpPr>
          <p:cNvPr id="13" name="Text 10"/>
          <p:cNvSpPr txBox="1"/>
          <p:nvPr/>
        </p:nvSpPr>
        <p:spPr>
          <a:xfrm>
            <a:off x="4539996" y="4754880"/>
            <a:ext cx="3108960" cy="1097280"/>
          </a:xfrm>
          <a:prstGeom prst="rect">
            <a:avLst/>
          </a:prstGeom>
          <a:noFill/>
          <a:ln/>
        </p:spPr>
        <p:txBody>
          <a:bodyPr wrap="square" lIns="0" tIns="0" rIns="0" bIns="0" rtlCol="0" anchor="t"/>
          <a:lstStyle/>
          <a:p>
            <a:pPr indent="0" marL="0">
              <a:buNone/>
            </a:pPr>
            <a:r>
              <a:rPr lang="en-US" sz="1600" dirty="0">
                <a:solidFill>
                  <a:schemeClr val="tx1"/>
                </a:solidFill>
              </a:rPr>
              <a:t>Bad input gets a 400 response with clear error messages.</a:t>
            </a:r>
            <a:endParaRPr lang="en-US" sz="1600" dirty="0"/>
          </a:p>
        </p:txBody>
      </p:sp>
      <p:sp>
        <p:nvSpPr>
          <p:cNvPr id="14" name="concept-card"/>
          <p:cNvSpPr/>
          <p:nvPr/>
        </p:nvSpPr>
        <p:spPr>
          <a:xfrm>
            <a:off x="8074152" y="4114800"/>
            <a:ext cx="3566160" cy="1828800"/>
          </a:xfrm>
          <a:prstGeom prst="roundRect">
            <a:avLst>
              <a:gd name="adj" fmla="val 6000"/>
            </a:avLst>
          </a:prstGeom>
          <a:solidFill>
            <a:schemeClr val="bg2"/>
          </a:solidFill>
          <a:ln/>
        </p:spPr>
      </p:sp>
      <p:sp>
        <p:nvSpPr>
          <p:cNvPr id="15" name="Text 12"/>
          <p:cNvSpPr txBox="1"/>
          <p:nvPr/>
        </p:nvSpPr>
        <p:spPr>
          <a:xfrm>
            <a:off x="8302752" y="4251960"/>
            <a:ext cx="3108960" cy="411480"/>
          </a:xfrm>
          <a:prstGeom prst="rect">
            <a:avLst/>
          </a:prstGeom>
          <a:noFill/>
          <a:ln/>
        </p:spPr>
        <p:txBody>
          <a:bodyPr wrap="square" lIns="0" tIns="0" rIns="0" bIns="0" rtlCol="0" anchor="t"/>
          <a:lstStyle/>
          <a:p>
            <a:pPr indent="0" marL="0">
              <a:buNone/>
            </a:pPr>
            <a:r>
              <a:rPr lang="en-US" sz="2000" b="1" dirty="0">
                <a:solidFill>
                  <a:schemeClr val="tx2"/>
                </a:solidFill>
              </a:rPr>
              <a:t>Replaces the T</a:t>
            </a:r>
            <a:endParaRPr lang="en-US" sz="2000" dirty="0"/>
          </a:p>
        </p:txBody>
      </p:sp>
      <p:sp>
        <p:nvSpPr>
          <p:cNvPr id="16" name="Text 13"/>
          <p:cNvSpPr txBox="1"/>
          <p:nvPr/>
        </p:nvSpPr>
        <p:spPr>
          <a:xfrm>
            <a:off x="8302752" y="4754880"/>
            <a:ext cx="3108960" cy="1097280"/>
          </a:xfrm>
          <a:prstGeom prst="rect">
            <a:avLst/>
          </a:prstGeom>
          <a:noFill/>
          <a:ln/>
        </p:spPr>
        <p:txBody>
          <a:bodyPr wrap="square" lIns="0" tIns="0" rIns="0" bIns="0" rtlCol="0" anchor="t"/>
          <a:lstStyle/>
          <a:p>
            <a:pPr indent="0" marL="0">
              <a:buNone/>
            </a:pPr>
            <a:r>
              <a:rPr lang="en-US" sz="1600" dirty="0">
                <a:solidFill>
                  <a:schemeClr val="tx1"/>
                </a:solidFill>
              </a:rPr>
              <a:t>In an API, JSON takes the place of the HTML template.</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rPr>
              <a:t>Demo: Item API with CRUD</a:t>
            </a:r>
            <a:endParaRPr lang="en-US" sz="3600" dirty="0"/>
          </a:p>
        </p:txBody>
      </p:sp>
      <p:sp>
        <p:nvSpPr>
          <p:cNvPr id="4" name="icon-circle"/>
          <p:cNvSpPr/>
          <p:nvPr/>
        </p:nvSpPr>
        <p:spPr>
          <a:xfrm>
            <a:off x="548640" y="1453896"/>
            <a:ext cx="365760" cy="365760"/>
          </a:xfrm>
          <a:prstGeom prst="ellipse">
            <a:avLst/>
          </a:prstGeom>
          <a:solidFill>
            <a:schemeClr val="tx2"/>
          </a:solidFill>
          <a:ln/>
        </p:spPr>
      </p:sp>
      <p:pic>
        <p:nvPicPr>
          <p:cNvPr id="5" name="Image 0" descr="preencoded.png">    </p:cNvPr>
          <p:cNvPicPr>
            <a:picLocks noChangeAspect="1"/>
          </p:cNvPicPr>
          <p:nvPr/>
        </p:nvPicPr>
        <p:blipFill>
          <a:blip r:embed="rId1"/>
          <a:stretch>
            <a:fillRect/>
          </a:stretch>
        </p:blipFill>
        <p:spPr>
          <a:xfrm>
            <a:off x="640080" y="1545336"/>
            <a:ext cx="182880" cy="182880"/>
          </a:xfrm>
          <a:prstGeom prst="rect">
            <a:avLst/>
          </a:prstGeom>
        </p:spPr>
      </p:pic>
      <p:sp>
        <p:nvSpPr>
          <p:cNvPr id="6" name="Text 2"/>
          <p:cNvSpPr txBox="1"/>
          <p:nvPr/>
        </p:nvSpPr>
        <p:spPr>
          <a:xfrm>
            <a:off x="1097280" y="1417320"/>
            <a:ext cx="4206240" cy="457200"/>
          </a:xfrm>
          <a:prstGeom prst="rect">
            <a:avLst/>
          </a:prstGeom>
          <a:noFill/>
          <a:ln/>
        </p:spPr>
        <p:txBody>
          <a:bodyPr wrap="square" lIns="0" tIns="0" rIns="0" bIns="0" rtlCol="0" anchor="ctr"/>
          <a:lstStyle/>
          <a:p>
            <a:pPr indent="0" marL="0">
              <a:buNone/>
            </a:pPr>
            <a:r>
              <a:rPr lang="en-US" sz="1600" dirty="0">
                <a:solidFill>
                  <a:schemeClr val="tx1"/>
                </a:solidFill>
              </a:rPr>
              <a:t>List items:  GET /api/items/</a:t>
            </a:r>
            <a:endParaRPr lang="en-US" sz="1600" dirty="0"/>
          </a:p>
        </p:txBody>
      </p:sp>
      <p:sp>
        <p:nvSpPr>
          <p:cNvPr id="7" name="icon-circle"/>
          <p:cNvSpPr/>
          <p:nvPr/>
        </p:nvSpPr>
        <p:spPr>
          <a:xfrm>
            <a:off x="548640" y="2020824"/>
            <a:ext cx="365760" cy="365760"/>
          </a:xfrm>
          <a:prstGeom prst="ellipse">
            <a:avLst/>
          </a:prstGeom>
          <a:solidFill>
            <a:schemeClr val="tx2"/>
          </a:solidFill>
          <a:ln/>
        </p:spPr>
      </p:sp>
      <p:pic>
        <p:nvPicPr>
          <p:cNvPr id="8" name="Image 1" descr="preencoded.png">    </p:cNvPr>
          <p:cNvPicPr>
            <a:picLocks noChangeAspect="1"/>
          </p:cNvPicPr>
          <p:nvPr/>
        </p:nvPicPr>
        <p:blipFill>
          <a:blip r:embed="rId2"/>
          <a:stretch>
            <a:fillRect/>
          </a:stretch>
        </p:blipFill>
        <p:spPr>
          <a:xfrm>
            <a:off x="640080" y="2112264"/>
            <a:ext cx="182880" cy="182880"/>
          </a:xfrm>
          <a:prstGeom prst="rect">
            <a:avLst/>
          </a:prstGeom>
        </p:spPr>
      </p:pic>
      <p:sp>
        <p:nvSpPr>
          <p:cNvPr id="9" name="Text 4"/>
          <p:cNvSpPr txBox="1"/>
          <p:nvPr/>
        </p:nvSpPr>
        <p:spPr>
          <a:xfrm>
            <a:off x="1097280" y="1984248"/>
            <a:ext cx="4206240" cy="457200"/>
          </a:xfrm>
          <a:prstGeom prst="rect">
            <a:avLst/>
          </a:prstGeom>
          <a:noFill/>
          <a:ln/>
        </p:spPr>
        <p:txBody>
          <a:bodyPr wrap="square" lIns="0" tIns="0" rIns="0" bIns="0" rtlCol="0" anchor="ctr"/>
          <a:lstStyle/>
          <a:p>
            <a:pPr indent="0" marL="0">
              <a:buNone/>
            </a:pPr>
            <a:r>
              <a:rPr lang="en-US" sz="1600" dirty="0">
                <a:solidFill>
                  <a:schemeClr val="tx1"/>
                </a:solidFill>
              </a:rPr>
              <a:t>Create an item:  POST /api/items/</a:t>
            </a:r>
            <a:endParaRPr lang="en-US" sz="1600" dirty="0"/>
          </a:p>
        </p:txBody>
      </p:sp>
      <p:sp>
        <p:nvSpPr>
          <p:cNvPr id="10" name="icon-circle"/>
          <p:cNvSpPr/>
          <p:nvPr/>
        </p:nvSpPr>
        <p:spPr>
          <a:xfrm>
            <a:off x="548640" y="2587752"/>
            <a:ext cx="365760" cy="365760"/>
          </a:xfrm>
          <a:prstGeom prst="ellipse">
            <a:avLst/>
          </a:prstGeom>
          <a:solidFill>
            <a:schemeClr val="tx2"/>
          </a:solidFill>
          <a:ln/>
        </p:spPr>
      </p:sp>
      <p:pic>
        <p:nvPicPr>
          <p:cNvPr id="11" name="Image 2" descr="preencoded.png">    </p:cNvPr>
          <p:cNvPicPr>
            <a:picLocks noChangeAspect="1"/>
          </p:cNvPicPr>
          <p:nvPr/>
        </p:nvPicPr>
        <p:blipFill>
          <a:blip r:embed="rId3"/>
          <a:stretch>
            <a:fillRect/>
          </a:stretch>
        </p:blipFill>
        <p:spPr>
          <a:xfrm>
            <a:off x="640080" y="2679192"/>
            <a:ext cx="182880" cy="182880"/>
          </a:xfrm>
          <a:prstGeom prst="rect">
            <a:avLst/>
          </a:prstGeom>
        </p:spPr>
      </p:pic>
      <p:sp>
        <p:nvSpPr>
          <p:cNvPr id="12" name="Text 6"/>
          <p:cNvSpPr txBox="1"/>
          <p:nvPr/>
        </p:nvSpPr>
        <p:spPr>
          <a:xfrm>
            <a:off x="1097280" y="2551176"/>
            <a:ext cx="4206240" cy="457200"/>
          </a:xfrm>
          <a:prstGeom prst="rect">
            <a:avLst/>
          </a:prstGeom>
          <a:noFill/>
          <a:ln/>
        </p:spPr>
        <p:txBody>
          <a:bodyPr wrap="square" lIns="0" tIns="0" rIns="0" bIns="0" rtlCol="0" anchor="ctr"/>
          <a:lstStyle/>
          <a:p>
            <a:pPr indent="0" marL="0">
              <a:buNone/>
            </a:pPr>
            <a:r>
              <a:rPr lang="en-US" sz="1600" dirty="0">
                <a:solidFill>
                  <a:schemeClr val="tx1"/>
                </a:solidFill>
              </a:rPr>
              <a:t>Update or delete:  PUT / DELETE /api/items/1/</a:t>
            </a:r>
            <a:endParaRPr lang="en-US" sz="1600" dirty="0"/>
          </a:p>
        </p:txBody>
      </p:sp>
      <p:sp>
        <p:nvSpPr>
          <p:cNvPr id="13" name="icon-circle"/>
          <p:cNvSpPr/>
          <p:nvPr/>
        </p:nvSpPr>
        <p:spPr>
          <a:xfrm>
            <a:off x="548640" y="3154680"/>
            <a:ext cx="365760" cy="365760"/>
          </a:xfrm>
          <a:prstGeom prst="ellipse">
            <a:avLst/>
          </a:prstGeom>
          <a:solidFill>
            <a:schemeClr val="tx2"/>
          </a:solidFill>
          <a:ln/>
        </p:spPr>
      </p:sp>
      <p:pic>
        <p:nvPicPr>
          <p:cNvPr id="14" name="Image 3" descr="preencoded.png">    </p:cNvPr>
          <p:cNvPicPr>
            <a:picLocks noChangeAspect="1"/>
          </p:cNvPicPr>
          <p:nvPr/>
        </p:nvPicPr>
        <p:blipFill>
          <a:blip r:embed="rId4"/>
          <a:stretch>
            <a:fillRect/>
          </a:stretch>
        </p:blipFill>
        <p:spPr>
          <a:xfrm>
            <a:off x="640080" y="3246120"/>
            <a:ext cx="182880" cy="182880"/>
          </a:xfrm>
          <a:prstGeom prst="rect">
            <a:avLst/>
          </a:prstGeom>
        </p:spPr>
      </p:pic>
      <p:sp>
        <p:nvSpPr>
          <p:cNvPr id="15" name="Text 8"/>
          <p:cNvSpPr txBox="1"/>
          <p:nvPr/>
        </p:nvSpPr>
        <p:spPr>
          <a:xfrm>
            <a:off x="1097280" y="3118104"/>
            <a:ext cx="4206240" cy="457200"/>
          </a:xfrm>
          <a:prstGeom prst="rect">
            <a:avLst/>
          </a:prstGeom>
          <a:noFill/>
          <a:ln/>
        </p:spPr>
        <p:txBody>
          <a:bodyPr wrap="square" lIns="0" tIns="0" rIns="0" bIns="0" rtlCol="0" anchor="ctr"/>
          <a:lstStyle/>
          <a:p>
            <a:pPr indent="0" marL="0">
              <a:buNone/>
            </a:pPr>
            <a:r>
              <a:rPr lang="en-US" sz="1600" dirty="0">
                <a:solidFill>
                  <a:schemeClr val="tx1"/>
                </a:solidFill>
              </a:rPr>
              <a:t>Search:  /api/items/?search=pen</a:t>
            </a:r>
            <a:endParaRPr lang="en-US" sz="1600" dirty="0"/>
          </a:p>
        </p:txBody>
      </p:sp>
      <p:sp>
        <p:nvSpPr>
          <p:cNvPr id="16" name="icon-circle"/>
          <p:cNvSpPr/>
          <p:nvPr/>
        </p:nvSpPr>
        <p:spPr>
          <a:xfrm>
            <a:off x="548640" y="3721608"/>
            <a:ext cx="365760" cy="365760"/>
          </a:xfrm>
          <a:prstGeom prst="ellipse">
            <a:avLst/>
          </a:prstGeom>
          <a:solidFill>
            <a:schemeClr val="tx2"/>
          </a:solidFill>
          <a:ln/>
        </p:spPr>
      </p:sp>
      <p:pic>
        <p:nvPicPr>
          <p:cNvPr id="17" name="Image 4" descr="preencoded.png">    </p:cNvPr>
          <p:cNvPicPr>
            <a:picLocks noChangeAspect="1"/>
          </p:cNvPicPr>
          <p:nvPr/>
        </p:nvPicPr>
        <p:blipFill>
          <a:blip r:embed="rId5"/>
          <a:stretch>
            <a:fillRect/>
          </a:stretch>
        </p:blipFill>
        <p:spPr>
          <a:xfrm>
            <a:off x="640080" y="3813048"/>
            <a:ext cx="182880" cy="182880"/>
          </a:xfrm>
          <a:prstGeom prst="rect">
            <a:avLst/>
          </a:prstGeom>
        </p:spPr>
      </p:pic>
      <p:sp>
        <p:nvSpPr>
          <p:cNvPr id="18" name="Text 10"/>
          <p:cNvSpPr txBox="1"/>
          <p:nvPr/>
        </p:nvSpPr>
        <p:spPr>
          <a:xfrm>
            <a:off x="1097280" y="3685032"/>
            <a:ext cx="4206240" cy="457200"/>
          </a:xfrm>
          <a:prstGeom prst="rect">
            <a:avLst/>
          </a:prstGeom>
          <a:noFill/>
          <a:ln/>
        </p:spPr>
        <p:txBody>
          <a:bodyPr wrap="square" lIns="0" tIns="0" rIns="0" bIns="0" rtlCol="0" anchor="ctr"/>
          <a:lstStyle/>
          <a:p>
            <a:pPr indent="0" marL="0">
              <a:buNone/>
            </a:pPr>
            <a:r>
              <a:rPr lang="en-US" sz="1600" dirty="0">
                <a:solidFill>
                  <a:schemeClr val="tx1"/>
                </a:solidFill>
              </a:rPr>
              <a:t>Manage the same data in the admin</a:t>
            </a:r>
            <a:endParaRPr lang="en-US" sz="1600" dirty="0"/>
          </a:p>
        </p:txBody>
      </p:sp>
      <p:sp>
        <p:nvSpPr>
          <p:cNvPr id="19" name="icon-circle"/>
          <p:cNvSpPr/>
          <p:nvPr/>
        </p:nvSpPr>
        <p:spPr>
          <a:xfrm>
            <a:off x="548640" y="4288536"/>
            <a:ext cx="365760" cy="365760"/>
          </a:xfrm>
          <a:prstGeom prst="ellipse">
            <a:avLst/>
          </a:prstGeom>
          <a:solidFill>
            <a:schemeClr val="tx2"/>
          </a:solidFill>
          <a:ln/>
        </p:spPr>
      </p:sp>
      <p:pic>
        <p:nvPicPr>
          <p:cNvPr id="20" name="Image 5" descr="preencoded.png">    </p:cNvPr>
          <p:cNvPicPr>
            <a:picLocks noChangeAspect="1"/>
          </p:cNvPicPr>
          <p:nvPr/>
        </p:nvPicPr>
        <p:blipFill>
          <a:blip r:embed="rId6"/>
          <a:stretch>
            <a:fillRect/>
          </a:stretch>
        </p:blipFill>
        <p:spPr>
          <a:xfrm>
            <a:off x="640080" y="4379976"/>
            <a:ext cx="182880" cy="182880"/>
          </a:xfrm>
          <a:prstGeom prst="rect">
            <a:avLst/>
          </a:prstGeom>
        </p:spPr>
      </p:pic>
      <p:sp>
        <p:nvSpPr>
          <p:cNvPr id="21" name="Text 12"/>
          <p:cNvSpPr txBox="1"/>
          <p:nvPr/>
        </p:nvSpPr>
        <p:spPr>
          <a:xfrm>
            <a:off x="1097280" y="4251960"/>
            <a:ext cx="4206240" cy="457200"/>
          </a:xfrm>
          <a:prstGeom prst="rect">
            <a:avLst/>
          </a:prstGeom>
          <a:noFill/>
          <a:ln/>
        </p:spPr>
        <p:txBody>
          <a:bodyPr wrap="square" lIns="0" tIns="0" rIns="0" bIns="0" rtlCol="0" anchor="ctr"/>
          <a:lstStyle/>
          <a:p>
            <a:pPr indent="0" marL="0">
              <a:buNone/>
            </a:pPr>
            <a:r>
              <a:rPr lang="en-US" sz="1600" dirty="0">
                <a:solidFill>
                  <a:schemeClr val="tx1"/>
                </a:solidFill>
              </a:rPr>
              <a:t>Optional image upload (bonus)</a:t>
            </a:r>
            <a:endParaRPr lang="en-US" sz="1600" dirty="0"/>
          </a:p>
        </p:txBody>
      </p:sp>
      <p:sp>
        <p:nvSpPr>
          <p:cNvPr id="22" name="demo-commands"/>
          <p:cNvSpPr txBox="1"/>
          <p:nvPr/>
        </p:nvSpPr>
        <p:spPr>
          <a:xfrm>
            <a:off x="548640" y="4937760"/>
            <a:ext cx="4663440" cy="1143000"/>
          </a:xfrm>
          <a:prstGeom prst="roundRect">
            <a:avLst>
              <a:gd name="adj" fmla="val 8000"/>
            </a:avLst>
          </a:prstGeom>
          <a:solidFill>
            <a:schemeClr val="accent6"/>
          </a:solidFill>
          <a:ln/>
        </p:spPr>
        <p:txBody>
          <a:bodyPr wrap="square" lIns="152400" tIns="152400" rIns="152400" bIns="15240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python manage.py migrate</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python manage.py seed_demo</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python manage.py runserver</a:t>
            </a:r>
            <a:endParaRPr lang="en-US" sz="1400" dirty="0"/>
          </a:p>
        </p:txBody>
      </p:sp>
      <p:pic>
        <p:nvPicPr>
          <p:cNvPr id="23" name="Image 6" descr="Screenshot of the browsable API at /api/items/">    </p:cNvPr>
          <p:cNvPicPr>
            <a:picLocks noChangeAspect="1"/>
          </p:cNvPicPr>
          <p:nvPr/>
        </p:nvPicPr>
        <p:blipFill>
          <a:blip r:embed="rId7"/>
          <a:stretch>
            <a:fillRect/>
          </a:stretch>
        </p:blipFill>
        <p:spPr>
          <a:xfrm>
            <a:off x="5577840" y="1417320"/>
            <a:ext cx="6062472" cy="3456432"/>
          </a:xfrm>
          <a:prstGeom prst="rect">
            <a:avLst/>
          </a:prstGeom>
          <a:effectLst>
            <a:outerShdw sx="100000" sy="100000" kx="0" ky="0" algn="bl" rotWithShape="0" blurRad="101600" dist="25400" dir="5400000">
              <a:srgbClr val="000000">
                <a:alpha val="25000"/>
              </a:srgbClr>
            </a:outerShdw>
          </a:effectLst>
        </p:spPr>
      </p:pic>
      <p:sp>
        <p:nvSpPr>
          <p:cNvPr id="24" name="Text 14"/>
          <p:cNvSpPr txBox="1"/>
          <p:nvPr/>
        </p:nvSpPr>
        <p:spPr>
          <a:xfrm>
            <a:off x="5577840" y="4956048"/>
            <a:ext cx="6062472" cy="320040"/>
          </a:xfrm>
          <a:prstGeom prst="rect">
            <a:avLst/>
          </a:prstGeom>
          <a:noFill/>
          <a:ln/>
        </p:spPr>
        <p:txBody>
          <a:bodyPr wrap="square" lIns="0" tIns="0" rIns="0" bIns="0" rtlCol="0" anchor="t"/>
          <a:lstStyle/>
          <a:p>
            <a:pPr indent="0" marL="0">
              <a:buNone/>
            </a:pPr>
            <a:r>
              <a:rPr lang="en-US" sz="1200" dirty="0">
                <a:solidFill>
                  <a:schemeClr val="accent5"/>
                </a:solidFill>
              </a:rPr>
              <a:t>The browsable API at http://127.0.0.1:8000/api/items/</a:t>
            </a:r>
            <a:endParaRPr lang="en-US" sz="1200" dirty="0"/>
          </a:p>
        </p:txBody>
      </p:sp>
      <p:sp>
        <p:nvSpPr>
          <p:cNvPr id="25" name="callout"/>
          <p:cNvSpPr/>
          <p:nvPr/>
        </p:nvSpPr>
        <p:spPr>
          <a:xfrm>
            <a:off x="5577840" y="5349240"/>
            <a:ext cx="6062472" cy="731520"/>
          </a:xfrm>
          <a:prstGeom prst="roundRect">
            <a:avLst>
              <a:gd name="adj" fmla="val 15000"/>
            </a:avLst>
          </a:prstGeom>
          <a:solidFill>
            <a:schemeClr val="bg2"/>
          </a:solidFill>
          <a:ln/>
        </p:spPr>
      </p:sp>
      <p:sp>
        <p:nvSpPr>
          <p:cNvPr id="26" name="Text 16"/>
          <p:cNvSpPr txBox="1"/>
          <p:nvPr/>
        </p:nvSpPr>
        <p:spPr>
          <a:xfrm>
            <a:off x="5806440" y="5349240"/>
            <a:ext cx="5623560" cy="731520"/>
          </a:xfrm>
          <a:prstGeom prst="rect">
            <a:avLst/>
          </a:prstGeom>
          <a:noFill/>
          <a:ln/>
        </p:spPr>
        <p:txBody>
          <a:bodyPr wrap="square" lIns="0" tIns="0" rIns="0" bIns="0" rtlCol="0" anchor="ctr"/>
          <a:lstStyle/>
          <a:p>
            <a:pPr indent="0" marL="0">
              <a:buNone/>
            </a:pPr>
            <a:r>
              <a:rPr lang="en-US" sz="1500" dirty="0">
                <a:solidFill>
                  <a:schemeClr val="tx1"/>
                </a:solidFill>
              </a:rPr>
              <a:t>Every endpoint = a URL in urls.py + a view in views.py + a serializer + the Item model</a:t>
            </a:r>
            <a:endParaRPr lang="en-US" sz="15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rPr>
              <a:t>Django admin: set up in 4 steps</a:t>
            </a:r>
            <a:endParaRPr lang="en-US" sz="3600" dirty="0"/>
          </a:p>
        </p:txBody>
      </p:sp>
      <p:sp>
        <p:nvSpPr>
          <p:cNvPr id="4" name="step-number"/>
          <p:cNvSpPr txBox="1"/>
          <p:nvPr/>
        </p:nvSpPr>
        <p:spPr>
          <a:xfrm>
            <a:off x="548640" y="1645920"/>
            <a:ext cx="502920" cy="50292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2"/>
          <p:cNvSpPr txBox="1"/>
          <p:nvPr/>
        </p:nvSpPr>
        <p:spPr>
          <a:xfrm>
            <a:off x="1280160" y="1463040"/>
            <a:ext cx="5669280" cy="274320"/>
          </a:xfrm>
          <a:prstGeom prst="rect">
            <a:avLst/>
          </a:prstGeom>
          <a:noFill/>
          <a:ln/>
        </p:spPr>
        <p:txBody>
          <a:bodyPr wrap="square" lIns="0" tIns="0" rIns="0" bIns="0" rtlCol="0" anchor="t"/>
          <a:lstStyle/>
          <a:p>
            <a:pPr indent="0" marL="0">
              <a:buNone/>
            </a:pPr>
            <a:r>
              <a:rPr lang="en-US" sz="1400" b="1" dirty="0">
                <a:solidFill>
                  <a:schemeClr val="accent5"/>
                </a:solidFill>
              </a:rPr>
              <a:t>Create a superuser</a:t>
            </a:r>
            <a:endParaRPr lang="en-US" sz="1400" dirty="0"/>
          </a:p>
        </p:txBody>
      </p:sp>
      <p:sp>
        <p:nvSpPr>
          <p:cNvPr id="6" name="command"/>
          <p:cNvSpPr txBox="1"/>
          <p:nvPr/>
        </p:nvSpPr>
        <p:spPr>
          <a:xfrm>
            <a:off x="1280160" y="1783080"/>
            <a:ext cx="5669280" cy="548640"/>
          </a:xfrm>
          <a:prstGeom prst="roundRect">
            <a:avLst>
              <a:gd name="adj" fmla="val 16667"/>
            </a:avLst>
          </a:prstGeom>
          <a:solidFill>
            <a:schemeClr val="accent6"/>
          </a:solidFill>
          <a:ln/>
        </p:spPr>
        <p:txBody>
          <a:bodyPr wrap="square" lIns="152400" tIns="152400" rIns="152400" bIns="152400" rtlCol="0" anchor="t"/>
          <a:lstStyle/>
          <a:p>
            <a:pPr indent="0" marL="0">
              <a:buNone/>
            </a:pPr>
            <a:r>
              <a:rPr lang="en-US" sz="1500" dirty="0">
                <a:solidFill>
                  <a:schemeClr val="bg2"/>
                </a:solidFill>
                <a:latin typeface="Courier New" pitchFamily="34" charset="0"/>
                <a:ea typeface="Courier New" pitchFamily="34" charset="-122"/>
                <a:cs typeface="Courier New" pitchFamily="34" charset="-120"/>
              </a:rPr>
              <a:t>python manage.py createsuperuser</a:t>
            </a:r>
            <a:endParaRPr lang="en-US" sz="1500" dirty="0"/>
          </a:p>
        </p:txBody>
      </p:sp>
      <p:sp>
        <p:nvSpPr>
          <p:cNvPr id="7" name="step-number"/>
          <p:cNvSpPr txBox="1"/>
          <p:nvPr/>
        </p:nvSpPr>
        <p:spPr>
          <a:xfrm>
            <a:off x="548640" y="2788920"/>
            <a:ext cx="502920" cy="50292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5"/>
          <p:cNvSpPr txBox="1"/>
          <p:nvPr/>
        </p:nvSpPr>
        <p:spPr>
          <a:xfrm>
            <a:off x="1280160" y="2606040"/>
            <a:ext cx="5669280" cy="274320"/>
          </a:xfrm>
          <a:prstGeom prst="rect">
            <a:avLst/>
          </a:prstGeom>
          <a:noFill/>
          <a:ln/>
        </p:spPr>
        <p:txBody>
          <a:bodyPr wrap="square" lIns="0" tIns="0" rIns="0" bIns="0" rtlCol="0" anchor="t"/>
          <a:lstStyle/>
          <a:p>
            <a:pPr indent="0" marL="0">
              <a:buNone/>
            </a:pPr>
            <a:r>
              <a:rPr lang="en-US" sz="1400" b="1" dirty="0">
                <a:solidFill>
                  <a:schemeClr val="accent5"/>
                </a:solidFill>
              </a:rPr>
              <a:t>Register the model in admin.py</a:t>
            </a:r>
            <a:endParaRPr lang="en-US" sz="1400" dirty="0"/>
          </a:p>
        </p:txBody>
      </p:sp>
      <p:sp>
        <p:nvSpPr>
          <p:cNvPr id="9" name="command"/>
          <p:cNvSpPr txBox="1"/>
          <p:nvPr/>
        </p:nvSpPr>
        <p:spPr>
          <a:xfrm>
            <a:off x="1280160" y="2926080"/>
            <a:ext cx="5669280" cy="548640"/>
          </a:xfrm>
          <a:prstGeom prst="roundRect">
            <a:avLst>
              <a:gd name="adj" fmla="val 16667"/>
            </a:avLst>
          </a:prstGeom>
          <a:solidFill>
            <a:schemeClr val="accent6"/>
          </a:solidFill>
          <a:ln/>
        </p:spPr>
        <p:txBody>
          <a:bodyPr wrap="square" lIns="152400" tIns="152400" rIns="152400" bIns="152400" rtlCol="0" anchor="t"/>
          <a:lstStyle/>
          <a:p>
            <a:pPr indent="0" marL="0">
              <a:buNone/>
            </a:pPr>
            <a:r>
              <a:rPr lang="en-US" sz="1500" dirty="0">
                <a:solidFill>
                  <a:schemeClr val="bg2"/>
                </a:solidFill>
                <a:latin typeface="Courier New" pitchFamily="34" charset="0"/>
                <a:ea typeface="Courier New" pitchFamily="34" charset="-122"/>
                <a:cs typeface="Courier New" pitchFamily="34" charset="-120"/>
              </a:rPr>
              <a:t>admin.site.register(Item)</a:t>
            </a:r>
            <a:endParaRPr lang="en-US" sz="1500" dirty="0"/>
          </a:p>
        </p:txBody>
      </p:sp>
      <p:sp>
        <p:nvSpPr>
          <p:cNvPr id="10" name="step-number"/>
          <p:cNvSpPr txBox="1"/>
          <p:nvPr/>
        </p:nvSpPr>
        <p:spPr>
          <a:xfrm>
            <a:off x="548640" y="3931920"/>
            <a:ext cx="502920" cy="50292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 8"/>
          <p:cNvSpPr txBox="1"/>
          <p:nvPr/>
        </p:nvSpPr>
        <p:spPr>
          <a:xfrm>
            <a:off x="1280160" y="3749040"/>
            <a:ext cx="5669280" cy="274320"/>
          </a:xfrm>
          <a:prstGeom prst="rect">
            <a:avLst/>
          </a:prstGeom>
          <a:noFill/>
          <a:ln/>
        </p:spPr>
        <p:txBody>
          <a:bodyPr wrap="square" lIns="0" tIns="0" rIns="0" bIns="0" rtlCol="0" anchor="t"/>
          <a:lstStyle/>
          <a:p>
            <a:pPr indent="0" marL="0">
              <a:buNone/>
            </a:pPr>
            <a:r>
              <a:rPr lang="en-US" sz="1400" b="1" dirty="0">
                <a:solidFill>
                  <a:schemeClr val="accent5"/>
                </a:solidFill>
              </a:rPr>
              <a:t>Run the server</a:t>
            </a:r>
            <a:endParaRPr lang="en-US" sz="1400" dirty="0"/>
          </a:p>
        </p:txBody>
      </p:sp>
      <p:sp>
        <p:nvSpPr>
          <p:cNvPr id="12" name="command"/>
          <p:cNvSpPr txBox="1"/>
          <p:nvPr/>
        </p:nvSpPr>
        <p:spPr>
          <a:xfrm>
            <a:off x="1280160" y="4069080"/>
            <a:ext cx="5669280" cy="548640"/>
          </a:xfrm>
          <a:prstGeom prst="roundRect">
            <a:avLst>
              <a:gd name="adj" fmla="val 16667"/>
            </a:avLst>
          </a:prstGeom>
          <a:solidFill>
            <a:schemeClr val="accent6"/>
          </a:solidFill>
          <a:ln/>
        </p:spPr>
        <p:txBody>
          <a:bodyPr wrap="square" lIns="152400" tIns="152400" rIns="152400" bIns="152400" rtlCol="0" anchor="t"/>
          <a:lstStyle/>
          <a:p>
            <a:pPr indent="0" marL="0">
              <a:buNone/>
            </a:pPr>
            <a:r>
              <a:rPr lang="en-US" sz="1500" dirty="0">
                <a:solidFill>
                  <a:schemeClr val="bg2"/>
                </a:solidFill>
                <a:latin typeface="Courier New" pitchFamily="34" charset="0"/>
                <a:ea typeface="Courier New" pitchFamily="34" charset="-122"/>
                <a:cs typeface="Courier New" pitchFamily="34" charset="-120"/>
              </a:rPr>
              <a:t>python manage.py runserver</a:t>
            </a:r>
            <a:endParaRPr lang="en-US" sz="1500" dirty="0"/>
          </a:p>
        </p:txBody>
      </p:sp>
      <p:sp>
        <p:nvSpPr>
          <p:cNvPr id="13" name="step-number"/>
          <p:cNvSpPr txBox="1"/>
          <p:nvPr/>
        </p:nvSpPr>
        <p:spPr>
          <a:xfrm>
            <a:off x="548640" y="5074920"/>
            <a:ext cx="502920" cy="50292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ext 11"/>
          <p:cNvSpPr txBox="1"/>
          <p:nvPr/>
        </p:nvSpPr>
        <p:spPr>
          <a:xfrm>
            <a:off x="1280160" y="4892040"/>
            <a:ext cx="5669280" cy="274320"/>
          </a:xfrm>
          <a:prstGeom prst="rect">
            <a:avLst/>
          </a:prstGeom>
          <a:noFill/>
          <a:ln/>
        </p:spPr>
        <p:txBody>
          <a:bodyPr wrap="square" lIns="0" tIns="0" rIns="0" bIns="0" rtlCol="0" anchor="t"/>
          <a:lstStyle/>
          <a:p>
            <a:pPr indent="0" marL="0">
              <a:buNone/>
            </a:pPr>
            <a:r>
              <a:rPr lang="en-US" sz="1400" b="1" dirty="0">
                <a:solidFill>
                  <a:schemeClr val="accent5"/>
                </a:solidFill>
              </a:rPr>
              <a:t>Open the admin and log in</a:t>
            </a:r>
            <a:endParaRPr lang="en-US" sz="1400" dirty="0"/>
          </a:p>
        </p:txBody>
      </p:sp>
      <p:sp>
        <p:nvSpPr>
          <p:cNvPr id="15" name="command"/>
          <p:cNvSpPr txBox="1"/>
          <p:nvPr/>
        </p:nvSpPr>
        <p:spPr>
          <a:xfrm>
            <a:off x="1280160" y="5212080"/>
            <a:ext cx="5669280" cy="548640"/>
          </a:xfrm>
          <a:prstGeom prst="roundRect">
            <a:avLst>
              <a:gd name="adj" fmla="val 16667"/>
            </a:avLst>
          </a:prstGeom>
          <a:solidFill>
            <a:schemeClr val="accent6"/>
          </a:solidFill>
          <a:ln/>
        </p:spPr>
        <p:txBody>
          <a:bodyPr wrap="square" lIns="152400" tIns="152400" rIns="152400" bIns="152400" rtlCol="0" anchor="t"/>
          <a:lstStyle/>
          <a:p>
            <a:pPr indent="0" marL="0">
              <a:buNone/>
            </a:pPr>
            <a:r>
              <a:rPr lang="en-US" sz="1500" dirty="0">
                <a:solidFill>
                  <a:schemeClr val="bg2"/>
                </a:solidFill>
                <a:latin typeface="Courier New" pitchFamily="34" charset="0"/>
                <a:ea typeface="Courier New" pitchFamily="34" charset="-122"/>
                <a:cs typeface="Courier New" pitchFamily="34" charset="-120"/>
              </a:rPr>
              <a:t>http://127.0.0.1:8000/admin/</a:t>
            </a:r>
            <a:endParaRPr lang="en-US" sz="1500" dirty="0"/>
          </a:p>
        </p:txBody>
      </p:sp>
      <p:sp>
        <p:nvSpPr>
          <p:cNvPr id="16" name="side-panel"/>
          <p:cNvSpPr/>
          <p:nvPr/>
        </p:nvSpPr>
        <p:spPr>
          <a:xfrm>
            <a:off x="7589520" y="1417320"/>
            <a:ext cx="4050792" cy="4572000"/>
          </a:xfrm>
          <a:prstGeom prst="roundRect">
            <a:avLst>
              <a:gd name="adj" fmla="val 2709"/>
            </a:avLst>
          </a:prstGeom>
          <a:solidFill>
            <a:schemeClr val="bg2"/>
          </a:solidFill>
          <a:ln/>
        </p:spPr>
      </p:sp>
      <p:sp>
        <p:nvSpPr>
          <p:cNvPr id="17" name="Text 14"/>
          <p:cNvSpPr txBox="1"/>
          <p:nvPr/>
        </p:nvSpPr>
        <p:spPr>
          <a:xfrm>
            <a:off x="7863840" y="1600200"/>
            <a:ext cx="3566160" cy="411480"/>
          </a:xfrm>
          <a:prstGeom prst="rect">
            <a:avLst/>
          </a:prstGeom>
          <a:noFill/>
          <a:ln/>
        </p:spPr>
        <p:txBody>
          <a:bodyPr wrap="square" lIns="0" tIns="0" rIns="0" bIns="0" rtlCol="0" anchor="t"/>
          <a:lstStyle/>
          <a:p>
            <a:pPr indent="0" marL="0">
              <a:buNone/>
            </a:pPr>
            <a:r>
              <a:rPr lang="en-US" sz="2200" b="1" dirty="0">
                <a:solidFill>
                  <a:schemeClr val="tx2"/>
                </a:solidFill>
              </a:rPr>
              <a:t>You get for free</a:t>
            </a:r>
            <a:endParaRPr lang="en-US" sz="2200" dirty="0"/>
          </a:p>
        </p:txBody>
      </p:sp>
      <p:sp>
        <p:nvSpPr>
          <p:cNvPr id="18" name="Text 15"/>
          <p:cNvSpPr txBox="1"/>
          <p:nvPr/>
        </p:nvSpPr>
        <p:spPr>
          <a:xfrm>
            <a:off x="7863840" y="2148840"/>
            <a:ext cx="3520440" cy="27432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List, add, edit and delete pages for every model</a:t>
            </a:r>
            <a:endParaRPr lang="en-US" sz="1600" dirty="0"/>
          </a:p>
          <a:p>
            <a:pPr marL="342900" indent="-342900">
              <a:spcAft>
                <a:spcPts val="1000"/>
              </a:spcAft>
              <a:buSzPct val="100000"/>
              <a:buChar char="•"/>
            </a:pPr>
            <a:r>
              <a:rPr lang="en-US" sz="1600" dirty="0">
                <a:solidFill>
                  <a:schemeClr val="tx1"/>
                </a:solidFill>
              </a:rPr>
              <a:t>Search, filters and pagination</a:t>
            </a:r>
            <a:endParaRPr lang="en-US" sz="1600" dirty="0"/>
          </a:p>
          <a:p>
            <a:pPr marL="342900" indent="-342900">
              <a:spcAft>
                <a:spcPts val="1000"/>
              </a:spcAft>
              <a:buSzPct val="100000"/>
              <a:buChar char="•"/>
            </a:pPr>
            <a:r>
              <a:rPr lang="en-US" sz="1600" dirty="0">
                <a:solidFill>
                  <a:schemeClr val="tx1"/>
                </a:solidFill>
              </a:rPr>
              <a:t>User, group and permission management</a:t>
            </a:r>
            <a:endParaRPr lang="en-US" sz="1600" dirty="0"/>
          </a:p>
          <a:p>
            <a:pPr marL="342900" indent="-342900">
              <a:spcAft>
                <a:spcPts val="1000"/>
              </a:spcAft>
              <a:buSzPct val="100000"/>
              <a:buChar char="•"/>
            </a:pPr>
            <a:r>
              <a:rPr lang="en-US" sz="1600" dirty="0">
                <a:solidFill>
                  <a:schemeClr val="tx1"/>
                </a:solidFill>
              </a:rPr>
              <a:t>No extra code: it reads your models</a:t>
            </a:r>
            <a:endParaRPr lang="en-US" sz="1600" dirty="0"/>
          </a:p>
        </p:txBody>
      </p:sp>
      <p:sp>
        <p:nvSpPr>
          <p:cNvPr id="19" name="Text 16"/>
          <p:cNvSpPr txBox="1"/>
          <p:nvPr/>
        </p:nvSpPr>
        <p:spPr>
          <a:xfrm>
            <a:off x="7863840" y="5074920"/>
            <a:ext cx="3520440" cy="731520"/>
          </a:xfrm>
          <a:prstGeom prst="rect">
            <a:avLst/>
          </a:prstGeom>
          <a:noFill/>
          <a:ln/>
        </p:spPr>
        <p:txBody>
          <a:bodyPr wrap="square" lIns="0" tIns="0" rIns="0" bIns="0" rtlCol="0" anchor="t"/>
          <a:lstStyle/>
          <a:p>
            <a:pPr indent="0" marL="0">
              <a:buNone/>
            </a:pPr>
            <a:r>
              <a:rPr lang="en-US" sz="1400" dirty="0">
                <a:solidFill>
                  <a:schemeClr val="accent5"/>
                </a:solidFill>
              </a:rPr>
              <a:t>Superuser = account with every permission.</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rPr>
              <a:t>Customising the admin with ModelAdmin</a:t>
            </a:r>
            <a:endParaRPr lang="en-US" sz="3600" dirty="0"/>
          </a:p>
        </p:txBody>
      </p:sp>
      <p:sp>
        <p:nvSpPr>
          <p:cNvPr id="4" name="admin-code"/>
          <p:cNvSpPr txBox="1"/>
          <p:nvPr/>
        </p:nvSpPr>
        <p:spPr>
          <a:xfrm>
            <a:off x="548640" y="1371600"/>
            <a:ext cx="5943600" cy="2423160"/>
          </a:xfrm>
          <a:prstGeom prst="roundRect">
            <a:avLst>
              <a:gd name="adj" fmla="val 3774"/>
            </a:avLst>
          </a:prstGeom>
          <a:solidFill>
            <a:schemeClr val="accent6"/>
          </a:solidFill>
          <a:ln/>
        </p:spPr>
        <p:txBody>
          <a:bodyPr wrap="square" lIns="152400" tIns="152400" rIns="152400" bIns="15240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@admin.register(Item)</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class ItemAdmin(admin.ModelAdmin):</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list_display = ("name", "price", "quantity",</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"is_available")</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list_filter = ("is_available",)</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search_fields = ("name", "description")</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ordering = ("-created_at",)</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list_editable = ("price", "quantity")</a:t>
            </a:r>
            <a:endParaRPr lang="en-US" sz="1400" dirty="0"/>
          </a:p>
        </p:txBody>
      </p:sp>
      <p:graphicFrame>
        <p:nvGraphicFramePr>
          <p:cNvPr id="28" name="table"/>
          <p:cNvGraphicFramePr>
            <a:graphicFrameLocks noGrp="1"/>
          </p:cNvGraphicFramePr>
          <p:nvPr>
            <p:extLst>
              <p:ext uri="{D42A27DB-BD31-4B8C-83A1-F6EECF244321}">
                <p14:modId xmlns:p14="http://schemas.microsoft.com/office/powerpoint/2010/main" val="1579011935"/>
              </p:ext>
            </p:extLst>
          </p:nvPr>
        </p:nvGraphicFramePr>
        <p:xfrm>
          <a:off x="548640" y="3977640"/>
          <a:ext cx="5943600" cy="914400"/>
        </p:xfrm>
        <a:graphic>
          <a:graphicData uri="http://schemas.openxmlformats.org/drawingml/2006/table">
            <a:tbl>
              <a:tblPr/>
              <a:tblGrid>
                <a:gridCol w="2194560"/>
                <a:gridCol w="3749040"/>
              </a:tblGrid>
              <a:tr h="365760">
                <a:tc>
                  <a:txBody>
                    <a:bodyPr/>
                    <a:lstStyle/>
                    <a:p>
                      <a:pPr indent="0" marL="0">
                        <a:buNone/>
                      </a:pPr>
                      <a:r>
                        <a:rPr lang="en-US" sz="1600" b="1" dirty="0">
                          <a:solidFill>
                            <a:schemeClr val="bg1"/>
                          </a:solidFill>
                        </a:rPr>
                        <a:t>Option</a:t>
                      </a: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600" b="1" dirty="0">
                          <a:solidFill>
                            <a:schemeClr val="bg1"/>
                          </a:solidFill>
                        </a:rPr>
                        <a:t>Effect in the admin</a:t>
                      </a:r>
                      <a:endParaRPr lang="en-US" sz="16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365760">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list_display</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Columns in the list page</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list_filter</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Filter sidebar on the right</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65760">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search_fields</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Search box at the top</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ordering</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Default sort order</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65760">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list_editable</a:t>
                      </a:r>
                      <a:endParaRPr lang="en-US" sz="14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Edit fields right in the list</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pic>
        <p:nvPicPr>
          <p:cNvPr id="6" name="Image 0" descr="Screenshot of the customised Item list in the Django admin">    </p:cNvPr>
          <p:cNvPicPr>
            <a:picLocks noChangeAspect="1"/>
          </p:cNvPicPr>
          <p:nvPr/>
        </p:nvPicPr>
        <p:blipFill>
          <a:blip r:embed="rId1"/>
          <a:stretch>
            <a:fillRect/>
          </a:stretch>
        </p:blipFill>
        <p:spPr>
          <a:xfrm>
            <a:off x="6766560" y="1371600"/>
            <a:ext cx="4873752" cy="2743200"/>
          </a:xfrm>
          <a:prstGeom prst="rect">
            <a:avLst/>
          </a:prstGeom>
          <a:effectLst>
            <a:outerShdw sx="100000" sy="100000" kx="0" ky="0" algn="bl" rotWithShape="0" blurRad="101600" dist="25400" dir="5400000">
              <a:srgbClr val="000000">
                <a:alpha val="25000"/>
              </a:srgbClr>
            </a:outerShdw>
          </a:effectLst>
        </p:spPr>
      </p:pic>
      <p:sp>
        <p:nvSpPr>
          <p:cNvPr id="7" name="callout"/>
          <p:cNvSpPr/>
          <p:nvPr/>
        </p:nvSpPr>
        <p:spPr>
          <a:xfrm>
            <a:off x="6766560" y="4343400"/>
            <a:ext cx="4873752" cy="1737360"/>
          </a:xfrm>
          <a:prstGeom prst="roundRect">
            <a:avLst>
              <a:gd name="adj" fmla="val 6316"/>
            </a:avLst>
          </a:prstGeom>
          <a:solidFill>
            <a:schemeClr val="bg2"/>
          </a:solidFill>
          <a:ln/>
        </p:spPr>
      </p:sp>
      <p:sp>
        <p:nvSpPr>
          <p:cNvPr id="8" name="Text 3"/>
          <p:cNvSpPr txBox="1"/>
          <p:nvPr/>
        </p:nvSpPr>
        <p:spPr>
          <a:xfrm>
            <a:off x="6995160" y="4480560"/>
            <a:ext cx="4389120" cy="365760"/>
          </a:xfrm>
          <a:prstGeom prst="rect">
            <a:avLst/>
          </a:prstGeom>
          <a:noFill/>
          <a:ln/>
        </p:spPr>
        <p:txBody>
          <a:bodyPr wrap="square" lIns="0" tIns="0" rIns="0" bIns="0" rtlCol="0" anchor="t"/>
          <a:lstStyle/>
          <a:p>
            <a:pPr indent="0" marL="0">
              <a:buNone/>
            </a:pPr>
            <a:r>
              <a:rPr lang="en-US" sz="1800" b="1" dirty="0">
                <a:solidFill>
                  <a:schemeClr val="tx2"/>
                </a:solidFill>
              </a:rPr>
              <a:t>Go further</a:t>
            </a:r>
            <a:endParaRPr lang="en-US" sz="1800" dirty="0"/>
          </a:p>
        </p:txBody>
      </p:sp>
      <p:sp>
        <p:nvSpPr>
          <p:cNvPr id="9" name="Text 4"/>
          <p:cNvSpPr txBox="1"/>
          <p:nvPr/>
        </p:nvSpPr>
        <p:spPr>
          <a:xfrm>
            <a:off x="6995160" y="4892040"/>
            <a:ext cx="4389120" cy="1097280"/>
          </a:xfrm>
          <a:prstGeom prst="rect">
            <a:avLst/>
          </a:prstGeom>
          <a:noFill/>
          <a:ln/>
        </p:spPr>
        <p:txBody>
          <a:bodyPr wrap="square" lIns="0" tIns="0" rIns="0" bIns="0" rtlCol="0" anchor="t"/>
          <a:lstStyle/>
          <a:p>
            <a:pPr indent="0" marL="0">
              <a:buNone/>
            </a:pPr>
            <a:r>
              <a:rPr lang="en-US" sz="1500" dirty="0">
                <a:solidFill>
                  <a:schemeClr val="tx1"/>
                </a:solidFill>
              </a:rPr>
              <a:t>readonly_fields and custom bulk actions (mark items available / unavailable) are in items/admin.py.</a:t>
            </a:r>
            <a:endParaRPr lang="en-US" sz="15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rPr>
              <a:t>Security built into Django</a:t>
            </a:r>
            <a:endParaRPr lang="en-US" sz="3600" dirty="0"/>
          </a:p>
        </p:txBody>
      </p:sp>
      <p:sp>
        <p:nvSpPr>
          <p:cNvPr id="4" name="security-card"/>
          <p:cNvSpPr/>
          <p:nvPr/>
        </p:nvSpPr>
        <p:spPr>
          <a:xfrm>
            <a:off x="548640" y="1371600"/>
            <a:ext cx="5431536" cy="2103120"/>
          </a:xfrm>
          <a:prstGeom prst="roundRect">
            <a:avLst>
              <a:gd name="adj" fmla="val 5217"/>
            </a:avLst>
          </a:prstGeom>
          <a:solidFill>
            <a:schemeClr val="bg2"/>
          </a:solidFill>
          <a:ln/>
        </p:spPr>
      </p:sp>
      <p:sp>
        <p:nvSpPr>
          <p:cNvPr id="5" name="icon-circle"/>
          <p:cNvSpPr/>
          <p:nvPr/>
        </p:nvSpPr>
        <p:spPr>
          <a:xfrm>
            <a:off x="822960" y="1645920"/>
            <a:ext cx="640080" cy="640080"/>
          </a:xfrm>
          <a:prstGeom prst="ellipse">
            <a:avLst/>
          </a:prstGeom>
          <a:solidFill>
            <a:schemeClr val="tx2"/>
          </a:solidFill>
          <a:ln/>
        </p:spPr>
      </p:sp>
      <p:pic>
        <p:nvPicPr>
          <p:cNvPr id="6" name="Image 0" descr="preencoded.png">    </p:cNvPr>
          <p:cNvPicPr>
            <a:picLocks noChangeAspect="1"/>
          </p:cNvPicPr>
          <p:nvPr/>
        </p:nvPicPr>
        <p:blipFill>
          <a:blip r:embed="rId1"/>
          <a:stretch>
            <a:fillRect/>
          </a:stretch>
        </p:blipFill>
        <p:spPr>
          <a:xfrm>
            <a:off x="982980" y="1805940"/>
            <a:ext cx="320040" cy="320040"/>
          </a:xfrm>
          <a:prstGeom prst="rect">
            <a:avLst/>
          </a:prstGeom>
        </p:spPr>
      </p:pic>
      <p:sp>
        <p:nvSpPr>
          <p:cNvPr id="7" name="Text 3"/>
          <p:cNvSpPr txBox="1"/>
          <p:nvPr/>
        </p:nvSpPr>
        <p:spPr>
          <a:xfrm>
            <a:off x="1645920" y="1645920"/>
            <a:ext cx="4114800" cy="640080"/>
          </a:xfrm>
          <a:prstGeom prst="rect">
            <a:avLst/>
          </a:prstGeom>
          <a:noFill/>
          <a:ln/>
        </p:spPr>
        <p:txBody>
          <a:bodyPr wrap="square" lIns="0" tIns="0" rIns="0" bIns="0" rtlCol="0" anchor="ctr"/>
          <a:lstStyle/>
          <a:p>
            <a:pPr indent="0" marL="0">
              <a:buNone/>
            </a:pPr>
            <a:r>
              <a:rPr lang="en-US" sz="2000" b="1" dirty="0">
                <a:solidFill>
                  <a:schemeClr val="tx2"/>
                </a:solidFill>
              </a:rPr>
              <a:t>SQL injection</a:t>
            </a:r>
            <a:endParaRPr lang="en-US" sz="2000" dirty="0"/>
          </a:p>
        </p:txBody>
      </p:sp>
      <p:sp>
        <p:nvSpPr>
          <p:cNvPr id="8" name="Text 4"/>
          <p:cNvSpPr txBox="1"/>
          <p:nvPr/>
        </p:nvSpPr>
        <p:spPr>
          <a:xfrm>
            <a:off x="822960" y="2377440"/>
            <a:ext cx="4937760" cy="457200"/>
          </a:xfrm>
          <a:prstGeom prst="rect">
            <a:avLst/>
          </a:prstGeom>
          <a:noFill/>
          <a:ln/>
        </p:spPr>
        <p:txBody>
          <a:bodyPr wrap="square" lIns="0" tIns="0" rIns="0" bIns="0" rtlCol="0" anchor="t"/>
          <a:lstStyle/>
          <a:p>
            <a:pPr indent="0" marL="0">
              <a:buNone/>
            </a:pPr>
            <a:r>
              <a:rPr lang="en-US" sz="1500" dirty="0">
                <a:solidFill>
                  <a:schemeClr val="tx1"/>
                </a:solidFill>
              </a:rPr>
              <a:t>The ORM sends values as parameters, never glued into SQL.</a:t>
            </a:r>
            <a:endParaRPr lang="en-US" sz="1500" dirty="0"/>
          </a:p>
        </p:txBody>
      </p:sp>
      <p:sp>
        <p:nvSpPr>
          <p:cNvPr id="9" name="snippet"/>
          <p:cNvSpPr txBox="1"/>
          <p:nvPr/>
        </p:nvSpPr>
        <p:spPr>
          <a:xfrm>
            <a:off x="822960" y="2834640"/>
            <a:ext cx="4882896" cy="457200"/>
          </a:xfrm>
          <a:prstGeom prst="roundRect">
            <a:avLst>
              <a:gd name="adj" fmla="val 20000"/>
            </a:avLst>
          </a:prstGeom>
          <a:solidFill>
            <a:schemeClr val="accent6"/>
          </a:solidFill>
          <a:ln/>
        </p:spPr>
        <p:txBody>
          <a:bodyPr wrap="square" lIns="152400" tIns="152400" rIns="152400" bIns="15240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Item.objects.filter(name__icontains=text)</a:t>
            </a:r>
            <a:endParaRPr lang="en-US" sz="1400" dirty="0"/>
          </a:p>
        </p:txBody>
      </p:sp>
      <p:sp>
        <p:nvSpPr>
          <p:cNvPr id="10" name="security-card"/>
          <p:cNvSpPr/>
          <p:nvPr/>
        </p:nvSpPr>
        <p:spPr>
          <a:xfrm>
            <a:off x="6208776" y="1371600"/>
            <a:ext cx="5431536" cy="2103120"/>
          </a:xfrm>
          <a:prstGeom prst="roundRect">
            <a:avLst>
              <a:gd name="adj" fmla="val 5217"/>
            </a:avLst>
          </a:prstGeom>
          <a:solidFill>
            <a:schemeClr val="bg2"/>
          </a:solidFill>
          <a:ln/>
        </p:spPr>
      </p:sp>
      <p:sp>
        <p:nvSpPr>
          <p:cNvPr id="11" name="icon-circle"/>
          <p:cNvSpPr/>
          <p:nvPr/>
        </p:nvSpPr>
        <p:spPr>
          <a:xfrm>
            <a:off x="6483096" y="1645920"/>
            <a:ext cx="640080" cy="640080"/>
          </a:xfrm>
          <a:prstGeom prst="ellipse">
            <a:avLst/>
          </a:prstGeom>
          <a:solidFill>
            <a:schemeClr val="tx2"/>
          </a:solidFill>
          <a:ln/>
        </p:spPr>
      </p:sp>
      <p:pic>
        <p:nvPicPr>
          <p:cNvPr id="12" name="Image 1" descr="preencoded.png">    </p:cNvPr>
          <p:cNvPicPr>
            <a:picLocks noChangeAspect="1"/>
          </p:cNvPicPr>
          <p:nvPr/>
        </p:nvPicPr>
        <p:blipFill>
          <a:blip r:embed="rId2"/>
          <a:stretch>
            <a:fillRect/>
          </a:stretch>
        </p:blipFill>
        <p:spPr>
          <a:xfrm>
            <a:off x="6643116" y="1805940"/>
            <a:ext cx="320040" cy="320040"/>
          </a:xfrm>
          <a:prstGeom prst="rect">
            <a:avLst/>
          </a:prstGeom>
        </p:spPr>
      </p:pic>
      <p:sp>
        <p:nvSpPr>
          <p:cNvPr id="13" name="Text 8"/>
          <p:cNvSpPr txBox="1"/>
          <p:nvPr/>
        </p:nvSpPr>
        <p:spPr>
          <a:xfrm>
            <a:off x="7306056" y="1645920"/>
            <a:ext cx="4114800" cy="640080"/>
          </a:xfrm>
          <a:prstGeom prst="rect">
            <a:avLst/>
          </a:prstGeom>
          <a:noFill/>
          <a:ln/>
        </p:spPr>
        <p:txBody>
          <a:bodyPr wrap="square" lIns="0" tIns="0" rIns="0" bIns="0" rtlCol="0" anchor="ctr"/>
          <a:lstStyle/>
          <a:p>
            <a:pPr indent="0" marL="0">
              <a:buNone/>
            </a:pPr>
            <a:r>
              <a:rPr lang="en-US" sz="2000" b="1" dirty="0">
                <a:solidFill>
                  <a:schemeClr val="tx2"/>
                </a:solidFill>
              </a:rPr>
              <a:t>CSRF attacks</a:t>
            </a:r>
            <a:endParaRPr lang="en-US" sz="2000" dirty="0"/>
          </a:p>
        </p:txBody>
      </p:sp>
      <p:sp>
        <p:nvSpPr>
          <p:cNvPr id="14" name="Text 9"/>
          <p:cNvSpPr txBox="1"/>
          <p:nvPr/>
        </p:nvSpPr>
        <p:spPr>
          <a:xfrm>
            <a:off x="6483096" y="2377440"/>
            <a:ext cx="4937760" cy="457200"/>
          </a:xfrm>
          <a:prstGeom prst="rect">
            <a:avLst/>
          </a:prstGeom>
          <a:noFill/>
          <a:ln/>
        </p:spPr>
        <p:txBody>
          <a:bodyPr wrap="square" lIns="0" tIns="0" rIns="0" bIns="0" rtlCol="0" anchor="t"/>
          <a:lstStyle/>
          <a:p>
            <a:pPr indent="0" marL="0">
              <a:buNone/>
            </a:pPr>
            <a:r>
              <a:rPr lang="en-US" sz="1500" dirty="0">
                <a:solidFill>
                  <a:schemeClr val="tx1"/>
                </a:solidFill>
              </a:rPr>
              <a:t>Form POSTs need a secret token, or Django answers 403.</a:t>
            </a:r>
            <a:endParaRPr lang="en-US" sz="1500" dirty="0"/>
          </a:p>
        </p:txBody>
      </p:sp>
      <p:sp>
        <p:nvSpPr>
          <p:cNvPr id="15" name="snippet"/>
          <p:cNvSpPr txBox="1"/>
          <p:nvPr/>
        </p:nvSpPr>
        <p:spPr>
          <a:xfrm>
            <a:off x="6483096" y="2834640"/>
            <a:ext cx="4882896" cy="457200"/>
          </a:xfrm>
          <a:prstGeom prst="roundRect">
            <a:avLst>
              <a:gd name="adj" fmla="val 20000"/>
            </a:avLst>
          </a:prstGeom>
          <a:solidFill>
            <a:schemeClr val="accent6"/>
          </a:solidFill>
          <a:ln/>
        </p:spPr>
        <p:txBody>
          <a:bodyPr wrap="square" lIns="152400" tIns="152400" rIns="152400" bIns="15240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CsrfViewMiddleware</a:t>
            </a:r>
            <a:endParaRPr lang="en-US" sz="1400" dirty="0"/>
          </a:p>
        </p:txBody>
      </p:sp>
      <p:sp>
        <p:nvSpPr>
          <p:cNvPr id="16" name="security-card"/>
          <p:cNvSpPr/>
          <p:nvPr/>
        </p:nvSpPr>
        <p:spPr>
          <a:xfrm>
            <a:off x="548640" y="3657600"/>
            <a:ext cx="5431536" cy="2103120"/>
          </a:xfrm>
          <a:prstGeom prst="roundRect">
            <a:avLst>
              <a:gd name="adj" fmla="val 5217"/>
            </a:avLst>
          </a:prstGeom>
          <a:solidFill>
            <a:schemeClr val="bg2"/>
          </a:solidFill>
          <a:ln/>
        </p:spPr>
      </p:sp>
      <p:sp>
        <p:nvSpPr>
          <p:cNvPr id="17" name="icon-circle"/>
          <p:cNvSpPr/>
          <p:nvPr/>
        </p:nvSpPr>
        <p:spPr>
          <a:xfrm>
            <a:off x="822960" y="3931920"/>
            <a:ext cx="640080" cy="640080"/>
          </a:xfrm>
          <a:prstGeom prst="ellipse">
            <a:avLst/>
          </a:prstGeom>
          <a:solidFill>
            <a:schemeClr val="tx2"/>
          </a:solidFill>
          <a:ln/>
        </p:spPr>
      </p:sp>
      <p:pic>
        <p:nvPicPr>
          <p:cNvPr id="18" name="Image 2" descr="preencoded.png">    </p:cNvPr>
          <p:cNvPicPr>
            <a:picLocks noChangeAspect="1"/>
          </p:cNvPicPr>
          <p:nvPr/>
        </p:nvPicPr>
        <p:blipFill>
          <a:blip r:embed="rId3"/>
          <a:stretch>
            <a:fillRect/>
          </a:stretch>
        </p:blipFill>
        <p:spPr>
          <a:xfrm>
            <a:off x="982980" y="4091940"/>
            <a:ext cx="320040" cy="320040"/>
          </a:xfrm>
          <a:prstGeom prst="rect">
            <a:avLst/>
          </a:prstGeom>
        </p:spPr>
      </p:pic>
      <p:sp>
        <p:nvSpPr>
          <p:cNvPr id="19" name="Text 13"/>
          <p:cNvSpPr txBox="1"/>
          <p:nvPr/>
        </p:nvSpPr>
        <p:spPr>
          <a:xfrm>
            <a:off x="1645920" y="3931920"/>
            <a:ext cx="4114800" cy="640080"/>
          </a:xfrm>
          <a:prstGeom prst="rect">
            <a:avLst/>
          </a:prstGeom>
          <a:noFill/>
          <a:ln/>
        </p:spPr>
        <p:txBody>
          <a:bodyPr wrap="square" lIns="0" tIns="0" rIns="0" bIns="0" rtlCol="0" anchor="ctr"/>
          <a:lstStyle/>
          <a:p>
            <a:pPr indent="0" marL="0">
              <a:buNone/>
            </a:pPr>
            <a:r>
              <a:rPr lang="en-US" sz="2000" b="1" dirty="0">
                <a:solidFill>
                  <a:schemeClr val="tx2"/>
                </a:solidFill>
              </a:rPr>
              <a:t>XSS (script injection)</a:t>
            </a:r>
            <a:endParaRPr lang="en-US" sz="2000" dirty="0"/>
          </a:p>
        </p:txBody>
      </p:sp>
      <p:sp>
        <p:nvSpPr>
          <p:cNvPr id="20" name="Text 14"/>
          <p:cNvSpPr txBox="1"/>
          <p:nvPr/>
        </p:nvSpPr>
        <p:spPr>
          <a:xfrm>
            <a:off x="822960" y="4663440"/>
            <a:ext cx="4937760" cy="457200"/>
          </a:xfrm>
          <a:prstGeom prst="rect">
            <a:avLst/>
          </a:prstGeom>
          <a:noFill/>
          <a:ln/>
        </p:spPr>
        <p:txBody>
          <a:bodyPr wrap="square" lIns="0" tIns="0" rIns="0" bIns="0" rtlCol="0" anchor="t"/>
          <a:lstStyle/>
          <a:p>
            <a:pPr indent="0" marL="0">
              <a:buNone/>
            </a:pPr>
            <a:r>
              <a:rPr lang="en-US" sz="1500" dirty="0">
                <a:solidFill>
                  <a:schemeClr val="tx1"/>
                </a:solidFill>
              </a:rPr>
              <a:t>The admin and Django templates escape HTML automatically.</a:t>
            </a:r>
            <a:endParaRPr lang="en-US" sz="1500" dirty="0"/>
          </a:p>
        </p:txBody>
      </p:sp>
      <p:sp>
        <p:nvSpPr>
          <p:cNvPr id="21" name="snippet"/>
          <p:cNvSpPr txBox="1"/>
          <p:nvPr/>
        </p:nvSpPr>
        <p:spPr>
          <a:xfrm>
            <a:off x="822960" y="5120640"/>
            <a:ext cx="4882896" cy="457200"/>
          </a:xfrm>
          <a:prstGeom prst="roundRect">
            <a:avLst>
              <a:gd name="adj" fmla="val 20000"/>
            </a:avLst>
          </a:prstGeom>
          <a:solidFill>
            <a:schemeClr val="accent6"/>
          </a:solidFill>
          <a:ln/>
        </p:spPr>
        <p:txBody>
          <a:bodyPr wrap="square" lIns="152400" tIns="152400" rIns="152400" bIns="15240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&lt;script&gt; becomes &amp;lt;script&amp;gt;</a:t>
            </a:r>
            <a:endParaRPr lang="en-US" sz="1400" dirty="0"/>
          </a:p>
        </p:txBody>
      </p:sp>
      <p:sp>
        <p:nvSpPr>
          <p:cNvPr id="22" name="security-card"/>
          <p:cNvSpPr/>
          <p:nvPr/>
        </p:nvSpPr>
        <p:spPr>
          <a:xfrm>
            <a:off x="6208776" y="3657600"/>
            <a:ext cx="5431536" cy="2103120"/>
          </a:xfrm>
          <a:prstGeom prst="roundRect">
            <a:avLst>
              <a:gd name="adj" fmla="val 5217"/>
            </a:avLst>
          </a:prstGeom>
          <a:solidFill>
            <a:schemeClr val="bg2"/>
          </a:solidFill>
          <a:ln/>
        </p:spPr>
      </p:sp>
      <p:sp>
        <p:nvSpPr>
          <p:cNvPr id="23" name="icon-circle"/>
          <p:cNvSpPr/>
          <p:nvPr/>
        </p:nvSpPr>
        <p:spPr>
          <a:xfrm>
            <a:off x="6483096" y="3931920"/>
            <a:ext cx="640080" cy="640080"/>
          </a:xfrm>
          <a:prstGeom prst="ellipse">
            <a:avLst/>
          </a:prstGeom>
          <a:solidFill>
            <a:schemeClr val="tx2"/>
          </a:solidFill>
          <a:ln/>
        </p:spPr>
      </p:sp>
      <p:pic>
        <p:nvPicPr>
          <p:cNvPr id="24" name="Image 3" descr="preencoded.png">    </p:cNvPr>
          <p:cNvPicPr>
            <a:picLocks noChangeAspect="1"/>
          </p:cNvPicPr>
          <p:nvPr/>
        </p:nvPicPr>
        <p:blipFill>
          <a:blip r:embed="rId4"/>
          <a:stretch>
            <a:fillRect/>
          </a:stretch>
        </p:blipFill>
        <p:spPr>
          <a:xfrm>
            <a:off x="6643116" y="4091940"/>
            <a:ext cx="320040" cy="320040"/>
          </a:xfrm>
          <a:prstGeom prst="rect">
            <a:avLst/>
          </a:prstGeom>
        </p:spPr>
      </p:pic>
      <p:sp>
        <p:nvSpPr>
          <p:cNvPr id="25" name="Text 18"/>
          <p:cNvSpPr txBox="1"/>
          <p:nvPr/>
        </p:nvSpPr>
        <p:spPr>
          <a:xfrm>
            <a:off x="7306056" y="3931920"/>
            <a:ext cx="4114800" cy="640080"/>
          </a:xfrm>
          <a:prstGeom prst="rect">
            <a:avLst/>
          </a:prstGeom>
          <a:noFill/>
          <a:ln/>
        </p:spPr>
        <p:txBody>
          <a:bodyPr wrap="square" lIns="0" tIns="0" rIns="0" bIns="0" rtlCol="0" anchor="ctr"/>
          <a:lstStyle/>
          <a:p>
            <a:pPr indent="0" marL="0">
              <a:buNone/>
            </a:pPr>
            <a:r>
              <a:rPr lang="en-US" sz="2000" b="1" dirty="0">
                <a:solidFill>
                  <a:schemeClr val="tx2"/>
                </a:solidFill>
              </a:rPr>
              <a:t>Passwords and framing</a:t>
            </a:r>
            <a:endParaRPr lang="en-US" sz="2000" dirty="0"/>
          </a:p>
        </p:txBody>
      </p:sp>
      <p:sp>
        <p:nvSpPr>
          <p:cNvPr id="26" name="Text 19"/>
          <p:cNvSpPr txBox="1"/>
          <p:nvPr/>
        </p:nvSpPr>
        <p:spPr>
          <a:xfrm>
            <a:off x="6483096" y="4663440"/>
            <a:ext cx="4937760" cy="457200"/>
          </a:xfrm>
          <a:prstGeom prst="rect">
            <a:avLst/>
          </a:prstGeom>
          <a:noFill/>
          <a:ln/>
        </p:spPr>
        <p:txBody>
          <a:bodyPr wrap="square" lIns="0" tIns="0" rIns="0" bIns="0" rtlCol="0" anchor="t"/>
          <a:lstStyle/>
          <a:p>
            <a:pPr indent="0" marL="0">
              <a:buNone/>
            </a:pPr>
            <a:r>
              <a:rPr lang="en-US" sz="1500" dirty="0">
                <a:solidFill>
                  <a:schemeClr val="tx1"/>
                </a:solidFill>
              </a:rPr>
              <a:t>Passwords are hashed; pages cannot be framed.</a:t>
            </a:r>
            <a:endParaRPr lang="en-US" sz="1500" dirty="0"/>
          </a:p>
        </p:txBody>
      </p:sp>
      <p:sp>
        <p:nvSpPr>
          <p:cNvPr id="27" name="snippet"/>
          <p:cNvSpPr txBox="1"/>
          <p:nvPr/>
        </p:nvSpPr>
        <p:spPr>
          <a:xfrm>
            <a:off x="6483096" y="5120640"/>
            <a:ext cx="4882896" cy="457200"/>
          </a:xfrm>
          <a:prstGeom prst="roundRect">
            <a:avLst>
              <a:gd name="adj" fmla="val 20000"/>
            </a:avLst>
          </a:prstGeom>
          <a:solidFill>
            <a:schemeClr val="accent6"/>
          </a:solidFill>
          <a:ln/>
        </p:spPr>
        <p:txBody>
          <a:bodyPr wrap="square" lIns="152400" tIns="152400" rIns="152400" bIns="15240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X-Frame-Options: DENY</a:t>
            </a:r>
            <a:endParaRPr lang="en-US" sz="1400" dirty="0"/>
          </a:p>
        </p:txBody>
      </p:sp>
      <p:sp>
        <p:nvSpPr>
          <p:cNvPr id="28" name="Text 21"/>
          <p:cNvSpPr txBox="1"/>
          <p:nvPr/>
        </p:nvSpPr>
        <p:spPr>
          <a:xfrm>
            <a:off x="548640" y="5943600"/>
            <a:ext cx="11091672" cy="365760"/>
          </a:xfrm>
          <a:prstGeom prst="rect">
            <a:avLst/>
          </a:prstGeom>
          <a:noFill/>
          <a:ln/>
        </p:spPr>
        <p:txBody>
          <a:bodyPr wrap="square" lIns="0" tIns="0" rIns="0" bIns="0" rtlCol="0" anchor="t"/>
          <a:lstStyle/>
          <a:p>
            <a:pPr indent="0" marL="0">
              <a:buNone/>
            </a:pPr>
            <a:r>
              <a:rPr lang="en-US" sz="1400" dirty="0">
                <a:solidFill>
                  <a:schemeClr val="accent5"/>
                </a:solidFill>
              </a:rPr>
              <a:t>All of this is on by default. items/tests.py has tests for the CSRF and SQL injection protection.</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rPr>
              <a:t>Connecting MySQL or PostgreSQL</a:t>
            </a:r>
            <a:endParaRPr lang="en-US" sz="3600" dirty="0"/>
          </a:p>
        </p:txBody>
      </p:sp>
      <p:sp>
        <p:nvSpPr>
          <p:cNvPr id="4" name="Text 1"/>
          <p:cNvSpPr txBox="1"/>
          <p:nvPr/>
        </p:nvSpPr>
        <p:spPr>
          <a:xfrm>
            <a:off x="548640" y="1325880"/>
            <a:ext cx="5431536" cy="274320"/>
          </a:xfrm>
          <a:prstGeom prst="rect">
            <a:avLst/>
          </a:prstGeom>
          <a:noFill/>
          <a:ln/>
        </p:spPr>
        <p:txBody>
          <a:bodyPr wrap="square" lIns="0" tIns="0" rIns="0" bIns="0" rtlCol="0" anchor="t"/>
          <a:lstStyle/>
          <a:p>
            <a:pPr indent="0" marL="0">
              <a:buNone/>
            </a:pPr>
            <a:r>
              <a:rPr lang="en-US" sz="1400" b="1" dirty="0">
                <a:solidFill>
                  <a:schemeClr val="accent5"/>
                </a:solidFill>
              </a:rPr>
              <a:t>PostgreSQL   (pip install psycopg2-binary)</a:t>
            </a:r>
            <a:endParaRPr lang="en-US" sz="1400" dirty="0"/>
          </a:p>
        </p:txBody>
      </p:sp>
      <p:sp>
        <p:nvSpPr>
          <p:cNvPr id="5" name="pg-code"/>
          <p:cNvSpPr txBox="1"/>
          <p:nvPr/>
        </p:nvSpPr>
        <p:spPr>
          <a:xfrm>
            <a:off x="548640" y="1645920"/>
            <a:ext cx="5431536" cy="2834640"/>
          </a:xfrm>
          <a:prstGeom prst="roundRect">
            <a:avLst>
              <a:gd name="adj" fmla="val 3226"/>
            </a:avLst>
          </a:prstGeom>
          <a:solidFill>
            <a:schemeClr val="accent6"/>
          </a:solidFill>
          <a:ln/>
        </p:spPr>
        <p:txBody>
          <a:bodyPr wrap="square" lIns="152400" tIns="152400" rIns="152400" bIns="15240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DATABASES =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"default":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"ENGINE": "django.db.backends.postgresql",</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"NAME": "items_db",</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"USER": "postgres",</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"PASSWORD":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"HOST": "localhost",</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"PORT": "5432",</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a:t>
            </a:r>
            <a:endParaRPr lang="en-US" sz="1400" dirty="0"/>
          </a:p>
        </p:txBody>
      </p:sp>
      <p:sp>
        <p:nvSpPr>
          <p:cNvPr id="6" name="Text 3"/>
          <p:cNvSpPr txBox="1"/>
          <p:nvPr/>
        </p:nvSpPr>
        <p:spPr>
          <a:xfrm>
            <a:off x="6208776" y="1325880"/>
            <a:ext cx="5431536" cy="274320"/>
          </a:xfrm>
          <a:prstGeom prst="rect">
            <a:avLst/>
          </a:prstGeom>
          <a:noFill/>
          <a:ln/>
        </p:spPr>
        <p:txBody>
          <a:bodyPr wrap="square" lIns="0" tIns="0" rIns="0" bIns="0" rtlCol="0" anchor="t"/>
          <a:lstStyle/>
          <a:p>
            <a:pPr indent="0" marL="0">
              <a:buNone/>
            </a:pPr>
            <a:r>
              <a:rPr lang="en-US" sz="1400" b="1" dirty="0">
                <a:solidFill>
                  <a:schemeClr val="accent5"/>
                </a:solidFill>
              </a:rPr>
              <a:t>MySQL   (pip install mysqlclient)</a:t>
            </a:r>
            <a:endParaRPr lang="en-US" sz="1400" dirty="0"/>
          </a:p>
        </p:txBody>
      </p:sp>
      <p:sp>
        <p:nvSpPr>
          <p:cNvPr id="7" name="mysql-code"/>
          <p:cNvSpPr txBox="1"/>
          <p:nvPr/>
        </p:nvSpPr>
        <p:spPr>
          <a:xfrm>
            <a:off x="6208776" y="1645920"/>
            <a:ext cx="5431536" cy="2834640"/>
          </a:xfrm>
          <a:prstGeom prst="roundRect">
            <a:avLst>
              <a:gd name="adj" fmla="val 3226"/>
            </a:avLst>
          </a:prstGeom>
          <a:solidFill>
            <a:schemeClr val="accent6"/>
          </a:solidFill>
          <a:ln/>
        </p:spPr>
        <p:txBody>
          <a:bodyPr wrap="square" lIns="152400" tIns="152400" rIns="152400" bIns="15240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DATABASES =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"default":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"ENGINE": "django.db.backends.mysql",</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"NAME": "items_db",</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"USER": "root",</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"PASSWORD":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"HOST": "localhost",</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"PORT": "3306",</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a:t>
            </a:r>
            <a:endParaRPr lang="en-US" sz="1400" dirty="0"/>
          </a:p>
        </p:txBody>
      </p:sp>
      <p:sp>
        <p:nvSpPr>
          <p:cNvPr id="8" name="step-card"/>
          <p:cNvSpPr/>
          <p:nvPr/>
        </p:nvSpPr>
        <p:spPr>
          <a:xfrm>
            <a:off x="548640" y="4754880"/>
            <a:ext cx="2606040" cy="731520"/>
          </a:xfrm>
          <a:prstGeom prst="roundRect">
            <a:avLst>
              <a:gd name="adj" fmla="val 15000"/>
            </a:avLst>
          </a:prstGeom>
          <a:solidFill>
            <a:schemeClr val="bg2"/>
          </a:solidFill>
          <a:ln/>
        </p:spPr>
      </p:sp>
      <p:sp>
        <p:nvSpPr>
          <p:cNvPr id="9" name="step-number"/>
          <p:cNvSpPr txBox="1"/>
          <p:nvPr/>
        </p:nvSpPr>
        <p:spPr>
          <a:xfrm>
            <a:off x="685800" y="4892040"/>
            <a:ext cx="457200" cy="45720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0" name="Text 7"/>
          <p:cNvSpPr txBox="1"/>
          <p:nvPr/>
        </p:nvSpPr>
        <p:spPr>
          <a:xfrm>
            <a:off x="1280160" y="4754880"/>
            <a:ext cx="1783080" cy="731520"/>
          </a:xfrm>
          <a:prstGeom prst="rect">
            <a:avLst/>
          </a:prstGeom>
          <a:noFill/>
          <a:ln/>
        </p:spPr>
        <p:txBody>
          <a:bodyPr wrap="square" lIns="0" tIns="0" rIns="0" bIns="0" rtlCol="0" anchor="ctr"/>
          <a:lstStyle/>
          <a:p>
            <a:pPr indent="0" marL="0">
              <a:buNone/>
            </a:pPr>
            <a:r>
              <a:rPr lang="en-US" sz="1400" b="1" dirty="0">
                <a:solidFill>
                  <a:schemeClr val="tx2"/>
                </a:solidFill>
              </a:rPr>
              <a:t>Create an empty database</a:t>
            </a:r>
            <a:endParaRPr lang="en-US" sz="1400" dirty="0"/>
          </a:p>
        </p:txBody>
      </p:sp>
      <p:sp>
        <p:nvSpPr>
          <p:cNvPr id="11" name="step-card"/>
          <p:cNvSpPr/>
          <p:nvPr/>
        </p:nvSpPr>
        <p:spPr>
          <a:xfrm>
            <a:off x="3346704" y="4754880"/>
            <a:ext cx="2606040" cy="731520"/>
          </a:xfrm>
          <a:prstGeom prst="roundRect">
            <a:avLst>
              <a:gd name="adj" fmla="val 15000"/>
            </a:avLst>
          </a:prstGeom>
          <a:solidFill>
            <a:schemeClr val="bg2"/>
          </a:solidFill>
          <a:ln/>
        </p:spPr>
      </p:sp>
      <p:sp>
        <p:nvSpPr>
          <p:cNvPr id="12" name="step-number"/>
          <p:cNvSpPr txBox="1"/>
          <p:nvPr/>
        </p:nvSpPr>
        <p:spPr>
          <a:xfrm>
            <a:off x="3483864" y="4892040"/>
            <a:ext cx="457200" cy="45720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0"/>
          <p:cNvSpPr txBox="1"/>
          <p:nvPr/>
        </p:nvSpPr>
        <p:spPr>
          <a:xfrm>
            <a:off x="4078224" y="4754880"/>
            <a:ext cx="1783080" cy="731520"/>
          </a:xfrm>
          <a:prstGeom prst="rect">
            <a:avLst/>
          </a:prstGeom>
          <a:noFill/>
          <a:ln/>
        </p:spPr>
        <p:txBody>
          <a:bodyPr wrap="square" lIns="0" tIns="0" rIns="0" bIns="0" rtlCol="0" anchor="ctr"/>
          <a:lstStyle/>
          <a:p>
            <a:pPr indent="0" marL="0">
              <a:buNone/>
            </a:pPr>
            <a:r>
              <a:rPr lang="en-US" sz="1400" b="1" dirty="0">
                <a:solidFill>
                  <a:schemeClr val="tx2"/>
                </a:solidFill>
              </a:rPr>
              <a:t>pip install the driver</a:t>
            </a:r>
            <a:endParaRPr lang="en-US" sz="1400" dirty="0"/>
          </a:p>
        </p:txBody>
      </p:sp>
      <p:sp>
        <p:nvSpPr>
          <p:cNvPr id="14" name="step-card"/>
          <p:cNvSpPr/>
          <p:nvPr/>
        </p:nvSpPr>
        <p:spPr>
          <a:xfrm>
            <a:off x="6144768" y="4754880"/>
            <a:ext cx="2606040" cy="731520"/>
          </a:xfrm>
          <a:prstGeom prst="roundRect">
            <a:avLst>
              <a:gd name="adj" fmla="val 15000"/>
            </a:avLst>
          </a:prstGeom>
          <a:solidFill>
            <a:schemeClr val="bg2"/>
          </a:solidFill>
          <a:ln/>
        </p:spPr>
      </p:sp>
      <p:sp>
        <p:nvSpPr>
          <p:cNvPr id="15" name="step-number"/>
          <p:cNvSpPr txBox="1"/>
          <p:nvPr/>
        </p:nvSpPr>
        <p:spPr>
          <a:xfrm>
            <a:off x="6281928" y="4892040"/>
            <a:ext cx="457200" cy="45720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3"/>
          <p:cNvSpPr txBox="1"/>
          <p:nvPr/>
        </p:nvSpPr>
        <p:spPr>
          <a:xfrm>
            <a:off x="6876288" y="4754880"/>
            <a:ext cx="1783080" cy="731520"/>
          </a:xfrm>
          <a:prstGeom prst="rect">
            <a:avLst/>
          </a:prstGeom>
          <a:noFill/>
          <a:ln/>
        </p:spPr>
        <p:txBody>
          <a:bodyPr wrap="square" lIns="0" tIns="0" rIns="0" bIns="0" rtlCol="0" anchor="ctr"/>
          <a:lstStyle/>
          <a:p>
            <a:pPr indent="0" marL="0">
              <a:buNone/>
            </a:pPr>
            <a:r>
              <a:rPr lang="en-US" sz="1400" b="1" dirty="0">
                <a:solidFill>
                  <a:schemeClr val="tx2"/>
                </a:solidFill>
              </a:rPr>
              <a:t>Edit DATABASES</a:t>
            </a:r>
            <a:endParaRPr lang="en-US" sz="1400" dirty="0"/>
          </a:p>
        </p:txBody>
      </p:sp>
      <p:sp>
        <p:nvSpPr>
          <p:cNvPr id="17" name="step-card"/>
          <p:cNvSpPr/>
          <p:nvPr/>
        </p:nvSpPr>
        <p:spPr>
          <a:xfrm>
            <a:off x="8942832" y="4754880"/>
            <a:ext cx="2606040" cy="731520"/>
          </a:xfrm>
          <a:prstGeom prst="roundRect">
            <a:avLst>
              <a:gd name="adj" fmla="val 15000"/>
            </a:avLst>
          </a:prstGeom>
          <a:solidFill>
            <a:schemeClr val="bg2"/>
          </a:solidFill>
          <a:ln/>
        </p:spPr>
      </p:sp>
      <p:sp>
        <p:nvSpPr>
          <p:cNvPr id="18" name="step-number"/>
          <p:cNvSpPr txBox="1"/>
          <p:nvPr/>
        </p:nvSpPr>
        <p:spPr>
          <a:xfrm>
            <a:off x="9079992" y="4892040"/>
            <a:ext cx="457200" cy="45720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Text 16"/>
          <p:cNvSpPr txBox="1"/>
          <p:nvPr/>
        </p:nvSpPr>
        <p:spPr>
          <a:xfrm>
            <a:off x="9674352" y="4754880"/>
            <a:ext cx="1783080" cy="731520"/>
          </a:xfrm>
          <a:prstGeom prst="rect">
            <a:avLst/>
          </a:prstGeom>
          <a:noFill/>
          <a:ln/>
        </p:spPr>
        <p:txBody>
          <a:bodyPr wrap="square" lIns="0" tIns="0" rIns="0" bIns="0" rtlCol="0" anchor="ctr"/>
          <a:lstStyle/>
          <a:p>
            <a:pPr indent="0" marL="0">
              <a:buNone/>
            </a:pPr>
            <a:r>
              <a:rPr lang="en-US" sz="1400" b="1" dirty="0">
                <a:solidFill>
                  <a:schemeClr val="tx2"/>
                </a:solidFill>
              </a:rPr>
              <a:t>python manage.py migrate</a:t>
            </a:r>
            <a:endParaRPr lang="en-US" sz="1400" dirty="0"/>
          </a:p>
        </p:txBody>
      </p:sp>
      <p:sp>
        <p:nvSpPr>
          <p:cNvPr id="20" name="Text 17"/>
          <p:cNvSpPr txBox="1"/>
          <p:nvPr/>
        </p:nvSpPr>
        <p:spPr>
          <a:xfrm>
            <a:off x="548640" y="5715000"/>
            <a:ext cx="11091672" cy="365760"/>
          </a:xfrm>
          <a:prstGeom prst="rect">
            <a:avLst/>
          </a:prstGeom>
          <a:noFill/>
          <a:ln/>
        </p:spPr>
        <p:txBody>
          <a:bodyPr wrap="square" lIns="0" tIns="0" rIns="0" bIns="0" rtlCol="0" anchor="t"/>
          <a:lstStyle/>
          <a:p>
            <a:pPr indent="0" marL="0">
              <a:buNone/>
            </a:pPr>
            <a:r>
              <a:rPr lang="en-US" sz="1500" dirty="0">
                <a:solidFill>
                  <a:schemeClr val="tx1"/>
                </a:solidFill>
              </a:rPr>
              <a:t>Models, views and admin do not change. Keep real passwords in environment variables, not in Git.</a:t>
            </a:r>
            <a:endParaRPr lang="en-US" sz="15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rPr>
              <a:t>Real-world use of Django</a:t>
            </a:r>
            <a:endParaRPr lang="en-US" sz="3600" dirty="0"/>
          </a:p>
        </p:txBody>
      </p:sp>
      <p:sp>
        <p:nvSpPr>
          <p:cNvPr id="4" name="company-card"/>
          <p:cNvSpPr/>
          <p:nvPr/>
        </p:nvSpPr>
        <p:spPr>
          <a:xfrm>
            <a:off x="548640" y="1417320"/>
            <a:ext cx="1783080" cy="1143000"/>
          </a:xfrm>
          <a:prstGeom prst="roundRect">
            <a:avLst>
              <a:gd name="adj" fmla="val 9600"/>
            </a:avLst>
          </a:prstGeom>
          <a:solidFill>
            <a:schemeClr val="bg2"/>
          </a:solidFill>
          <a:ln/>
        </p:spPr>
      </p:sp>
      <p:sp>
        <p:nvSpPr>
          <p:cNvPr id="5" name="Text 2"/>
          <p:cNvSpPr txBox="1"/>
          <p:nvPr/>
        </p:nvSpPr>
        <p:spPr>
          <a:xfrm>
            <a:off x="658368" y="1600200"/>
            <a:ext cx="1563624" cy="411480"/>
          </a:xfrm>
          <a:prstGeom prst="rect">
            <a:avLst/>
          </a:prstGeom>
          <a:noFill/>
          <a:ln/>
        </p:spPr>
        <p:txBody>
          <a:bodyPr wrap="square" lIns="0" tIns="0" rIns="0" bIns="0" rtlCol="0" anchor="t"/>
          <a:lstStyle/>
          <a:p>
            <a:pPr algn="ctr" indent="0" marL="0">
              <a:buNone/>
            </a:pPr>
            <a:r>
              <a:rPr lang="en-US" sz="1700" b="1" dirty="0">
                <a:solidFill>
                  <a:schemeClr val="tx2"/>
                </a:solidFill>
              </a:rPr>
              <a:t>Instagram</a:t>
            </a:r>
            <a:endParaRPr lang="en-US" sz="1700" dirty="0"/>
          </a:p>
        </p:txBody>
      </p:sp>
      <p:sp>
        <p:nvSpPr>
          <p:cNvPr id="6" name="Text 3"/>
          <p:cNvSpPr txBox="1"/>
          <p:nvPr/>
        </p:nvSpPr>
        <p:spPr>
          <a:xfrm>
            <a:off x="658368" y="2057400"/>
            <a:ext cx="1563624" cy="411480"/>
          </a:xfrm>
          <a:prstGeom prst="rect">
            <a:avLst/>
          </a:prstGeom>
          <a:noFill/>
          <a:ln/>
        </p:spPr>
        <p:txBody>
          <a:bodyPr wrap="square" lIns="0" tIns="0" rIns="0" bIns="0" rtlCol="0" anchor="t"/>
          <a:lstStyle/>
          <a:p>
            <a:pPr algn="ctr" indent="0" marL="0">
              <a:buNone/>
            </a:pPr>
            <a:r>
              <a:rPr lang="en-US" sz="1300" dirty="0">
                <a:solidFill>
                  <a:schemeClr val="accent5"/>
                </a:solidFill>
              </a:rPr>
              <a:t>photo sharing</a:t>
            </a:r>
            <a:endParaRPr lang="en-US" sz="1300" dirty="0"/>
          </a:p>
        </p:txBody>
      </p:sp>
      <p:sp>
        <p:nvSpPr>
          <p:cNvPr id="7" name="company-card"/>
          <p:cNvSpPr/>
          <p:nvPr/>
        </p:nvSpPr>
        <p:spPr>
          <a:xfrm>
            <a:off x="2468880" y="1417320"/>
            <a:ext cx="1783080" cy="1143000"/>
          </a:xfrm>
          <a:prstGeom prst="roundRect">
            <a:avLst>
              <a:gd name="adj" fmla="val 9600"/>
            </a:avLst>
          </a:prstGeom>
          <a:solidFill>
            <a:schemeClr val="bg2"/>
          </a:solidFill>
          <a:ln/>
        </p:spPr>
      </p:sp>
      <p:sp>
        <p:nvSpPr>
          <p:cNvPr id="8" name="Text 5"/>
          <p:cNvSpPr txBox="1"/>
          <p:nvPr/>
        </p:nvSpPr>
        <p:spPr>
          <a:xfrm>
            <a:off x="2578608" y="1600200"/>
            <a:ext cx="1563624" cy="411480"/>
          </a:xfrm>
          <a:prstGeom prst="rect">
            <a:avLst/>
          </a:prstGeom>
          <a:noFill/>
          <a:ln/>
        </p:spPr>
        <p:txBody>
          <a:bodyPr wrap="square" lIns="0" tIns="0" rIns="0" bIns="0" rtlCol="0" anchor="t"/>
          <a:lstStyle/>
          <a:p>
            <a:pPr algn="ctr" indent="0" marL="0">
              <a:buNone/>
            </a:pPr>
            <a:r>
              <a:rPr lang="en-US" sz="1700" b="1" dirty="0">
                <a:solidFill>
                  <a:schemeClr val="tx2"/>
                </a:solidFill>
              </a:rPr>
              <a:t>Pinterest</a:t>
            </a:r>
            <a:endParaRPr lang="en-US" sz="1700" dirty="0"/>
          </a:p>
        </p:txBody>
      </p:sp>
      <p:sp>
        <p:nvSpPr>
          <p:cNvPr id="9" name="Text 6"/>
          <p:cNvSpPr txBox="1"/>
          <p:nvPr/>
        </p:nvSpPr>
        <p:spPr>
          <a:xfrm>
            <a:off x="2578608" y="2057400"/>
            <a:ext cx="1563624" cy="411480"/>
          </a:xfrm>
          <a:prstGeom prst="rect">
            <a:avLst/>
          </a:prstGeom>
          <a:noFill/>
          <a:ln/>
        </p:spPr>
        <p:txBody>
          <a:bodyPr wrap="square" lIns="0" tIns="0" rIns="0" bIns="0" rtlCol="0" anchor="t"/>
          <a:lstStyle/>
          <a:p>
            <a:pPr algn="ctr" indent="0" marL="0">
              <a:buNone/>
            </a:pPr>
            <a:r>
              <a:rPr lang="en-US" sz="1300" dirty="0">
                <a:solidFill>
                  <a:schemeClr val="accent5"/>
                </a:solidFill>
              </a:rPr>
              <a:t>social discovery</a:t>
            </a:r>
            <a:endParaRPr lang="en-US" sz="1300" dirty="0"/>
          </a:p>
        </p:txBody>
      </p:sp>
      <p:sp>
        <p:nvSpPr>
          <p:cNvPr id="10" name="company-card"/>
          <p:cNvSpPr/>
          <p:nvPr/>
        </p:nvSpPr>
        <p:spPr>
          <a:xfrm>
            <a:off x="4389120" y="1417320"/>
            <a:ext cx="1783080" cy="1143000"/>
          </a:xfrm>
          <a:prstGeom prst="roundRect">
            <a:avLst>
              <a:gd name="adj" fmla="val 9600"/>
            </a:avLst>
          </a:prstGeom>
          <a:solidFill>
            <a:schemeClr val="bg2"/>
          </a:solidFill>
          <a:ln/>
        </p:spPr>
      </p:sp>
      <p:sp>
        <p:nvSpPr>
          <p:cNvPr id="11" name="Text 8"/>
          <p:cNvSpPr txBox="1"/>
          <p:nvPr/>
        </p:nvSpPr>
        <p:spPr>
          <a:xfrm>
            <a:off x="4498848" y="1600200"/>
            <a:ext cx="1563624" cy="411480"/>
          </a:xfrm>
          <a:prstGeom prst="rect">
            <a:avLst/>
          </a:prstGeom>
          <a:noFill/>
          <a:ln/>
        </p:spPr>
        <p:txBody>
          <a:bodyPr wrap="square" lIns="0" tIns="0" rIns="0" bIns="0" rtlCol="0" anchor="t"/>
          <a:lstStyle/>
          <a:p>
            <a:pPr algn="ctr" indent="0" marL="0">
              <a:buNone/>
            </a:pPr>
            <a:r>
              <a:rPr lang="en-US" sz="1700" b="1" dirty="0">
                <a:solidFill>
                  <a:schemeClr val="tx2"/>
                </a:solidFill>
              </a:rPr>
              <a:t>Mozilla</a:t>
            </a:r>
            <a:endParaRPr lang="en-US" sz="1700" dirty="0"/>
          </a:p>
        </p:txBody>
      </p:sp>
      <p:sp>
        <p:nvSpPr>
          <p:cNvPr id="12" name="Text 9"/>
          <p:cNvSpPr txBox="1"/>
          <p:nvPr/>
        </p:nvSpPr>
        <p:spPr>
          <a:xfrm>
            <a:off x="4498848" y="2057400"/>
            <a:ext cx="1563624" cy="411480"/>
          </a:xfrm>
          <a:prstGeom prst="rect">
            <a:avLst/>
          </a:prstGeom>
          <a:noFill/>
          <a:ln/>
        </p:spPr>
        <p:txBody>
          <a:bodyPr wrap="square" lIns="0" tIns="0" rIns="0" bIns="0" rtlCol="0" anchor="t"/>
          <a:lstStyle/>
          <a:p>
            <a:pPr algn="ctr" indent="0" marL="0">
              <a:buNone/>
            </a:pPr>
            <a:r>
              <a:rPr lang="en-US" sz="1300" dirty="0">
                <a:solidFill>
                  <a:schemeClr val="accent5"/>
                </a:solidFill>
              </a:rPr>
              <a:t>web and support sites</a:t>
            </a:r>
            <a:endParaRPr lang="en-US" sz="1300" dirty="0"/>
          </a:p>
        </p:txBody>
      </p:sp>
      <p:sp>
        <p:nvSpPr>
          <p:cNvPr id="13" name="company-card"/>
          <p:cNvSpPr/>
          <p:nvPr/>
        </p:nvSpPr>
        <p:spPr>
          <a:xfrm>
            <a:off x="548640" y="2697480"/>
            <a:ext cx="1783080" cy="1143000"/>
          </a:xfrm>
          <a:prstGeom prst="roundRect">
            <a:avLst>
              <a:gd name="adj" fmla="val 9600"/>
            </a:avLst>
          </a:prstGeom>
          <a:solidFill>
            <a:schemeClr val="bg2"/>
          </a:solidFill>
          <a:ln/>
        </p:spPr>
      </p:sp>
      <p:sp>
        <p:nvSpPr>
          <p:cNvPr id="14" name="Text 11"/>
          <p:cNvSpPr txBox="1"/>
          <p:nvPr/>
        </p:nvSpPr>
        <p:spPr>
          <a:xfrm>
            <a:off x="658368" y="2880360"/>
            <a:ext cx="1563624" cy="411480"/>
          </a:xfrm>
          <a:prstGeom prst="rect">
            <a:avLst/>
          </a:prstGeom>
          <a:noFill/>
          <a:ln/>
        </p:spPr>
        <p:txBody>
          <a:bodyPr wrap="square" lIns="0" tIns="0" rIns="0" bIns="0" rtlCol="0" anchor="t"/>
          <a:lstStyle/>
          <a:p>
            <a:pPr algn="ctr" indent="0" marL="0">
              <a:buNone/>
            </a:pPr>
            <a:r>
              <a:rPr lang="en-US" sz="1700" b="1" dirty="0">
                <a:solidFill>
                  <a:schemeClr val="tx2"/>
                </a:solidFill>
              </a:rPr>
              <a:t>Disqus</a:t>
            </a:r>
            <a:endParaRPr lang="en-US" sz="1700" dirty="0"/>
          </a:p>
        </p:txBody>
      </p:sp>
      <p:sp>
        <p:nvSpPr>
          <p:cNvPr id="15" name="Text 12"/>
          <p:cNvSpPr txBox="1"/>
          <p:nvPr/>
        </p:nvSpPr>
        <p:spPr>
          <a:xfrm>
            <a:off x="658368" y="3337560"/>
            <a:ext cx="1563624" cy="411480"/>
          </a:xfrm>
          <a:prstGeom prst="rect">
            <a:avLst/>
          </a:prstGeom>
          <a:noFill/>
          <a:ln/>
        </p:spPr>
        <p:txBody>
          <a:bodyPr wrap="square" lIns="0" tIns="0" rIns="0" bIns="0" rtlCol="0" anchor="t"/>
          <a:lstStyle/>
          <a:p>
            <a:pPr algn="ctr" indent="0" marL="0">
              <a:buNone/>
            </a:pPr>
            <a:r>
              <a:rPr lang="en-US" sz="1300" dirty="0">
                <a:solidFill>
                  <a:schemeClr val="accent5"/>
                </a:solidFill>
              </a:rPr>
              <a:t>comments platform</a:t>
            </a:r>
            <a:endParaRPr lang="en-US" sz="1300" dirty="0"/>
          </a:p>
        </p:txBody>
      </p:sp>
      <p:sp>
        <p:nvSpPr>
          <p:cNvPr id="16" name="company-card"/>
          <p:cNvSpPr/>
          <p:nvPr/>
        </p:nvSpPr>
        <p:spPr>
          <a:xfrm>
            <a:off x="2468880" y="2697480"/>
            <a:ext cx="1783080" cy="1143000"/>
          </a:xfrm>
          <a:prstGeom prst="roundRect">
            <a:avLst>
              <a:gd name="adj" fmla="val 9600"/>
            </a:avLst>
          </a:prstGeom>
          <a:solidFill>
            <a:schemeClr val="bg2"/>
          </a:solidFill>
          <a:ln/>
        </p:spPr>
      </p:sp>
      <p:sp>
        <p:nvSpPr>
          <p:cNvPr id="17" name="Text 14"/>
          <p:cNvSpPr txBox="1"/>
          <p:nvPr/>
        </p:nvSpPr>
        <p:spPr>
          <a:xfrm>
            <a:off x="2578608" y="2880360"/>
            <a:ext cx="1563624" cy="411480"/>
          </a:xfrm>
          <a:prstGeom prst="rect">
            <a:avLst/>
          </a:prstGeom>
          <a:noFill/>
          <a:ln/>
        </p:spPr>
        <p:txBody>
          <a:bodyPr wrap="square" lIns="0" tIns="0" rIns="0" bIns="0" rtlCol="0" anchor="t"/>
          <a:lstStyle/>
          <a:p>
            <a:pPr algn="ctr" indent="0" marL="0">
              <a:buNone/>
            </a:pPr>
            <a:r>
              <a:rPr lang="en-US" sz="1700" b="1" dirty="0">
                <a:solidFill>
                  <a:schemeClr val="tx2"/>
                </a:solidFill>
              </a:rPr>
              <a:t>Eventbrite</a:t>
            </a:r>
            <a:endParaRPr lang="en-US" sz="1700" dirty="0"/>
          </a:p>
        </p:txBody>
      </p:sp>
      <p:sp>
        <p:nvSpPr>
          <p:cNvPr id="18" name="Text 15"/>
          <p:cNvSpPr txBox="1"/>
          <p:nvPr/>
        </p:nvSpPr>
        <p:spPr>
          <a:xfrm>
            <a:off x="2578608" y="3337560"/>
            <a:ext cx="1563624" cy="411480"/>
          </a:xfrm>
          <a:prstGeom prst="rect">
            <a:avLst/>
          </a:prstGeom>
          <a:noFill/>
          <a:ln/>
        </p:spPr>
        <p:txBody>
          <a:bodyPr wrap="square" lIns="0" tIns="0" rIns="0" bIns="0" rtlCol="0" anchor="t"/>
          <a:lstStyle/>
          <a:p>
            <a:pPr algn="ctr" indent="0" marL="0">
              <a:buNone/>
            </a:pPr>
            <a:r>
              <a:rPr lang="en-US" sz="1300" dirty="0">
                <a:solidFill>
                  <a:schemeClr val="accent5"/>
                </a:solidFill>
              </a:rPr>
              <a:t>event ticketing</a:t>
            </a:r>
            <a:endParaRPr lang="en-US" sz="1300" dirty="0"/>
          </a:p>
        </p:txBody>
      </p:sp>
      <p:sp>
        <p:nvSpPr>
          <p:cNvPr id="19" name="company-card"/>
          <p:cNvSpPr/>
          <p:nvPr/>
        </p:nvSpPr>
        <p:spPr>
          <a:xfrm>
            <a:off x="4389120" y="2697480"/>
            <a:ext cx="1783080" cy="1143000"/>
          </a:xfrm>
          <a:prstGeom prst="roundRect">
            <a:avLst>
              <a:gd name="adj" fmla="val 9600"/>
            </a:avLst>
          </a:prstGeom>
          <a:solidFill>
            <a:schemeClr val="bg2"/>
          </a:solidFill>
          <a:ln/>
        </p:spPr>
      </p:sp>
      <p:sp>
        <p:nvSpPr>
          <p:cNvPr id="20" name="Text 17"/>
          <p:cNvSpPr txBox="1"/>
          <p:nvPr/>
        </p:nvSpPr>
        <p:spPr>
          <a:xfrm>
            <a:off x="4498848" y="2880360"/>
            <a:ext cx="1563624" cy="411480"/>
          </a:xfrm>
          <a:prstGeom prst="rect">
            <a:avLst/>
          </a:prstGeom>
          <a:noFill/>
          <a:ln/>
        </p:spPr>
        <p:txBody>
          <a:bodyPr wrap="square" lIns="0" tIns="0" rIns="0" bIns="0" rtlCol="0" anchor="t"/>
          <a:lstStyle/>
          <a:p>
            <a:pPr algn="ctr" indent="0" marL="0">
              <a:buNone/>
            </a:pPr>
            <a:r>
              <a:rPr lang="en-US" sz="1700" b="1" dirty="0">
                <a:solidFill>
                  <a:schemeClr val="tx2"/>
                </a:solidFill>
              </a:rPr>
              <a:t>Washington Post</a:t>
            </a:r>
            <a:endParaRPr lang="en-US" sz="1700" dirty="0"/>
          </a:p>
        </p:txBody>
      </p:sp>
      <p:sp>
        <p:nvSpPr>
          <p:cNvPr id="21" name="Text 18"/>
          <p:cNvSpPr txBox="1"/>
          <p:nvPr/>
        </p:nvSpPr>
        <p:spPr>
          <a:xfrm>
            <a:off x="4498848" y="3337560"/>
            <a:ext cx="1563624" cy="411480"/>
          </a:xfrm>
          <a:prstGeom prst="rect">
            <a:avLst/>
          </a:prstGeom>
          <a:noFill/>
          <a:ln/>
        </p:spPr>
        <p:txBody>
          <a:bodyPr wrap="square" lIns="0" tIns="0" rIns="0" bIns="0" rtlCol="0" anchor="t"/>
          <a:lstStyle/>
          <a:p>
            <a:pPr algn="ctr" indent="0" marL="0">
              <a:buNone/>
            </a:pPr>
            <a:r>
              <a:rPr lang="en-US" sz="1300" dirty="0">
                <a:solidFill>
                  <a:schemeClr val="accent5"/>
                </a:solidFill>
              </a:rPr>
              <a:t>news publishing</a:t>
            </a:r>
            <a:endParaRPr lang="en-US" sz="1300" dirty="0"/>
          </a:p>
        </p:txBody>
      </p:sp>
      <p:sp>
        <p:nvSpPr>
          <p:cNvPr id="22" name="why-card"/>
          <p:cNvSpPr/>
          <p:nvPr/>
        </p:nvSpPr>
        <p:spPr>
          <a:xfrm>
            <a:off x="548640" y="4114800"/>
            <a:ext cx="5623560" cy="1920240"/>
          </a:xfrm>
          <a:prstGeom prst="roundRect">
            <a:avLst>
              <a:gd name="adj" fmla="val 5714"/>
            </a:avLst>
          </a:prstGeom>
          <a:solidFill>
            <a:schemeClr val="tx2"/>
          </a:solidFill>
          <a:ln/>
        </p:spPr>
      </p:sp>
      <p:sp>
        <p:nvSpPr>
          <p:cNvPr id="23" name="Text 20"/>
          <p:cNvSpPr txBox="1"/>
          <p:nvPr/>
        </p:nvSpPr>
        <p:spPr>
          <a:xfrm>
            <a:off x="822960" y="4251960"/>
            <a:ext cx="5120640" cy="365760"/>
          </a:xfrm>
          <a:prstGeom prst="rect">
            <a:avLst/>
          </a:prstGeom>
          <a:noFill/>
          <a:ln/>
        </p:spPr>
        <p:txBody>
          <a:bodyPr wrap="square" lIns="0" tIns="0" rIns="0" bIns="0" rtlCol="0" anchor="t"/>
          <a:lstStyle/>
          <a:p>
            <a:pPr indent="0" marL="0">
              <a:buNone/>
            </a:pPr>
            <a:r>
              <a:rPr lang="en-US" sz="2000" b="1" dirty="0">
                <a:solidFill>
                  <a:schemeClr val="bg1"/>
                </a:solidFill>
              </a:rPr>
              <a:t>Why teams choose Django</a:t>
            </a:r>
            <a:endParaRPr lang="en-US" sz="2000" dirty="0"/>
          </a:p>
        </p:txBody>
      </p:sp>
      <p:sp>
        <p:nvSpPr>
          <p:cNvPr id="24" name="Text 21"/>
          <p:cNvSpPr txBox="1"/>
          <p:nvPr/>
        </p:nvSpPr>
        <p:spPr>
          <a:xfrm>
            <a:off x="822960" y="4709160"/>
            <a:ext cx="5120640" cy="1188720"/>
          </a:xfrm>
          <a:prstGeom prst="rect">
            <a:avLst/>
          </a:prstGeom>
          <a:noFill/>
          <a:ln/>
        </p:spPr>
        <p:txBody>
          <a:bodyPr wrap="square" lIns="0" tIns="0" rIns="0" bIns="0" rtlCol="0" anchor="t"/>
          <a:lstStyle/>
          <a:p>
            <a:pPr indent="0" marL="0">
              <a:buNone/>
            </a:pPr>
            <a:r>
              <a:rPr lang="en-US" sz="1600" dirty="0">
                <a:solidFill>
                  <a:schemeClr val="bg1"/>
                </a:solidFill>
              </a:rPr>
              <a:t>Fast development, strong security defaults, proven scaling and a huge community.</a:t>
            </a:r>
            <a:endParaRPr lang="en-US" sz="1600" dirty="0"/>
          </a:p>
        </p:txBody>
      </p:sp>
      <p:sp>
        <p:nvSpPr>
          <p:cNvPr id="25" name="icon-circle"/>
          <p:cNvSpPr/>
          <p:nvPr/>
        </p:nvSpPr>
        <p:spPr>
          <a:xfrm>
            <a:off x="6675120" y="1463040"/>
            <a:ext cx="640080" cy="640080"/>
          </a:xfrm>
          <a:prstGeom prst="ellipse">
            <a:avLst/>
          </a:prstGeom>
          <a:solidFill>
            <a:schemeClr val="tx2"/>
          </a:solidFill>
          <a:ln/>
        </p:spPr>
      </p:sp>
      <p:pic>
        <p:nvPicPr>
          <p:cNvPr id="26" name="Image 0" descr="preencoded.png">    </p:cNvPr>
          <p:cNvPicPr>
            <a:picLocks noChangeAspect="1"/>
          </p:cNvPicPr>
          <p:nvPr/>
        </p:nvPicPr>
        <p:blipFill>
          <a:blip r:embed="rId1"/>
          <a:stretch>
            <a:fillRect/>
          </a:stretch>
        </p:blipFill>
        <p:spPr>
          <a:xfrm>
            <a:off x="6835140" y="1623060"/>
            <a:ext cx="320040" cy="320040"/>
          </a:xfrm>
          <a:prstGeom prst="rect">
            <a:avLst/>
          </a:prstGeom>
        </p:spPr>
      </p:pic>
      <p:sp>
        <p:nvSpPr>
          <p:cNvPr id="27" name="Text 23"/>
          <p:cNvSpPr txBox="1"/>
          <p:nvPr/>
        </p:nvSpPr>
        <p:spPr>
          <a:xfrm>
            <a:off x="7543800" y="1417320"/>
            <a:ext cx="4069080" cy="731520"/>
          </a:xfrm>
          <a:prstGeom prst="rect">
            <a:avLst/>
          </a:prstGeom>
          <a:noFill/>
          <a:ln/>
        </p:spPr>
        <p:txBody>
          <a:bodyPr wrap="square" lIns="0" tIns="0" rIns="0" bIns="0" rtlCol="0" anchor="ctr"/>
          <a:lstStyle/>
          <a:p>
            <a:pPr indent="0" marL="0">
              <a:buNone/>
            </a:pPr>
            <a:r>
              <a:rPr lang="en-US" sz="1700" dirty="0">
                <a:solidFill>
                  <a:schemeClr val="tx1"/>
                </a:solidFill>
              </a:rPr>
              <a:t>Social and community sites</a:t>
            </a:r>
            <a:endParaRPr lang="en-US" sz="1700" dirty="0"/>
          </a:p>
        </p:txBody>
      </p:sp>
      <p:sp>
        <p:nvSpPr>
          <p:cNvPr id="28" name="icon-circle"/>
          <p:cNvSpPr/>
          <p:nvPr/>
        </p:nvSpPr>
        <p:spPr>
          <a:xfrm>
            <a:off x="6675120" y="2395728"/>
            <a:ext cx="640080" cy="640080"/>
          </a:xfrm>
          <a:prstGeom prst="ellipse">
            <a:avLst/>
          </a:prstGeom>
          <a:solidFill>
            <a:schemeClr val="tx2"/>
          </a:solidFill>
          <a:ln/>
        </p:spPr>
      </p:sp>
      <p:pic>
        <p:nvPicPr>
          <p:cNvPr id="29" name="Image 1" descr="preencoded.png">    </p:cNvPr>
          <p:cNvPicPr>
            <a:picLocks noChangeAspect="1"/>
          </p:cNvPicPr>
          <p:nvPr/>
        </p:nvPicPr>
        <p:blipFill>
          <a:blip r:embed="rId2"/>
          <a:stretch>
            <a:fillRect/>
          </a:stretch>
        </p:blipFill>
        <p:spPr>
          <a:xfrm>
            <a:off x="6835140" y="2555748"/>
            <a:ext cx="320040" cy="320040"/>
          </a:xfrm>
          <a:prstGeom prst="rect">
            <a:avLst/>
          </a:prstGeom>
        </p:spPr>
      </p:pic>
      <p:sp>
        <p:nvSpPr>
          <p:cNvPr id="30" name="Text 25"/>
          <p:cNvSpPr txBox="1"/>
          <p:nvPr/>
        </p:nvSpPr>
        <p:spPr>
          <a:xfrm>
            <a:off x="7543800" y="2350008"/>
            <a:ext cx="4069080" cy="731520"/>
          </a:xfrm>
          <a:prstGeom prst="rect">
            <a:avLst/>
          </a:prstGeom>
          <a:noFill/>
          <a:ln/>
        </p:spPr>
        <p:txBody>
          <a:bodyPr wrap="square" lIns="0" tIns="0" rIns="0" bIns="0" rtlCol="0" anchor="ctr"/>
          <a:lstStyle/>
          <a:p>
            <a:pPr indent="0" marL="0">
              <a:buNone/>
            </a:pPr>
            <a:r>
              <a:rPr lang="en-US" sz="1700" dirty="0">
                <a:solidFill>
                  <a:schemeClr val="tx1"/>
                </a:solidFill>
              </a:rPr>
              <a:t>News and content management</a:t>
            </a:r>
            <a:endParaRPr lang="en-US" sz="1700" dirty="0"/>
          </a:p>
        </p:txBody>
      </p:sp>
      <p:sp>
        <p:nvSpPr>
          <p:cNvPr id="31" name="icon-circle"/>
          <p:cNvSpPr/>
          <p:nvPr/>
        </p:nvSpPr>
        <p:spPr>
          <a:xfrm>
            <a:off x="6675120" y="3328416"/>
            <a:ext cx="640080" cy="640080"/>
          </a:xfrm>
          <a:prstGeom prst="ellipse">
            <a:avLst/>
          </a:prstGeom>
          <a:solidFill>
            <a:schemeClr val="tx2"/>
          </a:solidFill>
          <a:ln/>
        </p:spPr>
      </p:sp>
      <p:pic>
        <p:nvPicPr>
          <p:cNvPr id="32" name="Image 2" descr="preencoded.png">    </p:cNvPr>
          <p:cNvPicPr>
            <a:picLocks noChangeAspect="1"/>
          </p:cNvPicPr>
          <p:nvPr/>
        </p:nvPicPr>
        <p:blipFill>
          <a:blip r:embed="rId3"/>
          <a:stretch>
            <a:fillRect/>
          </a:stretch>
        </p:blipFill>
        <p:spPr>
          <a:xfrm>
            <a:off x="6835140" y="3488436"/>
            <a:ext cx="320040" cy="320040"/>
          </a:xfrm>
          <a:prstGeom prst="rect">
            <a:avLst/>
          </a:prstGeom>
        </p:spPr>
      </p:pic>
      <p:sp>
        <p:nvSpPr>
          <p:cNvPr id="33" name="Text 27"/>
          <p:cNvSpPr txBox="1"/>
          <p:nvPr/>
        </p:nvSpPr>
        <p:spPr>
          <a:xfrm>
            <a:off x="7543800" y="3282696"/>
            <a:ext cx="4069080" cy="731520"/>
          </a:xfrm>
          <a:prstGeom prst="rect">
            <a:avLst/>
          </a:prstGeom>
          <a:noFill/>
          <a:ln/>
        </p:spPr>
        <p:txBody>
          <a:bodyPr wrap="square" lIns="0" tIns="0" rIns="0" bIns="0" rtlCol="0" anchor="ctr"/>
          <a:lstStyle/>
          <a:p>
            <a:pPr indent="0" marL="0">
              <a:buNone/>
            </a:pPr>
            <a:r>
              <a:rPr lang="en-US" sz="1700" dirty="0">
                <a:solidFill>
                  <a:schemeClr val="tx1"/>
                </a:solidFill>
              </a:rPr>
              <a:t>E-commerce and booking</a:t>
            </a:r>
            <a:endParaRPr lang="en-US" sz="1700" dirty="0"/>
          </a:p>
        </p:txBody>
      </p:sp>
      <p:sp>
        <p:nvSpPr>
          <p:cNvPr id="34" name="icon-circle"/>
          <p:cNvSpPr/>
          <p:nvPr/>
        </p:nvSpPr>
        <p:spPr>
          <a:xfrm>
            <a:off x="6675120" y="4261104"/>
            <a:ext cx="640080" cy="640080"/>
          </a:xfrm>
          <a:prstGeom prst="ellipse">
            <a:avLst/>
          </a:prstGeom>
          <a:solidFill>
            <a:schemeClr val="tx2"/>
          </a:solidFill>
          <a:ln/>
        </p:spPr>
      </p:sp>
      <p:pic>
        <p:nvPicPr>
          <p:cNvPr id="35" name="Image 3" descr="preencoded.png">    </p:cNvPr>
          <p:cNvPicPr>
            <a:picLocks noChangeAspect="1"/>
          </p:cNvPicPr>
          <p:nvPr/>
        </p:nvPicPr>
        <p:blipFill>
          <a:blip r:embed="rId4"/>
          <a:stretch>
            <a:fillRect/>
          </a:stretch>
        </p:blipFill>
        <p:spPr>
          <a:xfrm>
            <a:off x="6835140" y="4421124"/>
            <a:ext cx="320040" cy="320040"/>
          </a:xfrm>
          <a:prstGeom prst="rect">
            <a:avLst/>
          </a:prstGeom>
        </p:spPr>
      </p:pic>
      <p:sp>
        <p:nvSpPr>
          <p:cNvPr id="36" name="Text 29"/>
          <p:cNvSpPr txBox="1"/>
          <p:nvPr/>
        </p:nvSpPr>
        <p:spPr>
          <a:xfrm>
            <a:off x="7543800" y="4215384"/>
            <a:ext cx="4069080" cy="731520"/>
          </a:xfrm>
          <a:prstGeom prst="rect">
            <a:avLst/>
          </a:prstGeom>
          <a:noFill/>
          <a:ln/>
        </p:spPr>
        <p:txBody>
          <a:bodyPr wrap="square" lIns="0" tIns="0" rIns="0" bIns="0" rtlCol="0" anchor="ctr"/>
          <a:lstStyle/>
          <a:p>
            <a:pPr indent="0" marL="0">
              <a:buNone/>
            </a:pPr>
            <a:r>
              <a:rPr lang="en-US" sz="1700" dirty="0">
                <a:solidFill>
                  <a:schemeClr val="tx1"/>
                </a:solidFill>
              </a:rPr>
              <a:t>REST back-ends for React and mobile apps</a:t>
            </a:r>
            <a:endParaRPr lang="en-US" sz="1700" dirty="0"/>
          </a:p>
        </p:txBody>
      </p:sp>
      <p:sp>
        <p:nvSpPr>
          <p:cNvPr id="37" name="icon-circle"/>
          <p:cNvSpPr/>
          <p:nvPr/>
        </p:nvSpPr>
        <p:spPr>
          <a:xfrm>
            <a:off x="6675120" y="5193792"/>
            <a:ext cx="640080" cy="640080"/>
          </a:xfrm>
          <a:prstGeom prst="ellipse">
            <a:avLst/>
          </a:prstGeom>
          <a:solidFill>
            <a:schemeClr val="tx2"/>
          </a:solidFill>
          <a:ln/>
        </p:spPr>
      </p:sp>
      <p:pic>
        <p:nvPicPr>
          <p:cNvPr id="38" name="Image 4" descr="preencoded.png">    </p:cNvPr>
          <p:cNvPicPr>
            <a:picLocks noChangeAspect="1"/>
          </p:cNvPicPr>
          <p:nvPr/>
        </p:nvPicPr>
        <p:blipFill>
          <a:blip r:embed="rId5"/>
          <a:stretch>
            <a:fillRect/>
          </a:stretch>
        </p:blipFill>
        <p:spPr>
          <a:xfrm>
            <a:off x="6835140" y="5353812"/>
            <a:ext cx="320040" cy="320040"/>
          </a:xfrm>
          <a:prstGeom prst="rect">
            <a:avLst/>
          </a:prstGeom>
        </p:spPr>
      </p:pic>
      <p:sp>
        <p:nvSpPr>
          <p:cNvPr id="39" name="Text 31"/>
          <p:cNvSpPr txBox="1"/>
          <p:nvPr/>
        </p:nvSpPr>
        <p:spPr>
          <a:xfrm>
            <a:off x="7543800" y="5148072"/>
            <a:ext cx="4069080" cy="731520"/>
          </a:xfrm>
          <a:prstGeom prst="rect">
            <a:avLst/>
          </a:prstGeom>
          <a:noFill/>
          <a:ln/>
        </p:spPr>
        <p:txBody>
          <a:bodyPr wrap="square" lIns="0" tIns="0" rIns="0" bIns="0" rtlCol="0" anchor="ctr"/>
          <a:lstStyle/>
          <a:p>
            <a:pPr indent="0" marL="0">
              <a:buNone/>
            </a:pPr>
            <a:r>
              <a:rPr lang="en-US" sz="1700" dirty="0">
                <a:solidFill>
                  <a:schemeClr val="tx1"/>
                </a:solidFill>
              </a:rPr>
              <a:t>Data and machine-learning dashboards</a:t>
            </a:r>
            <a:endParaRPr lang="en-US" sz="17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rPr>
              <a:t>Bonus: file and image handling</a:t>
            </a:r>
            <a:endParaRPr lang="en-US" sz="3600" dirty="0"/>
          </a:p>
        </p:txBody>
      </p:sp>
      <p:sp>
        <p:nvSpPr>
          <p:cNvPr id="4" name="badge"/>
          <p:cNvSpPr/>
          <p:nvPr/>
        </p:nvSpPr>
        <p:spPr>
          <a:xfrm>
            <a:off x="9006840" y="1371600"/>
            <a:ext cx="2633472" cy="457200"/>
          </a:xfrm>
          <a:prstGeom prst="roundRect">
            <a:avLst>
              <a:gd name="adj" fmla="val 24000"/>
            </a:avLst>
          </a:prstGeom>
          <a:solidFill>
            <a:schemeClr val="accent2"/>
          </a:solidFill>
          <a:ln/>
        </p:spPr>
      </p:sp>
      <p:sp>
        <p:nvSpPr>
          <p:cNvPr id="5" name="Text 2"/>
          <p:cNvSpPr txBox="1"/>
          <p:nvPr/>
        </p:nvSpPr>
        <p:spPr>
          <a:xfrm>
            <a:off x="9006840" y="1371600"/>
            <a:ext cx="2633472" cy="457200"/>
          </a:xfrm>
          <a:prstGeom prst="rect">
            <a:avLst/>
          </a:prstGeom>
          <a:noFill/>
          <a:ln/>
        </p:spPr>
        <p:txBody>
          <a:bodyPr wrap="square" lIns="0" tIns="0" rIns="0" bIns="0" rtlCol="0" anchor="ctr"/>
          <a:lstStyle/>
          <a:p>
            <a:pPr algn="ctr" indent="0" marL="0">
              <a:buNone/>
            </a:pPr>
            <a:r>
              <a:rPr lang="en-US" sz="1300" b="1" dirty="0">
                <a:solidFill>
                  <a:schemeClr val="accent6"/>
                </a:solidFill>
              </a:rPr>
              <a:t>BONUS - not covered today</a:t>
            </a:r>
            <a:endParaRPr lang="en-US" sz="1300" dirty="0"/>
          </a:p>
        </p:txBody>
      </p:sp>
      <p:sp>
        <p:nvSpPr>
          <p:cNvPr id="6" name="image-code"/>
          <p:cNvSpPr txBox="1"/>
          <p:nvPr/>
        </p:nvSpPr>
        <p:spPr>
          <a:xfrm>
            <a:off x="548640" y="1371600"/>
            <a:ext cx="5760720" cy="3566160"/>
          </a:xfrm>
          <a:prstGeom prst="roundRect">
            <a:avLst>
              <a:gd name="adj" fmla="val 2564"/>
            </a:avLst>
          </a:prstGeom>
          <a:solidFill>
            <a:schemeClr val="accent6"/>
          </a:solidFill>
          <a:ln/>
        </p:spPr>
        <p:txBody>
          <a:bodyPr wrap="square" lIns="152400" tIns="152400" rIns="152400" bIns="15240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 models.py</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image = models.ImageField(</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upload_to="item_images/",</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null=True, blank=True)</a:t>
            </a:r>
            <a:endParaRPr lang="en-US" sz="1400" dirty="0"/>
          </a:p>
          <a:p>
            <a:pPr indent="0" marL="0">
              <a:buNone/>
            </a:pP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settings.py</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MEDIA_ROOT = BASE_DIR / "media"</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MEDIA_URL = "media/"</a:t>
            </a:r>
            <a:endParaRPr lang="en-US" sz="1400" dirty="0"/>
          </a:p>
          <a:p>
            <a:pPr indent="0" marL="0">
              <a:buNone/>
            </a:pP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upload as multipart/form-data</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(use the admin or /api/items/)</a:t>
            </a:r>
            <a:endParaRPr lang="en-US" sz="1400" dirty="0"/>
          </a:p>
        </p:txBody>
      </p:sp>
      <p:sp>
        <p:nvSpPr>
          <p:cNvPr id="7" name="step-number"/>
          <p:cNvSpPr txBox="1"/>
          <p:nvPr/>
        </p:nvSpPr>
        <p:spPr>
          <a:xfrm>
            <a:off x="6583680" y="2057400"/>
            <a:ext cx="457200" cy="45720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7223760" y="1965960"/>
            <a:ext cx="4416552" cy="365760"/>
          </a:xfrm>
          <a:prstGeom prst="rect">
            <a:avLst/>
          </a:prstGeom>
          <a:noFill/>
          <a:ln/>
        </p:spPr>
        <p:txBody>
          <a:bodyPr wrap="square" lIns="0" tIns="0" rIns="0" bIns="0" rtlCol="0" anchor="t"/>
          <a:lstStyle/>
          <a:p>
            <a:pPr indent="0" marL="0">
              <a:buNone/>
            </a:pPr>
            <a:r>
              <a:rPr lang="en-US" sz="1700" b="1" dirty="0">
                <a:solidFill>
                  <a:schemeClr val="tx2"/>
                </a:solidFill>
              </a:rPr>
              <a:t>pip install pillow</a:t>
            </a:r>
            <a:endParaRPr lang="en-US" sz="1700" dirty="0"/>
          </a:p>
        </p:txBody>
      </p:sp>
      <p:sp>
        <p:nvSpPr>
          <p:cNvPr id="9" name="Text 6"/>
          <p:cNvSpPr txBox="1"/>
          <p:nvPr/>
        </p:nvSpPr>
        <p:spPr>
          <a:xfrm>
            <a:off x="7223760" y="2350008"/>
            <a:ext cx="4416552" cy="365760"/>
          </a:xfrm>
          <a:prstGeom prst="rect">
            <a:avLst/>
          </a:prstGeom>
          <a:noFill/>
          <a:ln/>
        </p:spPr>
        <p:txBody>
          <a:bodyPr wrap="square" lIns="0" tIns="0" rIns="0" bIns="0" rtlCol="0" anchor="t"/>
          <a:lstStyle/>
          <a:p>
            <a:pPr indent="0" marL="0">
              <a:buNone/>
            </a:pPr>
            <a:r>
              <a:rPr lang="en-US" sz="1400" dirty="0">
                <a:solidFill>
                  <a:schemeClr val="tx1"/>
                </a:solidFill>
              </a:rPr>
              <a:t>Needed by ImageField</a:t>
            </a:r>
            <a:endParaRPr lang="en-US" sz="1400" dirty="0"/>
          </a:p>
        </p:txBody>
      </p:sp>
      <p:sp>
        <p:nvSpPr>
          <p:cNvPr id="10" name="step-number"/>
          <p:cNvSpPr txBox="1"/>
          <p:nvPr/>
        </p:nvSpPr>
        <p:spPr>
          <a:xfrm>
            <a:off x="6583680" y="2880360"/>
            <a:ext cx="457200" cy="45720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7223760" y="2788920"/>
            <a:ext cx="4416552" cy="365760"/>
          </a:xfrm>
          <a:prstGeom prst="rect">
            <a:avLst/>
          </a:prstGeom>
          <a:noFill/>
          <a:ln/>
        </p:spPr>
        <p:txBody>
          <a:bodyPr wrap="square" lIns="0" tIns="0" rIns="0" bIns="0" rtlCol="0" anchor="t"/>
          <a:lstStyle/>
          <a:p>
            <a:pPr indent="0" marL="0">
              <a:buNone/>
            </a:pPr>
            <a:r>
              <a:rPr lang="en-US" sz="1700" b="1" dirty="0">
                <a:solidFill>
                  <a:schemeClr val="tx2"/>
                </a:solidFill>
              </a:rPr>
              <a:t>ImageField + MEDIA settings</a:t>
            </a:r>
            <a:endParaRPr lang="en-US" sz="1700" dirty="0"/>
          </a:p>
        </p:txBody>
      </p:sp>
      <p:sp>
        <p:nvSpPr>
          <p:cNvPr id="12" name="Text 9"/>
          <p:cNvSpPr txBox="1"/>
          <p:nvPr/>
        </p:nvSpPr>
        <p:spPr>
          <a:xfrm>
            <a:off x="7223760" y="3172968"/>
            <a:ext cx="4416552" cy="365760"/>
          </a:xfrm>
          <a:prstGeom prst="rect">
            <a:avLst/>
          </a:prstGeom>
          <a:noFill/>
          <a:ln/>
        </p:spPr>
        <p:txBody>
          <a:bodyPr wrap="square" lIns="0" tIns="0" rIns="0" bIns="0" rtlCol="0" anchor="t"/>
          <a:lstStyle/>
          <a:p>
            <a:pPr indent="0" marL="0">
              <a:buNone/>
            </a:pPr>
            <a:r>
              <a:rPr lang="en-US" sz="1400" dirty="0">
                <a:solidFill>
                  <a:schemeClr val="tx1"/>
                </a:solidFill>
              </a:rPr>
              <a:t>Where files are saved and served</a:t>
            </a:r>
            <a:endParaRPr lang="en-US" sz="1400" dirty="0"/>
          </a:p>
        </p:txBody>
      </p:sp>
      <p:sp>
        <p:nvSpPr>
          <p:cNvPr id="13" name="step-number"/>
          <p:cNvSpPr txBox="1"/>
          <p:nvPr/>
        </p:nvSpPr>
        <p:spPr>
          <a:xfrm>
            <a:off x="6583680" y="3703320"/>
            <a:ext cx="457200" cy="45720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11"/>
          <p:cNvSpPr txBox="1"/>
          <p:nvPr/>
        </p:nvSpPr>
        <p:spPr>
          <a:xfrm>
            <a:off x="7223760" y="3611880"/>
            <a:ext cx="4416552" cy="365760"/>
          </a:xfrm>
          <a:prstGeom prst="rect">
            <a:avLst/>
          </a:prstGeom>
          <a:noFill/>
          <a:ln/>
        </p:spPr>
        <p:txBody>
          <a:bodyPr wrap="square" lIns="0" tIns="0" rIns="0" bIns="0" rtlCol="0" anchor="t"/>
          <a:lstStyle/>
          <a:p>
            <a:pPr indent="0" marL="0">
              <a:buNone/>
            </a:pPr>
            <a:r>
              <a:rPr lang="en-US" sz="1700" b="1" dirty="0">
                <a:solidFill>
                  <a:schemeClr val="tx2"/>
                </a:solidFill>
              </a:rPr>
              <a:t>Send multipart/form-data</a:t>
            </a:r>
            <a:endParaRPr lang="en-US" sz="1700" dirty="0"/>
          </a:p>
        </p:txBody>
      </p:sp>
      <p:sp>
        <p:nvSpPr>
          <p:cNvPr id="15" name="Text 12"/>
          <p:cNvSpPr txBox="1"/>
          <p:nvPr/>
        </p:nvSpPr>
        <p:spPr>
          <a:xfrm>
            <a:off x="7223760" y="3995928"/>
            <a:ext cx="4416552" cy="365760"/>
          </a:xfrm>
          <a:prstGeom prst="rect">
            <a:avLst/>
          </a:prstGeom>
          <a:noFill/>
          <a:ln/>
        </p:spPr>
        <p:txBody>
          <a:bodyPr wrap="square" lIns="0" tIns="0" rIns="0" bIns="0" rtlCol="0" anchor="t"/>
          <a:lstStyle/>
          <a:p>
            <a:pPr indent="0" marL="0">
              <a:buNone/>
            </a:pPr>
            <a:r>
              <a:rPr lang="en-US" sz="1400" dirty="0">
                <a:solidFill>
                  <a:schemeClr val="tx1"/>
                </a:solidFill>
              </a:rPr>
              <a:t>The admin or API page can upload</a:t>
            </a:r>
            <a:endParaRPr lang="en-US" sz="1400" dirty="0"/>
          </a:p>
        </p:txBody>
      </p:sp>
      <p:sp>
        <p:nvSpPr>
          <p:cNvPr id="16" name="step-number"/>
          <p:cNvSpPr txBox="1"/>
          <p:nvPr/>
        </p:nvSpPr>
        <p:spPr>
          <a:xfrm>
            <a:off x="6583680" y="4526280"/>
            <a:ext cx="457200" cy="457200"/>
          </a:xfrm>
          <a:prstGeom prst="ellipse">
            <a:avLst/>
          </a:prstGeom>
          <a:solidFill>
            <a:schemeClr val="tx2"/>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Text 14"/>
          <p:cNvSpPr txBox="1"/>
          <p:nvPr/>
        </p:nvSpPr>
        <p:spPr>
          <a:xfrm>
            <a:off x="7223760" y="4434840"/>
            <a:ext cx="4416552" cy="365760"/>
          </a:xfrm>
          <a:prstGeom prst="rect">
            <a:avLst/>
          </a:prstGeom>
          <a:noFill/>
          <a:ln/>
        </p:spPr>
        <p:txBody>
          <a:bodyPr wrap="square" lIns="0" tIns="0" rIns="0" bIns="0" rtlCol="0" anchor="t"/>
          <a:lstStyle/>
          <a:p>
            <a:pPr indent="0" marL="0">
              <a:buNone/>
            </a:pPr>
            <a:r>
              <a:rPr lang="en-US" sz="1700" b="1" dirty="0">
                <a:solidFill>
                  <a:schemeClr val="tx2"/>
                </a:solidFill>
              </a:rPr>
              <a:t>"image": "/media/..."</a:t>
            </a:r>
            <a:endParaRPr lang="en-US" sz="1700" dirty="0"/>
          </a:p>
        </p:txBody>
      </p:sp>
      <p:sp>
        <p:nvSpPr>
          <p:cNvPr id="18" name="Text 15"/>
          <p:cNvSpPr txBox="1"/>
          <p:nvPr/>
        </p:nvSpPr>
        <p:spPr>
          <a:xfrm>
            <a:off x="7223760" y="4818888"/>
            <a:ext cx="4416552" cy="365760"/>
          </a:xfrm>
          <a:prstGeom prst="rect">
            <a:avLst/>
          </a:prstGeom>
          <a:noFill/>
          <a:ln/>
        </p:spPr>
        <p:txBody>
          <a:bodyPr wrap="square" lIns="0" tIns="0" rIns="0" bIns="0" rtlCol="0" anchor="t"/>
          <a:lstStyle/>
          <a:p>
            <a:pPr indent="0" marL="0">
              <a:buNone/>
            </a:pPr>
            <a:r>
              <a:rPr lang="en-US" sz="1400" dirty="0">
                <a:solidFill>
                  <a:schemeClr val="tx1"/>
                </a:solidFill>
              </a:rPr>
              <a:t>The API returns the file URL</a:t>
            </a:r>
            <a:endParaRPr lang="en-US" sz="1400" dirty="0"/>
          </a:p>
        </p:txBody>
      </p:sp>
      <p:sp>
        <p:nvSpPr>
          <p:cNvPr id="19" name="callout"/>
          <p:cNvSpPr/>
          <p:nvPr/>
        </p:nvSpPr>
        <p:spPr>
          <a:xfrm>
            <a:off x="548640" y="5257800"/>
            <a:ext cx="11091672" cy="731520"/>
          </a:xfrm>
          <a:prstGeom prst="roundRect">
            <a:avLst>
              <a:gd name="adj" fmla="val 15000"/>
            </a:avLst>
          </a:prstGeom>
          <a:solidFill>
            <a:schemeClr val="bg2"/>
          </a:solidFill>
          <a:ln/>
        </p:spPr>
      </p:sp>
      <p:sp>
        <p:nvSpPr>
          <p:cNvPr id="20" name="Text 17"/>
          <p:cNvSpPr txBox="1"/>
          <p:nvPr/>
        </p:nvSpPr>
        <p:spPr>
          <a:xfrm>
            <a:off x="822960" y="5257800"/>
            <a:ext cx="10543032" cy="731520"/>
          </a:xfrm>
          <a:prstGeom prst="rect">
            <a:avLst/>
          </a:prstGeom>
          <a:noFill/>
          <a:ln/>
        </p:spPr>
        <p:txBody>
          <a:bodyPr wrap="square" lIns="0" tIns="0" rIns="0" bIns="0" rtlCol="0" anchor="ctr"/>
          <a:lstStyle/>
          <a:p>
            <a:pPr indent="0" marL="0">
              <a:buNone/>
            </a:pPr>
            <a:r>
              <a:rPr lang="en-US" sz="1600" dirty="0">
                <a:solidFill>
                  <a:schemeClr val="tx1"/>
                </a:solidFill>
              </a:rPr>
              <a:t>Read docs/image-handling.md in the repository, then try uploading an image to an item in the admin.</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bg1"/>
                </a:solidFill>
              </a:rPr>
              <a:t>Summary</a:t>
            </a:r>
            <a:endParaRPr lang="en-US" sz="3600" dirty="0"/>
          </a:p>
        </p:txBody>
      </p:sp>
      <p:sp>
        <p:nvSpPr>
          <p:cNvPr id="4" name="icon-circle"/>
          <p:cNvSpPr/>
          <p:nvPr/>
        </p:nvSpPr>
        <p:spPr>
          <a:xfrm>
            <a:off x="548640" y="1536192"/>
            <a:ext cx="457200" cy="4572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667512" y="1655064"/>
            <a:ext cx="219456" cy="219456"/>
          </a:xfrm>
          <a:prstGeom prst="rect">
            <a:avLst/>
          </a:prstGeom>
        </p:spPr>
      </p:pic>
      <p:sp>
        <p:nvSpPr>
          <p:cNvPr id="6" name="Text 2"/>
          <p:cNvSpPr txBox="1"/>
          <p:nvPr/>
        </p:nvSpPr>
        <p:spPr>
          <a:xfrm>
            <a:off x="1280160" y="1463040"/>
            <a:ext cx="6675120" cy="640080"/>
          </a:xfrm>
          <a:prstGeom prst="rect">
            <a:avLst/>
          </a:prstGeom>
          <a:noFill/>
          <a:ln/>
        </p:spPr>
        <p:txBody>
          <a:bodyPr wrap="square" lIns="0" tIns="0" rIns="0" bIns="0" rtlCol="0" anchor="ctr"/>
          <a:lstStyle/>
          <a:p>
            <a:pPr indent="0" marL="0">
              <a:buNone/>
            </a:pPr>
            <a:r>
              <a:rPr lang="en-US" sz="1900" dirty="0">
                <a:solidFill>
                  <a:schemeClr val="bg1"/>
                </a:solidFill>
              </a:rPr>
              <a:t>Django is batteries included: admin, auth, ORM, security</a:t>
            </a:r>
            <a:endParaRPr lang="en-US" sz="1900" dirty="0"/>
          </a:p>
        </p:txBody>
      </p:sp>
      <p:sp>
        <p:nvSpPr>
          <p:cNvPr id="7" name="icon-circle"/>
          <p:cNvSpPr/>
          <p:nvPr/>
        </p:nvSpPr>
        <p:spPr>
          <a:xfrm>
            <a:off x="548640" y="2432304"/>
            <a:ext cx="457200" cy="457200"/>
          </a:xfrm>
          <a:prstGeom prst="ellipse">
            <a:avLst/>
          </a:prstGeom>
          <a:solidFill>
            <a:schemeClr val="accent1"/>
          </a:solidFill>
          <a:ln/>
        </p:spPr>
      </p:sp>
      <p:pic>
        <p:nvPicPr>
          <p:cNvPr id="8" name="Image 1" descr="preencoded.png">    </p:cNvPr>
          <p:cNvPicPr>
            <a:picLocks noChangeAspect="1"/>
          </p:cNvPicPr>
          <p:nvPr/>
        </p:nvPicPr>
        <p:blipFill>
          <a:blip r:embed="rId2"/>
          <a:stretch>
            <a:fillRect/>
          </a:stretch>
        </p:blipFill>
        <p:spPr>
          <a:xfrm>
            <a:off x="667512" y="2551176"/>
            <a:ext cx="219456" cy="219456"/>
          </a:xfrm>
          <a:prstGeom prst="rect">
            <a:avLst/>
          </a:prstGeom>
        </p:spPr>
      </p:pic>
      <p:sp>
        <p:nvSpPr>
          <p:cNvPr id="9" name="Text 4"/>
          <p:cNvSpPr txBox="1"/>
          <p:nvPr/>
        </p:nvSpPr>
        <p:spPr>
          <a:xfrm>
            <a:off x="1280160" y="2359152"/>
            <a:ext cx="6675120" cy="640080"/>
          </a:xfrm>
          <a:prstGeom prst="rect">
            <a:avLst/>
          </a:prstGeom>
          <a:noFill/>
          <a:ln/>
        </p:spPr>
        <p:txBody>
          <a:bodyPr wrap="square" lIns="0" tIns="0" rIns="0" bIns="0" rtlCol="0" anchor="ctr"/>
          <a:lstStyle/>
          <a:p>
            <a:pPr indent="0" marL="0">
              <a:buNone/>
            </a:pPr>
            <a:r>
              <a:rPr lang="en-US" sz="1900" dirty="0">
                <a:solidFill>
                  <a:schemeClr val="bg1"/>
                </a:solidFill>
              </a:rPr>
              <a:t>MVT: a URL picks a view, the view uses models and returns a response</a:t>
            </a:r>
            <a:endParaRPr lang="en-US" sz="1900" dirty="0"/>
          </a:p>
        </p:txBody>
      </p:sp>
      <p:sp>
        <p:nvSpPr>
          <p:cNvPr id="10" name="icon-circle"/>
          <p:cNvSpPr/>
          <p:nvPr/>
        </p:nvSpPr>
        <p:spPr>
          <a:xfrm>
            <a:off x="548640" y="3328416"/>
            <a:ext cx="457200" cy="457200"/>
          </a:xfrm>
          <a:prstGeom prst="ellipse">
            <a:avLst/>
          </a:prstGeom>
          <a:solidFill>
            <a:schemeClr val="accent1"/>
          </a:solidFill>
          <a:ln/>
        </p:spPr>
      </p:sp>
      <p:pic>
        <p:nvPicPr>
          <p:cNvPr id="11" name="Image 2" descr="preencoded.png">    </p:cNvPr>
          <p:cNvPicPr>
            <a:picLocks noChangeAspect="1"/>
          </p:cNvPicPr>
          <p:nvPr/>
        </p:nvPicPr>
        <p:blipFill>
          <a:blip r:embed="rId3"/>
          <a:stretch>
            <a:fillRect/>
          </a:stretch>
        </p:blipFill>
        <p:spPr>
          <a:xfrm>
            <a:off x="667512" y="3447288"/>
            <a:ext cx="219456" cy="219456"/>
          </a:xfrm>
          <a:prstGeom prst="rect">
            <a:avLst/>
          </a:prstGeom>
        </p:spPr>
      </p:pic>
      <p:sp>
        <p:nvSpPr>
          <p:cNvPr id="12" name="Text 6"/>
          <p:cNvSpPr txBox="1"/>
          <p:nvPr/>
        </p:nvSpPr>
        <p:spPr>
          <a:xfrm>
            <a:off x="1280160" y="3255264"/>
            <a:ext cx="6675120" cy="640080"/>
          </a:xfrm>
          <a:prstGeom prst="rect">
            <a:avLst/>
          </a:prstGeom>
          <a:noFill/>
          <a:ln/>
        </p:spPr>
        <p:txBody>
          <a:bodyPr wrap="square" lIns="0" tIns="0" rIns="0" bIns="0" rtlCol="0" anchor="ctr"/>
          <a:lstStyle/>
          <a:p>
            <a:pPr indent="0" marL="0">
              <a:buNone/>
            </a:pPr>
            <a:r>
              <a:rPr lang="en-US" sz="1900" dirty="0">
                <a:solidFill>
                  <a:schemeClr val="bg1"/>
                </a:solidFill>
              </a:rPr>
              <a:t>Models become tables; makemigrations plans, migrate applies</a:t>
            </a:r>
            <a:endParaRPr lang="en-US" sz="1900" dirty="0"/>
          </a:p>
        </p:txBody>
      </p:sp>
      <p:sp>
        <p:nvSpPr>
          <p:cNvPr id="13" name="icon-circle"/>
          <p:cNvSpPr/>
          <p:nvPr/>
        </p:nvSpPr>
        <p:spPr>
          <a:xfrm>
            <a:off x="548640" y="4224528"/>
            <a:ext cx="457200" cy="457200"/>
          </a:xfrm>
          <a:prstGeom prst="ellipse">
            <a:avLst/>
          </a:prstGeom>
          <a:solidFill>
            <a:schemeClr val="accent1"/>
          </a:solidFill>
          <a:ln/>
        </p:spPr>
      </p:sp>
      <p:pic>
        <p:nvPicPr>
          <p:cNvPr id="14" name="Image 3" descr="preencoded.png">    </p:cNvPr>
          <p:cNvPicPr>
            <a:picLocks noChangeAspect="1"/>
          </p:cNvPicPr>
          <p:nvPr/>
        </p:nvPicPr>
        <p:blipFill>
          <a:blip r:embed="rId4"/>
          <a:stretch>
            <a:fillRect/>
          </a:stretch>
        </p:blipFill>
        <p:spPr>
          <a:xfrm>
            <a:off x="667512" y="4343400"/>
            <a:ext cx="219456" cy="219456"/>
          </a:xfrm>
          <a:prstGeom prst="rect">
            <a:avLst/>
          </a:prstGeom>
        </p:spPr>
      </p:pic>
      <p:sp>
        <p:nvSpPr>
          <p:cNvPr id="15" name="Text 8"/>
          <p:cNvSpPr txBox="1"/>
          <p:nvPr/>
        </p:nvSpPr>
        <p:spPr>
          <a:xfrm>
            <a:off x="1280160" y="4151376"/>
            <a:ext cx="6675120" cy="640080"/>
          </a:xfrm>
          <a:prstGeom prst="rect">
            <a:avLst/>
          </a:prstGeom>
          <a:noFill/>
          <a:ln/>
        </p:spPr>
        <p:txBody>
          <a:bodyPr wrap="square" lIns="0" tIns="0" rIns="0" bIns="0" rtlCol="0" anchor="ctr"/>
          <a:lstStyle/>
          <a:p>
            <a:pPr indent="0" marL="0">
              <a:buNone/>
            </a:pPr>
            <a:r>
              <a:rPr lang="en-US" sz="1900" dirty="0">
                <a:solidFill>
                  <a:schemeClr val="bg1"/>
                </a:solidFill>
              </a:rPr>
              <a:t>The admin panel is generated from your models</a:t>
            </a:r>
            <a:endParaRPr lang="en-US" sz="1900" dirty="0"/>
          </a:p>
        </p:txBody>
      </p:sp>
      <p:sp>
        <p:nvSpPr>
          <p:cNvPr id="16" name="icon-circle"/>
          <p:cNvSpPr/>
          <p:nvPr/>
        </p:nvSpPr>
        <p:spPr>
          <a:xfrm>
            <a:off x="548640" y="5120640"/>
            <a:ext cx="457200" cy="457200"/>
          </a:xfrm>
          <a:prstGeom prst="ellipse">
            <a:avLst/>
          </a:prstGeom>
          <a:solidFill>
            <a:schemeClr val="accent1"/>
          </a:solidFill>
          <a:ln/>
        </p:spPr>
      </p:sp>
      <p:pic>
        <p:nvPicPr>
          <p:cNvPr id="17" name="Image 4" descr="preencoded.png">    </p:cNvPr>
          <p:cNvPicPr>
            <a:picLocks noChangeAspect="1"/>
          </p:cNvPicPr>
          <p:nvPr/>
        </p:nvPicPr>
        <p:blipFill>
          <a:blip r:embed="rId5"/>
          <a:stretch>
            <a:fillRect/>
          </a:stretch>
        </p:blipFill>
        <p:spPr>
          <a:xfrm>
            <a:off x="667512" y="5239512"/>
            <a:ext cx="219456" cy="219456"/>
          </a:xfrm>
          <a:prstGeom prst="rect">
            <a:avLst/>
          </a:prstGeom>
        </p:spPr>
      </p:pic>
      <p:sp>
        <p:nvSpPr>
          <p:cNvPr id="18" name="Text 10"/>
          <p:cNvSpPr txBox="1"/>
          <p:nvPr/>
        </p:nvSpPr>
        <p:spPr>
          <a:xfrm>
            <a:off x="1280160" y="5047488"/>
            <a:ext cx="6675120" cy="640080"/>
          </a:xfrm>
          <a:prstGeom prst="rect">
            <a:avLst/>
          </a:prstGeom>
          <a:noFill/>
          <a:ln/>
        </p:spPr>
        <p:txBody>
          <a:bodyPr wrap="square" lIns="0" tIns="0" rIns="0" bIns="0" rtlCol="0" anchor="ctr"/>
          <a:lstStyle/>
          <a:p>
            <a:pPr indent="0" marL="0">
              <a:buNone/>
            </a:pPr>
            <a:r>
              <a:rPr lang="en-US" sz="1900" dirty="0">
                <a:solidFill>
                  <a:schemeClr val="bg1"/>
                </a:solidFill>
              </a:rPr>
              <a:t>DRF adds a JSON API, and security is on by default</a:t>
            </a:r>
            <a:endParaRPr lang="en-US" sz="1900" dirty="0"/>
          </a:p>
        </p:txBody>
      </p:sp>
      <p:sp>
        <p:nvSpPr>
          <p:cNvPr id="19" name="closing-card"/>
          <p:cNvSpPr/>
          <p:nvPr/>
        </p:nvSpPr>
        <p:spPr>
          <a:xfrm>
            <a:off x="8503920" y="1463040"/>
            <a:ext cx="3136392" cy="4297680"/>
          </a:xfrm>
          <a:prstGeom prst="roundRect">
            <a:avLst>
              <a:gd name="adj" fmla="val 3499"/>
            </a:avLst>
          </a:prstGeom>
          <a:solidFill>
            <a:schemeClr val="accent6"/>
          </a:solidFill>
          <a:ln/>
        </p:spPr>
      </p:sp>
      <p:sp>
        <p:nvSpPr>
          <p:cNvPr id="20" name="Text 12"/>
          <p:cNvSpPr txBox="1"/>
          <p:nvPr/>
        </p:nvSpPr>
        <p:spPr>
          <a:xfrm>
            <a:off x="8732520" y="1828800"/>
            <a:ext cx="2679192" cy="822960"/>
          </a:xfrm>
          <a:prstGeom prst="rect">
            <a:avLst/>
          </a:prstGeom>
          <a:noFill/>
          <a:ln/>
        </p:spPr>
        <p:txBody>
          <a:bodyPr wrap="square" lIns="0" tIns="0" rIns="0" bIns="0" rtlCol="0" anchor="t"/>
          <a:lstStyle/>
          <a:p>
            <a:pPr indent="0" marL="0">
              <a:buNone/>
            </a:pPr>
            <a:r>
              <a:rPr lang="en-US" sz="3600" b="1" dirty="0">
                <a:solidFill>
                  <a:schemeClr val="bg1"/>
                </a:solidFill>
              </a:rPr>
              <a:t>Questions?</a:t>
            </a:r>
            <a:endParaRPr lang="en-US" sz="3600" dirty="0"/>
          </a:p>
        </p:txBody>
      </p:sp>
      <p:sp>
        <p:nvSpPr>
          <p:cNvPr id="21" name="Text 13"/>
          <p:cNvSpPr txBox="1"/>
          <p:nvPr/>
        </p:nvSpPr>
        <p:spPr>
          <a:xfrm>
            <a:off x="8732520" y="2834640"/>
            <a:ext cx="2679192" cy="640080"/>
          </a:xfrm>
          <a:prstGeom prst="rect">
            <a:avLst/>
          </a:prstGeom>
          <a:noFill/>
          <a:ln/>
        </p:spPr>
        <p:txBody>
          <a:bodyPr wrap="square" lIns="0" tIns="0" rIns="0" bIns="0" rtlCol="0" anchor="t"/>
          <a:lstStyle/>
          <a:p>
            <a:pPr indent="0" marL="0">
              <a:buNone/>
            </a:pPr>
            <a:r>
              <a:rPr lang="en-US" sz="1500" dirty="0">
                <a:solidFill>
                  <a:schemeClr val="accent1"/>
                </a:solidFill>
              </a:rPr>
              <a:t>Everything is in the repository folder:</a:t>
            </a:r>
            <a:endParaRPr lang="en-US" sz="1500" dirty="0"/>
          </a:p>
        </p:txBody>
      </p:sp>
      <p:sp>
        <p:nvSpPr>
          <p:cNvPr id="22" name="Text 14"/>
          <p:cNvSpPr txBox="1"/>
          <p:nvPr/>
        </p:nvSpPr>
        <p:spPr>
          <a:xfrm>
            <a:off x="8732520" y="3520440"/>
            <a:ext cx="2679192" cy="365760"/>
          </a:xfrm>
          <a:prstGeom prst="rect">
            <a:avLst/>
          </a:prstGeom>
          <a:noFill/>
          <a:ln/>
        </p:spPr>
        <p:txBody>
          <a:bodyPr wrap="square" lIns="0" tIns="0" rIns="0" bIns="0" rtlCol="0" anchor="t"/>
          <a:lstStyle/>
          <a:p>
            <a:pPr indent="0" marL="0">
              <a:buNone/>
            </a:pPr>
            <a:r>
              <a:rPr lang="en-US" sz="1600" b="1" dirty="0">
                <a:solidFill>
                  <a:schemeClr val="bg1"/>
                </a:solidFill>
                <a:latin typeface="Courier New" pitchFamily="34" charset="0"/>
                <a:ea typeface="Courier New" pitchFamily="34" charset="-122"/>
                <a:cs typeface="Courier New" pitchFamily="34" charset="-120"/>
              </a:rPr>
              <a:t>mca / django-seminar</a:t>
            </a:r>
            <a:endParaRPr lang="en-US" sz="1600" dirty="0"/>
          </a:p>
        </p:txBody>
      </p:sp>
      <p:sp>
        <p:nvSpPr>
          <p:cNvPr id="23" name="Text 15"/>
          <p:cNvSpPr txBox="1"/>
          <p:nvPr/>
        </p:nvSpPr>
        <p:spPr>
          <a:xfrm>
            <a:off x="8732520" y="4069080"/>
            <a:ext cx="2679192" cy="365760"/>
          </a:xfrm>
          <a:prstGeom prst="rect">
            <a:avLst/>
          </a:prstGeom>
          <a:noFill/>
          <a:ln/>
        </p:spPr>
        <p:txBody>
          <a:bodyPr wrap="square" lIns="0" tIns="0" rIns="0" bIns="0" rtlCol="0" anchor="t"/>
          <a:lstStyle/>
          <a:p>
            <a:pPr indent="0" marL="0">
              <a:buNone/>
            </a:pPr>
            <a:r>
              <a:rPr lang="en-US" sz="1500" dirty="0">
                <a:solidFill>
                  <a:schemeClr val="bg2"/>
                </a:solidFill>
              </a:rPr>
              <a:t>Start with README.md</a:t>
            </a:r>
            <a:endParaRPr lang="en-US" sz="1500" dirty="0"/>
          </a:p>
        </p:txBody>
      </p:sp>
    </p:spTree>
  </p:cSld>
  <p:clrMapOvr>
    <a:masterClrMapping/>
  </p:clrMapOvr>
</p:sld>
</file>

<file path=ppt/theme/theme1.xml><?xml version="1.0" encoding="utf-8"?>
<a:theme xmlns:a="http://schemas.openxmlformats.org/drawingml/2006/main" name="Django Seminar">
  <a:themeElements>
    <a:clrScheme name="Django Seminar">
      <a:dk1>
        <a:srgbClr val="1D2B24"/>
      </a:dk1>
      <a:lt1>
        <a:srgbClr val="FFFFFF"/>
      </a:lt1>
      <a:dk2>
        <a:srgbClr val="0C4B33"/>
      </a:dk2>
      <a:lt2>
        <a:srgbClr val="E7F3EC"/>
      </a:lt2>
      <a:accent1>
        <a:srgbClr val="44B78B"/>
      </a:accent1>
      <a:accent2>
        <a:srgbClr val="F2B84B"/>
      </a:accent2>
      <a:accent3>
        <a:srgbClr val="B3261E"/>
      </a:accent3>
      <a:accent4>
        <a:srgbClr val="2F6F8F"/>
      </a:accent4>
      <a:accent5>
        <a:srgbClr val="5B6E64"/>
      </a:accent5>
      <a:accent6>
        <a:srgbClr val="0F1F18"/>
      </a:accent6>
      <a:hlink>
        <a:srgbClr val="2F6F8F"/>
      </a:hlink>
      <a:folHlink>
        <a:srgbClr val="5B6E64"/>
      </a:folHlink>
    </a:clrScheme>
    <a:fontScheme name="Django Semina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Django Basics - MCA Seminar</dc:title>
  <dc:subject>PptxGenJS Presentation</dc:subject>
  <dc:creator>MCA</dc:creator>
  <cp:lastModifiedBy>MCA</cp:lastModifiedBy>
  <cp:revision>1</cp:revision>
  <dcterms:created xsi:type="dcterms:W3CDTF">2026-10-08T18:40:46Z</dcterms:created>
  <dcterms:modified xsi:type="dcterms:W3CDTF">2026-10-08T18:40:46Z</dcterms:modified>
</cp:coreProperties>
</file>