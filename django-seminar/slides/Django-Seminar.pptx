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73b97792-e25d-5b2b-29ce-c9eb18930596}">
          <p14:sldIdLst>
            <p14:sldId id="256"/>
            <p14:sldId id="257"/>
          </p14:sldIdLst>
        </p14:section>
        <p14:section name="Why Django" id="{a20d59ea-14d1-5e43-e02d-957af07a159e}">
          <p14:sldIdLst>
            <p14:sldId id="258"/>
            <p14:sldId id="259"/>
            <p14:sldId id="260"/>
            <p14:sldId id="261"/>
            <p14:sldId id="262"/>
            <p14:sldId id="263"/>
            <p14:sldId id="264"/>
            <p14:sldId id="265"/>
            <p14:sldId id="266"/>
            <p14:sldId id="267"/>
            <p14:sldId id="268"/>
            <p14:sldId id="269"/>
          </p14:sldIdLst>
        </p14:section>
        <p14:section name="Project setup" id="{50fee00d-8f56-0da3-0e85-dcdd1d4c2d83}">
          <p14:sldIdLst>
            <p14:sldId id="270"/>
            <p14:sldId id="271"/>
            <p14:sldId id="272"/>
            <p14:sldId id="273"/>
          </p14:sldIdLst>
        </p14:section>
        <p14:section name="Models and ORM" id="{4bb3e88a-8a51-f956-444f-a870171a6858}">
          <p14:sldIdLst>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Lst>
        </p14:section>
        <p14:section name="Views, URLs, serializers" id="{f2d78795-378d-3e8f-7044-e5782284f8d2}">
          <p14:sldIdLst>
            <p14:sldId id="310"/>
            <p14:sldId id="311"/>
            <p14:sldId id="312"/>
            <p14:sldId id="313"/>
            <p14:sldId id="314"/>
            <p14:sldId id="315"/>
          </p14:sldIdLst>
        </p14:section>
        <p14:section name="Admin panel" id="{e2dee32e-95a2-3702-94cb-b90cfb616a7d}">
          <p14:sldIdLst>
            <p14:sldId id="316"/>
            <p14:sldId id="317"/>
          </p14:sldIdLst>
        </p14:section>
        <p14:section name="Security" id="{82e5aa30-1a94-f8ca-5cb4-937d38bf70d6}">
          <p14:sldIdLst>
            <p14:sldId id="318"/>
            <p14:sldId id="319"/>
          </p14:sldIdLst>
        </p14:section>
        <p14:section name="Wrap-up" id="{4f5c33a8-af23-948b-eecd-54a7001276d7}">
          <p14:sldIdLst>
            <p14:sldId id="320"/>
            <p14:sldId id="321"/>
            <p14:sldId id="322"/>
            <p14:sldId id="323"/>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is a simple introduction to Django: how to set up a project, how Django is organised, how it talks to a database, and how the built-in admin panel gives you a working back-end for free. You already know the MERN stack, so we will compare the two as we go. No prior Django knowledge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of the seminar. Roughly 6 parts. The hands-on demo is the Item API in this repository - students can run it themselves afterwards using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is a high-level Python web framework. Key idea: batteries included - authentication, admin panel, ORM, forms and security come with the framework, so you build features instead of wiring libraries together. First released in 2005, open source (BSD license). We use Django 5.2, a long-term-support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know MERN. Both build full web apps. MERN = you assemble MongoDB + Express + React + Node yourself. Django = one framework with most parts included, and Python instead of JavaScript. They are not enemies: a very common modern setup is a React frontend talking to a Django REST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definition aloud in simple words. Batteries included is the most important one: Django ships with the features most websites need, so we do not hunt for separate libraries like we often do in the Node ecosystem. Framework vs library: a library is code you call; a framework calls your code and gives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MVT stands for Model, View, Template. It is the way Django splits a web application into three parts so each part has one job. Use the restaurant story. The customer (browser) orders. The waiter (urls.py) takes the order to the right chef. The chef (view) prepares it and, if needed, fetches ingredients from the pantry (the model and database). The finished dish (template, or JSON in an API) goes back to the customer. Splitting jobs like this is called separation of concerns: each part can change without breaking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follows MVT: Model - View - Template. Walk the request: the browser asks for a URL, urls.py matches it to a view, the view asks the model for data (the model talks to the database through the ORM), then the view hands the data to a template which produces HTML that goes back to the browser. MVT is close to MVC: Django itself plays the controller, and the View is the controller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column by column. The model is only about data. The view is only about logic: it never builds SQL by hand, it asks the model. The template is only about presentation. In our API project the template role is played by the serializer, which turns objects into JSON. Because each part has one job you can change the database without touching the screen, or redesign the screen without touching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real request through our project: the browser asks for GET /api/items/. Step 2 and 3: the root urls.py hands anything starting with api/ to the items app, and the app's urls.py matches items/ and picks the item_list view. Step 4 and 5: the view asks the model for all items, the ORM turns that into SQL and the database answers. Step 6: the serializer turns the objects into JSON and the view returns it. Replay the same steps with a POST to show how saving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MVC is the classic pattern: Model, View, Controller. Django uses different names for the same ideas. Django's Template is what MVC calls the View (the presentation). Django's View is what MVC calls the Controller (the logic that handles requests). The framework itself, with its URL routing, does the rest of the controller's work. In MERN the same roles are played by Mongoose, Express and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to translate what you already know. Express route -&gt; urls.py. Express handler -&gt; a view function. Mongoose model -&gt; a Django model class. React component or EJS -&gt; a template. npm -&gt; pip, node_modules -&gt; virtual environment. If students remember only this slide, they can already read a Django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Django's classic way to show data is a template: an HTML file with a few special tags, filled in on the SERVER. React does the same job in the BROWSER with JSX. Same idea, different syntax and different place. Our seminar project does not use templates: it returns JSON, and a React app (or the browsable API page) shows it. But if students see templates in other Django tutorials, this is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first: DRF is a toolkit built on top of Django for building web APIs that send and receive JSON. Plain Django is great at HTML pages; DRF adds everything needed for APIs: serializers, API views, routers, a browsable API for testing, and authentication and permissions. Install with pip install djangorestframework and add 'rest_framework' to INSTALLED_APPS. In MERN terms, DRF plays the role of Express plus Mongoose validation for your API. A React or mobile app can then call these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build the same app. 1) Django templates: Django builds the whole HTML page. 2) Django + DRF + React: Django is only the back-end API, React builds the screen. 3) MERN: Express and MongoDB replace Django, React is the same. The middle option is the bridge between what you already know (React) and what you are learning (Django). In this seminar we build the Django + DRF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these six commands slowly. Windows PowerShell shown; on Mac/Linux activate with 'source venv/bin/activate'. The virtual environment is just an isolated folder of Python packages, like node_modules. The dot at the end of startproject means: create the project in the current folder instead of making another nested folder. We are not creating a new project live because the finished one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two folders that matter most: config (the project) and items (our app). manage.py is the command centre - every command starts with python manage.py. Templates and static are plain folders that Django is told about in settings.py.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is the whole website and its configuration. An app is one feature of that website. Analogy: a college website is the project; admissions, library and results are apps. One project has many apps, and a good app can be reused in another project. After creating an app you must add it to INSTALLED_APPS, otherwise Django ignores it - the most common beginner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settings.py is a normal Python file that Django reads at start-up. Go through the table quickly. Stress SECRET_KEY and DEBUG: the key in our repo is a demo key, in a real project it comes from an environment variable and DEBUG is False in production. In this repo the file has comments explaining every section - students can read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set of definitions, before we dive into models. ORM is the big one: we write Python objects, Django writes the SQL. A migration is like a version-control commit for the database structure. An API is a set of URLs for programs, not people; REST is the common style for designing them, and DRF is the toolkit that makes them in Django.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formal definitions for the database side. A QuerySet is lazy: Django only runs the SQL when you actually use the results, and you can keep chaining filter() and order_by() before that. Primary key and foreign key are the standard relational-database concepts: Django creates the id primary key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smallest possible model. Read it top to bottom: the class is the table, each attribute is a column, the field type decides what kind of data the column holds, and the options inside the brackets add rules. The small table below shows what Django creates for this model. Django adds the id column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is a Python class that inherits from models.Model. Django turns each class into a table and each field into a column. You never write CREATE TABLE. The SQL on the right is real output from 'python manage.py sqlmigrate items 0001' (shortened). Notice Django added the id primary key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 is a model attribute that becomes a table column. Text fields hold strings. CharField is for short text and needs max_length; TextField is for long text and has no limit. EmailField and URLField are CharFields that also check the format, so 'abc' is rejected as an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IntegerField for whole numbers, PositiveIntegerField when negatives make no sense, FloatField for approximate decimals such as marks, DecimalField for exact values such as money. BooleanField stores True or False. A common mistake is using FloatField for prices: floats are approximate, decimals are 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 and time fields store when something happened. DateField is a date only, TimeField a time only, DateTimeField both. FileField and ImageField store an uploaded file: the file itself goes in the MEDIA_ROOT folder and the database only keeps its path. ImageField needs the Pillow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go inside the brackets of a field and add rules. The pair students mix up: null=True lets the DATABASE store NULL; blank=True lets a FORM or the admin leave the field empty. For text fields use blank=True. auto_now_add sets the value once when the row is created; auto_now updates it every time the row is saved. choices gives a fixed list: the first value is stored, the second is shown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is connected. A ForeignKey is many-to-one: many students belong to one department, and the key is stored on the many side. OneToOneField is one-to-one: one student has exactly one profile. ManyToManyField is many-to-many: students take many courses and a course has many students; Django creates the extra linking table for you. on_delete says what happens to the students if their department is deleted; CASCADE deletes them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Besides fields, a model can have a Meta class for settings about the model itself, a __str__ method that decides how an object is shown as text, and ordinary methods or properties for behaviour. Without __str__ the admin shows 'Student object (1)', which is useless. With it you see the student's name. A property such as is_adult is calculated on the fly and is not stored in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small example with two related models. Walk through the four steps: write the models, run makemigrations to create the migration file, run migrate to create the tables, then register the model in admin.py to get a full add, edit and delete interface for free. Fields used: CharField, EmailField, PositiveIntegerField, ForeignKey, DateField with auto_now_add, BooleanField.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ships configured for SQLite: a single file, nothing to install, ideal for learning and development. Everything we demo today uses it. At the end of the seminar we will show that connecting MySQL or PostgreSQL only changes this one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ORM = Object-Relational Mapper. It maps Python objects to database rows so you work with objects instead of writing SQL strings. Show the flow: a Python call goes into the ORM, the ORM builds SQL and runs it. The question mark in the SQL means the value is passed as a parameter, which is why SQL injection is not possible through the ORM. Same code works on SQLite, MySQL and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on the left is Python; the right column is the SQL Django runs for you. Encourage students to open 'python manage.py shell' and type these lines themselves - the project has sample data from 'python manage.py seed_demo'.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words to learn. The manager is objects: every model has one, and it is the door to the table. A QuerySet is the list-like result you get back. It is lazy: building it does not touch the database. You can keep adding filter and order_by, and Django only runs ONE SQL query at the moment you use the result, for example in a for loop. That is efficient and also why you can chain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cheat sheet of the methods students will use every day. Methods that return a QuerySet can be chained. get() returns exactly one object and raises an error if there are none or more than one, so use it with a primary key. first() and exists() are safe ways to ask 'is there anything?'. update() and delete() on a QuerySet change many rows with one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lookup is written as the field name, two underscores and the lookup type. price__gt=20 means price greater than 20. Without a lookup Django uses exact match. Several conditions in one filter call are combined with AND. icontains is the one used for search boxes: it ignores upper and lower case. Because the values are passed to the database as parameters, user input cannot inject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ORM follows relationships for you. Going forward from the many side to the one side is just an attribute: student.department. Going backward from the one side uses the automatic name student_set, or the related_name you choose. Two underscores let a filter walk across tables and Django writes the JOIN. Many-to-many fields have add() and all() methods. The examples use the Student, Department and Course models from the earlier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session from our project. Open it with python manage.py shell. Each line is typed after the &gt;&gt;&gt; prompt; the next line is what Django prints. Notice get() with a name that does not exist raises DoesNotExist. On the right: every QuerySet has a query attribute that shows the SQL Django will run, which is a great way to understand and debug the ORM. Students should type these lines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query down the layers. Your code calls the manager, which gives you a QuerySet. The QuerySet only describes the query. When you use the result, the SQL compiler turns it into SQL text plus a separate list of parameters. The database backend is the part of Django that knows the dialect of one database (SQLite, MySQL, PostgreSQL) and sends the query through that database's driver. Rows that come back are converted into model instances. Because values travel as parameters, SQL injection is blocked, and because of the backend, the same code runs on any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students already know SQL, this table is the bridge. Each SQL clause on the left has a direct ORM equivalent on the right. Walk down the table: SELECT is all(), WHERE is filter(), OR needs Q objects, ORDER BY is order_by(), LIMIT is slicing, GROUP BY is values() plus annotate(), and JOIN is the double underscore.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insert rows. save() is the long form: build an object, change it if needed, then save. create() builds and saves in one line. bulk_create() inserts many rows with a single query, which is much faster than calling create() inside a loop. get_or_create() looks for a row first and creates it only if it is missing; it returns a pair: the object and a True or False flag telling you whether it was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comparison for beginners. get() promises exactly ONE object: it raises DoesNotExist if there is none and MultipleObjectsReturned if there are several, so use it with unique fields such as the primary key. filter() returns a QuerySet that may be empty and never raises. first() gives the first object or None. In views the shortcut get_object_or_404 turns a missing object into an HTTP 404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levels. On ONE object: change an attribute and call save(), or save(update_fields=[...]) to write only certain columns. On MANY rows: queryset.update(...) and queryset.delete() run a single SQL statement and return how many rows were affected. Warn students that delete() cannot be undone and that rows linked with on_delete=CASCADE are deleted as well. Note that queryset.update() does not call the model's save()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plain filter(a=1, b=2) can only AND conditions together. A Q object wraps one condition so that conditions can be combined with | for OR, &amp; for AND and ~ for NOT. The results on the right are real output from the sample data: items under 20 rupees OR out of stock gives Pen and Backpack; NOT available gives Backpack.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F('field') means 'the value of that column in the database'. It lets the database do the arithmetic instead of Python. Without F you read the value into Python, change it and save it back: two queries, and if two users do this at the same time one update is lost (a race condition). With F the database performs quantity = quantity - 1 in one atomic step. F can also compare two columns inside a filter. Real result: after the update Pen's quantity went from 100 to 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Aggregation collapses many rows into one answer: how many, the total, the average, the smallest, the largest. aggregate() returns a single dictionary, so it ends the QuerySet chain. The dictionary keys are built from the field and function names, for example price__avg. The output shown is real: the average price of the four sample items is 254.5, the largest is 799 and the total stock is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aggregate() answers one question about the whole table. annotate() adds a calculated value to each object, or to each group when it follows values(). values('is_available') chooses the GROUP BY column and annotate(n=Count('id')) is the COUNT per group. The result shown is real: one unavailable item and three available. With relationships, Department.objects.annotate(n=Count('student')) gives every department an attribute n holding its number of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Useful tools for shaping a QuerySet. order_by sorts, and a minus sign means descending; you can sort by several fields. A slice such as [:3] becomes SQL LIMIT. values() and values_list() return dictionaries or plain values instead of model objects, which is lighter when you only need a few columns. distinct() removes duplicates and only() loads fewer columns. The results in the table are real output from the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N+1 problem is the most common ORM performance mistake. One query loads N students; then every s.department.name triggers one more query: N+1 queries in total. select_related() fixes it for ForeignKey and OneToOne by adding a SQL JOIN so everything arrives in one query. prefetch_related() runs one extra query and joins the results in Python, which suits many-to-many and reverse relations. Use the Django Debug Toolbar or connection.queries to count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transaction groups several database operations so that either all of them happen or none of them. The classic example is moving stock: subtract from one item and add to another. If an error happens between the two updates, atomic() rolls the first one back so the data is never left half-changed. Commit means the changes are made permanent; rollback means they are undone. By default Django runs each query in autocommit mode, so use atomic() when several steps belong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has a manager called objects. You can add your own manager to give a model ready-made queries. Here AvailableManager overrides get_queryset() so that Item.available.all() returns only available items, and the filter is written once instead of in every view. Keep the default objects manager too, otherwise you lose access to all items. This keeps query logic inside the model layer, which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checks data before it is saved. Field validators such as MinValueValidator are attached to a single field. clean() is a model method for rules that involve several fields, and it raises ValidationError. Both run automatically in the admin and in ModelForms. Important: calling save() or create() in code does NOT run them, and DRF serializers run field validators but not clean(); call full_clean() yourself when you need it. The field options max_length, unique and choices are also validation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can inherit from each other like normal Python classes. The most common kind is the abstract base class: it holds fields you want in many models, such as created_at and updated_at, and creates no table of its own. Multi-table inheritance gives each model its own table linked one-to-one, and is rarely needed. A proxy model uses the same table but changes behaviour, for example a different default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ORM covers almost everything, but sometimes you need a hand-written query: a complex report, or a feature specific to one database. Django provides raw() on a manager, which still returns model objects, and a database cursor for anything else. The one rule: pass values as parameters (%s and a list), never build the SQL string with f-strings or concatenation, because that creates SQL injection. If the ORM can do it, prefer the 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Migrations are version control for your database structure. makemigrations looks at your models and WRITES a migration file - a plan. It does not touch the database. migrate READS those files and RUNS them on the database. Analogy: makemigrations is writing the recipe, migrate is cooking it. Rule of thumb: change a model, run both commands; pull someone else's code, run migrate.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definitions for the web layer. An endpoint is the combination of a URL and an HTTP method. Middleware sits between the web server and the view and runs on every request, for example the security, session and CSRF middleware listed in settings.py.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view is simply a Python function: it receives a request and returns a response. With DRF the @api_view decorator says which HTTP methods are allowed, and the response is JSON. Walk through item_list: on GET we ask the ORM for items and return them; on POST we validate the incoming JSON with the serializer, save it and answer 201 Created, or 400 with the errors. item_detail in the repo works the same way for GET, PUT and DELETE on one item. Code is slightly shortened.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urls.py is the routing table. The root file config/urls.py hands everything under api/ to the app with include(). The app's own urls.py maps each path to a view. &lt;int:pk&gt; captures a number from the URL and passes it to the view as pk - like :id in Express. name= gives each route a nickname.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MVT the Template makes the HTML page. In an API project there is no HTML: a DRF serializer converts model objects to JSON (and JSON from the client back to objects, validating it on the way). Think of it as Mongoose-style validation plus res.json() in Express. Show the JSON on the right: it is exactly what the browser shows at /api/items/.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time (about 10 minutes). Run the server and open /api/items/. Show: list items, create one with the form at the bottom of the browsable API page, open /api/items/1/ and change it with PUT, delete it. Then show the same data in the admin. Everything is in the repository - students follow the README to run it on their own laptop. The demo script is in docs/demo-script.md.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small React app (built with Vite) lives in the frontend folder. It calls the Django API with fetch() and shows the items as cards. This is the MERN link: React on the front, Django instead of Express and MongoDB at the back. During development Vite runs on port 5173 and its proxy forwards /api to Django on port 8000, so no CORS configuration is needed. Run both servers in two terminals.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is one of Django's best features: it reads your models and builds a complete back-office for you. Steps: create a superuser (an account with all permissions - the password is not shown while typing, that is normal), register the model, run the server, open /admin/ and log in. Mention that real users should never get superuser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ModelAdmin class controls how a model looks in the admin. Add options one at a time and refresh the page to see each effect. list_display = columns, list_filter = right sidebar, search_fields = the search box, ordering = default sort, list_editable = edit fields directly in the list. The repository's admin.py also has readonly_fields and custom bulk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before we see how Django protects against each attack. Hashing is one-way: the original password cannot be recovered from the stored hash. A CSRF token is a secret random value tied to the user's session that must come back with every form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on by default. SQL injection: the ORM sends values as parameters, so user input can never become SQL. CSRF: a forged form from another site is rejected with 403 unless it carries the secret token from {% csrf_token %}. XSS: templates escape HTML so a script typed by a user is shown as text. Passwords are hashed and the XFrameOptions middleware blocks clickjacking. The repository's tests.py proves several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Revision slide: pairs that students often confuse. Project vs app: the project is the whole site, an app is one feature. makemigrations only writes the plan, migrate executes it. null is about the database, blank is about validation in forms. Static files ship with the code; media files are uploaded by users while the site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revision slide. Model vs serializer: one describes how data is stored, the other how it is sent as JSON. Function-based views are simple and explicit; ViewSets and class-based views bundle behaviour and reduce code once you understand the basics. POST creates a new resource at the collection URL, PUT replaces an existing one at its detail URL. SQLite is a file-based database for development; MySQL and PostgreSQL are client-server databases for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technical topic, shown only as a preview. To use an external database: create an empty database on the server, install the Python driver with pip, edit the DATABASES setting, and run migrate. Models, views and admin stay exactly the same - that is the benefit of the ORM. Keep real passwords in environment variables, never in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powers many well-known sites. Companies named here are commonly cited as using Django (in some cases for parts of their stack, not everything). Good fits: content and news sites, social platforms, e-commerce, REST back-ends for React or mobile apps, and data or machine-learning dashboards - because Python has a huge data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part of today's seminar - just so students know it exists. Django handles file uploads with ImageField or FileField. You need Pillow, a MEDIA_ROOT folder for saved files, enctype multipart/form-data on the form, and request.FILES in the view. The Item model already has an optional image field, and docs/image-handling.md explains it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five ideas. Then point students to the repository: README.md has the install steps, docs/github-basics.md helps with Git, and docs/demo-script.md lets them repeat the demo.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1828800"/>
          </a:xfrm>
          <a:prstGeom prst="rect">
            <a:avLst/>
          </a:prstGeom>
          <a:noFill/>
          <a:ln/>
        </p:spPr>
        <p:txBody>
          <a:bodyPr wrap="square" rtlCol="0"/>
          <a:lstStyle>
            <a:lvl1pPr indent="0" marL="0">
              <a:buNone/>
              <a:defRPr lang="en-US" sz="5600" b="1" dirty="0">
                <a:solidFill>
                  <a:schemeClr val="bg1"/>
                </a:solidFill>
              </a:defRPr>
            </a:lvl1pPr>
          </a:lstStyle>
          <a:p>
            <a:pPr indent="0" marL="0">
              <a:buNone/>
            </a:pPr>
            <a:endParaRPr lang="en-US" sz="5600" dirty="0"/>
          </a:p>
        </p:txBody>
      </p:sp>
      <p:sp>
        <p:nvSpPr>
          <p:cNvPr id="3" name="Text 0"/>
          <p:cNvSpPr/>
          <p:nvPr>
            <p:ph idx="101" type="body" hasCustomPrompt="1"/>
          </p:nvPr>
        </p:nvSpPr>
        <p:spPr>
          <a:xfrm>
            <a:off x="731520" y="3749040"/>
            <a:ext cx="6035040" cy="118872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txBox="1"/>
          <p:nvPr/>
        </p:nvSpPr>
        <p:spPr>
          <a:xfrm>
            <a:off x="548640" y="6400800"/>
            <a:ext cx="3657600" cy="274320"/>
          </a:xfrm>
          <a:prstGeom prst="rect">
            <a:avLst/>
          </a:prstGeom>
          <a:noFill/>
          <a:ln/>
        </p:spPr>
        <p:txBody>
          <a:bodyPr wrap="square" lIns="0" tIns="0" rIns="0" bIns="0" rtlCol="0" anchor="ctr"/>
          <a:lstStyle/>
          <a:p>
            <a:pPr indent="0" marL="0">
              <a:buNone/>
            </a:pPr>
            <a:r>
              <a:rPr lang="en-US" sz="1100" dirty="0">
                <a:solidFill>
                  <a:schemeClr val="accent5"/>
                </a:solidFill>
              </a:rPr>
              <a:t>Django Seminar  |  MCA</a:t>
            </a:r>
            <a:endParaRPr lang="en-US" sz="11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3.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3.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image" Target="../media/image-59-7.jpg"/><Relationship Id="rId8" Type="http://schemas.openxmlformats.org/officeDocument/2006/relationships/slideLayout" Target="../slideLayouts/slideLayout3.xml"/><Relationship Id="rId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3.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3.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3.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3.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image" Target="../media/image-70-5.png"/><Relationship Id="rId6" Type="http://schemas.openxmlformats.org/officeDocument/2006/relationships/slideLayout" Target="../slideLayouts/slideLayout4.xml"/><Relationship Id="rId7"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1828800"/>
          </a:xfrm>
          <a:prstGeom prst="rect">
            <a:avLst/>
          </a:prstGeom>
          <a:noFill/>
          <a:ln/>
        </p:spPr>
        <p:txBody>
          <a:bodyPr wrap="square" lIns="0" tIns="0" rIns="0" bIns="0" rtlCol="0" anchor="b"/>
          <a:lstStyle/>
          <a:p>
            <a:pPr indent="0" marL="0">
              <a:buNone/>
            </a:pPr>
            <a:r>
              <a:rPr lang="en-US" sz="5600" b="1" dirty="0">
                <a:solidFill>
                  <a:schemeClr val="bg1"/>
                </a:solidFill>
              </a:rPr>
              <a:t>Django Basics</a:t>
            </a:r>
            <a:endParaRPr lang="en-US" sz="5600" dirty="0"/>
          </a:p>
        </p:txBody>
      </p:sp>
      <p:sp>
        <p:nvSpPr>
          <p:cNvPr id="3" name="Text 0"/>
          <p:cNvSpPr/>
          <p:nvPr>
            <p:ph idx="101" type="body" hasCustomPrompt="1"/>
          </p:nvPr>
        </p:nvSpPr>
        <p:spPr>
          <a:xfrm>
            <a:off x="731520" y="3749040"/>
            <a:ext cx="6035040" cy="1188720"/>
          </a:xfrm>
          <a:prstGeom prst="rect">
            <a:avLst/>
          </a:prstGeom>
          <a:noFill/>
          <a:ln/>
        </p:spPr>
        <p:txBody>
          <a:bodyPr wrap="square" lIns="0" tIns="0" rIns="0" bIns="0" rtlCol="0" anchor="t"/>
          <a:lstStyle/>
          <a:p>
            <a:pPr indent="0" marL="0">
              <a:buNone/>
            </a:pPr>
            <a:r>
              <a:rPr lang="en-US" sz="2000" dirty="0">
                <a:solidFill>
                  <a:schemeClr val="accent1"/>
                </a:solidFill>
              </a:rPr>
              <a:t>Project setup, MVT, models, ORM, admin and REST framework</a:t>
            </a:r>
            <a:endParaRPr lang="en-US" sz="2000" dirty="0"/>
          </a:p>
        </p:txBody>
      </p:sp>
      <p:sp>
        <p:nvSpPr>
          <p:cNvPr id="4" name="Text 2"/>
          <p:cNvSpPr txBox="1"/>
          <p:nvPr/>
        </p:nvSpPr>
        <p:spPr>
          <a:xfrm>
            <a:off x="731520" y="5989320"/>
            <a:ext cx="6400800" cy="365760"/>
          </a:xfrm>
          <a:prstGeom prst="rect">
            <a:avLst/>
          </a:prstGeom>
          <a:noFill/>
          <a:ln/>
        </p:spPr>
        <p:txBody>
          <a:bodyPr wrap="square" lIns="0" tIns="0" rIns="0" bIns="0" rtlCol="0" anchor="t"/>
          <a:lstStyle/>
          <a:p>
            <a:pPr indent="0" marL="0">
              <a:buNone/>
            </a:pPr>
            <a:r>
              <a:rPr lang="en-US" sz="1400" dirty="0">
                <a:solidFill>
                  <a:schemeClr val="bg2"/>
                </a:solidFill>
              </a:rPr>
              <a:t>MCA seminar  |  Django + Django REST Framework</a:t>
            </a:r>
            <a:endParaRPr lang="en-US" sz="1400" dirty="0"/>
          </a:p>
        </p:txBody>
      </p:sp>
      <p:sp>
        <p:nvSpPr>
          <p:cNvPr id="5" name="terminal"/>
          <p:cNvSpPr txBox="1"/>
          <p:nvPr/>
        </p:nvSpPr>
        <p:spPr>
          <a:xfrm>
            <a:off x="7315200" y="2103120"/>
            <a:ext cx="4297680" cy="2377440"/>
          </a:xfrm>
          <a:prstGeom prst="roundRect">
            <a:avLst>
              <a:gd name="adj" fmla="val 384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(venv) &gt; python manage.py runserver</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Starting development server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http://127.0.0.1:8000/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Quit the server with CTRL-BREAK.</a:t>
            </a:r>
            <a:endParaRPr lang="en-US" sz="1400" dirty="0"/>
          </a:p>
        </p:txBody>
      </p:sp>
      <p:sp>
        <p:nvSpPr>
          <p:cNvPr id="6" name="Text 4"/>
          <p:cNvSpPr txBox="1"/>
          <p:nvPr/>
        </p:nvSpPr>
        <p:spPr>
          <a:xfrm>
            <a:off x="7315200" y="4617720"/>
            <a:ext cx="4297680" cy="365760"/>
          </a:xfrm>
          <a:prstGeom prst="rect">
            <a:avLst/>
          </a:prstGeom>
          <a:noFill/>
          <a:ln/>
        </p:spPr>
        <p:txBody>
          <a:bodyPr wrap="square" lIns="0" tIns="0" rIns="0" bIns="0" rtlCol="0" anchor="t"/>
          <a:lstStyle/>
          <a:p>
            <a:pPr indent="0" marL="0">
              <a:buNone/>
            </a:pPr>
            <a:r>
              <a:rPr lang="en-US" sz="1400" dirty="0">
                <a:solidFill>
                  <a:schemeClr val="bg2"/>
                </a:solidFill>
              </a:rPr>
              <a:t>Your first Django server in one command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we will learn</a:t>
            </a:r>
            <a:endParaRPr lang="en-US" sz="3600" dirty="0"/>
          </a:p>
        </p:txBody>
      </p:sp>
      <p:sp>
        <p:nvSpPr>
          <p:cNvPr id="4" name="agenda-card"/>
          <p:cNvSpPr/>
          <p:nvPr/>
        </p:nvSpPr>
        <p:spPr>
          <a:xfrm>
            <a:off x="548640" y="1463040"/>
            <a:ext cx="3520440" cy="2103120"/>
          </a:xfrm>
          <a:prstGeom prst="roundRect">
            <a:avLst>
              <a:gd name="adj" fmla="val 5217"/>
            </a:avLst>
          </a:prstGeom>
          <a:solidFill>
            <a:schemeClr val="bg2"/>
          </a:solidFill>
          <a:ln/>
        </p:spPr>
      </p:sp>
      <p:sp>
        <p:nvSpPr>
          <p:cNvPr id="5" name="step-number"/>
          <p:cNvSpPr txBox="1"/>
          <p:nvPr/>
        </p:nvSpPr>
        <p:spPr>
          <a:xfrm>
            <a:off x="822960"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822960"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Why Django</a:t>
            </a:r>
            <a:endParaRPr lang="en-US" sz="2200" dirty="0"/>
          </a:p>
        </p:txBody>
      </p:sp>
      <p:sp>
        <p:nvSpPr>
          <p:cNvPr id="7" name="Text 4"/>
          <p:cNvSpPr txBox="1"/>
          <p:nvPr/>
        </p:nvSpPr>
        <p:spPr>
          <a:xfrm>
            <a:off x="822960"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key terms, MVT and DRF, compared with MERN</a:t>
            </a:r>
            <a:endParaRPr lang="en-US" sz="1500" dirty="0"/>
          </a:p>
        </p:txBody>
      </p:sp>
      <p:sp>
        <p:nvSpPr>
          <p:cNvPr id="8" name="agenda-card"/>
          <p:cNvSpPr/>
          <p:nvPr/>
        </p:nvSpPr>
        <p:spPr>
          <a:xfrm>
            <a:off x="4334256" y="1463040"/>
            <a:ext cx="3520440" cy="2103120"/>
          </a:xfrm>
          <a:prstGeom prst="roundRect">
            <a:avLst>
              <a:gd name="adj" fmla="val 5217"/>
            </a:avLst>
          </a:prstGeom>
          <a:solidFill>
            <a:schemeClr val="bg2"/>
          </a:solidFill>
          <a:ln/>
        </p:spPr>
      </p:sp>
      <p:sp>
        <p:nvSpPr>
          <p:cNvPr id="9" name="step-number"/>
          <p:cNvSpPr txBox="1"/>
          <p:nvPr/>
        </p:nvSpPr>
        <p:spPr>
          <a:xfrm>
            <a:off x="4608576"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4608576"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Project setup</a:t>
            </a:r>
            <a:endParaRPr lang="en-US" sz="2200" dirty="0"/>
          </a:p>
        </p:txBody>
      </p:sp>
      <p:sp>
        <p:nvSpPr>
          <p:cNvPr id="11" name="Text 8"/>
          <p:cNvSpPr txBox="1"/>
          <p:nvPr/>
        </p:nvSpPr>
        <p:spPr>
          <a:xfrm>
            <a:off x="4608576"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virtual environment, install, project vs app, settings.py</a:t>
            </a:r>
            <a:endParaRPr lang="en-US" sz="1500" dirty="0"/>
          </a:p>
        </p:txBody>
      </p:sp>
      <p:sp>
        <p:nvSpPr>
          <p:cNvPr id="12" name="agenda-card"/>
          <p:cNvSpPr/>
          <p:nvPr/>
        </p:nvSpPr>
        <p:spPr>
          <a:xfrm>
            <a:off x="8119872" y="1463040"/>
            <a:ext cx="3520440" cy="2103120"/>
          </a:xfrm>
          <a:prstGeom prst="roundRect">
            <a:avLst>
              <a:gd name="adj" fmla="val 5217"/>
            </a:avLst>
          </a:prstGeom>
          <a:solidFill>
            <a:schemeClr val="bg2"/>
          </a:solidFill>
          <a:ln/>
        </p:spPr>
      </p:sp>
      <p:sp>
        <p:nvSpPr>
          <p:cNvPr id="13" name="step-number"/>
          <p:cNvSpPr txBox="1"/>
          <p:nvPr/>
        </p:nvSpPr>
        <p:spPr>
          <a:xfrm>
            <a:off x="8394192"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8394192"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Models and ORM</a:t>
            </a:r>
            <a:endParaRPr lang="en-US" sz="2200" dirty="0"/>
          </a:p>
        </p:txBody>
      </p:sp>
      <p:sp>
        <p:nvSpPr>
          <p:cNvPr id="15" name="Text 12"/>
          <p:cNvSpPr txBox="1"/>
          <p:nvPr/>
        </p:nvSpPr>
        <p:spPr>
          <a:xfrm>
            <a:off x="8394192"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fields, database, migrations</a:t>
            </a:r>
            <a:endParaRPr lang="en-US" sz="1500" dirty="0"/>
          </a:p>
        </p:txBody>
      </p:sp>
      <p:sp>
        <p:nvSpPr>
          <p:cNvPr id="16" name="agenda-card"/>
          <p:cNvSpPr/>
          <p:nvPr/>
        </p:nvSpPr>
        <p:spPr>
          <a:xfrm>
            <a:off x="548640" y="3840480"/>
            <a:ext cx="3520440" cy="2103120"/>
          </a:xfrm>
          <a:prstGeom prst="roundRect">
            <a:avLst>
              <a:gd name="adj" fmla="val 5217"/>
            </a:avLst>
          </a:prstGeom>
          <a:solidFill>
            <a:schemeClr val="bg2"/>
          </a:solidFill>
          <a:ln/>
        </p:spPr>
      </p:sp>
      <p:sp>
        <p:nvSpPr>
          <p:cNvPr id="17" name="step-number"/>
          <p:cNvSpPr txBox="1"/>
          <p:nvPr/>
        </p:nvSpPr>
        <p:spPr>
          <a:xfrm>
            <a:off x="822960"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5"/>
          <p:cNvSpPr txBox="1"/>
          <p:nvPr/>
        </p:nvSpPr>
        <p:spPr>
          <a:xfrm>
            <a:off x="822960"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Views, URLs, serializers</a:t>
            </a:r>
            <a:endParaRPr lang="en-US" sz="2200" dirty="0"/>
          </a:p>
        </p:txBody>
      </p:sp>
      <p:sp>
        <p:nvSpPr>
          <p:cNvPr id="19" name="Text 16"/>
          <p:cNvSpPr txBox="1"/>
          <p:nvPr/>
        </p:nvSpPr>
        <p:spPr>
          <a:xfrm>
            <a:off x="822960"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plus a working Item API and a React page</a:t>
            </a:r>
            <a:endParaRPr lang="en-US" sz="1500" dirty="0"/>
          </a:p>
        </p:txBody>
      </p:sp>
      <p:sp>
        <p:nvSpPr>
          <p:cNvPr id="20" name="agenda-card"/>
          <p:cNvSpPr/>
          <p:nvPr/>
        </p:nvSpPr>
        <p:spPr>
          <a:xfrm>
            <a:off x="4334256" y="3840480"/>
            <a:ext cx="3520440" cy="2103120"/>
          </a:xfrm>
          <a:prstGeom prst="roundRect">
            <a:avLst>
              <a:gd name="adj" fmla="val 5217"/>
            </a:avLst>
          </a:prstGeom>
          <a:solidFill>
            <a:schemeClr val="bg2"/>
          </a:solidFill>
          <a:ln/>
        </p:spPr>
      </p:sp>
      <p:sp>
        <p:nvSpPr>
          <p:cNvPr id="21" name="step-number"/>
          <p:cNvSpPr txBox="1"/>
          <p:nvPr/>
        </p:nvSpPr>
        <p:spPr>
          <a:xfrm>
            <a:off x="4608576"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19"/>
          <p:cNvSpPr txBox="1"/>
          <p:nvPr/>
        </p:nvSpPr>
        <p:spPr>
          <a:xfrm>
            <a:off x="4608576"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Admin panel</a:t>
            </a:r>
            <a:endParaRPr lang="en-US" sz="2200" dirty="0"/>
          </a:p>
        </p:txBody>
      </p:sp>
      <p:sp>
        <p:nvSpPr>
          <p:cNvPr id="23" name="Text 20"/>
          <p:cNvSpPr txBox="1"/>
          <p:nvPr/>
        </p:nvSpPr>
        <p:spPr>
          <a:xfrm>
            <a:off x="4608576"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superuser and ModelAdmin customisation</a:t>
            </a:r>
            <a:endParaRPr lang="en-US" sz="1500" dirty="0"/>
          </a:p>
        </p:txBody>
      </p:sp>
      <p:sp>
        <p:nvSpPr>
          <p:cNvPr id="24" name="agenda-card"/>
          <p:cNvSpPr/>
          <p:nvPr/>
        </p:nvSpPr>
        <p:spPr>
          <a:xfrm>
            <a:off x="8119872" y="3840480"/>
            <a:ext cx="3520440" cy="2103120"/>
          </a:xfrm>
          <a:prstGeom prst="roundRect">
            <a:avLst>
              <a:gd name="adj" fmla="val 5217"/>
            </a:avLst>
          </a:prstGeom>
          <a:solidFill>
            <a:schemeClr val="bg2"/>
          </a:solidFill>
          <a:ln/>
        </p:spPr>
      </p:sp>
      <p:sp>
        <p:nvSpPr>
          <p:cNvPr id="25" name="step-number"/>
          <p:cNvSpPr txBox="1"/>
          <p:nvPr/>
        </p:nvSpPr>
        <p:spPr>
          <a:xfrm>
            <a:off x="8394192"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 23"/>
          <p:cNvSpPr txBox="1"/>
          <p:nvPr/>
        </p:nvSpPr>
        <p:spPr>
          <a:xfrm>
            <a:off x="8394192"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Security &amp; use cases</a:t>
            </a:r>
            <a:endParaRPr lang="en-US" sz="2200" dirty="0"/>
          </a:p>
        </p:txBody>
      </p:sp>
      <p:sp>
        <p:nvSpPr>
          <p:cNvPr id="27" name="Text 24"/>
          <p:cNvSpPr txBox="1"/>
          <p:nvPr/>
        </p:nvSpPr>
        <p:spPr>
          <a:xfrm>
            <a:off x="8394192"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CSRF, XSS, SQL injection, companies using Django</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Why Django?</a:t>
            </a:r>
            <a:endParaRPr lang="en-US" sz="3600" dirty="0"/>
          </a:p>
        </p:txBody>
      </p:sp>
      <p:sp>
        <p:nvSpPr>
          <p:cNvPr id="4" name="icon-circle"/>
          <p:cNvSpPr/>
          <p:nvPr/>
        </p:nvSpPr>
        <p:spPr>
          <a:xfrm>
            <a:off x="548640" y="1508760"/>
            <a:ext cx="731520" cy="73152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731520" y="1691640"/>
            <a:ext cx="365760" cy="365760"/>
          </a:xfrm>
          <a:prstGeom prst="rect">
            <a:avLst/>
          </a:prstGeom>
        </p:spPr>
      </p:pic>
      <p:sp>
        <p:nvSpPr>
          <p:cNvPr id="6" name="Text 2"/>
          <p:cNvSpPr txBox="1"/>
          <p:nvPr/>
        </p:nvSpPr>
        <p:spPr>
          <a:xfrm>
            <a:off x="1554480" y="1463040"/>
            <a:ext cx="5760720" cy="365760"/>
          </a:xfrm>
          <a:prstGeom prst="rect">
            <a:avLst/>
          </a:prstGeom>
          <a:noFill/>
          <a:ln/>
        </p:spPr>
        <p:txBody>
          <a:bodyPr wrap="square" lIns="0" tIns="0" rIns="0" bIns="0" rtlCol="0" anchor="t"/>
          <a:lstStyle/>
          <a:p>
            <a:pPr indent="0" marL="0">
              <a:buNone/>
            </a:pPr>
            <a:r>
              <a:rPr lang="en-US" sz="2200" b="1" dirty="0">
                <a:solidFill>
                  <a:schemeClr val="tx2"/>
                </a:solidFill>
              </a:rPr>
              <a:t>Batteries included</a:t>
            </a:r>
            <a:endParaRPr lang="en-US" sz="2200" dirty="0"/>
          </a:p>
        </p:txBody>
      </p:sp>
      <p:sp>
        <p:nvSpPr>
          <p:cNvPr id="7" name="Text 3"/>
          <p:cNvSpPr txBox="1"/>
          <p:nvPr/>
        </p:nvSpPr>
        <p:spPr>
          <a:xfrm>
            <a:off x="1554480" y="1874520"/>
            <a:ext cx="5760720" cy="640080"/>
          </a:xfrm>
          <a:prstGeom prst="rect">
            <a:avLst/>
          </a:prstGeom>
          <a:noFill/>
          <a:ln/>
        </p:spPr>
        <p:txBody>
          <a:bodyPr wrap="square" lIns="0" tIns="0" rIns="0" bIns="0" rtlCol="0" anchor="t"/>
          <a:lstStyle/>
          <a:p>
            <a:pPr indent="0" marL="0">
              <a:buNone/>
            </a:pPr>
            <a:r>
              <a:rPr lang="en-US" sz="1600" dirty="0">
                <a:solidFill>
                  <a:schemeClr val="tx1"/>
                </a:solidFill>
              </a:rPr>
              <a:t>Definition: the framework ships with the common features (admin, login, ORM, forms, security) already built in.</a:t>
            </a:r>
            <a:endParaRPr lang="en-US" sz="1600" dirty="0"/>
          </a:p>
        </p:txBody>
      </p:sp>
      <p:sp>
        <p:nvSpPr>
          <p:cNvPr id="8" name="icon-circle"/>
          <p:cNvSpPr/>
          <p:nvPr/>
        </p:nvSpPr>
        <p:spPr>
          <a:xfrm>
            <a:off x="548640" y="2697480"/>
            <a:ext cx="731520" cy="731520"/>
          </a:xfrm>
          <a:prstGeom prst="ellipse">
            <a:avLst/>
          </a:prstGeom>
          <a:solidFill>
            <a:schemeClr val="tx2"/>
          </a:solidFill>
          <a:ln/>
        </p:spPr>
      </p:sp>
      <p:pic>
        <p:nvPicPr>
          <p:cNvPr id="9" name="Image 1" descr="preencoded.png">    </p:cNvPr>
          <p:cNvPicPr>
            <a:picLocks noChangeAspect="1"/>
          </p:cNvPicPr>
          <p:nvPr/>
        </p:nvPicPr>
        <p:blipFill>
          <a:blip r:embed="rId2"/>
          <a:stretch>
            <a:fillRect/>
          </a:stretch>
        </p:blipFill>
        <p:spPr>
          <a:xfrm>
            <a:off x="731520" y="2880360"/>
            <a:ext cx="365760" cy="365760"/>
          </a:xfrm>
          <a:prstGeom prst="rect">
            <a:avLst/>
          </a:prstGeom>
        </p:spPr>
      </p:pic>
      <p:sp>
        <p:nvSpPr>
          <p:cNvPr id="10" name="Text 5"/>
          <p:cNvSpPr txBox="1"/>
          <p:nvPr/>
        </p:nvSpPr>
        <p:spPr>
          <a:xfrm>
            <a:off x="1554480" y="2651760"/>
            <a:ext cx="5760720" cy="365760"/>
          </a:xfrm>
          <a:prstGeom prst="rect">
            <a:avLst/>
          </a:prstGeom>
          <a:noFill/>
          <a:ln/>
        </p:spPr>
        <p:txBody>
          <a:bodyPr wrap="square" lIns="0" tIns="0" rIns="0" bIns="0" rtlCol="0" anchor="t"/>
          <a:lstStyle/>
          <a:p>
            <a:pPr indent="0" marL="0">
              <a:buNone/>
            </a:pPr>
            <a:r>
              <a:rPr lang="en-US" sz="2200" b="1" dirty="0">
                <a:solidFill>
                  <a:schemeClr val="tx2"/>
                </a:solidFill>
              </a:rPr>
              <a:t>Fast to build</a:t>
            </a:r>
            <a:endParaRPr lang="en-US" sz="2200" dirty="0"/>
          </a:p>
        </p:txBody>
      </p:sp>
      <p:sp>
        <p:nvSpPr>
          <p:cNvPr id="11" name="Text 6"/>
          <p:cNvSpPr txBox="1"/>
          <p:nvPr/>
        </p:nvSpPr>
        <p:spPr>
          <a:xfrm>
            <a:off x="1554480" y="3063240"/>
            <a:ext cx="5760720" cy="640080"/>
          </a:xfrm>
          <a:prstGeom prst="rect">
            <a:avLst/>
          </a:prstGeom>
          <a:noFill/>
          <a:ln/>
        </p:spPr>
        <p:txBody>
          <a:bodyPr wrap="square" lIns="0" tIns="0" rIns="0" bIns="0" rtlCol="0" anchor="t"/>
          <a:lstStyle/>
          <a:p>
            <a:pPr indent="0" marL="0">
              <a:buNone/>
            </a:pPr>
            <a:r>
              <a:rPr lang="en-US" sz="1600" dirty="0">
                <a:solidFill>
                  <a:schemeClr val="tx1"/>
                </a:solidFill>
              </a:rPr>
              <a:t>A working site in minutes, with much less code than assembling libraries.</a:t>
            </a:r>
            <a:endParaRPr lang="en-US" sz="1600" dirty="0"/>
          </a:p>
        </p:txBody>
      </p:sp>
      <p:sp>
        <p:nvSpPr>
          <p:cNvPr id="12" name="icon-circle"/>
          <p:cNvSpPr/>
          <p:nvPr/>
        </p:nvSpPr>
        <p:spPr>
          <a:xfrm>
            <a:off x="548640" y="3886200"/>
            <a:ext cx="731520" cy="731520"/>
          </a:xfrm>
          <a:prstGeom prst="ellipse">
            <a:avLst/>
          </a:prstGeom>
          <a:solidFill>
            <a:schemeClr val="tx2"/>
          </a:solidFill>
          <a:ln/>
        </p:spPr>
      </p:sp>
      <p:pic>
        <p:nvPicPr>
          <p:cNvPr id="13" name="Image 2" descr="preencoded.png">    </p:cNvPr>
          <p:cNvPicPr>
            <a:picLocks noChangeAspect="1"/>
          </p:cNvPicPr>
          <p:nvPr/>
        </p:nvPicPr>
        <p:blipFill>
          <a:blip r:embed="rId3"/>
          <a:stretch>
            <a:fillRect/>
          </a:stretch>
        </p:blipFill>
        <p:spPr>
          <a:xfrm>
            <a:off x="731520" y="4069080"/>
            <a:ext cx="365760" cy="365760"/>
          </a:xfrm>
          <a:prstGeom prst="rect">
            <a:avLst/>
          </a:prstGeom>
        </p:spPr>
      </p:pic>
      <p:sp>
        <p:nvSpPr>
          <p:cNvPr id="14" name="Text 8"/>
          <p:cNvSpPr txBox="1"/>
          <p:nvPr/>
        </p:nvSpPr>
        <p:spPr>
          <a:xfrm>
            <a:off x="1554480" y="3840480"/>
            <a:ext cx="5760720" cy="365760"/>
          </a:xfrm>
          <a:prstGeom prst="rect">
            <a:avLst/>
          </a:prstGeom>
          <a:noFill/>
          <a:ln/>
        </p:spPr>
        <p:txBody>
          <a:bodyPr wrap="square" lIns="0" tIns="0" rIns="0" bIns="0" rtlCol="0" anchor="t"/>
          <a:lstStyle/>
          <a:p>
            <a:pPr indent="0" marL="0">
              <a:buNone/>
            </a:pPr>
            <a:r>
              <a:rPr lang="en-US" sz="2200" b="1" dirty="0">
                <a:solidFill>
                  <a:schemeClr val="tx2"/>
                </a:solidFill>
              </a:rPr>
              <a:t>Secure by default</a:t>
            </a:r>
            <a:endParaRPr lang="en-US" sz="2200" dirty="0"/>
          </a:p>
        </p:txBody>
      </p:sp>
      <p:sp>
        <p:nvSpPr>
          <p:cNvPr id="15" name="Text 9"/>
          <p:cNvSpPr txBox="1"/>
          <p:nvPr/>
        </p:nvSpPr>
        <p:spPr>
          <a:xfrm>
            <a:off x="1554480" y="4251960"/>
            <a:ext cx="5760720" cy="640080"/>
          </a:xfrm>
          <a:prstGeom prst="rect">
            <a:avLst/>
          </a:prstGeom>
          <a:noFill/>
          <a:ln/>
        </p:spPr>
        <p:txBody>
          <a:bodyPr wrap="square" lIns="0" tIns="0" rIns="0" bIns="0" rtlCol="0" anchor="t"/>
          <a:lstStyle/>
          <a:p>
            <a:pPr indent="0" marL="0">
              <a:buNone/>
            </a:pPr>
            <a:r>
              <a:rPr lang="en-US" sz="1600" dirty="0">
                <a:solidFill>
                  <a:schemeClr val="tx1"/>
                </a:solidFill>
              </a:rPr>
              <a:t>Protection against SQL injection, CSRF and XSS out of the box.</a:t>
            </a:r>
            <a:endParaRPr lang="en-US" sz="1600" dirty="0"/>
          </a:p>
        </p:txBody>
      </p:sp>
      <p:sp>
        <p:nvSpPr>
          <p:cNvPr id="16" name="icon-circle"/>
          <p:cNvSpPr/>
          <p:nvPr/>
        </p:nvSpPr>
        <p:spPr>
          <a:xfrm>
            <a:off x="548640" y="5074920"/>
            <a:ext cx="731520" cy="731520"/>
          </a:xfrm>
          <a:prstGeom prst="ellipse">
            <a:avLst/>
          </a:prstGeom>
          <a:solidFill>
            <a:schemeClr val="tx2"/>
          </a:solidFill>
          <a:ln/>
        </p:spPr>
      </p:sp>
      <p:pic>
        <p:nvPicPr>
          <p:cNvPr id="17" name="Image 3" descr="preencoded.png">    </p:cNvPr>
          <p:cNvPicPr>
            <a:picLocks noChangeAspect="1"/>
          </p:cNvPicPr>
          <p:nvPr/>
        </p:nvPicPr>
        <p:blipFill>
          <a:blip r:embed="rId4"/>
          <a:stretch>
            <a:fillRect/>
          </a:stretch>
        </p:blipFill>
        <p:spPr>
          <a:xfrm>
            <a:off x="731520" y="5257800"/>
            <a:ext cx="365760" cy="365760"/>
          </a:xfrm>
          <a:prstGeom prst="rect">
            <a:avLst/>
          </a:prstGeom>
        </p:spPr>
      </p:pic>
      <p:sp>
        <p:nvSpPr>
          <p:cNvPr id="18" name="Text 11"/>
          <p:cNvSpPr txBox="1"/>
          <p:nvPr/>
        </p:nvSpPr>
        <p:spPr>
          <a:xfrm>
            <a:off x="1554480" y="5029200"/>
            <a:ext cx="5760720" cy="365760"/>
          </a:xfrm>
          <a:prstGeom prst="rect">
            <a:avLst/>
          </a:prstGeom>
          <a:noFill/>
          <a:ln/>
        </p:spPr>
        <p:txBody>
          <a:bodyPr wrap="square" lIns="0" tIns="0" rIns="0" bIns="0" rtlCol="0" anchor="t"/>
          <a:lstStyle/>
          <a:p>
            <a:pPr indent="0" marL="0">
              <a:buNone/>
            </a:pPr>
            <a:r>
              <a:rPr lang="en-US" sz="2200" b="1" dirty="0">
                <a:solidFill>
                  <a:schemeClr val="tx2"/>
                </a:solidFill>
              </a:rPr>
              <a:t>Scales to real traffic</a:t>
            </a:r>
            <a:endParaRPr lang="en-US" sz="2200" dirty="0"/>
          </a:p>
        </p:txBody>
      </p:sp>
      <p:sp>
        <p:nvSpPr>
          <p:cNvPr id="19" name="Text 12"/>
          <p:cNvSpPr txBox="1"/>
          <p:nvPr/>
        </p:nvSpPr>
        <p:spPr>
          <a:xfrm>
            <a:off x="1554480" y="5440680"/>
            <a:ext cx="5760720" cy="640080"/>
          </a:xfrm>
          <a:prstGeom prst="rect">
            <a:avLst/>
          </a:prstGeom>
          <a:noFill/>
          <a:ln/>
        </p:spPr>
        <p:txBody>
          <a:bodyPr wrap="square" lIns="0" tIns="0" rIns="0" bIns="0" rtlCol="0" anchor="t"/>
          <a:lstStyle/>
          <a:p>
            <a:pPr indent="0" marL="0">
              <a:buNone/>
            </a:pPr>
            <a:r>
              <a:rPr lang="en-US" sz="1600" dirty="0">
                <a:solidFill>
                  <a:schemeClr val="tx1"/>
                </a:solidFill>
              </a:rPr>
              <a:t>Used in production by large sites such as Instagram and Pinterest.</a:t>
            </a:r>
            <a:endParaRPr lang="en-US" sz="1600" dirty="0"/>
          </a:p>
        </p:txBody>
      </p:sp>
      <p:sp>
        <p:nvSpPr>
          <p:cNvPr id="20" name="stat-panel"/>
          <p:cNvSpPr/>
          <p:nvPr/>
        </p:nvSpPr>
        <p:spPr>
          <a:xfrm>
            <a:off x="7863840" y="1417320"/>
            <a:ext cx="3776472" cy="4572000"/>
          </a:xfrm>
          <a:prstGeom prst="roundRect">
            <a:avLst>
              <a:gd name="adj" fmla="val 2906"/>
            </a:avLst>
          </a:prstGeom>
          <a:solidFill>
            <a:schemeClr val="tx2"/>
          </a:solidFill>
          <a:ln/>
        </p:spPr>
      </p:sp>
      <p:sp>
        <p:nvSpPr>
          <p:cNvPr id="21" name="Text 14"/>
          <p:cNvSpPr txBox="1"/>
          <p:nvPr/>
        </p:nvSpPr>
        <p:spPr>
          <a:xfrm>
            <a:off x="8183880" y="1691640"/>
            <a:ext cx="3200400" cy="822960"/>
          </a:xfrm>
          <a:prstGeom prst="rect">
            <a:avLst/>
          </a:prstGeom>
          <a:noFill/>
          <a:ln/>
        </p:spPr>
        <p:txBody>
          <a:bodyPr wrap="square" lIns="0" tIns="0" rIns="0" bIns="0" rtlCol="0" anchor="b"/>
          <a:lstStyle/>
          <a:p>
            <a:pPr indent="0" marL="0">
              <a:buNone/>
            </a:pPr>
            <a:r>
              <a:rPr lang="en-US" sz="4800" b="1" dirty="0">
                <a:solidFill>
                  <a:schemeClr val="bg1"/>
                </a:solidFill>
              </a:rPr>
              <a:t>2005</a:t>
            </a:r>
            <a:endParaRPr lang="en-US" sz="4800" dirty="0"/>
          </a:p>
        </p:txBody>
      </p:sp>
      <p:sp>
        <p:nvSpPr>
          <p:cNvPr id="22" name="Text 15"/>
          <p:cNvSpPr txBox="1"/>
          <p:nvPr/>
        </p:nvSpPr>
        <p:spPr>
          <a:xfrm>
            <a:off x="8183880" y="256032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first public release</a:t>
            </a:r>
            <a:endParaRPr lang="en-US" sz="1600" dirty="0"/>
          </a:p>
        </p:txBody>
      </p:sp>
      <p:sp>
        <p:nvSpPr>
          <p:cNvPr id="23" name="Text 16"/>
          <p:cNvSpPr txBox="1"/>
          <p:nvPr/>
        </p:nvSpPr>
        <p:spPr>
          <a:xfrm>
            <a:off x="8183880" y="3154680"/>
            <a:ext cx="3200400" cy="822960"/>
          </a:xfrm>
          <a:prstGeom prst="rect">
            <a:avLst/>
          </a:prstGeom>
          <a:noFill/>
          <a:ln/>
        </p:spPr>
        <p:txBody>
          <a:bodyPr wrap="square" lIns="0" tIns="0" rIns="0" bIns="0" rtlCol="0" anchor="b"/>
          <a:lstStyle/>
          <a:p>
            <a:pPr indent="0" marL="0">
              <a:buNone/>
            </a:pPr>
            <a:r>
              <a:rPr lang="en-US" sz="4800" b="1" dirty="0">
                <a:solidFill>
                  <a:schemeClr val="bg1"/>
                </a:solidFill>
              </a:rPr>
              <a:t>BSD</a:t>
            </a:r>
            <a:endParaRPr lang="en-US" sz="4800" dirty="0"/>
          </a:p>
        </p:txBody>
      </p:sp>
      <p:sp>
        <p:nvSpPr>
          <p:cNvPr id="24" name="Text 17"/>
          <p:cNvSpPr txBox="1"/>
          <p:nvPr/>
        </p:nvSpPr>
        <p:spPr>
          <a:xfrm>
            <a:off x="8183880" y="402336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free, open-source licence</a:t>
            </a:r>
            <a:endParaRPr lang="en-US" sz="1600" dirty="0"/>
          </a:p>
        </p:txBody>
      </p:sp>
      <p:sp>
        <p:nvSpPr>
          <p:cNvPr id="25" name="Text 18"/>
          <p:cNvSpPr txBox="1"/>
          <p:nvPr/>
        </p:nvSpPr>
        <p:spPr>
          <a:xfrm>
            <a:off x="8183880" y="4617720"/>
            <a:ext cx="3200400" cy="822960"/>
          </a:xfrm>
          <a:prstGeom prst="rect">
            <a:avLst/>
          </a:prstGeom>
          <a:noFill/>
          <a:ln/>
        </p:spPr>
        <p:txBody>
          <a:bodyPr wrap="square" lIns="0" tIns="0" rIns="0" bIns="0" rtlCol="0" anchor="b"/>
          <a:lstStyle/>
          <a:p>
            <a:pPr indent="0" marL="0">
              <a:buNone/>
            </a:pPr>
            <a:r>
              <a:rPr lang="en-US" sz="4800" b="1" dirty="0">
                <a:solidFill>
                  <a:schemeClr val="bg1"/>
                </a:solidFill>
              </a:rPr>
              <a:t>5.2 LTS</a:t>
            </a:r>
            <a:endParaRPr lang="en-US" sz="4800" dirty="0"/>
          </a:p>
        </p:txBody>
      </p:sp>
      <p:sp>
        <p:nvSpPr>
          <p:cNvPr id="26" name="Text 19"/>
          <p:cNvSpPr txBox="1"/>
          <p:nvPr/>
        </p:nvSpPr>
        <p:spPr>
          <a:xfrm>
            <a:off x="8183880" y="548640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version used in this seminar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vs the MERN stack</a:t>
            </a:r>
            <a:endParaRPr lang="en-US" sz="36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103120"/>
                <a:gridCol w="4480560"/>
                <a:gridCol w="4507992"/>
              </a:tblGrid>
              <a:tr h="566928">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MERN stack</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500" b="1" dirty="0">
                          <a:solidFill>
                            <a:schemeClr val="tx1"/>
                          </a:solidFill>
                        </a:rPr>
                        <a:t>Language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JavaScript everywhere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Python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Approach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Assemble libraries yourself (Express, Mongoose, React)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One framework with batteries included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MongoDB (NoSQL, documents)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SQL by default (SQLite, PostgreSQL, MySQL)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Frontend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React single-page app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HTML templates rendered on the 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Admin panel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Build it yourself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 generated from your models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Authentication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Passport / JWT libraries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Built in (users, groups, permissions)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577840"/>
            <a:ext cx="11091672" cy="594360"/>
          </a:xfrm>
          <a:prstGeom prst="roundRect">
            <a:avLst>
              <a:gd name="adj" fmla="val 18462"/>
            </a:avLst>
          </a:prstGeom>
          <a:solidFill>
            <a:schemeClr val="bg2"/>
          </a:solidFill>
          <a:ln/>
        </p:spPr>
      </p:sp>
      <p:sp>
        <p:nvSpPr>
          <p:cNvPr id="6" name="Text 2"/>
          <p:cNvSpPr txBox="1"/>
          <p:nvPr/>
        </p:nvSpPr>
        <p:spPr>
          <a:xfrm>
            <a:off x="822960" y="5577840"/>
            <a:ext cx="10543032" cy="594360"/>
          </a:xfrm>
          <a:prstGeom prst="rect">
            <a:avLst/>
          </a:prstGeom>
          <a:noFill/>
          <a:ln/>
        </p:spPr>
        <p:txBody>
          <a:bodyPr wrap="square" lIns="0" tIns="0" rIns="0" bIns="0" rtlCol="0" anchor="ctr"/>
          <a:lstStyle/>
          <a:p>
            <a:pPr indent="0" marL="0">
              <a:buNone/>
            </a:pPr>
            <a:r>
              <a:rPr lang="en-US" sz="1600" dirty="0">
                <a:solidFill>
                  <a:schemeClr val="tx1"/>
                </a:solidFill>
              </a:rPr>
              <a:t>Not either / or: a React frontend plus a Django REST API is a very common combination.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the basics</a:t>
            </a:r>
            <a:endParaRPr lang="en-US" sz="3600" dirty="0"/>
          </a:p>
        </p:txBody>
      </p:sp>
      <p:sp>
        <p:nvSpPr>
          <p:cNvPr id="4" name="term-card"/>
          <p:cNvSpPr/>
          <p:nvPr/>
        </p:nvSpPr>
        <p:spPr>
          <a:xfrm>
            <a:off x="548640" y="1371600"/>
            <a:ext cx="3520440" cy="2194560"/>
          </a:xfrm>
          <a:prstGeom prst="roundRect">
            <a:avLst>
              <a:gd name="adj" fmla="val 5000"/>
            </a:avLst>
          </a:prstGeom>
          <a:solidFill>
            <a:schemeClr val="bg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Framework</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ready-made structure and toolset for building apps. It handles common tasks so you write only your own logic.</a:t>
            </a:r>
            <a:endParaRPr lang="en-US" sz="1600" dirty="0"/>
          </a:p>
        </p:txBody>
      </p:sp>
      <p:sp>
        <p:nvSpPr>
          <p:cNvPr id="7" name="term-card"/>
          <p:cNvSpPr/>
          <p:nvPr/>
        </p:nvSpPr>
        <p:spPr>
          <a:xfrm>
            <a:off x="4334256" y="1371600"/>
            <a:ext cx="3520440" cy="2194560"/>
          </a:xfrm>
          <a:prstGeom prst="roundRect">
            <a:avLst>
              <a:gd name="adj" fmla="val 5000"/>
            </a:avLst>
          </a:prstGeom>
          <a:solidFill>
            <a:schemeClr val="tx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Batteries included</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A framework that ships with the common features built in: admin panel, login, ORM, forms and security.</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Django</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free, open-source Python web framework for building secure, maintainable websites quickly.</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MVT</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Model - View - Template. Django's pattern: Model = data, View = logic, Template = what the user sees.</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Virtual environment</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isolated folder of Python packages for one project, so different projects do not clash.</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pip</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Python's package installer, like npm. requirements.txt is the equivalent of package.json.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MVT explained with a restaurant</a:t>
            </a:r>
            <a:endParaRPr lang="en-US" sz="3600" dirty="0"/>
          </a:p>
        </p:txBody>
      </p:sp>
      <p:sp>
        <p:nvSpPr>
          <p:cNvPr id="4" name="diagram-box"/>
          <p:cNvSpPr txBox="1"/>
          <p:nvPr/>
        </p:nvSpPr>
        <p:spPr>
          <a:xfrm>
            <a:off x="548640" y="1417320"/>
            <a:ext cx="2377440" cy="1097280"/>
          </a:xfrm>
          <a:prstGeom prst="roundRect">
            <a:avLst>
              <a:gd name="adj" fmla="val 10000"/>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Customer</a:t>
            </a:r>
            <a:endParaRPr lang="en-US" sz="2000" dirty="0"/>
          </a:p>
          <a:p>
            <a:pPr algn="ctr" indent="0" marL="0">
              <a:buNone/>
            </a:pPr>
            <a:r>
              <a:rPr lang="en-US" sz="1400" dirty="0">
                <a:solidFill>
                  <a:schemeClr val="tx2"/>
                </a:solidFill>
              </a:rPr>
              <a:t>the browser</a:t>
            </a:r>
            <a:endParaRPr lang="en-US" sz="2000" dirty="0"/>
          </a:p>
        </p:txBody>
      </p:sp>
      <p:sp>
        <p:nvSpPr>
          <p:cNvPr id="5" name="diagram-box"/>
          <p:cNvSpPr txBox="1"/>
          <p:nvPr/>
        </p:nvSpPr>
        <p:spPr>
          <a:xfrm>
            <a:off x="3447288" y="1417320"/>
            <a:ext cx="2377440" cy="1097280"/>
          </a:xfrm>
          <a:prstGeom prst="roundRect">
            <a:avLst>
              <a:gd name="adj" fmla="val 10000"/>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Waiter</a:t>
            </a:r>
            <a:endParaRPr lang="en-US" sz="2000" dirty="0"/>
          </a:p>
          <a:p>
            <a:pPr algn="ctr" indent="0" marL="0">
              <a:buNone/>
            </a:pPr>
            <a:r>
              <a:rPr lang="en-US" sz="1400" dirty="0">
                <a:solidFill>
                  <a:schemeClr val="tx2"/>
                </a:solidFill>
              </a:rPr>
              <a:t>urls.py</a:t>
            </a:r>
            <a:endParaRPr lang="en-US" sz="2000" dirty="0"/>
          </a:p>
        </p:txBody>
      </p:sp>
      <p:sp>
        <p:nvSpPr>
          <p:cNvPr id="6" name="diagram-box"/>
          <p:cNvSpPr txBox="1"/>
          <p:nvPr/>
        </p:nvSpPr>
        <p:spPr>
          <a:xfrm>
            <a:off x="6345936" y="1417320"/>
            <a:ext cx="2377440" cy="1097280"/>
          </a:xfrm>
          <a:prstGeom prst="roundRect">
            <a:avLst>
              <a:gd name="adj" fmla="val 10000"/>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Chef</a:t>
            </a:r>
            <a:endParaRPr lang="en-US" sz="2000" dirty="0"/>
          </a:p>
          <a:p>
            <a:pPr algn="ctr" indent="0" marL="0">
              <a:buNone/>
            </a:pPr>
            <a:r>
              <a:rPr lang="en-US" sz="1400" dirty="0">
                <a:solidFill>
                  <a:schemeClr val="bg1"/>
                </a:solidFill>
              </a:rPr>
              <a:t>the View (views.py)</a:t>
            </a:r>
            <a:endParaRPr lang="en-US" sz="2000" dirty="0"/>
          </a:p>
        </p:txBody>
      </p:sp>
      <p:sp>
        <p:nvSpPr>
          <p:cNvPr id="7" name="diagram-box"/>
          <p:cNvSpPr txBox="1"/>
          <p:nvPr/>
        </p:nvSpPr>
        <p:spPr>
          <a:xfrm>
            <a:off x="9244584" y="1417320"/>
            <a:ext cx="2395728" cy="1097280"/>
          </a:xfrm>
          <a:prstGeom prst="roundRect">
            <a:avLst>
              <a:gd name="adj" fmla="val 10000"/>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Pantry</a:t>
            </a:r>
            <a:endParaRPr lang="en-US" sz="2000" dirty="0"/>
          </a:p>
          <a:p>
            <a:pPr algn="ctr" indent="0" marL="0">
              <a:buNone/>
            </a:pPr>
            <a:r>
              <a:rPr lang="en-US" sz="1400" dirty="0">
                <a:solidFill>
                  <a:schemeClr val="bg1"/>
                </a:solidFill>
              </a:rPr>
              <a:t>the Model + database</a:t>
            </a:r>
            <a:endParaRPr lang="en-US" sz="2000" dirty="0"/>
          </a:p>
        </p:txBody>
      </p:sp>
      <p:sp>
        <p:nvSpPr>
          <p:cNvPr id="8" name="diagram-box"/>
          <p:cNvSpPr txBox="1"/>
          <p:nvPr/>
        </p:nvSpPr>
        <p:spPr>
          <a:xfrm>
            <a:off x="6345936" y="3154680"/>
            <a:ext cx="2377440" cy="1097280"/>
          </a:xfrm>
          <a:prstGeom prst="roundRect">
            <a:avLst>
              <a:gd name="adj" fmla="val 10000"/>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Finished dish</a:t>
            </a:r>
            <a:endParaRPr lang="en-US" sz="2000" dirty="0"/>
          </a:p>
          <a:p>
            <a:pPr algn="ctr" indent="0" marL="0">
              <a:buNone/>
            </a:pPr>
            <a:r>
              <a:rPr lang="en-US" sz="1400" dirty="0">
                <a:solidFill>
                  <a:schemeClr val="bg1"/>
                </a:solidFill>
              </a:rPr>
              <a:t>the Template (or JSON)</a:t>
            </a:r>
            <a:endParaRPr lang="en-US" sz="2000" dirty="0"/>
          </a:p>
        </p:txBody>
      </p:sp>
      <p:sp>
        <p:nvSpPr>
          <p:cNvPr id="9" name="arrow"/>
          <p:cNvSpPr/>
          <p:nvPr/>
        </p:nvSpPr>
        <p:spPr>
          <a:xfrm>
            <a:off x="2926080" y="1965960"/>
            <a:ext cx="521208" cy="0"/>
          </a:xfrm>
          <a:prstGeom prst="line">
            <a:avLst/>
          </a:prstGeom>
          <a:noFill/>
          <a:ln w="28575">
            <a:solidFill>
              <a:schemeClr val="tx2"/>
            </a:solidFill>
            <a:prstDash val="solid"/>
            <a:tailEnd type="triangle"/>
          </a:ln>
        </p:spPr>
      </p:sp>
      <p:sp>
        <p:nvSpPr>
          <p:cNvPr id="10" name="arrow"/>
          <p:cNvSpPr/>
          <p:nvPr/>
        </p:nvSpPr>
        <p:spPr>
          <a:xfrm>
            <a:off x="5824728" y="1965960"/>
            <a:ext cx="521208" cy="0"/>
          </a:xfrm>
          <a:prstGeom prst="line">
            <a:avLst/>
          </a:prstGeom>
          <a:noFill/>
          <a:ln w="28575">
            <a:solidFill>
              <a:schemeClr val="tx2"/>
            </a:solidFill>
            <a:prstDash val="solid"/>
            <a:tailEnd type="triangle"/>
          </a:ln>
        </p:spPr>
      </p:sp>
      <p:sp>
        <p:nvSpPr>
          <p:cNvPr id="11" name="arrow"/>
          <p:cNvSpPr/>
          <p:nvPr/>
        </p:nvSpPr>
        <p:spPr>
          <a:xfrm>
            <a:off x="8723376" y="1965960"/>
            <a:ext cx="521208" cy="0"/>
          </a:xfrm>
          <a:prstGeom prst="line">
            <a:avLst/>
          </a:prstGeom>
          <a:noFill/>
          <a:ln w="28575">
            <a:solidFill>
              <a:schemeClr val="tx2"/>
            </a:solidFill>
            <a:prstDash val="solid"/>
            <a:headEnd type="triangle"/>
            <a:tailEnd type="triangle"/>
          </a:ln>
        </p:spPr>
      </p:sp>
      <p:sp>
        <p:nvSpPr>
          <p:cNvPr id="12" name="arrow"/>
          <p:cNvSpPr/>
          <p:nvPr/>
        </p:nvSpPr>
        <p:spPr>
          <a:xfrm>
            <a:off x="7534656" y="2514600"/>
            <a:ext cx="0" cy="640080"/>
          </a:xfrm>
          <a:prstGeom prst="line">
            <a:avLst/>
          </a:prstGeom>
          <a:noFill/>
          <a:ln w="28575">
            <a:solidFill>
              <a:schemeClr val="tx2"/>
            </a:solidFill>
            <a:prstDash val="solid"/>
            <a:tailEnd type="triangle"/>
          </a:ln>
        </p:spPr>
      </p:sp>
      <p:sp>
        <p:nvSpPr>
          <p:cNvPr id="13" name="arrow"/>
          <p:cNvSpPr/>
          <p:nvPr/>
        </p:nvSpPr>
        <p:spPr>
          <a:xfrm flipH="1">
            <a:off x="1737360" y="3703320"/>
            <a:ext cx="4608576" cy="0"/>
          </a:xfrm>
          <a:prstGeom prst="line">
            <a:avLst/>
          </a:prstGeom>
          <a:noFill/>
          <a:ln w="28575">
            <a:solidFill>
              <a:schemeClr val="tx2"/>
            </a:solidFill>
            <a:prstDash val="solid"/>
          </a:ln>
        </p:spPr>
      </p:sp>
      <p:sp>
        <p:nvSpPr>
          <p:cNvPr id="14" name="arrow"/>
          <p:cNvSpPr/>
          <p:nvPr/>
        </p:nvSpPr>
        <p:spPr>
          <a:xfrm flipV="1">
            <a:off x="1737360" y="2514600"/>
            <a:ext cx="0" cy="1188720"/>
          </a:xfrm>
          <a:prstGeom prst="line">
            <a:avLst/>
          </a:prstGeom>
          <a:noFill/>
          <a:ln w="28575">
            <a:solidFill>
              <a:schemeClr val="tx2"/>
            </a:solidFill>
            <a:prstDash val="solid"/>
            <a:tailEnd type="triangle"/>
          </a:ln>
        </p:spPr>
      </p:sp>
      <p:sp>
        <p:nvSpPr>
          <p:cNvPr id="15" name="Text 12"/>
          <p:cNvSpPr txBox="1"/>
          <p:nvPr/>
        </p:nvSpPr>
        <p:spPr>
          <a:xfrm>
            <a:off x="2926080" y="1600200"/>
            <a:ext cx="521208" cy="274320"/>
          </a:xfrm>
          <a:prstGeom prst="rect">
            <a:avLst/>
          </a:prstGeom>
          <a:noFill/>
          <a:ln/>
        </p:spPr>
        <p:txBody>
          <a:bodyPr wrap="square" lIns="0" tIns="0" rIns="0" bIns="0" rtlCol="0" anchor="t"/>
          <a:lstStyle/>
          <a:p>
            <a:pPr algn="ctr" indent="0" marL="0">
              <a:buNone/>
            </a:pPr>
            <a:r>
              <a:rPr lang="en-US" sz="1200" dirty="0">
                <a:solidFill>
                  <a:schemeClr val="accent5"/>
                </a:solidFill>
              </a:rPr>
              <a:t>orders</a:t>
            </a:r>
            <a:endParaRPr lang="en-US" sz="1200" dirty="0"/>
          </a:p>
        </p:txBody>
      </p:sp>
      <p:sp>
        <p:nvSpPr>
          <p:cNvPr id="16" name="Text 13"/>
          <p:cNvSpPr txBox="1"/>
          <p:nvPr/>
        </p:nvSpPr>
        <p:spPr>
          <a:xfrm>
            <a:off x="2011680" y="3383280"/>
            <a:ext cx="4114800" cy="274320"/>
          </a:xfrm>
          <a:prstGeom prst="rect">
            <a:avLst/>
          </a:prstGeom>
          <a:noFill/>
          <a:ln/>
        </p:spPr>
        <p:txBody>
          <a:bodyPr wrap="square" lIns="0" tIns="0" rIns="0" bIns="0" rtlCol="0" anchor="t"/>
          <a:lstStyle/>
          <a:p>
            <a:pPr algn="ctr" indent="0" marL="0">
              <a:buNone/>
            </a:pPr>
            <a:r>
              <a:rPr lang="en-US" sz="1400" b="1" dirty="0">
                <a:solidFill>
                  <a:schemeClr val="tx2"/>
                </a:solidFill>
              </a:rPr>
              <a:t>serves the dish</a:t>
            </a:r>
            <a:endParaRPr lang="en-US" sz="1400" dirty="0"/>
          </a:p>
        </p:txBody>
      </p:sp>
      <p:sp>
        <p:nvSpPr>
          <p:cNvPr id="17" name="def-card"/>
          <p:cNvSpPr/>
          <p:nvPr/>
        </p:nvSpPr>
        <p:spPr>
          <a:xfrm>
            <a:off x="548640" y="4526280"/>
            <a:ext cx="3566160" cy="1554480"/>
          </a:xfrm>
          <a:prstGeom prst="roundRect">
            <a:avLst>
              <a:gd name="adj" fmla="val 7059"/>
            </a:avLst>
          </a:prstGeom>
          <a:solidFill>
            <a:schemeClr val="bg2"/>
          </a:solidFill>
          <a:ln/>
        </p:spPr>
      </p:sp>
      <p:sp>
        <p:nvSpPr>
          <p:cNvPr id="18" name="Text 15"/>
          <p:cNvSpPr txBox="1"/>
          <p:nvPr/>
        </p:nvSpPr>
        <p:spPr>
          <a:xfrm>
            <a:off x="777240" y="4663440"/>
            <a:ext cx="3108960" cy="365760"/>
          </a:xfrm>
          <a:prstGeom prst="rect">
            <a:avLst/>
          </a:prstGeom>
          <a:noFill/>
          <a:ln/>
        </p:spPr>
        <p:txBody>
          <a:bodyPr wrap="square" lIns="0" tIns="0" rIns="0" bIns="0" rtlCol="0" anchor="t"/>
          <a:lstStyle/>
          <a:p>
            <a:pPr indent="0" marL="0">
              <a:buNone/>
            </a:pPr>
            <a:r>
              <a:rPr lang="en-US" sz="1800" b="1" dirty="0">
                <a:solidFill>
                  <a:schemeClr val="tx2"/>
                </a:solidFill>
              </a:rPr>
              <a:t>Model = the data</a:t>
            </a:r>
            <a:endParaRPr lang="en-US" sz="1800" dirty="0"/>
          </a:p>
        </p:txBody>
      </p:sp>
      <p:sp>
        <p:nvSpPr>
          <p:cNvPr id="19" name="Text 16"/>
          <p:cNvSpPr txBox="1"/>
          <p:nvPr/>
        </p:nvSpPr>
        <p:spPr>
          <a:xfrm>
            <a:off x="777240" y="5074920"/>
            <a:ext cx="3108960" cy="914400"/>
          </a:xfrm>
          <a:prstGeom prst="rect">
            <a:avLst/>
          </a:prstGeom>
          <a:noFill/>
          <a:ln/>
        </p:spPr>
        <p:txBody>
          <a:bodyPr wrap="square" lIns="0" tIns="0" rIns="0" bIns="0" rtlCol="0" anchor="t"/>
          <a:lstStyle/>
          <a:p>
            <a:pPr indent="0" marL="0">
              <a:buNone/>
            </a:pPr>
            <a:r>
              <a:rPr lang="en-US" sz="1500" dirty="0">
                <a:solidFill>
                  <a:schemeClr val="tx1"/>
                </a:solidFill>
              </a:rPr>
              <a:t>Stores and retrieves the data. It knows nothing about the screen.</a:t>
            </a:r>
            <a:endParaRPr lang="en-US" sz="1500" dirty="0"/>
          </a:p>
        </p:txBody>
      </p:sp>
      <p:sp>
        <p:nvSpPr>
          <p:cNvPr id="20" name="def-card"/>
          <p:cNvSpPr/>
          <p:nvPr/>
        </p:nvSpPr>
        <p:spPr>
          <a:xfrm>
            <a:off x="4311396" y="4526280"/>
            <a:ext cx="3566160" cy="1554480"/>
          </a:xfrm>
          <a:prstGeom prst="roundRect">
            <a:avLst>
              <a:gd name="adj" fmla="val 7059"/>
            </a:avLst>
          </a:prstGeom>
          <a:solidFill>
            <a:schemeClr val="bg2"/>
          </a:solidFill>
          <a:ln/>
        </p:spPr>
      </p:sp>
      <p:sp>
        <p:nvSpPr>
          <p:cNvPr id="21" name="Text 18"/>
          <p:cNvSpPr txBox="1"/>
          <p:nvPr/>
        </p:nvSpPr>
        <p:spPr>
          <a:xfrm>
            <a:off x="4539996" y="4663440"/>
            <a:ext cx="3108960" cy="365760"/>
          </a:xfrm>
          <a:prstGeom prst="rect">
            <a:avLst/>
          </a:prstGeom>
          <a:noFill/>
          <a:ln/>
        </p:spPr>
        <p:txBody>
          <a:bodyPr wrap="square" lIns="0" tIns="0" rIns="0" bIns="0" rtlCol="0" anchor="t"/>
          <a:lstStyle/>
          <a:p>
            <a:pPr indent="0" marL="0">
              <a:buNone/>
            </a:pPr>
            <a:r>
              <a:rPr lang="en-US" sz="1800" b="1" dirty="0">
                <a:solidFill>
                  <a:schemeClr val="tx2"/>
                </a:solidFill>
              </a:rPr>
              <a:t>View = the logic</a:t>
            </a:r>
            <a:endParaRPr lang="en-US" sz="1800" dirty="0"/>
          </a:p>
        </p:txBody>
      </p:sp>
      <p:sp>
        <p:nvSpPr>
          <p:cNvPr id="22" name="Text 19"/>
          <p:cNvSpPr txBox="1"/>
          <p:nvPr/>
        </p:nvSpPr>
        <p:spPr>
          <a:xfrm>
            <a:off x="4539996" y="5074920"/>
            <a:ext cx="3108960" cy="914400"/>
          </a:xfrm>
          <a:prstGeom prst="rect">
            <a:avLst/>
          </a:prstGeom>
          <a:noFill/>
          <a:ln/>
        </p:spPr>
        <p:txBody>
          <a:bodyPr wrap="square" lIns="0" tIns="0" rIns="0" bIns="0" rtlCol="0" anchor="t"/>
          <a:lstStyle/>
          <a:p>
            <a:pPr indent="0" marL="0">
              <a:buNone/>
            </a:pPr>
            <a:r>
              <a:rPr lang="en-US" sz="1500" dirty="0">
                <a:solidFill>
                  <a:schemeClr val="tx1"/>
                </a:solidFill>
              </a:rPr>
              <a:t>Receives the request, decides what data is needed and what to send back.</a:t>
            </a:r>
            <a:endParaRPr lang="en-US" sz="1500" dirty="0"/>
          </a:p>
        </p:txBody>
      </p:sp>
      <p:sp>
        <p:nvSpPr>
          <p:cNvPr id="23" name="def-card"/>
          <p:cNvSpPr/>
          <p:nvPr/>
        </p:nvSpPr>
        <p:spPr>
          <a:xfrm>
            <a:off x="8074152" y="4526280"/>
            <a:ext cx="3566160" cy="1554480"/>
          </a:xfrm>
          <a:prstGeom prst="roundRect">
            <a:avLst>
              <a:gd name="adj" fmla="val 7059"/>
            </a:avLst>
          </a:prstGeom>
          <a:solidFill>
            <a:schemeClr val="bg2"/>
          </a:solidFill>
          <a:ln/>
        </p:spPr>
      </p:sp>
      <p:sp>
        <p:nvSpPr>
          <p:cNvPr id="24" name="Text 21"/>
          <p:cNvSpPr txBox="1"/>
          <p:nvPr/>
        </p:nvSpPr>
        <p:spPr>
          <a:xfrm>
            <a:off x="8302752" y="4663440"/>
            <a:ext cx="3108960" cy="365760"/>
          </a:xfrm>
          <a:prstGeom prst="rect">
            <a:avLst/>
          </a:prstGeom>
          <a:noFill/>
          <a:ln/>
        </p:spPr>
        <p:txBody>
          <a:bodyPr wrap="square" lIns="0" tIns="0" rIns="0" bIns="0" rtlCol="0" anchor="t"/>
          <a:lstStyle/>
          <a:p>
            <a:pPr indent="0" marL="0">
              <a:buNone/>
            </a:pPr>
            <a:r>
              <a:rPr lang="en-US" sz="1800" b="1" dirty="0">
                <a:solidFill>
                  <a:schemeClr val="tx2"/>
                </a:solidFill>
              </a:rPr>
              <a:t>Template = the presentation</a:t>
            </a:r>
            <a:endParaRPr lang="en-US" sz="1800" dirty="0"/>
          </a:p>
        </p:txBody>
      </p:sp>
      <p:sp>
        <p:nvSpPr>
          <p:cNvPr id="25" name="Text 22"/>
          <p:cNvSpPr txBox="1"/>
          <p:nvPr/>
        </p:nvSpPr>
        <p:spPr>
          <a:xfrm>
            <a:off x="8302752" y="5074920"/>
            <a:ext cx="3108960" cy="914400"/>
          </a:xfrm>
          <a:prstGeom prst="rect">
            <a:avLst/>
          </a:prstGeom>
          <a:noFill/>
          <a:ln/>
        </p:spPr>
        <p:txBody>
          <a:bodyPr wrap="square" lIns="0" tIns="0" rIns="0" bIns="0" rtlCol="0" anchor="t"/>
          <a:lstStyle/>
          <a:p>
            <a:pPr indent="0" marL="0">
              <a:buNone/>
            </a:pPr>
            <a:r>
              <a:rPr lang="en-US" sz="1500" dirty="0">
                <a:solidFill>
                  <a:schemeClr val="tx1"/>
                </a:solidFill>
              </a:rPr>
              <a:t>Decides how the result looks: an HTML page, or JSON in an API.</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MVT architecture</a:t>
            </a:r>
            <a:endParaRPr lang="en-US" sz="3600" dirty="0"/>
          </a:p>
        </p:txBody>
      </p:sp>
      <p:sp>
        <p:nvSpPr>
          <p:cNvPr id="4" name="diagram-box"/>
          <p:cNvSpPr txBox="1"/>
          <p:nvPr/>
        </p:nvSpPr>
        <p:spPr>
          <a:xfrm>
            <a:off x="548640" y="146304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Browser</a:t>
            </a:r>
            <a:endParaRPr lang="en-US" sz="2000" dirty="0"/>
          </a:p>
          <a:p>
            <a:pPr algn="ctr" indent="0" marL="0">
              <a:buNone/>
            </a:pPr>
            <a:r>
              <a:rPr lang="en-US" sz="1400" dirty="0">
                <a:solidFill>
                  <a:schemeClr val="tx2"/>
                </a:solidFill>
              </a:rPr>
              <a:t>user clicks a link</a:t>
            </a:r>
            <a:endParaRPr lang="en-US" sz="2000" dirty="0"/>
          </a:p>
        </p:txBody>
      </p:sp>
      <p:sp>
        <p:nvSpPr>
          <p:cNvPr id="5" name="diagram-box"/>
          <p:cNvSpPr txBox="1"/>
          <p:nvPr/>
        </p:nvSpPr>
        <p:spPr>
          <a:xfrm>
            <a:off x="3520440" y="146304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urls.py</a:t>
            </a:r>
            <a:endParaRPr lang="en-US" sz="2000" dirty="0"/>
          </a:p>
          <a:p>
            <a:pPr algn="ctr" indent="0" marL="0">
              <a:buNone/>
            </a:pPr>
            <a:r>
              <a:rPr lang="en-US" sz="1400" dirty="0">
                <a:solidFill>
                  <a:schemeClr val="tx2"/>
                </a:solidFill>
              </a:rPr>
              <a:t>URL -&gt; view</a:t>
            </a:r>
            <a:endParaRPr lang="en-US" sz="2000" dirty="0"/>
          </a:p>
        </p:txBody>
      </p:sp>
      <p:sp>
        <p:nvSpPr>
          <p:cNvPr id="6" name="diagram-box"/>
          <p:cNvSpPr txBox="1"/>
          <p:nvPr/>
        </p:nvSpPr>
        <p:spPr>
          <a:xfrm>
            <a:off x="6492240" y="146304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views.py</a:t>
            </a:r>
            <a:endParaRPr lang="en-US" sz="2000" dirty="0"/>
          </a:p>
          <a:p>
            <a:pPr algn="ctr" indent="0" marL="0">
              <a:buNone/>
            </a:pPr>
            <a:r>
              <a:rPr lang="en-US" sz="1400" dirty="0">
                <a:solidFill>
                  <a:schemeClr val="bg1"/>
                </a:solidFill>
              </a:rPr>
              <a:t>the logic (V)</a:t>
            </a:r>
            <a:endParaRPr lang="en-US" sz="2000" dirty="0"/>
          </a:p>
        </p:txBody>
      </p:sp>
      <p:sp>
        <p:nvSpPr>
          <p:cNvPr id="7" name="diagram-box"/>
          <p:cNvSpPr txBox="1"/>
          <p:nvPr/>
        </p:nvSpPr>
        <p:spPr>
          <a:xfrm>
            <a:off x="9445752" y="146304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models.py</a:t>
            </a:r>
            <a:endParaRPr lang="en-US" sz="2000" dirty="0"/>
          </a:p>
          <a:p>
            <a:pPr algn="ctr" indent="0" marL="0">
              <a:buNone/>
            </a:pPr>
            <a:r>
              <a:rPr lang="en-US" sz="1400" dirty="0">
                <a:solidFill>
                  <a:schemeClr val="bg1"/>
                </a:solidFill>
              </a:rPr>
              <a:t>the data (M)</a:t>
            </a:r>
            <a:endParaRPr lang="en-US" sz="2000" dirty="0"/>
          </a:p>
        </p:txBody>
      </p:sp>
      <p:sp>
        <p:nvSpPr>
          <p:cNvPr id="8" name="diagram-box"/>
          <p:cNvSpPr txBox="1"/>
          <p:nvPr/>
        </p:nvSpPr>
        <p:spPr>
          <a:xfrm>
            <a:off x="6492240" y="315468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Template / JSON</a:t>
            </a:r>
            <a:endParaRPr lang="en-US" sz="2000" dirty="0"/>
          </a:p>
          <a:p>
            <a:pPr algn="ctr" indent="0" marL="0">
              <a:buNone/>
            </a:pPr>
            <a:r>
              <a:rPr lang="en-US" sz="1400" dirty="0">
                <a:solidFill>
                  <a:schemeClr val="bg1"/>
                </a:solidFill>
              </a:rPr>
              <a:t>the response (T)</a:t>
            </a:r>
            <a:endParaRPr lang="en-US" sz="2000" dirty="0"/>
          </a:p>
        </p:txBody>
      </p:sp>
      <p:sp>
        <p:nvSpPr>
          <p:cNvPr id="9" name="diagram-box"/>
          <p:cNvSpPr txBox="1"/>
          <p:nvPr/>
        </p:nvSpPr>
        <p:spPr>
          <a:xfrm>
            <a:off x="9445752" y="315468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Database</a:t>
            </a:r>
            <a:endParaRPr lang="en-US" sz="2000" dirty="0"/>
          </a:p>
          <a:p>
            <a:pPr algn="ctr" indent="0" marL="0">
              <a:buNone/>
            </a:pPr>
            <a:r>
              <a:rPr lang="en-US" sz="1400" dirty="0">
                <a:solidFill>
                  <a:schemeClr val="tx2"/>
                </a:solidFill>
              </a:rPr>
              <a:t>SQLite / MySQL / ...</a:t>
            </a:r>
            <a:endParaRPr lang="en-US" sz="2000" dirty="0"/>
          </a:p>
        </p:txBody>
      </p:sp>
      <p:sp>
        <p:nvSpPr>
          <p:cNvPr id="10" name="arrow"/>
          <p:cNvSpPr/>
          <p:nvPr/>
        </p:nvSpPr>
        <p:spPr>
          <a:xfrm>
            <a:off x="2743200" y="1965960"/>
            <a:ext cx="777240" cy="0"/>
          </a:xfrm>
          <a:prstGeom prst="line">
            <a:avLst/>
          </a:prstGeom>
          <a:noFill/>
          <a:ln w="28575">
            <a:solidFill>
              <a:schemeClr val="tx2"/>
            </a:solidFill>
            <a:prstDash val="solid"/>
            <a:tailEnd type="triangle"/>
          </a:ln>
        </p:spPr>
      </p:sp>
      <p:sp>
        <p:nvSpPr>
          <p:cNvPr id="11" name="arrow"/>
          <p:cNvSpPr/>
          <p:nvPr/>
        </p:nvSpPr>
        <p:spPr>
          <a:xfrm>
            <a:off x="5715000" y="1965960"/>
            <a:ext cx="777240" cy="0"/>
          </a:xfrm>
          <a:prstGeom prst="line">
            <a:avLst/>
          </a:prstGeom>
          <a:noFill/>
          <a:ln w="28575">
            <a:solidFill>
              <a:schemeClr val="tx2"/>
            </a:solidFill>
            <a:prstDash val="solid"/>
            <a:tailEnd type="triangle"/>
          </a:ln>
        </p:spPr>
      </p:sp>
      <p:sp>
        <p:nvSpPr>
          <p:cNvPr id="12" name="arrow"/>
          <p:cNvSpPr/>
          <p:nvPr/>
        </p:nvSpPr>
        <p:spPr>
          <a:xfrm>
            <a:off x="8686800" y="1965960"/>
            <a:ext cx="758952" cy="0"/>
          </a:xfrm>
          <a:prstGeom prst="line">
            <a:avLst/>
          </a:prstGeom>
          <a:noFill/>
          <a:ln w="28575">
            <a:solidFill>
              <a:schemeClr val="tx2"/>
            </a:solidFill>
            <a:prstDash val="solid"/>
            <a:headEnd type="triangle"/>
            <a:tailEnd type="triangle"/>
          </a:ln>
        </p:spPr>
      </p:sp>
      <p:sp>
        <p:nvSpPr>
          <p:cNvPr id="13" name="arrow"/>
          <p:cNvSpPr/>
          <p:nvPr/>
        </p:nvSpPr>
        <p:spPr>
          <a:xfrm>
            <a:off x="7589520" y="2468880"/>
            <a:ext cx="0" cy="685800"/>
          </a:xfrm>
          <a:prstGeom prst="line">
            <a:avLst/>
          </a:prstGeom>
          <a:noFill/>
          <a:ln w="28575">
            <a:solidFill>
              <a:schemeClr val="tx2"/>
            </a:solidFill>
            <a:prstDash val="solid"/>
            <a:tailEnd type="triangle"/>
          </a:ln>
        </p:spPr>
      </p:sp>
      <p:sp>
        <p:nvSpPr>
          <p:cNvPr id="14" name="arrow"/>
          <p:cNvSpPr/>
          <p:nvPr/>
        </p:nvSpPr>
        <p:spPr>
          <a:xfrm>
            <a:off x="10543032" y="2468880"/>
            <a:ext cx="0" cy="685800"/>
          </a:xfrm>
          <a:prstGeom prst="line">
            <a:avLst/>
          </a:prstGeom>
          <a:noFill/>
          <a:ln w="28575">
            <a:solidFill>
              <a:schemeClr val="tx2"/>
            </a:solidFill>
            <a:prstDash val="solid"/>
            <a:headEnd type="triangle"/>
            <a:tailEnd type="triangle"/>
          </a:ln>
        </p:spPr>
      </p:sp>
      <p:sp>
        <p:nvSpPr>
          <p:cNvPr id="15" name="arrow"/>
          <p:cNvSpPr/>
          <p:nvPr/>
        </p:nvSpPr>
        <p:spPr>
          <a:xfrm flipH="1">
            <a:off x="1645920" y="3657600"/>
            <a:ext cx="4846320" cy="0"/>
          </a:xfrm>
          <a:prstGeom prst="line">
            <a:avLst/>
          </a:prstGeom>
          <a:noFill/>
          <a:ln w="28575">
            <a:solidFill>
              <a:schemeClr val="tx2"/>
            </a:solidFill>
            <a:prstDash val="solid"/>
          </a:ln>
        </p:spPr>
      </p:sp>
      <p:sp>
        <p:nvSpPr>
          <p:cNvPr id="16" name="arrow"/>
          <p:cNvSpPr/>
          <p:nvPr/>
        </p:nvSpPr>
        <p:spPr>
          <a:xfrm flipV="1">
            <a:off x="1645920" y="2468880"/>
            <a:ext cx="0" cy="1188720"/>
          </a:xfrm>
          <a:prstGeom prst="line">
            <a:avLst/>
          </a:prstGeom>
          <a:noFill/>
          <a:ln w="28575">
            <a:solidFill>
              <a:schemeClr val="tx2"/>
            </a:solidFill>
            <a:prstDash val="solid"/>
            <a:tailEnd type="triangle"/>
          </a:ln>
        </p:spPr>
      </p:sp>
      <p:sp>
        <p:nvSpPr>
          <p:cNvPr id="17" name="Text 14"/>
          <p:cNvSpPr txBox="1"/>
          <p:nvPr/>
        </p:nvSpPr>
        <p:spPr>
          <a:xfrm>
            <a:off x="2743200" y="1600200"/>
            <a:ext cx="777240" cy="274320"/>
          </a:xfrm>
          <a:prstGeom prst="rect">
            <a:avLst/>
          </a:prstGeom>
          <a:noFill/>
          <a:ln/>
        </p:spPr>
        <p:txBody>
          <a:bodyPr wrap="square" lIns="0" tIns="0" rIns="0" bIns="0" rtlCol="0" anchor="t"/>
          <a:lstStyle/>
          <a:p>
            <a:pPr algn="ctr" indent="0" marL="0">
              <a:buNone/>
            </a:pPr>
            <a:r>
              <a:rPr lang="en-US" sz="1200" dirty="0">
                <a:solidFill>
                  <a:schemeClr val="accent5"/>
                </a:solidFill>
              </a:rPr>
              <a:t>request</a:t>
            </a:r>
            <a:endParaRPr lang="en-US" sz="1200" dirty="0"/>
          </a:p>
        </p:txBody>
      </p:sp>
      <p:sp>
        <p:nvSpPr>
          <p:cNvPr id="18" name="Text 15"/>
          <p:cNvSpPr txBox="1"/>
          <p:nvPr/>
        </p:nvSpPr>
        <p:spPr>
          <a:xfrm>
            <a:off x="5715000" y="1600200"/>
            <a:ext cx="777240" cy="274320"/>
          </a:xfrm>
          <a:prstGeom prst="rect">
            <a:avLst/>
          </a:prstGeom>
          <a:noFill/>
          <a:ln/>
        </p:spPr>
        <p:txBody>
          <a:bodyPr wrap="square" lIns="0" tIns="0" rIns="0" bIns="0" rtlCol="0" anchor="t"/>
          <a:lstStyle/>
          <a:p>
            <a:pPr algn="ctr" indent="0" marL="0">
              <a:buNone/>
            </a:pPr>
            <a:r>
              <a:rPr lang="en-US" sz="1200" dirty="0">
                <a:solidFill>
                  <a:schemeClr val="accent5"/>
                </a:solidFill>
              </a:rPr>
              <a:t>calls</a:t>
            </a:r>
            <a:endParaRPr lang="en-US" sz="1200" dirty="0"/>
          </a:p>
        </p:txBody>
      </p:sp>
      <p:sp>
        <p:nvSpPr>
          <p:cNvPr id="19" name="Text 16"/>
          <p:cNvSpPr txBox="1"/>
          <p:nvPr/>
        </p:nvSpPr>
        <p:spPr>
          <a:xfrm>
            <a:off x="8686800" y="1600200"/>
            <a:ext cx="758952" cy="274320"/>
          </a:xfrm>
          <a:prstGeom prst="rect">
            <a:avLst/>
          </a:prstGeom>
          <a:noFill/>
          <a:ln/>
        </p:spPr>
        <p:txBody>
          <a:bodyPr wrap="square" lIns="0" tIns="0" rIns="0" bIns="0" rtlCol="0" anchor="t"/>
          <a:lstStyle/>
          <a:p>
            <a:pPr algn="ctr" indent="0" marL="0">
              <a:buNone/>
            </a:pPr>
            <a:r>
              <a:rPr lang="en-US" sz="1200" dirty="0">
                <a:solidFill>
                  <a:schemeClr val="accent5"/>
                </a:solidFill>
              </a:rPr>
              <a:t>ORM</a:t>
            </a:r>
            <a:endParaRPr lang="en-US" sz="1200" dirty="0"/>
          </a:p>
        </p:txBody>
      </p:sp>
      <p:sp>
        <p:nvSpPr>
          <p:cNvPr id="20" name="Text 17"/>
          <p:cNvSpPr txBox="1"/>
          <p:nvPr/>
        </p:nvSpPr>
        <p:spPr>
          <a:xfrm>
            <a:off x="2743200" y="3310128"/>
            <a:ext cx="3200400" cy="274320"/>
          </a:xfrm>
          <a:prstGeom prst="rect">
            <a:avLst/>
          </a:prstGeom>
          <a:noFill/>
          <a:ln/>
        </p:spPr>
        <p:txBody>
          <a:bodyPr wrap="square" lIns="0" tIns="0" rIns="0" bIns="0" rtlCol="0" anchor="t"/>
          <a:lstStyle/>
          <a:p>
            <a:pPr algn="ctr" indent="0" marL="0">
              <a:buNone/>
            </a:pPr>
            <a:r>
              <a:rPr lang="en-US" sz="1400" b="1" dirty="0">
                <a:solidFill>
                  <a:schemeClr val="tx2"/>
                </a:solidFill>
              </a:rPr>
              <a:t>response sent back</a:t>
            </a:r>
            <a:endParaRPr lang="en-US" sz="1400" dirty="0"/>
          </a:p>
        </p:txBody>
      </p:sp>
      <p:sp>
        <p:nvSpPr>
          <p:cNvPr id="21" name="mvt-card"/>
          <p:cNvSpPr/>
          <p:nvPr/>
        </p:nvSpPr>
        <p:spPr>
          <a:xfrm>
            <a:off x="548640" y="4526280"/>
            <a:ext cx="3593592" cy="1600200"/>
          </a:xfrm>
          <a:prstGeom prst="roundRect">
            <a:avLst>
              <a:gd name="adj" fmla="val 6857"/>
            </a:avLst>
          </a:prstGeom>
          <a:solidFill>
            <a:schemeClr val="bg2"/>
          </a:solidFill>
          <a:ln/>
        </p:spPr>
      </p:sp>
      <p:sp>
        <p:nvSpPr>
          <p:cNvPr id="22" name="step-number"/>
          <p:cNvSpPr txBox="1"/>
          <p:nvPr/>
        </p:nvSpPr>
        <p:spPr>
          <a:xfrm>
            <a:off x="77724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M</a:t>
            </a:r>
            <a:endParaRPr lang="en-US" sz="1600" dirty="0"/>
          </a:p>
        </p:txBody>
      </p:sp>
      <p:sp>
        <p:nvSpPr>
          <p:cNvPr id="23" name="Text 20"/>
          <p:cNvSpPr txBox="1"/>
          <p:nvPr/>
        </p:nvSpPr>
        <p:spPr>
          <a:xfrm>
            <a:off x="141732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Model</a:t>
            </a:r>
            <a:endParaRPr lang="en-US" sz="2000" dirty="0"/>
          </a:p>
        </p:txBody>
      </p:sp>
      <p:sp>
        <p:nvSpPr>
          <p:cNvPr id="24" name="Text 21"/>
          <p:cNvSpPr txBox="1"/>
          <p:nvPr/>
        </p:nvSpPr>
        <p:spPr>
          <a:xfrm>
            <a:off x="77724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Defines the data and talks to the database.</a:t>
            </a:r>
            <a:endParaRPr lang="en-US" sz="1400" dirty="0"/>
          </a:p>
        </p:txBody>
      </p:sp>
      <p:sp>
        <p:nvSpPr>
          <p:cNvPr id="25" name="mvt-card"/>
          <p:cNvSpPr/>
          <p:nvPr/>
        </p:nvSpPr>
        <p:spPr>
          <a:xfrm>
            <a:off x="4297680" y="4526280"/>
            <a:ext cx="3593592" cy="1600200"/>
          </a:xfrm>
          <a:prstGeom prst="roundRect">
            <a:avLst>
              <a:gd name="adj" fmla="val 6857"/>
            </a:avLst>
          </a:prstGeom>
          <a:solidFill>
            <a:schemeClr val="bg2"/>
          </a:solidFill>
          <a:ln/>
        </p:spPr>
      </p:sp>
      <p:sp>
        <p:nvSpPr>
          <p:cNvPr id="26" name="step-number"/>
          <p:cNvSpPr txBox="1"/>
          <p:nvPr/>
        </p:nvSpPr>
        <p:spPr>
          <a:xfrm>
            <a:off x="452628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V</a:t>
            </a:r>
            <a:endParaRPr lang="en-US" sz="1600" dirty="0"/>
          </a:p>
        </p:txBody>
      </p:sp>
      <p:sp>
        <p:nvSpPr>
          <p:cNvPr id="27" name="Text 24"/>
          <p:cNvSpPr txBox="1"/>
          <p:nvPr/>
        </p:nvSpPr>
        <p:spPr>
          <a:xfrm>
            <a:off x="516636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View</a:t>
            </a:r>
            <a:endParaRPr lang="en-US" sz="2000" dirty="0"/>
          </a:p>
        </p:txBody>
      </p:sp>
      <p:sp>
        <p:nvSpPr>
          <p:cNvPr id="28" name="Text 25"/>
          <p:cNvSpPr txBox="1"/>
          <p:nvPr/>
        </p:nvSpPr>
        <p:spPr>
          <a:xfrm>
            <a:off x="452628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Handles the request and decides what to return. Plays the Controller role of MVC.</a:t>
            </a:r>
            <a:endParaRPr lang="en-US" sz="1400" dirty="0"/>
          </a:p>
        </p:txBody>
      </p:sp>
      <p:sp>
        <p:nvSpPr>
          <p:cNvPr id="29" name="mvt-card"/>
          <p:cNvSpPr/>
          <p:nvPr/>
        </p:nvSpPr>
        <p:spPr>
          <a:xfrm>
            <a:off x="8046720" y="4526280"/>
            <a:ext cx="3593592" cy="1600200"/>
          </a:xfrm>
          <a:prstGeom prst="roundRect">
            <a:avLst>
              <a:gd name="adj" fmla="val 6857"/>
            </a:avLst>
          </a:prstGeom>
          <a:solidFill>
            <a:schemeClr val="bg2"/>
          </a:solidFill>
          <a:ln/>
        </p:spPr>
      </p:sp>
      <p:sp>
        <p:nvSpPr>
          <p:cNvPr id="30" name="step-number"/>
          <p:cNvSpPr txBox="1"/>
          <p:nvPr/>
        </p:nvSpPr>
        <p:spPr>
          <a:xfrm>
            <a:off x="827532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T</a:t>
            </a:r>
            <a:endParaRPr lang="en-US" sz="1600" dirty="0"/>
          </a:p>
        </p:txBody>
      </p:sp>
      <p:sp>
        <p:nvSpPr>
          <p:cNvPr id="31" name="Text 28"/>
          <p:cNvSpPr txBox="1"/>
          <p:nvPr/>
        </p:nvSpPr>
        <p:spPr>
          <a:xfrm>
            <a:off x="891540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Template</a:t>
            </a:r>
            <a:endParaRPr lang="en-US" sz="2000" dirty="0"/>
          </a:p>
        </p:txBody>
      </p:sp>
      <p:sp>
        <p:nvSpPr>
          <p:cNvPr id="32" name="Text 29"/>
          <p:cNvSpPr txBox="1"/>
          <p:nvPr/>
        </p:nvSpPr>
        <p:spPr>
          <a:xfrm>
            <a:off x="827532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What is sent back: an HTML page, or JSON from a DRF serializer in our project.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Model, View, Template in detail</a:t>
            </a:r>
            <a:endParaRPr lang="en-US" sz="3600" dirty="0"/>
          </a:p>
        </p:txBody>
      </p:sp>
      <p:sp>
        <p:nvSpPr>
          <p:cNvPr id="4" name="mvt-column"/>
          <p:cNvSpPr/>
          <p:nvPr/>
        </p:nvSpPr>
        <p:spPr>
          <a:xfrm>
            <a:off x="548640" y="1371600"/>
            <a:ext cx="3566160" cy="4709160"/>
          </a:xfrm>
          <a:prstGeom prst="roundRect">
            <a:avLst>
              <a:gd name="adj" fmla="val 3077"/>
            </a:avLst>
          </a:prstGeom>
          <a:solidFill>
            <a:schemeClr val="bg2"/>
          </a:solidFill>
          <a:ln/>
        </p:spPr>
      </p:sp>
      <p:sp>
        <p:nvSpPr>
          <p:cNvPr id="5" name="step-number"/>
          <p:cNvSpPr txBox="1"/>
          <p:nvPr/>
        </p:nvSpPr>
        <p:spPr>
          <a:xfrm>
            <a:off x="822960" y="155448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M</a:t>
            </a:r>
            <a:endParaRPr lang="en-US" sz="1600" dirty="0"/>
          </a:p>
        </p:txBody>
      </p:sp>
      <p:sp>
        <p:nvSpPr>
          <p:cNvPr id="6" name="Text 3"/>
          <p:cNvSpPr txBox="1"/>
          <p:nvPr/>
        </p:nvSpPr>
        <p:spPr>
          <a:xfrm>
            <a:off x="1554480" y="1554480"/>
            <a:ext cx="2377440" cy="548640"/>
          </a:xfrm>
          <a:prstGeom prst="rect">
            <a:avLst/>
          </a:prstGeom>
          <a:noFill/>
          <a:ln/>
        </p:spPr>
        <p:txBody>
          <a:bodyPr wrap="square" lIns="0" tIns="0" rIns="0" bIns="0" rtlCol="0" anchor="ctr"/>
          <a:lstStyle/>
          <a:p>
            <a:pPr indent="0" marL="0">
              <a:buNone/>
            </a:pPr>
            <a:r>
              <a:rPr lang="en-US" sz="2400" b="1" dirty="0">
                <a:solidFill>
                  <a:schemeClr val="tx2"/>
                </a:solidFill>
              </a:rPr>
              <a:t>Model</a:t>
            </a:r>
            <a:endParaRPr lang="en-US" sz="2400" dirty="0"/>
          </a:p>
        </p:txBody>
      </p:sp>
      <p:sp>
        <p:nvSpPr>
          <p:cNvPr id="7" name="Text 4"/>
          <p:cNvSpPr txBox="1"/>
          <p:nvPr/>
        </p:nvSpPr>
        <p:spPr>
          <a:xfrm>
            <a:off x="822960" y="2331720"/>
            <a:ext cx="3017520" cy="274320"/>
          </a:xfrm>
          <a:prstGeom prst="rect">
            <a:avLst/>
          </a:prstGeom>
          <a:noFill/>
          <a:ln/>
        </p:spPr>
        <p:txBody>
          <a:bodyPr wrap="square" lIns="0" tIns="0" rIns="0" bIns="0" rtlCol="0" anchor="t"/>
          <a:lstStyle/>
          <a:p>
            <a:pPr indent="0" marL="0">
              <a:buNone/>
            </a:pPr>
            <a:r>
              <a:rPr lang="en-US" sz="1200" b="1" dirty="0">
                <a:solidFill>
                  <a:schemeClr val="accent5"/>
                </a:solidFill>
              </a:rPr>
              <a:t>DEFINITION</a:t>
            </a:r>
            <a:endParaRPr lang="en-US" sz="1200" dirty="0"/>
          </a:p>
        </p:txBody>
      </p:sp>
      <p:sp>
        <p:nvSpPr>
          <p:cNvPr id="8" name="Text 5"/>
          <p:cNvSpPr txBox="1"/>
          <p:nvPr/>
        </p:nvSpPr>
        <p:spPr>
          <a:xfrm>
            <a:off x="822960" y="2606040"/>
            <a:ext cx="3017520" cy="1234440"/>
          </a:xfrm>
          <a:prstGeom prst="rect">
            <a:avLst/>
          </a:prstGeom>
          <a:noFill/>
          <a:ln/>
        </p:spPr>
        <p:txBody>
          <a:bodyPr wrap="square" lIns="0" tIns="0" rIns="0" bIns="0" rtlCol="0" anchor="t"/>
          <a:lstStyle/>
          <a:p>
            <a:pPr indent="0" marL="0">
              <a:buNone/>
            </a:pPr>
            <a:r>
              <a:rPr lang="en-US" sz="1500" dirty="0">
                <a:solidFill>
                  <a:schemeClr val="tx1"/>
                </a:solidFill>
              </a:rPr>
              <a:t>A Python class that describes the data and talks to the database through the ORM.</a:t>
            </a:r>
            <a:endParaRPr lang="en-US" sz="1500" dirty="0"/>
          </a:p>
        </p:txBody>
      </p:sp>
      <p:sp>
        <p:nvSpPr>
          <p:cNvPr id="9" name="Text 6"/>
          <p:cNvSpPr txBox="1"/>
          <p:nvPr/>
        </p:nvSpPr>
        <p:spPr>
          <a:xfrm>
            <a:off x="822960" y="3840480"/>
            <a:ext cx="3017520" cy="274320"/>
          </a:xfrm>
          <a:prstGeom prst="rect">
            <a:avLst/>
          </a:prstGeom>
          <a:noFill/>
          <a:ln/>
        </p:spPr>
        <p:txBody>
          <a:bodyPr wrap="square" lIns="0" tIns="0" rIns="0" bIns="0" rtlCol="0" anchor="t"/>
          <a:lstStyle/>
          <a:p>
            <a:pPr indent="0" marL="0">
              <a:buNone/>
            </a:pPr>
            <a:r>
              <a:rPr lang="en-US" sz="1200" b="1" dirty="0">
                <a:solidFill>
                  <a:schemeClr val="accent5"/>
                </a:solidFill>
              </a:rPr>
              <a:t>ITS JOB</a:t>
            </a:r>
            <a:endParaRPr lang="en-US" sz="1200" dirty="0"/>
          </a:p>
        </p:txBody>
      </p:sp>
      <p:sp>
        <p:nvSpPr>
          <p:cNvPr id="10" name="Text 7"/>
          <p:cNvSpPr txBox="1"/>
          <p:nvPr/>
        </p:nvSpPr>
        <p:spPr>
          <a:xfrm>
            <a:off x="822960" y="4114800"/>
            <a:ext cx="3017520" cy="10972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Defines fields and rules</a:t>
            </a:r>
            <a:endParaRPr lang="en-US" sz="1500" dirty="0"/>
          </a:p>
          <a:p>
            <a:pPr marL="342900" indent="-342900">
              <a:spcAft>
                <a:spcPts val="400"/>
              </a:spcAft>
              <a:buSzPct val="100000"/>
              <a:buChar char="•"/>
            </a:pPr>
            <a:r>
              <a:rPr lang="en-US" sz="1500" dirty="0">
                <a:solidFill>
                  <a:schemeClr val="tx1"/>
                </a:solidFill>
              </a:rPr>
              <a:t>Reads and writes rows</a:t>
            </a:r>
            <a:endParaRPr lang="en-US" sz="1500" dirty="0"/>
          </a:p>
          <a:p>
            <a:pPr marL="342900" indent="-342900">
              <a:spcAft>
                <a:spcPts val="400"/>
              </a:spcAft>
              <a:buSzPct val="100000"/>
              <a:buChar char="•"/>
            </a:pPr>
            <a:r>
              <a:rPr lang="en-US" sz="1500" dirty="0">
                <a:solidFill>
                  <a:schemeClr val="tx1"/>
                </a:solidFill>
              </a:rPr>
              <a:t>Knows nothing about URLs or screens</a:t>
            </a:r>
            <a:endParaRPr lang="en-US" sz="1500" dirty="0"/>
          </a:p>
        </p:txBody>
      </p:sp>
      <p:sp>
        <p:nvSpPr>
          <p:cNvPr id="11" name="file-chip"/>
          <p:cNvSpPr txBox="1"/>
          <p:nvPr/>
        </p:nvSpPr>
        <p:spPr>
          <a:xfrm>
            <a:off x="822960" y="5349240"/>
            <a:ext cx="3017520" cy="502920"/>
          </a:xfrm>
          <a:prstGeom prst="roundRect">
            <a:avLst>
              <a:gd name="adj" fmla="val 181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items/models.py</a:t>
            </a:r>
            <a:endParaRPr lang="en-US" sz="1400" dirty="0"/>
          </a:p>
        </p:txBody>
      </p:sp>
      <p:sp>
        <p:nvSpPr>
          <p:cNvPr id="12" name="mvt-column"/>
          <p:cNvSpPr/>
          <p:nvPr/>
        </p:nvSpPr>
        <p:spPr>
          <a:xfrm>
            <a:off x="4311396" y="1371600"/>
            <a:ext cx="3566160" cy="4709160"/>
          </a:xfrm>
          <a:prstGeom prst="roundRect">
            <a:avLst>
              <a:gd name="adj" fmla="val 3077"/>
            </a:avLst>
          </a:prstGeom>
          <a:solidFill>
            <a:schemeClr val="bg2"/>
          </a:solidFill>
          <a:ln/>
        </p:spPr>
      </p:sp>
      <p:sp>
        <p:nvSpPr>
          <p:cNvPr id="13" name="step-number"/>
          <p:cNvSpPr txBox="1"/>
          <p:nvPr/>
        </p:nvSpPr>
        <p:spPr>
          <a:xfrm>
            <a:off x="4585716" y="155448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V</a:t>
            </a:r>
            <a:endParaRPr lang="en-US" sz="1600" dirty="0"/>
          </a:p>
        </p:txBody>
      </p:sp>
      <p:sp>
        <p:nvSpPr>
          <p:cNvPr id="14" name="Text 11"/>
          <p:cNvSpPr txBox="1"/>
          <p:nvPr/>
        </p:nvSpPr>
        <p:spPr>
          <a:xfrm>
            <a:off x="5317236" y="1554480"/>
            <a:ext cx="2377440" cy="548640"/>
          </a:xfrm>
          <a:prstGeom prst="rect">
            <a:avLst/>
          </a:prstGeom>
          <a:noFill/>
          <a:ln/>
        </p:spPr>
        <p:txBody>
          <a:bodyPr wrap="square" lIns="0" tIns="0" rIns="0" bIns="0" rtlCol="0" anchor="ctr"/>
          <a:lstStyle/>
          <a:p>
            <a:pPr indent="0" marL="0">
              <a:buNone/>
            </a:pPr>
            <a:r>
              <a:rPr lang="en-US" sz="2400" b="1" dirty="0">
                <a:solidFill>
                  <a:schemeClr val="tx2"/>
                </a:solidFill>
              </a:rPr>
              <a:t>View</a:t>
            </a:r>
            <a:endParaRPr lang="en-US" sz="2400" dirty="0"/>
          </a:p>
        </p:txBody>
      </p:sp>
      <p:sp>
        <p:nvSpPr>
          <p:cNvPr id="15" name="Text 12"/>
          <p:cNvSpPr txBox="1"/>
          <p:nvPr/>
        </p:nvSpPr>
        <p:spPr>
          <a:xfrm>
            <a:off x="4585716" y="2331720"/>
            <a:ext cx="3017520" cy="274320"/>
          </a:xfrm>
          <a:prstGeom prst="rect">
            <a:avLst/>
          </a:prstGeom>
          <a:noFill/>
          <a:ln/>
        </p:spPr>
        <p:txBody>
          <a:bodyPr wrap="square" lIns="0" tIns="0" rIns="0" bIns="0" rtlCol="0" anchor="t"/>
          <a:lstStyle/>
          <a:p>
            <a:pPr indent="0" marL="0">
              <a:buNone/>
            </a:pPr>
            <a:r>
              <a:rPr lang="en-US" sz="1200" b="1" dirty="0">
                <a:solidFill>
                  <a:schemeClr val="accent5"/>
                </a:solidFill>
              </a:rPr>
              <a:t>DEFINITION</a:t>
            </a:r>
            <a:endParaRPr lang="en-US" sz="1200" dirty="0"/>
          </a:p>
        </p:txBody>
      </p:sp>
      <p:sp>
        <p:nvSpPr>
          <p:cNvPr id="16" name="Text 13"/>
          <p:cNvSpPr txBox="1"/>
          <p:nvPr/>
        </p:nvSpPr>
        <p:spPr>
          <a:xfrm>
            <a:off x="4585716" y="2606040"/>
            <a:ext cx="3017520" cy="1234440"/>
          </a:xfrm>
          <a:prstGeom prst="rect">
            <a:avLst/>
          </a:prstGeom>
          <a:noFill/>
          <a:ln/>
        </p:spPr>
        <p:txBody>
          <a:bodyPr wrap="square" lIns="0" tIns="0" rIns="0" bIns="0" rtlCol="0" anchor="t"/>
          <a:lstStyle/>
          <a:p>
            <a:pPr indent="0" marL="0">
              <a:buNone/>
            </a:pPr>
            <a:r>
              <a:rPr lang="en-US" sz="1500" dirty="0">
                <a:solidFill>
                  <a:schemeClr val="tx1"/>
                </a:solidFill>
              </a:rPr>
              <a:t>A Python function that receives a request, gets the data it needs and returns a response.</a:t>
            </a:r>
            <a:endParaRPr lang="en-US" sz="1500" dirty="0"/>
          </a:p>
        </p:txBody>
      </p:sp>
      <p:sp>
        <p:nvSpPr>
          <p:cNvPr id="17" name="Text 14"/>
          <p:cNvSpPr txBox="1"/>
          <p:nvPr/>
        </p:nvSpPr>
        <p:spPr>
          <a:xfrm>
            <a:off x="4585716" y="3840480"/>
            <a:ext cx="3017520" cy="274320"/>
          </a:xfrm>
          <a:prstGeom prst="rect">
            <a:avLst/>
          </a:prstGeom>
          <a:noFill/>
          <a:ln/>
        </p:spPr>
        <p:txBody>
          <a:bodyPr wrap="square" lIns="0" tIns="0" rIns="0" bIns="0" rtlCol="0" anchor="t"/>
          <a:lstStyle/>
          <a:p>
            <a:pPr indent="0" marL="0">
              <a:buNone/>
            </a:pPr>
            <a:r>
              <a:rPr lang="en-US" sz="1200" b="1" dirty="0">
                <a:solidFill>
                  <a:schemeClr val="accent5"/>
                </a:solidFill>
              </a:rPr>
              <a:t>ITS JOB</a:t>
            </a:r>
            <a:endParaRPr lang="en-US" sz="1200" dirty="0"/>
          </a:p>
        </p:txBody>
      </p:sp>
      <p:sp>
        <p:nvSpPr>
          <p:cNvPr id="18" name="Text 15"/>
          <p:cNvSpPr txBox="1"/>
          <p:nvPr/>
        </p:nvSpPr>
        <p:spPr>
          <a:xfrm>
            <a:off x="4585716" y="4114800"/>
            <a:ext cx="3017520" cy="10972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Receives the request</a:t>
            </a:r>
            <a:endParaRPr lang="en-US" sz="1500" dirty="0"/>
          </a:p>
          <a:p>
            <a:pPr marL="342900" indent="-342900">
              <a:spcAft>
                <a:spcPts val="400"/>
              </a:spcAft>
              <a:buSzPct val="100000"/>
              <a:buChar char="•"/>
            </a:pPr>
            <a:r>
              <a:rPr lang="en-US" sz="1500" dirty="0">
                <a:solidFill>
                  <a:schemeClr val="tx1"/>
                </a:solidFill>
              </a:rPr>
              <a:t>Asks the model for data</a:t>
            </a:r>
            <a:endParaRPr lang="en-US" sz="1500" dirty="0"/>
          </a:p>
          <a:p>
            <a:pPr marL="342900" indent="-342900">
              <a:spcAft>
                <a:spcPts val="400"/>
              </a:spcAft>
              <a:buSzPct val="100000"/>
              <a:buChar char="•"/>
            </a:pPr>
            <a:r>
              <a:rPr lang="en-US" sz="1500" dirty="0">
                <a:solidFill>
                  <a:schemeClr val="tx1"/>
                </a:solidFill>
              </a:rPr>
              <a:t>Chooses what to send back</a:t>
            </a:r>
            <a:endParaRPr lang="en-US" sz="1500" dirty="0"/>
          </a:p>
        </p:txBody>
      </p:sp>
      <p:sp>
        <p:nvSpPr>
          <p:cNvPr id="19" name="file-chip"/>
          <p:cNvSpPr txBox="1"/>
          <p:nvPr/>
        </p:nvSpPr>
        <p:spPr>
          <a:xfrm>
            <a:off x="4585716" y="5349240"/>
            <a:ext cx="3017520" cy="502920"/>
          </a:xfrm>
          <a:prstGeom prst="roundRect">
            <a:avLst>
              <a:gd name="adj" fmla="val 181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items/views.py</a:t>
            </a:r>
            <a:endParaRPr lang="en-US" sz="1400" dirty="0"/>
          </a:p>
        </p:txBody>
      </p:sp>
      <p:sp>
        <p:nvSpPr>
          <p:cNvPr id="20" name="mvt-column"/>
          <p:cNvSpPr/>
          <p:nvPr/>
        </p:nvSpPr>
        <p:spPr>
          <a:xfrm>
            <a:off x="8074152" y="1371600"/>
            <a:ext cx="3566160" cy="4709160"/>
          </a:xfrm>
          <a:prstGeom prst="roundRect">
            <a:avLst>
              <a:gd name="adj" fmla="val 3077"/>
            </a:avLst>
          </a:prstGeom>
          <a:solidFill>
            <a:schemeClr val="bg2"/>
          </a:solidFill>
          <a:ln/>
        </p:spPr>
      </p:sp>
      <p:sp>
        <p:nvSpPr>
          <p:cNvPr id="21" name="step-number"/>
          <p:cNvSpPr txBox="1"/>
          <p:nvPr/>
        </p:nvSpPr>
        <p:spPr>
          <a:xfrm>
            <a:off x="8348472" y="155448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T</a:t>
            </a:r>
            <a:endParaRPr lang="en-US" sz="1600" dirty="0"/>
          </a:p>
        </p:txBody>
      </p:sp>
      <p:sp>
        <p:nvSpPr>
          <p:cNvPr id="22" name="Text 19"/>
          <p:cNvSpPr txBox="1"/>
          <p:nvPr/>
        </p:nvSpPr>
        <p:spPr>
          <a:xfrm>
            <a:off x="9079992" y="1554480"/>
            <a:ext cx="2377440" cy="548640"/>
          </a:xfrm>
          <a:prstGeom prst="rect">
            <a:avLst/>
          </a:prstGeom>
          <a:noFill/>
          <a:ln/>
        </p:spPr>
        <p:txBody>
          <a:bodyPr wrap="square" lIns="0" tIns="0" rIns="0" bIns="0" rtlCol="0" anchor="ctr"/>
          <a:lstStyle/>
          <a:p>
            <a:pPr indent="0" marL="0">
              <a:buNone/>
            </a:pPr>
            <a:r>
              <a:rPr lang="en-US" sz="2400" b="1" dirty="0">
                <a:solidFill>
                  <a:schemeClr val="tx2"/>
                </a:solidFill>
              </a:rPr>
              <a:t>Template</a:t>
            </a:r>
            <a:endParaRPr lang="en-US" sz="2400" dirty="0"/>
          </a:p>
        </p:txBody>
      </p:sp>
      <p:sp>
        <p:nvSpPr>
          <p:cNvPr id="23" name="Text 20"/>
          <p:cNvSpPr txBox="1"/>
          <p:nvPr/>
        </p:nvSpPr>
        <p:spPr>
          <a:xfrm>
            <a:off x="8348472" y="2331720"/>
            <a:ext cx="3017520" cy="274320"/>
          </a:xfrm>
          <a:prstGeom prst="rect">
            <a:avLst/>
          </a:prstGeom>
          <a:noFill/>
          <a:ln/>
        </p:spPr>
        <p:txBody>
          <a:bodyPr wrap="square" lIns="0" tIns="0" rIns="0" bIns="0" rtlCol="0" anchor="t"/>
          <a:lstStyle/>
          <a:p>
            <a:pPr indent="0" marL="0">
              <a:buNone/>
            </a:pPr>
            <a:r>
              <a:rPr lang="en-US" sz="1200" b="1" dirty="0">
                <a:solidFill>
                  <a:schemeClr val="accent5"/>
                </a:solidFill>
              </a:rPr>
              <a:t>DEFINITION</a:t>
            </a:r>
            <a:endParaRPr lang="en-US" sz="1200" dirty="0"/>
          </a:p>
        </p:txBody>
      </p:sp>
      <p:sp>
        <p:nvSpPr>
          <p:cNvPr id="24" name="Text 21"/>
          <p:cNvSpPr txBox="1"/>
          <p:nvPr/>
        </p:nvSpPr>
        <p:spPr>
          <a:xfrm>
            <a:off x="8348472" y="2606040"/>
            <a:ext cx="3017520" cy="1234440"/>
          </a:xfrm>
          <a:prstGeom prst="rect">
            <a:avLst/>
          </a:prstGeom>
          <a:noFill/>
          <a:ln/>
        </p:spPr>
        <p:txBody>
          <a:bodyPr wrap="square" lIns="0" tIns="0" rIns="0" bIns="0" rtlCol="0" anchor="t"/>
          <a:lstStyle/>
          <a:p>
            <a:pPr indent="0" marL="0">
              <a:buNone/>
            </a:pPr>
            <a:r>
              <a:rPr lang="en-US" sz="1500" dirty="0">
                <a:solidFill>
                  <a:schemeClr val="tx1"/>
                </a:solidFill>
              </a:rPr>
              <a:t>The final output sent to the user: an HTML page, or JSON in an API.</a:t>
            </a:r>
            <a:endParaRPr lang="en-US" sz="1500" dirty="0"/>
          </a:p>
        </p:txBody>
      </p:sp>
      <p:sp>
        <p:nvSpPr>
          <p:cNvPr id="25" name="Text 22"/>
          <p:cNvSpPr txBox="1"/>
          <p:nvPr/>
        </p:nvSpPr>
        <p:spPr>
          <a:xfrm>
            <a:off x="8348472" y="3840480"/>
            <a:ext cx="3017520" cy="274320"/>
          </a:xfrm>
          <a:prstGeom prst="rect">
            <a:avLst/>
          </a:prstGeom>
          <a:noFill/>
          <a:ln/>
        </p:spPr>
        <p:txBody>
          <a:bodyPr wrap="square" lIns="0" tIns="0" rIns="0" bIns="0" rtlCol="0" anchor="t"/>
          <a:lstStyle/>
          <a:p>
            <a:pPr indent="0" marL="0">
              <a:buNone/>
            </a:pPr>
            <a:r>
              <a:rPr lang="en-US" sz="1200" b="1" dirty="0">
                <a:solidFill>
                  <a:schemeClr val="accent5"/>
                </a:solidFill>
              </a:rPr>
              <a:t>ITS JOB</a:t>
            </a:r>
            <a:endParaRPr lang="en-US" sz="1200" dirty="0"/>
          </a:p>
        </p:txBody>
      </p:sp>
      <p:sp>
        <p:nvSpPr>
          <p:cNvPr id="26" name="Text 23"/>
          <p:cNvSpPr txBox="1"/>
          <p:nvPr/>
        </p:nvSpPr>
        <p:spPr>
          <a:xfrm>
            <a:off x="8348472" y="4114800"/>
            <a:ext cx="3017520" cy="10972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Shows the data</a:t>
            </a:r>
            <a:endParaRPr lang="en-US" sz="1500" dirty="0"/>
          </a:p>
          <a:p>
            <a:pPr marL="342900" indent="-342900">
              <a:spcAft>
                <a:spcPts val="400"/>
              </a:spcAft>
              <a:buSzPct val="100000"/>
              <a:buChar char="•"/>
            </a:pPr>
            <a:r>
              <a:rPr lang="en-US" sz="1500" dirty="0">
                <a:solidFill>
                  <a:schemeClr val="tx1"/>
                </a:solidFill>
              </a:rPr>
              <a:t>Contains no business logic</a:t>
            </a:r>
            <a:endParaRPr lang="en-US" sz="1500" dirty="0"/>
          </a:p>
          <a:p>
            <a:pPr marL="342900" indent="-342900">
              <a:spcAft>
                <a:spcPts val="400"/>
              </a:spcAft>
              <a:buSzPct val="100000"/>
              <a:buChar char="•"/>
            </a:pPr>
            <a:r>
              <a:rPr lang="en-US" sz="1500" dirty="0">
                <a:solidFill>
                  <a:schemeClr val="tx1"/>
                </a:solidFill>
              </a:rPr>
              <a:t>In our API a serializer makes the JSON</a:t>
            </a:r>
            <a:endParaRPr lang="en-US" sz="1500" dirty="0"/>
          </a:p>
        </p:txBody>
      </p:sp>
      <p:sp>
        <p:nvSpPr>
          <p:cNvPr id="27" name="file-chip"/>
          <p:cNvSpPr txBox="1"/>
          <p:nvPr/>
        </p:nvSpPr>
        <p:spPr>
          <a:xfrm>
            <a:off x="8348472" y="5349240"/>
            <a:ext cx="3017520" cy="502920"/>
          </a:xfrm>
          <a:prstGeom prst="roundRect">
            <a:avLst>
              <a:gd name="adj" fmla="val 181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items/serializers.py</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Life of a request, step by step</a:t>
            </a:r>
            <a:endParaRPr lang="en-US" sz="3600" dirty="0"/>
          </a:p>
        </p:txBody>
      </p:sp>
      <p:sp>
        <p:nvSpPr>
          <p:cNvPr id="4" name="step-card"/>
          <p:cNvSpPr/>
          <p:nvPr/>
        </p:nvSpPr>
        <p:spPr>
          <a:xfrm>
            <a:off x="548640" y="1371600"/>
            <a:ext cx="3520440" cy="2194560"/>
          </a:xfrm>
          <a:prstGeom prst="roundRect">
            <a:avLst>
              <a:gd name="adj" fmla="val 5000"/>
            </a:avLst>
          </a:prstGeom>
          <a:solidFill>
            <a:schemeClr val="bg2"/>
          </a:solidFill>
          <a:ln/>
        </p:spPr>
      </p:sp>
      <p:sp>
        <p:nvSpPr>
          <p:cNvPr id="5" name="step-number"/>
          <p:cNvSpPr txBox="1"/>
          <p:nvPr/>
        </p:nvSpPr>
        <p:spPr>
          <a:xfrm>
            <a:off x="822960" y="164592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1554480" y="1645920"/>
            <a:ext cx="2331720" cy="548640"/>
          </a:xfrm>
          <a:prstGeom prst="rect">
            <a:avLst/>
          </a:prstGeom>
          <a:noFill/>
          <a:ln/>
        </p:spPr>
        <p:txBody>
          <a:bodyPr wrap="square" lIns="0" tIns="0" rIns="0" bIns="0" rtlCol="0" anchor="ctr"/>
          <a:lstStyle/>
          <a:p>
            <a:pPr indent="0" marL="0">
              <a:buNone/>
            </a:pPr>
            <a:r>
              <a:rPr lang="en-US" sz="1800" b="1" dirty="0">
                <a:solidFill>
                  <a:schemeClr val="tx2"/>
                </a:solidFill>
              </a:rPr>
              <a:t>Browser sends a request</a:t>
            </a:r>
            <a:endParaRPr lang="en-US" sz="1800" dirty="0"/>
          </a:p>
        </p:txBody>
      </p:sp>
      <p:sp>
        <p:nvSpPr>
          <p:cNvPr id="7" name="Text 4"/>
          <p:cNvSpPr txBox="1"/>
          <p:nvPr/>
        </p:nvSpPr>
        <p:spPr>
          <a:xfrm>
            <a:off x="822960" y="2468880"/>
            <a:ext cx="2971800" cy="1005840"/>
          </a:xfrm>
          <a:prstGeom prst="rect">
            <a:avLst/>
          </a:prstGeom>
          <a:noFill/>
          <a:ln/>
        </p:spPr>
        <p:txBody>
          <a:bodyPr wrap="square" lIns="0" tIns="0" rIns="0" bIns="0" rtlCol="0" anchor="t"/>
          <a:lstStyle/>
          <a:p>
            <a:pPr indent="0" marL="0">
              <a:buNone/>
            </a:pPr>
            <a:r>
              <a:rPr lang="en-US" sz="1600" dirty="0">
                <a:solidFill>
                  <a:schemeClr val="tx1"/>
                </a:solidFill>
                <a:latin typeface="Courier New" pitchFamily="34" charset="0"/>
                <a:ea typeface="Courier New" pitchFamily="34" charset="-122"/>
                <a:cs typeface="Courier New" pitchFamily="34" charset="-120"/>
              </a:rPr>
              <a:t>GET /api/items/</a:t>
            </a:r>
            <a:endParaRPr lang="en-US" sz="1600" dirty="0"/>
          </a:p>
        </p:txBody>
      </p:sp>
      <p:sp>
        <p:nvSpPr>
          <p:cNvPr id="8" name="step-card"/>
          <p:cNvSpPr/>
          <p:nvPr/>
        </p:nvSpPr>
        <p:spPr>
          <a:xfrm>
            <a:off x="4334256" y="1371600"/>
            <a:ext cx="3520440" cy="2194560"/>
          </a:xfrm>
          <a:prstGeom prst="roundRect">
            <a:avLst>
              <a:gd name="adj" fmla="val 5000"/>
            </a:avLst>
          </a:prstGeom>
          <a:solidFill>
            <a:schemeClr val="bg2"/>
          </a:solidFill>
          <a:ln/>
        </p:spPr>
      </p:sp>
      <p:sp>
        <p:nvSpPr>
          <p:cNvPr id="9" name="step-number"/>
          <p:cNvSpPr txBox="1"/>
          <p:nvPr/>
        </p:nvSpPr>
        <p:spPr>
          <a:xfrm>
            <a:off x="4608576" y="164592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5340096" y="1645920"/>
            <a:ext cx="2331720" cy="548640"/>
          </a:xfrm>
          <a:prstGeom prst="rect">
            <a:avLst/>
          </a:prstGeom>
          <a:noFill/>
          <a:ln/>
        </p:spPr>
        <p:txBody>
          <a:bodyPr wrap="square" lIns="0" tIns="0" rIns="0" bIns="0" rtlCol="0" anchor="ctr"/>
          <a:lstStyle/>
          <a:p>
            <a:pPr indent="0" marL="0">
              <a:buNone/>
            </a:pPr>
            <a:r>
              <a:rPr lang="en-US" sz="1800" b="1" dirty="0">
                <a:solidFill>
                  <a:schemeClr val="tx2"/>
                </a:solidFill>
              </a:rPr>
              <a:t>Root URLs</a:t>
            </a:r>
            <a:endParaRPr lang="en-US" sz="1800" dirty="0"/>
          </a:p>
        </p:txBody>
      </p:sp>
      <p:sp>
        <p:nvSpPr>
          <p:cNvPr id="11" name="Text 8"/>
          <p:cNvSpPr txBox="1"/>
          <p:nvPr/>
        </p:nvSpPr>
        <p:spPr>
          <a:xfrm>
            <a:off x="4608576" y="2468880"/>
            <a:ext cx="2971800" cy="1005840"/>
          </a:xfrm>
          <a:prstGeom prst="rect">
            <a:avLst/>
          </a:prstGeom>
          <a:noFill/>
          <a:ln/>
        </p:spPr>
        <p:txBody>
          <a:bodyPr wrap="square" lIns="0" tIns="0" rIns="0" bIns="0" rtlCol="0" anchor="t"/>
          <a:lstStyle/>
          <a:p>
            <a:pPr indent="0" marL="0">
              <a:buNone/>
            </a:pPr>
            <a:r>
              <a:rPr lang="en-US" sz="1600" dirty="0">
                <a:solidFill>
                  <a:schemeClr val="tx1"/>
                </a:solidFill>
              </a:rPr>
              <a:t>config/urls.py sends everything starting with api/ to items.urls.</a:t>
            </a:r>
            <a:endParaRPr lang="en-US" sz="1600" dirty="0"/>
          </a:p>
        </p:txBody>
      </p:sp>
      <p:sp>
        <p:nvSpPr>
          <p:cNvPr id="12" name="step-card"/>
          <p:cNvSpPr/>
          <p:nvPr/>
        </p:nvSpPr>
        <p:spPr>
          <a:xfrm>
            <a:off x="8119872" y="1371600"/>
            <a:ext cx="3520440" cy="2194560"/>
          </a:xfrm>
          <a:prstGeom prst="roundRect">
            <a:avLst>
              <a:gd name="adj" fmla="val 5000"/>
            </a:avLst>
          </a:prstGeom>
          <a:solidFill>
            <a:schemeClr val="bg2"/>
          </a:solidFill>
          <a:ln/>
        </p:spPr>
      </p:sp>
      <p:sp>
        <p:nvSpPr>
          <p:cNvPr id="13" name="step-number"/>
          <p:cNvSpPr txBox="1"/>
          <p:nvPr/>
        </p:nvSpPr>
        <p:spPr>
          <a:xfrm>
            <a:off x="8394192" y="164592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9125712" y="1645920"/>
            <a:ext cx="2331720" cy="548640"/>
          </a:xfrm>
          <a:prstGeom prst="rect">
            <a:avLst/>
          </a:prstGeom>
          <a:noFill/>
          <a:ln/>
        </p:spPr>
        <p:txBody>
          <a:bodyPr wrap="square" lIns="0" tIns="0" rIns="0" bIns="0" rtlCol="0" anchor="ctr"/>
          <a:lstStyle/>
          <a:p>
            <a:pPr indent="0" marL="0">
              <a:buNone/>
            </a:pPr>
            <a:r>
              <a:rPr lang="en-US" sz="1800" b="1" dirty="0">
                <a:solidFill>
                  <a:schemeClr val="tx2"/>
                </a:solidFill>
              </a:rPr>
              <a:t>App URLs</a:t>
            </a:r>
            <a:endParaRPr lang="en-US" sz="1800" dirty="0"/>
          </a:p>
        </p:txBody>
      </p:sp>
      <p:sp>
        <p:nvSpPr>
          <p:cNvPr id="15" name="Text 12"/>
          <p:cNvSpPr txBox="1"/>
          <p:nvPr/>
        </p:nvSpPr>
        <p:spPr>
          <a:xfrm>
            <a:off x="8394192" y="2468880"/>
            <a:ext cx="2971800" cy="1005840"/>
          </a:xfrm>
          <a:prstGeom prst="rect">
            <a:avLst/>
          </a:prstGeom>
          <a:noFill/>
          <a:ln/>
        </p:spPr>
        <p:txBody>
          <a:bodyPr wrap="square" lIns="0" tIns="0" rIns="0" bIns="0" rtlCol="0" anchor="t"/>
          <a:lstStyle/>
          <a:p>
            <a:pPr indent="0" marL="0">
              <a:buNone/>
            </a:pPr>
            <a:r>
              <a:rPr lang="en-US" sz="1600" dirty="0">
                <a:solidFill>
                  <a:schemeClr val="tx1"/>
                </a:solidFill>
              </a:rPr>
              <a:t>items/urls.py matches items/ and picks the item_list view.</a:t>
            </a:r>
            <a:endParaRPr lang="en-US" sz="1600" dirty="0"/>
          </a:p>
        </p:txBody>
      </p:sp>
      <p:sp>
        <p:nvSpPr>
          <p:cNvPr id="16" name="step-card"/>
          <p:cNvSpPr/>
          <p:nvPr/>
        </p:nvSpPr>
        <p:spPr>
          <a:xfrm>
            <a:off x="548640" y="3840480"/>
            <a:ext cx="3520440" cy="2194560"/>
          </a:xfrm>
          <a:prstGeom prst="roundRect">
            <a:avLst>
              <a:gd name="adj" fmla="val 5000"/>
            </a:avLst>
          </a:prstGeom>
          <a:solidFill>
            <a:schemeClr val="bg2"/>
          </a:solidFill>
          <a:ln/>
        </p:spPr>
      </p:sp>
      <p:sp>
        <p:nvSpPr>
          <p:cNvPr id="17" name="step-number"/>
          <p:cNvSpPr txBox="1"/>
          <p:nvPr/>
        </p:nvSpPr>
        <p:spPr>
          <a:xfrm>
            <a:off x="822960"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5"/>
          <p:cNvSpPr txBox="1"/>
          <p:nvPr/>
        </p:nvSpPr>
        <p:spPr>
          <a:xfrm>
            <a:off x="1554480" y="4114800"/>
            <a:ext cx="2331720" cy="548640"/>
          </a:xfrm>
          <a:prstGeom prst="rect">
            <a:avLst/>
          </a:prstGeom>
          <a:noFill/>
          <a:ln/>
        </p:spPr>
        <p:txBody>
          <a:bodyPr wrap="square" lIns="0" tIns="0" rIns="0" bIns="0" rtlCol="0" anchor="ctr"/>
          <a:lstStyle/>
          <a:p>
            <a:pPr indent="0" marL="0">
              <a:buNone/>
            </a:pPr>
            <a:r>
              <a:rPr lang="en-US" sz="1800" b="1" dirty="0">
                <a:solidFill>
                  <a:schemeClr val="tx2"/>
                </a:solidFill>
              </a:rPr>
              <a:t>View asks the model</a:t>
            </a:r>
            <a:endParaRPr lang="en-US" sz="1800" dirty="0"/>
          </a:p>
        </p:txBody>
      </p:sp>
      <p:sp>
        <p:nvSpPr>
          <p:cNvPr id="19" name="Text 16"/>
          <p:cNvSpPr txBox="1"/>
          <p:nvPr/>
        </p:nvSpPr>
        <p:spPr>
          <a:xfrm>
            <a:off x="822960" y="4937760"/>
            <a:ext cx="2971800" cy="1005840"/>
          </a:xfrm>
          <a:prstGeom prst="rect">
            <a:avLst/>
          </a:prstGeom>
          <a:noFill/>
          <a:ln/>
        </p:spPr>
        <p:txBody>
          <a:bodyPr wrap="square" lIns="0" tIns="0" rIns="0" bIns="0" rtlCol="0" anchor="t"/>
          <a:lstStyle/>
          <a:p>
            <a:pPr indent="0" marL="0">
              <a:buNone/>
            </a:pPr>
            <a:r>
              <a:rPr lang="en-US" sz="1600" dirty="0">
                <a:solidFill>
                  <a:schemeClr val="tx1"/>
                </a:solidFill>
              </a:rPr>
              <a:t>item_list runs Item.objects.all().</a:t>
            </a:r>
            <a:endParaRPr lang="en-US" sz="1600" dirty="0"/>
          </a:p>
        </p:txBody>
      </p:sp>
      <p:sp>
        <p:nvSpPr>
          <p:cNvPr id="20" name="step-card"/>
          <p:cNvSpPr/>
          <p:nvPr/>
        </p:nvSpPr>
        <p:spPr>
          <a:xfrm>
            <a:off x="4334256" y="3840480"/>
            <a:ext cx="3520440" cy="2194560"/>
          </a:xfrm>
          <a:prstGeom prst="roundRect">
            <a:avLst>
              <a:gd name="adj" fmla="val 5000"/>
            </a:avLst>
          </a:prstGeom>
          <a:solidFill>
            <a:schemeClr val="bg2"/>
          </a:solidFill>
          <a:ln/>
        </p:spPr>
      </p:sp>
      <p:sp>
        <p:nvSpPr>
          <p:cNvPr id="21" name="step-number"/>
          <p:cNvSpPr txBox="1"/>
          <p:nvPr/>
        </p:nvSpPr>
        <p:spPr>
          <a:xfrm>
            <a:off x="4608576"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19"/>
          <p:cNvSpPr txBox="1"/>
          <p:nvPr/>
        </p:nvSpPr>
        <p:spPr>
          <a:xfrm>
            <a:off x="5340096" y="4114800"/>
            <a:ext cx="2331720" cy="548640"/>
          </a:xfrm>
          <a:prstGeom prst="rect">
            <a:avLst/>
          </a:prstGeom>
          <a:noFill/>
          <a:ln/>
        </p:spPr>
        <p:txBody>
          <a:bodyPr wrap="square" lIns="0" tIns="0" rIns="0" bIns="0" rtlCol="0" anchor="ctr"/>
          <a:lstStyle/>
          <a:p>
            <a:pPr indent="0" marL="0">
              <a:buNone/>
            </a:pPr>
            <a:r>
              <a:rPr lang="en-US" sz="1800" b="1" dirty="0">
                <a:solidFill>
                  <a:schemeClr val="tx2"/>
                </a:solidFill>
              </a:rPr>
              <a:t>ORM runs the SQL</a:t>
            </a:r>
            <a:endParaRPr lang="en-US" sz="1800" dirty="0"/>
          </a:p>
        </p:txBody>
      </p:sp>
      <p:sp>
        <p:nvSpPr>
          <p:cNvPr id="23" name="Text 20"/>
          <p:cNvSpPr txBox="1"/>
          <p:nvPr/>
        </p:nvSpPr>
        <p:spPr>
          <a:xfrm>
            <a:off x="4608576" y="4937760"/>
            <a:ext cx="2971800" cy="1005840"/>
          </a:xfrm>
          <a:prstGeom prst="rect">
            <a:avLst/>
          </a:prstGeom>
          <a:noFill/>
          <a:ln/>
        </p:spPr>
        <p:txBody>
          <a:bodyPr wrap="square" lIns="0" tIns="0" rIns="0" bIns="0" rtlCol="0" anchor="t"/>
          <a:lstStyle/>
          <a:p>
            <a:pPr indent="0" marL="0">
              <a:buNone/>
            </a:pPr>
            <a:r>
              <a:rPr lang="en-US" sz="1600" dirty="0">
                <a:solidFill>
                  <a:schemeClr val="tx1"/>
                </a:solidFill>
              </a:rPr>
              <a:t>Django writes SELECT ... FROM items_item and the database answers.</a:t>
            </a:r>
            <a:endParaRPr lang="en-US" sz="1600" dirty="0"/>
          </a:p>
        </p:txBody>
      </p:sp>
      <p:sp>
        <p:nvSpPr>
          <p:cNvPr id="24" name="step-card"/>
          <p:cNvSpPr/>
          <p:nvPr/>
        </p:nvSpPr>
        <p:spPr>
          <a:xfrm>
            <a:off x="8119872" y="3840480"/>
            <a:ext cx="3520440" cy="2194560"/>
          </a:xfrm>
          <a:prstGeom prst="roundRect">
            <a:avLst>
              <a:gd name="adj" fmla="val 5000"/>
            </a:avLst>
          </a:prstGeom>
          <a:solidFill>
            <a:schemeClr val="bg2"/>
          </a:solidFill>
          <a:ln/>
        </p:spPr>
      </p:sp>
      <p:sp>
        <p:nvSpPr>
          <p:cNvPr id="25" name="step-number"/>
          <p:cNvSpPr txBox="1"/>
          <p:nvPr/>
        </p:nvSpPr>
        <p:spPr>
          <a:xfrm>
            <a:off x="8394192"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 23"/>
          <p:cNvSpPr txBox="1"/>
          <p:nvPr/>
        </p:nvSpPr>
        <p:spPr>
          <a:xfrm>
            <a:off x="9125712" y="4114800"/>
            <a:ext cx="2331720" cy="548640"/>
          </a:xfrm>
          <a:prstGeom prst="rect">
            <a:avLst/>
          </a:prstGeom>
          <a:noFill/>
          <a:ln/>
        </p:spPr>
        <p:txBody>
          <a:bodyPr wrap="square" lIns="0" tIns="0" rIns="0" bIns="0" rtlCol="0" anchor="ctr"/>
          <a:lstStyle/>
          <a:p>
            <a:pPr indent="0" marL="0">
              <a:buNone/>
            </a:pPr>
            <a:r>
              <a:rPr lang="en-US" sz="1800" b="1" dirty="0">
                <a:solidFill>
                  <a:schemeClr val="tx2"/>
                </a:solidFill>
              </a:rPr>
              <a:t>Serializer builds JSON</a:t>
            </a:r>
            <a:endParaRPr lang="en-US" sz="1800" dirty="0"/>
          </a:p>
        </p:txBody>
      </p:sp>
      <p:sp>
        <p:nvSpPr>
          <p:cNvPr id="27" name="Text 24"/>
          <p:cNvSpPr txBox="1"/>
          <p:nvPr/>
        </p:nvSpPr>
        <p:spPr>
          <a:xfrm>
            <a:off x="8394192" y="4937760"/>
            <a:ext cx="2971800" cy="1005840"/>
          </a:xfrm>
          <a:prstGeom prst="rect">
            <a:avLst/>
          </a:prstGeom>
          <a:noFill/>
          <a:ln/>
        </p:spPr>
        <p:txBody>
          <a:bodyPr wrap="square" lIns="0" tIns="0" rIns="0" bIns="0" rtlCol="0" anchor="t"/>
          <a:lstStyle/>
          <a:p>
            <a:pPr indent="0" marL="0">
              <a:buNone/>
            </a:pPr>
            <a:r>
              <a:rPr lang="en-US" sz="1600" dirty="0">
                <a:solidFill>
                  <a:schemeClr val="tx1"/>
                </a:solidFill>
              </a:rPr>
              <a:t>The view returns Response(data) and the browser receives JSON.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MVT vs MVC vs MERN</a:t>
            </a:r>
            <a:endParaRPr lang="en-US" sz="36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560320"/>
                <a:gridCol w="2377440"/>
                <a:gridCol w="3383280"/>
                <a:gridCol w="2770632"/>
              </a:tblGrid>
              <a:tr h="640080">
                <a:tc>
                  <a:txBody>
                    <a:bodyPr/>
                    <a:lstStyle/>
                    <a:p>
                      <a:pPr indent="0" marL="0">
                        <a:buNone/>
                      </a:pPr>
                      <a:r>
                        <a:rPr lang="en-US" sz="1600" b="1" dirty="0">
                          <a:solidFill>
                            <a:schemeClr val="bg1"/>
                          </a:solidFill>
                        </a:rPr>
                        <a:t>Role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MVC (classic)</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MVT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MERN stack</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640080">
                <a:tc>
                  <a:txBody>
                    <a:bodyPr/>
                    <a:lstStyle/>
                    <a:p>
                      <a:pPr indent="0" marL="0">
                        <a:buNone/>
                      </a:pPr>
                      <a:r>
                        <a:rPr lang="en-US" sz="1500" b="1" dirty="0">
                          <a:solidFill>
                            <a:schemeClr val="tx1"/>
                          </a:solidFill>
                        </a:rPr>
                        <a:t>Data and rules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Model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Model (models.py)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Mongoose model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40080">
                <a:tc>
                  <a:txBody>
                    <a:bodyPr/>
                    <a:lstStyle/>
                    <a:p>
                      <a:pPr indent="0" marL="0">
                        <a:buNone/>
                      </a:pPr>
                      <a:r>
                        <a:rPr lang="en-US" sz="1500" b="1" dirty="0">
                          <a:solidFill>
                            <a:schemeClr val="tx1"/>
                          </a:solidFill>
                        </a:rPr>
                        <a:t>Handles the request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Controller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View (views.py)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Express route handler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40080">
                <a:tc>
                  <a:txBody>
                    <a:bodyPr/>
                    <a:lstStyle/>
                    <a:p>
                      <a:pPr indent="0" marL="0">
                        <a:buNone/>
                      </a:pPr>
                      <a:r>
                        <a:rPr lang="en-US" sz="1500" b="1" dirty="0">
                          <a:solidFill>
                            <a:schemeClr val="tx1"/>
                          </a:solidFill>
                        </a:rPr>
                        <a:t>Chooses the handler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Router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urls.py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Express routes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40080">
                <a:tc>
                  <a:txBody>
                    <a:bodyPr/>
                    <a:lstStyle/>
                    <a:p>
                      <a:pPr indent="0" marL="0">
                        <a:buNone/>
                      </a:pPr>
                      <a:r>
                        <a:rPr lang="en-US" sz="1500" b="1" dirty="0">
                          <a:solidFill>
                            <a:schemeClr val="tx1"/>
                          </a:solidFill>
                        </a:rPr>
                        <a:t>Presentation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View</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Template, or serializer 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React component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4846320"/>
            <a:ext cx="11091672" cy="1188720"/>
          </a:xfrm>
          <a:prstGeom prst="roundRect">
            <a:avLst>
              <a:gd name="adj" fmla="val 9231"/>
            </a:avLst>
          </a:prstGeom>
          <a:solidFill>
            <a:schemeClr val="tx2"/>
          </a:solidFill>
          <a:ln/>
        </p:spPr>
      </p:sp>
      <p:sp>
        <p:nvSpPr>
          <p:cNvPr id="6" name="Text 2"/>
          <p:cNvSpPr txBox="1"/>
          <p:nvPr/>
        </p:nvSpPr>
        <p:spPr>
          <a:xfrm>
            <a:off x="822960" y="4846320"/>
            <a:ext cx="10543032" cy="1188720"/>
          </a:xfrm>
          <a:prstGeom prst="rect">
            <a:avLst/>
          </a:prstGeom>
          <a:noFill/>
          <a:ln/>
        </p:spPr>
        <p:txBody>
          <a:bodyPr wrap="square" lIns="0" tIns="0" rIns="0" bIns="0" rtlCol="0" anchor="ctr"/>
          <a:lstStyle/>
          <a:p>
            <a:pPr indent="0" marL="0">
              <a:buNone/>
            </a:pPr>
            <a:r>
              <a:rPr lang="en-US" sz="1800" b="1" dirty="0">
                <a:solidFill>
                  <a:schemeClr val="accent1"/>
                </a:solidFill>
              </a:rPr>
              <a:t>Same idea, different names. </a:t>
            </a:r>
            <a:pPr indent="0" marL="0">
              <a:buNone/>
            </a:pPr>
            <a:r>
              <a:rPr lang="en-US" sz="1800" dirty="0">
                <a:solidFill>
                  <a:schemeClr val="bg1"/>
                </a:solidFill>
              </a:rPr>
              <a:t>Django's View is MVC's Controller, and Django's Template is MVC's View.</a:t>
            </a:r>
            <a:endParaRPr lang="en-US" sz="18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MERN to Django cheat sheet</a:t>
            </a:r>
            <a:endParaRPr lang="en-US" sz="36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5394960"/>
                <a:gridCol w="5696712"/>
              </a:tblGrid>
              <a:tr h="512064">
                <a:tc>
                  <a:txBody>
                    <a:bodyPr/>
                    <a:lstStyle/>
                    <a:p>
                      <a:pPr indent="0" marL="0">
                        <a:buNone/>
                      </a:pPr>
                      <a:r>
                        <a:rPr lang="en-US" sz="1600" b="1" dirty="0">
                          <a:solidFill>
                            <a:schemeClr val="bg1"/>
                          </a:solidFill>
                        </a:rPr>
                        <a:t>In MERN you write...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In Django you write...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12064">
                <a:tc>
                  <a:txBody>
                    <a:bodyPr/>
                    <a:lstStyle/>
                    <a:p>
                      <a:pPr indent="0" marL="0">
                        <a:buNone/>
                      </a:pPr>
                      <a:r>
                        <a:rPr lang="en-US" sz="1500" dirty="0">
                          <a:solidFill>
                            <a:schemeClr val="tx1"/>
                          </a:solidFill>
                        </a:rPr>
                        <a:t>Express route: app.get('/items', ...)</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urls.py: path('items/', views.item_list)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Express handler / controller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view function in views.py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Mongoose schema and model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 model class in models.py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React component / EJS template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template, or a DRF serializer for 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MongoDB collection and document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Database table and row</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npm install  +  package.json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pip install  +  requirements.txt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node_modules per project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venv (virtual environment) per project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npm start / nodemon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python manage.py runserver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templates vs React (JSX)</a:t>
            </a:r>
            <a:endParaRPr lang="en-US" sz="3600" dirty="0"/>
          </a:p>
        </p:txBody>
      </p:sp>
      <p:sp>
        <p:nvSpPr>
          <p:cNvPr id="4" name="Text 1"/>
          <p:cNvSpPr txBox="1"/>
          <p:nvPr/>
        </p:nvSpPr>
        <p:spPr>
          <a:xfrm>
            <a:off x="548640"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Django template  (runs on the server)</a:t>
            </a:r>
            <a:endParaRPr lang="en-US" sz="1400" dirty="0"/>
          </a:p>
        </p:txBody>
      </p:sp>
      <p:sp>
        <p:nvSpPr>
          <p:cNvPr id="5" name="template-code"/>
          <p:cNvSpPr txBox="1"/>
          <p:nvPr/>
        </p:nvSpPr>
        <p:spPr>
          <a:xfrm>
            <a:off x="548640" y="1645920"/>
            <a:ext cx="5431536" cy="2194560"/>
          </a:xfrm>
          <a:prstGeom prst="roundRect">
            <a:avLst>
              <a:gd name="adj" fmla="val 41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for item in items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 item.name }}: {{ item.price }}&lt;/li&gt;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empty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&lt;li&gt;No items yet&lt;/li&gt;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endfor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p:txBody>
      </p:sp>
      <p:sp>
        <p:nvSpPr>
          <p:cNvPr id="6" name="Text 3"/>
          <p:cNvSpPr txBox="1"/>
          <p:nvPr/>
        </p:nvSpPr>
        <p:spPr>
          <a:xfrm>
            <a:off x="6208776"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React JSX  (runs in the browser)</a:t>
            </a:r>
            <a:endParaRPr lang="en-US" sz="1400" dirty="0"/>
          </a:p>
        </p:txBody>
      </p:sp>
      <p:sp>
        <p:nvSpPr>
          <p:cNvPr id="7" name="jsx-code"/>
          <p:cNvSpPr txBox="1"/>
          <p:nvPr/>
        </p:nvSpPr>
        <p:spPr>
          <a:xfrm>
            <a:off x="6208776" y="1645920"/>
            <a:ext cx="5431536" cy="2194560"/>
          </a:xfrm>
          <a:prstGeom prst="roundRect">
            <a:avLst>
              <a:gd name="adj" fmla="val 41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{items.length === 0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&lt;li&gt;No items yet&lt;/li&gt;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 items.map((item) =&gt;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 key={item.id}&gt;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{item.name}: {item.price}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4114800"/>
          <a:ext cx="11091672" cy="914400"/>
        </p:xfrm>
        <a:graphic>
          <a:graphicData uri="http://schemas.openxmlformats.org/drawingml/2006/table">
            <a:tbl>
              <a:tblPr/>
              <a:tblGrid>
                <a:gridCol w="2194560"/>
                <a:gridCol w="4389120"/>
                <a:gridCol w="4507992"/>
              </a:tblGrid>
              <a:tr h="393192">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template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React (JSX)</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393192">
                <a:tc>
                  <a:txBody>
                    <a:bodyPr/>
                    <a:lstStyle/>
                    <a:p>
                      <a:pPr indent="0" marL="0">
                        <a:buNone/>
                      </a:pPr>
                      <a:r>
                        <a:rPr lang="en-US" sz="1400" b="1" dirty="0">
                          <a:solidFill>
                            <a:schemeClr val="tx1"/>
                          </a:solidFill>
                        </a:rPr>
                        <a:t>Runs on</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The server, before the page is sent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The browser, after the page loads</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b="1" dirty="0">
                          <a:solidFill>
                            <a:schemeClr val="tx1"/>
                          </a:solidFill>
                        </a:rPr>
                        <a:t>Loop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 for item in items %}</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items.map(...)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indent="0" marL="0">
                        <a:buNone/>
                      </a:pPr>
                      <a:r>
                        <a:rPr lang="en-US" sz="1400" b="1" dirty="0">
                          <a:solidFill>
                            <a:schemeClr val="tx1"/>
                          </a:solidFill>
                        </a:rPr>
                        <a:t>Print a value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 item.name }}</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{item.name}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b="1" dirty="0">
                          <a:solidFill>
                            <a:schemeClr val="tx1"/>
                          </a:solidFill>
                        </a:rPr>
                        <a:t>Sent to the browser</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Finished HTML</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JSON data, then React builds the HTML</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is Django REST Framework?</a:t>
            </a:r>
            <a:endParaRPr lang="en-US" sz="3600" dirty="0"/>
          </a:p>
        </p:txBody>
      </p:sp>
      <p:sp>
        <p:nvSpPr>
          <p:cNvPr id="4" name="definition"/>
          <p:cNvSpPr/>
          <p:nvPr/>
        </p:nvSpPr>
        <p:spPr>
          <a:xfrm>
            <a:off x="548640" y="1371600"/>
            <a:ext cx="5943600" cy="1463040"/>
          </a:xfrm>
          <a:prstGeom prst="roundRect">
            <a:avLst>
              <a:gd name="adj" fmla="val 7500"/>
            </a:avLst>
          </a:prstGeom>
          <a:solidFill>
            <a:schemeClr val="tx2"/>
          </a:solidFill>
          <a:ln/>
        </p:spPr>
      </p:sp>
      <p:sp>
        <p:nvSpPr>
          <p:cNvPr id="5" name="Text 2"/>
          <p:cNvSpPr txBox="1"/>
          <p:nvPr/>
        </p:nvSpPr>
        <p:spPr>
          <a:xfrm>
            <a:off x="822960" y="148132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Definition</a:t>
            </a:r>
            <a:endParaRPr lang="en-US" sz="1400" dirty="0"/>
          </a:p>
        </p:txBody>
      </p:sp>
      <p:sp>
        <p:nvSpPr>
          <p:cNvPr id="6" name="Text 3"/>
          <p:cNvSpPr txBox="1"/>
          <p:nvPr/>
        </p:nvSpPr>
        <p:spPr>
          <a:xfrm>
            <a:off x="822960" y="1828800"/>
            <a:ext cx="5394960" cy="914400"/>
          </a:xfrm>
          <a:prstGeom prst="rect">
            <a:avLst/>
          </a:prstGeom>
          <a:noFill/>
          <a:ln/>
        </p:spPr>
        <p:txBody>
          <a:bodyPr wrap="square" lIns="0" tIns="0" rIns="0" bIns="0" rtlCol="0" anchor="t"/>
          <a:lstStyle/>
          <a:p>
            <a:pPr indent="0" marL="0">
              <a:buNone/>
            </a:pPr>
            <a:r>
              <a:rPr lang="en-US" sz="1900" b="1" dirty="0">
                <a:solidFill>
                  <a:schemeClr val="bg1"/>
                </a:solidFill>
              </a:rPr>
              <a:t>DRF is a toolkit on top of Django for building web APIs that send and receive JSON.</a:t>
            </a:r>
            <a:endParaRPr lang="en-US" sz="1900" dirty="0"/>
          </a:p>
        </p:txBody>
      </p:sp>
      <p:sp>
        <p:nvSpPr>
          <p:cNvPr id="7" name="feature-row"/>
          <p:cNvSpPr/>
          <p:nvPr/>
        </p:nvSpPr>
        <p:spPr>
          <a:xfrm>
            <a:off x="548640" y="3017520"/>
            <a:ext cx="5943600" cy="530352"/>
          </a:xfrm>
          <a:prstGeom prst="roundRect">
            <a:avLst>
              <a:gd name="adj" fmla="val 20690"/>
            </a:avLst>
          </a:prstGeom>
          <a:solidFill>
            <a:schemeClr val="bg2"/>
          </a:solidFill>
          <a:ln/>
        </p:spPr>
      </p:sp>
      <p:sp>
        <p:nvSpPr>
          <p:cNvPr id="8" name="Text 5"/>
          <p:cNvSpPr txBox="1"/>
          <p:nvPr/>
        </p:nvSpPr>
        <p:spPr>
          <a:xfrm>
            <a:off x="777240" y="3017520"/>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Serializers</a:t>
            </a:r>
            <a:endParaRPr lang="en-US" sz="1600" dirty="0"/>
          </a:p>
        </p:txBody>
      </p:sp>
      <p:sp>
        <p:nvSpPr>
          <p:cNvPr id="9" name="Text 6"/>
          <p:cNvSpPr txBox="1"/>
          <p:nvPr/>
        </p:nvSpPr>
        <p:spPr>
          <a:xfrm>
            <a:off x="2926080" y="3017520"/>
            <a:ext cx="3474720" cy="530352"/>
          </a:xfrm>
          <a:prstGeom prst="rect">
            <a:avLst/>
          </a:prstGeom>
          <a:noFill/>
          <a:ln/>
        </p:spPr>
        <p:txBody>
          <a:bodyPr wrap="square" lIns="0" tIns="0" rIns="0" bIns="0" rtlCol="0" anchor="ctr"/>
          <a:lstStyle/>
          <a:p>
            <a:pPr indent="0" marL="0">
              <a:buNone/>
            </a:pPr>
            <a:r>
              <a:rPr lang="en-US" sz="1500" dirty="0">
                <a:solidFill>
                  <a:schemeClr val="tx1"/>
                </a:solidFill>
              </a:rPr>
              <a:t>convert models to JSON and validate input</a:t>
            </a:r>
            <a:endParaRPr lang="en-US" sz="1500" dirty="0"/>
          </a:p>
        </p:txBody>
      </p:sp>
      <p:sp>
        <p:nvSpPr>
          <p:cNvPr id="10" name="feature-row"/>
          <p:cNvSpPr/>
          <p:nvPr/>
        </p:nvSpPr>
        <p:spPr>
          <a:xfrm>
            <a:off x="548640" y="3639312"/>
            <a:ext cx="5943600" cy="530352"/>
          </a:xfrm>
          <a:prstGeom prst="roundRect">
            <a:avLst>
              <a:gd name="adj" fmla="val 20690"/>
            </a:avLst>
          </a:prstGeom>
          <a:solidFill>
            <a:schemeClr val="bg2"/>
          </a:solidFill>
          <a:ln/>
        </p:spPr>
      </p:sp>
      <p:sp>
        <p:nvSpPr>
          <p:cNvPr id="11" name="Text 8"/>
          <p:cNvSpPr txBox="1"/>
          <p:nvPr/>
        </p:nvSpPr>
        <p:spPr>
          <a:xfrm>
            <a:off x="777240" y="3639312"/>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API views</a:t>
            </a:r>
            <a:endParaRPr lang="en-US" sz="1600" dirty="0"/>
          </a:p>
        </p:txBody>
      </p:sp>
      <p:sp>
        <p:nvSpPr>
          <p:cNvPr id="12" name="Text 9"/>
          <p:cNvSpPr txBox="1"/>
          <p:nvPr/>
        </p:nvSpPr>
        <p:spPr>
          <a:xfrm>
            <a:off x="2926080" y="3639312"/>
            <a:ext cx="3474720" cy="530352"/>
          </a:xfrm>
          <a:prstGeom prst="rect">
            <a:avLst/>
          </a:prstGeom>
          <a:noFill/>
          <a:ln/>
        </p:spPr>
        <p:txBody>
          <a:bodyPr wrap="square" lIns="0" tIns="0" rIns="0" bIns="0" rtlCol="0" anchor="ctr"/>
          <a:lstStyle/>
          <a:p>
            <a:pPr indent="0" marL="0">
              <a:buNone/>
            </a:pPr>
            <a:r>
              <a:rPr lang="en-US" sz="1500" dirty="0">
                <a:solidFill>
                  <a:schemeClr val="tx1"/>
                </a:solidFill>
              </a:rPr>
              <a:t>@api_view functions or ViewSets</a:t>
            </a:r>
            <a:endParaRPr lang="en-US" sz="1500" dirty="0"/>
          </a:p>
        </p:txBody>
      </p:sp>
      <p:sp>
        <p:nvSpPr>
          <p:cNvPr id="13" name="feature-row"/>
          <p:cNvSpPr/>
          <p:nvPr/>
        </p:nvSpPr>
        <p:spPr>
          <a:xfrm>
            <a:off x="548640" y="4261104"/>
            <a:ext cx="5943600" cy="530352"/>
          </a:xfrm>
          <a:prstGeom prst="roundRect">
            <a:avLst>
              <a:gd name="adj" fmla="val 20690"/>
            </a:avLst>
          </a:prstGeom>
          <a:solidFill>
            <a:schemeClr val="bg2"/>
          </a:solidFill>
          <a:ln/>
        </p:spPr>
      </p:sp>
      <p:sp>
        <p:nvSpPr>
          <p:cNvPr id="14" name="Text 11"/>
          <p:cNvSpPr txBox="1"/>
          <p:nvPr/>
        </p:nvSpPr>
        <p:spPr>
          <a:xfrm>
            <a:off x="777240" y="4261104"/>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Routers</a:t>
            </a:r>
            <a:endParaRPr lang="en-US" sz="1600" dirty="0"/>
          </a:p>
        </p:txBody>
      </p:sp>
      <p:sp>
        <p:nvSpPr>
          <p:cNvPr id="15" name="Text 12"/>
          <p:cNvSpPr txBox="1"/>
          <p:nvPr/>
        </p:nvSpPr>
        <p:spPr>
          <a:xfrm>
            <a:off x="2926080" y="4261104"/>
            <a:ext cx="3474720" cy="530352"/>
          </a:xfrm>
          <a:prstGeom prst="rect">
            <a:avLst/>
          </a:prstGeom>
          <a:noFill/>
          <a:ln/>
        </p:spPr>
        <p:txBody>
          <a:bodyPr wrap="square" lIns="0" tIns="0" rIns="0" bIns="0" rtlCol="0" anchor="ctr"/>
          <a:lstStyle/>
          <a:p>
            <a:pPr indent="0" marL="0">
              <a:buNone/>
            </a:pPr>
            <a:r>
              <a:rPr lang="en-US" sz="1500" dirty="0">
                <a:solidFill>
                  <a:schemeClr val="tx1"/>
                </a:solidFill>
              </a:rPr>
              <a:t>generate the URLs for you</a:t>
            </a:r>
            <a:endParaRPr lang="en-US" sz="1500" dirty="0"/>
          </a:p>
        </p:txBody>
      </p:sp>
      <p:sp>
        <p:nvSpPr>
          <p:cNvPr id="16" name="feature-row"/>
          <p:cNvSpPr/>
          <p:nvPr/>
        </p:nvSpPr>
        <p:spPr>
          <a:xfrm>
            <a:off x="548640" y="4882896"/>
            <a:ext cx="5943600" cy="530352"/>
          </a:xfrm>
          <a:prstGeom prst="roundRect">
            <a:avLst>
              <a:gd name="adj" fmla="val 20690"/>
            </a:avLst>
          </a:prstGeom>
          <a:solidFill>
            <a:schemeClr val="bg2"/>
          </a:solidFill>
          <a:ln/>
        </p:spPr>
      </p:sp>
      <p:sp>
        <p:nvSpPr>
          <p:cNvPr id="17" name="Text 14"/>
          <p:cNvSpPr txBox="1"/>
          <p:nvPr/>
        </p:nvSpPr>
        <p:spPr>
          <a:xfrm>
            <a:off x="777240" y="4882896"/>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Browsable API</a:t>
            </a:r>
            <a:endParaRPr lang="en-US" sz="1600" dirty="0"/>
          </a:p>
        </p:txBody>
      </p:sp>
      <p:sp>
        <p:nvSpPr>
          <p:cNvPr id="18" name="Text 15"/>
          <p:cNvSpPr txBox="1"/>
          <p:nvPr/>
        </p:nvSpPr>
        <p:spPr>
          <a:xfrm>
            <a:off x="2926080" y="4882896"/>
            <a:ext cx="3474720" cy="530352"/>
          </a:xfrm>
          <a:prstGeom prst="rect">
            <a:avLst/>
          </a:prstGeom>
          <a:noFill/>
          <a:ln/>
        </p:spPr>
        <p:txBody>
          <a:bodyPr wrap="square" lIns="0" tIns="0" rIns="0" bIns="0" rtlCol="0" anchor="ctr"/>
          <a:lstStyle/>
          <a:p>
            <a:pPr indent="0" marL="0">
              <a:buNone/>
            </a:pPr>
            <a:r>
              <a:rPr lang="en-US" sz="1500" dirty="0">
                <a:solidFill>
                  <a:schemeClr val="tx1"/>
                </a:solidFill>
              </a:rPr>
              <a:t>test your endpoints in the browser</a:t>
            </a:r>
            <a:endParaRPr lang="en-US" sz="1500" dirty="0"/>
          </a:p>
        </p:txBody>
      </p:sp>
      <p:sp>
        <p:nvSpPr>
          <p:cNvPr id="19" name="feature-row"/>
          <p:cNvSpPr/>
          <p:nvPr/>
        </p:nvSpPr>
        <p:spPr>
          <a:xfrm>
            <a:off x="548640" y="5504688"/>
            <a:ext cx="5943600" cy="530352"/>
          </a:xfrm>
          <a:prstGeom prst="roundRect">
            <a:avLst>
              <a:gd name="adj" fmla="val 20690"/>
            </a:avLst>
          </a:prstGeom>
          <a:solidFill>
            <a:schemeClr val="bg2"/>
          </a:solidFill>
          <a:ln/>
        </p:spPr>
      </p:sp>
      <p:sp>
        <p:nvSpPr>
          <p:cNvPr id="20" name="Text 17"/>
          <p:cNvSpPr txBox="1"/>
          <p:nvPr/>
        </p:nvSpPr>
        <p:spPr>
          <a:xfrm>
            <a:off x="777240" y="5504688"/>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Auth and permissions</a:t>
            </a:r>
            <a:endParaRPr lang="en-US" sz="1600" dirty="0"/>
          </a:p>
        </p:txBody>
      </p:sp>
      <p:sp>
        <p:nvSpPr>
          <p:cNvPr id="21" name="Text 18"/>
          <p:cNvSpPr txBox="1"/>
          <p:nvPr/>
        </p:nvSpPr>
        <p:spPr>
          <a:xfrm>
            <a:off x="2926080" y="5504688"/>
            <a:ext cx="3474720" cy="530352"/>
          </a:xfrm>
          <a:prstGeom prst="rect">
            <a:avLst/>
          </a:prstGeom>
          <a:noFill/>
          <a:ln/>
        </p:spPr>
        <p:txBody>
          <a:bodyPr wrap="square" lIns="0" tIns="0" rIns="0" bIns="0" rtlCol="0" anchor="ctr"/>
          <a:lstStyle/>
          <a:p>
            <a:pPr indent="0" marL="0">
              <a:buNone/>
            </a:pPr>
            <a:r>
              <a:rPr lang="en-US" sz="1500" dirty="0">
                <a:solidFill>
                  <a:schemeClr val="tx1"/>
                </a:solidFill>
              </a:rPr>
              <a:t>control who can do what</a:t>
            </a:r>
            <a:endParaRPr lang="en-US" sz="1500" dirty="0"/>
          </a:p>
        </p:txBody>
      </p:sp>
      <p:sp>
        <p:nvSpPr>
          <p:cNvPr id="22" name="diagram-box"/>
          <p:cNvSpPr txBox="1"/>
          <p:nvPr/>
        </p:nvSpPr>
        <p:spPr>
          <a:xfrm>
            <a:off x="6949440" y="1371600"/>
            <a:ext cx="4690872" cy="822960"/>
          </a:xfrm>
          <a:prstGeom prst="roundRect">
            <a:avLst>
              <a:gd name="adj" fmla="val 13333"/>
            </a:avLst>
          </a:prstGeom>
          <a:solidFill>
            <a:schemeClr val="bg2"/>
          </a:solidFill>
          <a:ln/>
        </p:spPr>
        <p:txBody>
          <a:bodyPr wrap="square" lIns="76200" tIns="76200" rIns="76200" bIns="76200" rtlCol="0" anchor="ctr"/>
          <a:lstStyle/>
          <a:p>
            <a:pPr algn="ctr" indent="0" marL="0">
              <a:buNone/>
            </a:pPr>
            <a:r>
              <a:rPr lang="en-US" sz="1700" b="1" dirty="0">
                <a:solidFill>
                  <a:schemeClr val="tx2"/>
                </a:solidFill>
              </a:rPr>
              <a:t>React app / mobile app / Postman</a:t>
            </a:r>
            <a:endParaRPr lang="en-US" sz="1700" dirty="0"/>
          </a:p>
          <a:p>
            <a:pPr algn="ctr" indent="0" marL="0">
              <a:buNone/>
            </a:pPr>
            <a:r>
              <a:rPr lang="en-US" sz="1400" dirty="0">
                <a:solidFill>
                  <a:schemeClr val="tx2"/>
                </a:solidFill>
              </a:rPr>
              <a:t>the client</a:t>
            </a:r>
            <a:endParaRPr lang="en-US" sz="1700" dirty="0"/>
          </a:p>
        </p:txBody>
      </p:sp>
      <p:sp>
        <p:nvSpPr>
          <p:cNvPr id="23" name="arrow"/>
          <p:cNvSpPr/>
          <p:nvPr/>
        </p:nvSpPr>
        <p:spPr>
          <a:xfrm>
            <a:off x="9299448" y="2194560"/>
            <a:ext cx="0" cy="457200"/>
          </a:xfrm>
          <a:prstGeom prst="line">
            <a:avLst/>
          </a:prstGeom>
          <a:noFill/>
          <a:ln w="28575">
            <a:solidFill>
              <a:schemeClr val="tx2"/>
            </a:solidFill>
            <a:prstDash val="solid"/>
            <a:headEnd type="triangle"/>
            <a:tailEnd type="triangle"/>
          </a:ln>
        </p:spPr>
      </p:sp>
      <p:sp>
        <p:nvSpPr>
          <p:cNvPr id="24" name="diagram-box"/>
          <p:cNvSpPr txBox="1"/>
          <p:nvPr/>
        </p:nvSpPr>
        <p:spPr>
          <a:xfrm>
            <a:off x="6949440" y="2651760"/>
            <a:ext cx="4690872" cy="822960"/>
          </a:xfrm>
          <a:prstGeom prst="roundRect">
            <a:avLst>
              <a:gd name="adj" fmla="val 13333"/>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Django REST Framework</a:t>
            </a:r>
            <a:endParaRPr lang="en-US" sz="1700" dirty="0"/>
          </a:p>
          <a:p>
            <a:pPr algn="ctr" indent="0" marL="0">
              <a:buNone/>
            </a:pPr>
            <a:r>
              <a:rPr lang="en-US" sz="1400" dirty="0">
                <a:solidFill>
                  <a:schemeClr val="bg1"/>
                </a:solidFill>
              </a:rPr>
              <a:t>serializers, API views, routers</a:t>
            </a:r>
            <a:endParaRPr lang="en-US" sz="1700" dirty="0"/>
          </a:p>
        </p:txBody>
      </p:sp>
      <p:sp>
        <p:nvSpPr>
          <p:cNvPr id="25" name="arrow"/>
          <p:cNvSpPr/>
          <p:nvPr/>
        </p:nvSpPr>
        <p:spPr>
          <a:xfrm>
            <a:off x="9299448" y="3474720"/>
            <a:ext cx="0" cy="457200"/>
          </a:xfrm>
          <a:prstGeom prst="line">
            <a:avLst/>
          </a:prstGeom>
          <a:noFill/>
          <a:ln w="28575">
            <a:solidFill>
              <a:schemeClr val="tx2"/>
            </a:solidFill>
            <a:prstDash val="solid"/>
            <a:headEnd type="triangle"/>
            <a:tailEnd type="triangle"/>
          </a:ln>
        </p:spPr>
      </p:sp>
      <p:sp>
        <p:nvSpPr>
          <p:cNvPr id="26" name="diagram-box"/>
          <p:cNvSpPr txBox="1"/>
          <p:nvPr/>
        </p:nvSpPr>
        <p:spPr>
          <a:xfrm>
            <a:off x="6949440" y="3931920"/>
            <a:ext cx="4690872" cy="822960"/>
          </a:xfrm>
          <a:prstGeom prst="roundRect">
            <a:avLst>
              <a:gd name="adj" fmla="val 13333"/>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Django</a:t>
            </a:r>
            <a:endParaRPr lang="en-US" sz="1700" dirty="0"/>
          </a:p>
          <a:p>
            <a:pPr algn="ctr" indent="0" marL="0">
              <a:buNone/>
            </a:pPr>
            <a:r>
              <a:rPr lang="en-US" sz="1400" dirty="0">
                <a:solidFill>
                  <a:schemeClr val="bg1"/>
                </a:solidFill>
              </a:rPr>
              <a:t>models, ORM, admin, security</a:t>
            </a:r>
            <a:endParaRPr lang="en-US" sz="1700" dirty="0"/>
          </a:p>
        </p:txBody>
      </p:sp>
      <p:sp>
        <p:nvSpPr>
          <p:cNvPr id="27" name="arrow"/>
          <p:cNvSpPr/>
          <p:nvPr/>
        </p:nvSpPr>
        <p:spPr>
          <a:xfrm>
            <a:off x="9299448" y="4754880"/>
            <a:ext cx="0" cy="457200"/>
          </a:xfrm>
          <a:prstGeom prst="line">
            <a:avLst/>
          </a:prstGeom>
          <a:noFill/>
          <a:ln w="28575">
            <a:solidFill>
              <a:schemeClr val="tx2"/>
            </a:solidFill>
            <a:prstDash val="solid"/>
            <a:headEnd type="triangle"/>
            <a:tailEnd type="triangle"/>
          </a:ln>
        </p:spPr>
      </p:sp>
      <p:sp>
        <p:nvSpPr>
          <p:cNvPr id="28" name="diagram-box"/>
          <p:cNvSpPr txBox="1"/>
          <p:nvPr/>
        </p:nvSpPr>
        <p:spPr>
          <a:xfrm>
            <a:off x="6949440" y="5212080"/>
            <a:ext cx="4690872" cy="822960"/>
          </a:xfrm>
          <a:prstGeom prst="roundRect">
            <a:avLst>
              <a:gd name="adj" fmla="val 13333"/>
            </a:avLst>
          </a:prstGeom>
          <a:solidFill>
            <a:schemeClr val="bg2"/>
          </a:solidFill>
          <a:ln/>
        </p:spPr>
        <p:txBody>
          <a:bodyPr wrap="square" lIns="76200" tIns="76200" rIns="76200" bIns="76200" rtlCol="0" anchor="ctr"/>
          <a:lstStyle/>
          <a:p>
            <a:pPr algn="ctr" indent="0" marL="0">
              <a:buNone/>
            </a:pPr>
            <a:r>
              <a:rPr lang="en-US" sz="1700" b="1" dirty="0">
                <a:solidFill>
                  <a:schemeClr val="tx2"/>
                </a:solidFill>
              </a:rPr>
              <a:t>Database</a:t>
            </a:r>
            <a:endParaRPr lang="en-US" sz="1700" dirty="0"/>
          </a:p>
          <a:p>
            <a:pPr algn="ctr" indent="0" marL="0">
              <a:buNone/>
            </a:pPr>
            <a:r>
              <a:rPr lang="en-US" sz="1400" dirty="0">
                <a:solidFill>
                  <a:schemeClr val="tx2"/>
                </a:solidFill>
              </a:rPr>
              <a:t>SQLite / MySQL / PostgreSQL</a:t>
            </a:r>
            <a:endParaRPr lang="en-US" sz="1700" dirty="0"/>
          </a:p>
        </p:txBody>
      </p:sp>
      <p:sp>
        <p:nvSpPr>
          <p:cNvPr id="29" name="Text 26"/>
          <p:cNvSpPr txBox="1"/>
          <p:nvPr/>
        </p:nvSpPr>
        <p:spPr>
          <a:xfrm>
            <a:off x="9464040" y="2286000"/>
            <a:ext cx="2103120" cy="274320"/>
          </a:xfrm>
          <a:prstGeom prst="rect">
            <a:avLst/>
          </a:prstGeom>
          <a:noFill/>
          <a:ln/>
        </p:spPr>
        <p:txBody>
          <a:bodyPr wrap="square" lIns="0" tIns="0" rIns="0" bIns="0" rtlCol="0" anchor="t"/>
          <a:lstStyle/>
          <a:p>
            <a:pPr indent="0" marL="0">
              <a:buNone/>
            </a:pPr>
            <a:r>
              <a:rPr lang="en-US" sz="1200" dirty="0">
                <a:solidFill>
                  <a:schemeClr val="accent5"/>
                </a:solidFill>
              </a:rPr>
              <a:t>JSON over HTTP</a:t>
            </a:r>
            <a:endParaRPr lang="en-US" sz="12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Templates vs DRF + React vs MERN</a:t>
            </a:r>
            <a:endParaRPr lang="en-US" sz="36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286000"/>
                <a:gridCol w="2834640"/>
                <a:gridCol w="3108960"/>
                <a:gridCol w="2862072"/>
              </a:tblGrid>
              <a:tr h="566928">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templates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 DRF + React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MERN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500" b="1" dirty="0">
                          <a:solidFill>
                            <a:schemeClr val="tx1"/>
                          </a:solidFill>
                        </a:rPr>
                        <a:t>Page is built by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Django, on the 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React,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React,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Backend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views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views + DRF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Express on Node.js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Data sent to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Finished HTML pages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Database layer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ORM (SQL)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ORM (SQL)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Mongoose + MongoDB</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Admin panel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Build it yourself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Best for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Content sites, quick MVPs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Rich UIs and mobile 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JavaScript-only teams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532120"/>
            <a:ext cx="11091672" cy="594360"/>
          </a:xfrm>
          <a:prstGeom prst="roundRect">
            <a:avLst>
              <a:gd name="adj" fmla="val 18462"/>
            </a:avLst>
          </a:prstGeom>
          <a:solidFill>
            <a:schemeClr val="bg2"/>
          </a:solidFill>
          <a:ln/>
        </p:spPr>
      </p:sp>
      <p:sp>
        <p:nvSpPr>
          <p:cNvPr id="6" name="Text 2"/>
          <p:cNvSpPr txBox="1"/>
          <p:nvPr/>
        </p:nvSpPr>
        <p:spPr>
          <a:xfrm>
            <a:off x="822960" y="5532120"/>
            <a:ext cx="10543032" cy="594360"/>
          </a:xfrm>
          <a:prstGeom prst="rect">
            <a:avLst/>
          </a:prstGeom>
          <a:noFill/>
          <a:ln/>
        </p:spPr>
        <p:txBody>
          <a:bodyPr wrap="square" lIns="0" tIns="0" rIns="0" bIns="0" rtlCol="0" anchor="ctr"/>
          <a:lstStyle/>
          <a:p>
            <a:pPr indent="0" marL="0">
              <a:buNone/>
            </a:pPr>
            <a:r>
              <a:rPr lang="en-US" sz="1600" dirty="0">
                <a:solidFill>
                  <a:schemeClr val="tx1"/>
                </a:solidFill>
              </a:rPr>
              <a:t>In this seminar we build the Django + DRF part: the API. A React frontend can plug into it later.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Project setup: step by step</a:t>
            </a:r>
            <a:endParaRPr lang="en-US" sz="3600" dirty="0"/>
          </a:p>
        </p:txBody>
      </p:sp>
      <p:sp>
        <p:nvSpPr>
          <p:cNvPr id="4" name="step-number"/>
          <p:cNvSpPr txBox="1"/>
          <p:nvPr/>
        </p:nvSpPr>
        <p:spPr>
          <a:xfrm>
            <a:off x="548640" y="15544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2"/>
          <p:cNvSpPr txBox="1"/>
          <p:nvPr/>
        </p:nvSpPr>
        <p:spPr>
          <a:xfrm>
            <a:off x="1234440" y="137160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a virtual environment</a:t>
            </a:r>
            <a:endParaRPr lang="en-US" sz="1400" dirty="0"/>
          </a:p>
        </p:txBody>
      </p:sp>
      <p:sp>
        <p:nvSpPr>
          <p:cNvPr id="6" name="command"/>
          <p:cNvSpPr txBox="1"/>
          <p:nvPr/>
        </p:nvSpPr>
        <p:spPr>
          <a:xfrm>
            <a:off x="1234440" y="1645920"/>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 venv venv</a:t>
            </a:r>
            <a:endParaRPr lang="en-US" sz="1400" dirty="0"/>
          </a:p>
        </p:txBody>
      </p:sp>
      <p:sp>
        <p:nvSpPr>
          <p:cNvPr id="7" name="step-number"/>
          <p:cNvSpPr txBox="1"/>
          <p:nvPr/>
        </p:nvSpPr>
        <p:spPr>
          <a:xfrm>
            <a:off x="548640" y="2340864"/>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5"/>
          <p:cNvSpPr txBox="1"/>
          <p:nvPr/>
        </p:nvSpPr>
        <p:spPr>
          <a:xfrm>
            <a:off x="1234440" y="2157984"/>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Activate it (Windows)</a:t>
            </a:r>
            <a:endParaRPr lang="en-US" sz="1400" dirty="0"/>
          </a:p>
        </p:txBody>
      </p:sp>
      <p:sp>
        <p:nvSpPr>
          <p:cNvPr id="9" name="command"/>
          <p:cNvSpPr txBox="1"/>
          <p:nvPr/>
        </p:nvSpPr>
        <p:spPr>
          <a:xfrm>
            <a:off x="1234440" y="2432304"/>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venv\Scripts\activate</a:t>
            </a:r>
            <a:endParaRPr lang="en-US" sz="1400" dirty="0"/>
          </a:p>
        </p:txBody>
      </p:sp>
      <p:sp>
        <p:nvSpPr>
          <p:cNvPr id="10" name="step-number"/>
          <p:cNvSpPr txBox="1"/>
          <p:nvPr/>
        </p:nvSpPr>
        <p:spPr>
          <a:xfrm>
            <a:off x="548640" y="3127248"/>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8"/>
          <p:cNvSpPr txBox="1"/>
          <p:nvPr/>
        </p:nvSpPr>
        <p:spPr>
          <a:xfrm>
            <a:off x="1234440" y="2944368"/>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Install Django, DRF and Pillow</a:t>
            </a:r>
            <a:endParaRPr lang="en-US" sz="1400" dirty="0"/>
          </a:p>
        </p:txBody>
      </p:sp>
      <p:sp>
        <p:nvSpPr>
          <p:cNvPr id="12" name="command"/>
          <p:cNvSpPr txBox="1"/>
          <p:nvPr/>
        </p:nvSpPr>
        <p:spPr>
          <a:xfrm>
            <a:off x="1234440" y="3218688"/>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pip install django djangorestframework pillow</a:t>
            </a:r>
            <a:endParaRPr lang="en-US" sz="1400" dirty="0"/>
          </a:p>
        </p:txBody>
      </p:sp>
      <p:sp>
        <p:nvSpPr>
          <p:cNvPr id="13" name="step-number"/>
          <p:cNvSpPr txBox="1"/>
          <p:nvPr/>
        </p:nvSpPr>
        <p:spPr>
          <a:xfrm>
            <a:off x="548640" y="391363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1"/>
          <p:cNvSpPr txBox="1"/>
          <p:nvPr/>
        </p:nvSpPr>
        <p:spPr>
          <a:xfrm>
            <a:off x="1234440" y="3730752"/>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the project (note the dot)</a:t>
            </a:r>
            <a:endParaRPr lang="en-US" sz="1400" dirty="0"/>
          </a:p>
        </p:txBody>
      </p:sp>
      <p:sp>
        <p:nvSpPr>
          <p:cNvPr id="15" name="command"/>
          <p:cNvSpPr txBox="1"/>
          <p:nvPr/>
        </p:nvSpPr>
        <p:spPr>
          <a:xfrm>
            <a:off x="1234440" y="4005072"/>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django-admin startproject config .</a:t>
            </a:r>
            <a:endParaRPr lang="en-US" sz="1400" dirty="0"/>
          </a:p>
        </p:txBody>
      </p:sp>
      <p:sp>
        <p:nvSpPr>
          <p:cNvPr id="16" name="step-number"/>
          <p:cNvSpPr txBox="1"/>
          <p:nvPr/>
        </p:nvSpPr>
        <p:spPr>
          <a:xfrm>
            <a:off x="548640" y="4700016"/>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Text 14"/>
          <p:cNvSpPr txBox="1"/>
          <p:nvPr/>
        </p:nvSpPr>
        <p:spPr>
          <a:xfrm>
            <a:off x="1234440" y="4517136"/>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an app</a:t>
            </a:r>
            <a:endParaRPr lang="en-US" sz="1400" dirty="0"/>
          </a:p>
        </p:txBody>
      </p:sp>
      <p:sp>
        <p:nvSpPr>
          <p:cNvPr id="18" name="command"/>
          <p:cNvSpPr txBox="1"/>
          <p:nvPr/>
        </p:nvSpPr>
        <p:spPr>
          <a:xfrm>
            <a:off x="1234440" y="4791456"/>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startapp items</a:t>
            </a:r>
            <a:endParaRPr lang="en-US" sz="1400" dirty="0"/>
          </a:p>
        </p:txBody>
      </p:sp>
      <p:sp>
        <p:nvSpPr>
          <p:cNvPr id="19" name="step-number"/>
          <p:cNvSpPr txBox="1"/>
          <p:nvPr/>
        </p:nvSpPr>
        <p:spPr>
          <a:xfrm>
            <a:off x="548640" y="54864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Text 17"/>
          <p:cNvSpPr txBox="1"/>
          <p:nvPr/>
        </p:nvSpPr>
        <p:spPr>
          <a:xfrm>
            <a:off x="1234440" y="530352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Run the development server</a:t>
            </a:r>
            <a:endParaRPr lang="en-US" sz="1400" dirty="0"/>
          </a:p>
        </p:txBody>
      </p:sp>
      <p:sp>
        <p:nvSpPr>
          <p:cNvPr id="21" name="command"/>
          <p:cNvSpPr txBox="1"/>
          <p:nvPr/>
        </p:nvSpPr>
        <p:spPr>
          <a:xfrm>
            <a:off x="1234440" y="5577840"/>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p:txBody>
      </p:sp>
      <p:sp>
        <p:nvSpPr>
          <p:cNvPr id="22" name="side-panel"/>
          <p:cNvSpPr/>
          <p:nvPr/>
        </p:nvSpPr>
        <p:spPr>
          <a:xfrm>
            <a:off x="7498080" y="1371600"/>
            <a:ext cx="4142232" cy="4663440"/>
          </a:xfrm>
          <a:prstGeom prst="roundRect">
            <a:avLst>
              <a:gd name="adj" fmla="val 2649"/>
            </a:avLst>
          </a:prstGeom>
          <a:solidFill>
            <a:schemeClr val="bg2"/>
          </a:solidFill>
          <a:ln/>
        </p:spPr>
      </p:sp>
      <p:sp>
        <p:nvSpPr>
          <p:cNvPr id="23" name="Text 20"/>
          <p:cNvSpPr txBox="1"/>
          <p:nvPr/>
        </p:nvSpPr>
        <p:spPr>
          <a:xfrm>
            <a:off x="7772400" y="1600200"/>
            <a:ext cx="3657600" cy="365760"/>
          </a:xfrm>
          <a:prstGeom prst="rect">
            <a:avLst/>
          </a:prstGeom>
          <a:noFill/>
          <a:ln/>
        </p:spPr>
        <p:txBody>
          <a:bodyPr wrap="square" lIns="0" tIns="0" rIns="0" bIns="0" rtlCol="0" anchor="t"/>
          <a:lstStyle/>
          <a:p>
            <a:pPr indent="0" marL="0">
              <a:buNone/>
            </a:pPr>
            <a:r>
              <a:rPr lang="en-US" sz="2000" b="1" dirty="0">
                <a:solidFill>
                  <a:schemeClr val="tx2"/>
                </a:solidFill>
              </a:rPr>
              <a:t>Why a virtual environment?</a:t>
            </a:r>
            <a:endParaRPr lang="en-US" sz="2000" dirty="0"/>
          </a:p>
        </p:txBody>
      </p:sp>
      <p:sp>
        <p:nvSpPr>
          <p:cNvPr id="24" name="Text 21"/>
          <p:cNvSpPr txBox="1"/>
          <p:nvPr/>
        </p:nvSpPr>
        <p:spPr>
          <a:xfrm>
            <a:off x="7772400" y="2057400"/>
            <a:ext cx="3611880" cy="1371600"/>
          </a:xfrm>
          <a:prstGeom prst="rect">
            <a:avLst/>
          </a:prstGeom>
          <a:noFill/>
          <a:ln/>
        </p:spPr>
        <p:txBody>
          <a:bodyPr wrap="square" lIns="0" tIns="0" rIns="0" bIns="0" rtlCol="0" anchor="t"/>
          <a:lstStyle/>
          <a:p>
            <a:pPr indent="0" marL="0">
              <a:buNone/>
            </a:pPr>
            <a:r>
              <a:rPr lang="en-US" sz="1600" dirty="0">
                <a:solidFill>
                  <a:schemeClr val="tx1"/>
                </a:solidFill>
              </a:rPr>
              <a:t>Each project gets its own isolated set of packages, so projects never clash. It is the Python version of node_modules.</a:t>
            </a:r>
            <a:endParaRPr lang="en-US" sz="1600" dirty="0"/>
          </a:p>
        </p:txBody>
      </p:sp>
      <p:sp>
        <p:nvSpPr>
          <p:cNvPr id="25" name="Text 22"/>
          <p:cNvSpPr txBox="1"/>
          <p:nvPr/>
        </p:nvSpPr>
        <p:spPr>
          <a:xfrm>
            <a:off x="7772400" y="3657600"/>
            <a:ext cx="3657600" cy="365760"/>
          </a:xfrm>
          <a:prstGeom prst="rect">
            <a:avLst/>
          </a:prstGeom>
          <a:noFill/>
          <a:ln/>
        </p:spPr>
        <p:txBody>
          <a:bodyPr wrap="square" lIns="0" tIns="0" rIns="0" bIns="0" rtlCol="0" anchor="t"/>
          <a:lstStyle/>
          <a:p>
            <a:pPr indent="0" marL="0">
              <a:buNone/>
            </a:pPr>
            <a:r>
              <a:rPr lang="en-US" sz="2000" b="1" dirty="0">
                <a:solidFill>
                  <a:schemeClr val="tx2"/>
                </a:solidFill>
              </a:rPr>
              <a:t>Mac / Linux</a:t>
            </a:r>
            <a:endParaRPr lang="en-US" sz="2000" dirty="0"/>
          </a:p>
        </p:txBody>
      </p:sp>
      <p:sp>
        <p:nvSpPr>
          <p:cNvPr id="26" name="command"/>
          <p:cNvSpPr txBox="1"/>
          <p:nvPr/>
        </p:nvSpPr>
        <p:spPr>
          <a:xfrm>
            <a:off x="7772400" y="4114800"/>
            <a:ext cx="361188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source venv/bin/activate</a:t>
            </a:r>
            <a:endParaRPr lang="en-US" sz="1400" dirty="0"/>
          </a:p>
        </p:txBody>
      </p:sp>
      <p:sp>
        <p:nvSpPr>
          <p:cNvPr id="27" name="Text 24"/>
          <p:cNvSpPr txBox="1"/>
          <p:nvPr/>
        </p:nvSpPr>
        <p:spPr>
          <a:xfrm>
            <a:off x="7772400" y="4754880"/>
            <a:ext cx="3611880" cy="914400"/>
          </a:xfrm>
          <a:prstGeom prst="rect">
            <a:avLst/>
          </a:prstGeom>
          <a:noFill/>
          <a:ln/>
        </p:spPr>
        <p:txBody>
          <a:bodyPr wrap="square" lIns="0" tIns="0" rIns="0" bIns="0" rtlCol="0" anchor="t"/>
          <a:lstStyle/>
          <a:p>
            <a:pPr indent="0" marL="0">
              <a:buNone/>
            </a:pPr>
            <a:r>
              <a:rPr lang="en-US" sz="1600" dirty="0">
                <a:solidFill>
                  <a:schemeClr val="tx1"/>
                </a:solidFill>
              </a:rPr>
              <a:t>You know it worked when (venv) appears at the start of your prompt.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Anatomy of a Django project</a:t>
            </a:r>
            <a:endParaRPr lang="en-US" sz="3600" dirty="0"/>
          </a:p>
        </p:txBody>
      </p:sp>
      <p:sp>
        <p:nvSpPr>
          <p:cNvPr id="4" name="file-tree"/>
          <p:cNvSpPr txBox="1"/>
          <p:nvPr/>
        </p:nvSpPr>
        <p:spPr>
          <a:xfrm>
            <a:off x="548640" y="1371600"/>
            <a:ext cx="5394960" cy="4572000"/>
          </a:xfrm>
          <a:prstGeom prst="roundRect">
            <a:avLst>
              <a:gd name="adj" fmla="val 2000"/>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django-seminar/</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manage.py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requirements.txt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config/        &lt;- project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settings.py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urls.py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wsgi.py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items/         &lt;- app</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models.py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serializers.py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views.py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urls.py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admin.py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migrations/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docs/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slides/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media/</a:t>
            </a:r>
            <a:endParaRPr lang="en-US" sz="1500" dirty="0"/>
          </a:p>
        </p:txBody>
      </p:sp>
      <p:sp>
        <p:nvSpPr>
          <p:cNvPr id="5" name="note-card"/>
          <p:cNvSpPr/>
          <p:nvPr/>
        </p:nvSpPr>
        <p:spPr>
          <a:xfrm>
            <a:off x="6355080" y="1371600"/>
            <a:ext cx="5285232" cy="822960"/>
          </a:xfrm>
          <a:prstGeom prst="roundRect">
            <a:avLst>
              <a:gd name="adj" fmla="val 13333"/>
            </a:avLst>
          </a:prstGeom>
          <a:solidFill>
            <a:schemeClr val="bg2"/>
          </a:solidFill>
          <a:ln/>
        </p:spPr>
      </p:sp>
      <p:sp>
        <p:nvSpPr>
          <p:cNvPr id="6" name="Text 3"/>
          <p:cNvSpPr txBox="1"/>
          <p:nvPr/>
        </p:nvSpPr>
        <p:spPr>
          <a:xfrm>
            <a:off x="6583680" y="1444752"/>
            <a:ext cx="4846320" cy="310896"/>
          </a:xfrm>
          <a:prstGeom prst="rect">
            <a:avLst/>
          </a:prstGeom>
          <a:noFill/>
          <a:ln/>
        </p:spPr>
        <p:txBody>
          <a:bodyPr wrap="square" lIns="0" tIns="0" rIns="0" bIns="0" rtlCol="0" anchor="t"/>
          <a:lstStyle/>
          <a:p>
            <a:pPr indent="0" marL="0">
              <a:buNone/>
            </a:pPr>
            <a:r>
              <a:rPr lang="en-US" sz="1800" b="1" dirty="0">
                <a:solidFill>
                  <a:schemeClr val="tx2"/>
                </a:solidFill>
              </a:rPr>
              <a:t>manage.py</a:t>
            </a:r>
            <a:endParaRPr lang="en-US" sz="1800" dirty="0"/>
          </a:p>
        </p:txBody>
      </p:sp>
      <p:sp>
        <p:nvSpPr>
          <p:cNvPr id="7" name="Text 4"/>
          <p:cNvSpPr txBox="1"/>
          <p:nvPr/>
        </p:nvSpPr>
        <p:spPr>
          <a:xfrm>
            <a:off x="6583680" y="1792224"/>
            <a:ext cx="4846320" cy="365760"/>
          </a:xfrm>
          <a:prstGeom prst="rect">
            <a:avLst/>
          </a:prstGeom>
          <a:noFill/>
          <a:ln/>
        </p:spPr>
        <p:txBody>
          <a:bodyPr wrap="square" lIns="0" tIns="0" rIns="0" bIns="0" rtlCol="0" anchor="t"/>
          <a:lstStyle/>
          <a:p>
            <a:pPr indent="0" marL="0">
              <a:buNone/>
            </a:pPr>
            <a:r>
              <a:rPr lang="en-US" sz="1500" dirty="0">
                <a:solidFill>
                  <a:schemeClr val="tx1"/>
                </a:solidFill>
              </a:rPr>
              <a:t>Command-line tool: runserver, migrate, createsuperuser...</a:t>
            </a:r>
            <a:endParaRPr lang="en-US" sz="1500" dirty="0"/>
          </a:p>
        </p:txBody>
      </p:sp>
      <p:sp>
        <p:nvSpPr>
          <p:cNvPr id="8" name="note-card"/>
          <p:cNvSpPr/>
          <p:nvPr/>
        </p:nvSpPr>
        <p:spPr>
          <a:xfrm>
            <a:off x="6355080" y="2304288"/>
            <a:ext cx="5285232" cy="822960"/>
          </a:xfrm>
          <a:prstGeom prst="roundRect">
            <a:avLst>
              <a:gd name="adj" fmla="val 13333"/>
            </a:avLst>
          </a:prstGeom>
          <a:solidFill>
            <a:schemeClr val="bg2"/>
          </a:solidFill>
          <a:ln/>
        </p:spPr>
      </p:sp>
      <p:sp>
        <p:nvSpPr>
          <p:cNvPr id="9" name="Text 6"/>
          <p:cNvSpPr txBox="1"/>
          <p:nvPr/>
        </p:nvSpPr>
        <p:spPr>
          <a:xfrm>
            <a:off x="6583680" y="2377440"/>
            <a:ext cx="4846320" cy="310896"/>
          </a:xfrm>
          <a:prstGeom prst="rect">
            <a:avLst/>
          </a:prstGeom>
          <a:noFill/>
          <a:ln/>
        </p:spPr>
        <p:txBody>
          <a:bodyPr wrap="square" lIns="0" tIns="0" rIns="0" bIns="0" rtlCol="0" anchor="t"/>
          <a:lstStyle/>
          <a:p>
            <a:pPr indent="0" marL="0">
              <a:buNone/>
            </a:pPr>
            <a:r>
              <a:rPr lang="en-US" sz="1800" b="1" dirty="0">
                <a:solidFill>
                  <a:schemeClr val="tx2"/>
                </a:solidFill>
              </a:rPr>
              <a:t>config/</a:t>
            </a:r>
            <a:endParaRPr lang="en-US" sz="1800" dirty="0"/>
          </a:p>
        </p:txBody>
      </p:sp>
      <p:sp>
        <p:nvSpPr>
          <p:cNvPr id="10" name="Text 7"/>
          <p:cNvSpPr txBox="1"/>
          <p:nvPr/>
        </p:nvSpPr>
        <p:spPr>
          <a:xfrm>
            <a:off x="6583680" y="2724912"/>
            <a:ext cx="4846320" cy="365760"/>
          </a:xfrm>
          <a:prstGeom prst="rect">
            <a:avLst/>
          </a:prstGeom>
          <a:noFill/>
          <a:ln/>
        </p:spPr>
        <p:txBody>
          <a:bodyPr wrap="square" lIns="0" tIns="0" rIns="0" bIns="0" rtlCol="0" anchor="t"/>
          <a:lstStyle/>
          <a:p>
            <a:pPr indent="0" marL="0">
              <a:buNone/>
            </a:pPr>
            <a:r>
              <a:rPr lang="en-US" sz="1500" dirty="0">
                <a:solidFill>
                  <a:schemeClr val="tx1"/>
                </a:solidFill>
              </a:rPr>
              <a:t>The project: settings.py and the root urls.py</a:t>
            </a:r>
            <a:endParaRPr lang="en-US" sz="1500" dirty="0"/>
          </a:p>
        </p:txBody>
      </p:sp>
      <p:sp>
        <p:nvSpPr>
          <p:cNvPr id="11" name="note-card"/>
          <p:cNvSpPr/>
          <p:nvPr/>
        </p:nvSpPr>
        <p:spPr>
          <a:xfrm>
            <a:off x="6355080" y="3236976"/>
            <a:ext cx="5285232" cy="822960"/>
          </a:xfrm>
          <a:prstGeom prst="roundRect">
            <a:avLst>
              <a:gd name="adj" fmla="val 13333"/>
            </a:avLst>
          </a:prstGeom>
          <a:solidFill>
            <a:schemeClr val="bg2"/>
          </a:solidFill>
          <a:ln/>
        </p:spPr>
      </p:sp>
      <p:sp>
        <p:nvSpPr>
          <p:cNvPr id="12" name="Text 9"/>
          <p:cNvSpPr txBox="1"/>
          <p:nvPr/>
        </p:nvSpPr>
        <p:spPr>
          <a:xfrm>
            <a:off x="6583680" y="3310128"/>
            <a:ext cx="4846320" cy="310896"/>
          </a:xfrm>
          <a:prstGeom prst="rect">
            <a:avLst/>
          </a:prstGeom>
          <a:noFill/>
          <a:ln/>
        </p:spPr>
        <p:txBody>
          <a:bodyPr wrap="square" lIns="0" tIns="0" rIns="0" bIns="0" rtlCol="0" anchor="t"/>
          <a:lstStyle/>
          <a:p>
            <a:pPr indent="0" marL="0">
              <a:buNone/>
            </a:pPr>
            <a:r>
              <a:rPr lang="en-US" sz="1800" b="1" dirty="0">
                <a:solidFill>
                  <a:schemeClr val="tx2"/>
                </a:solidFill>
              </a:rPr>
              <a:t>items/</a:t>
            </a:r>
            <a:endParaRPr lang="en-US" sz="1800" dirty="0"/>
          </a:p>
        </p:txBody>
      </p:sp>
      <p:sp>
        <p:nvSpPr>
          <p:cNvPr id="13" name="Text 10"/>
          <p:cNvSpPr txBox="1"/>
          <p:nvPr/>
        </p:nvSpPr>
        <p:spPr>
          <a:xfrm>
            <a:off x="6583680" y="3657600"/>
            <a:ext cx="4846320" cy="365760"/>
          </a:xfrm>
          <a:prstGeom prst="rect">
            <a:avLst/>
          </a:prstGeom>
          <a:noFill/>
          <a:ln/>
        </p:spPr>
        <p:txBody>
          <a:bodyPr wrap="square" lIns="0" tIns="0" rIns="0" bIns="0" rtlCol="0" anchor="t"/>
          <a:lstStyle/>
          <a:p>
            <a:pPr indent="0" marL="0">
              <a:buNone/>
            </a:pPr>
            <a:r>
              <a:rPr lang="en-US" sz="1500" dirty="0">
                <a:solidFill>
                  <a:schemeClr val="tx1"/>
                </a:solidFill>
              </a:rPr>
              <a:t>Our app: models, serializers, views, urls, admin</a:t>
            </a:r>
            <a:endParaRPr lang="en-US" sz="1500" dirty="0"/>
          </a:p>
        </p:txBody>
      </p:sp>
      <p:sp>
        <p:nvSpPr>
          <p:cNvPr id="14" name="note-card"/>
          <p:cNvSpPr/>
          <p:nvPr/>
        </p:nvSpPr>
        <p:spPr>
          <a:xfrm>
            <a:off x="6355080" y="4169664"/>
            <a:ext cx="5285232" cy="822960"/>
          </a:xfrm>
          <a:prstGeom prst="roundRect">
            <a:avLst>
              <a:gd name="adj" fmla="val 13333"/>
            </a:avLst>
          </a:prstGeom>
          <a:solidFill>
            <a:schemeClr val="bg2"/>
          </a:solidFill>
          <a:ln/>
        </p:spPr>
      </p:sp>
      <p:sp>
        <p:nvSpPr>
          <p:cNvPr id="15" name="Text 12"/>
          <p:cNvSpPr txBox="1"/>
          <p:nvPr/>
        </p:nvSpPr>
        <p:spPr>
          <a:xfrm>
            <a:off x="6583680" y="4242816"/>
            <a:ext cx="4846320" cy="310896"/>
          </a:xfrm>
          <a:prstGeom prst="rect">
            <a:avLst/>
          </a:prstGeom>
          <a:noFill/>
          <a:ln/>
        </p:spPr>
        <p:txBody>
          <a:bodyPr wrap="square" lIns="0" tIns="0" rIns="0" bIns="0" rtlCol="0" anchor="t"/>
          <a:lstStyle/>
          <a:p>
            <a:pPr indent="0" marL="0">
              <a:buNone/>
            </a:pPr>
            <a:r>
              <a:rPr lang="en-US" sz="1800" b="1" dirty="0">
                <a:solidFill>
                  <a:schemeClr val="tx2"/>
                </a:solidFill>
              </a:rPr>
              <a:t>docs/ and slides/</a:t>
            </a:r>
            <a:endParaRPr lang="en-US" sz="1800" dirty="0"/>
          </a:p>
        </p:txBody>
      </p:sp>
      <p:sp>
        <p:nvSpPr>
          <p:cNvPr id="16" name="Text 13"/>
          <p:cNvSpPr txBox="1"/>
          <p:nvPr/>
        </p:nvSpPr>
        <p:spPr>
          <a:xfrm>
            <a:off x="6583680" y="4590288"/>
            <a:ext cx="4846320" cy="365760"/>
          </a:xfrm>
          <a:prstGeom prst="rect">
            <a:avLst/>
          </a:prstGeom>
          <a:noFill/>
          <a:ln/>
        </p:spPr>
        <p:txBody>
          <a:bodyPr wrap="square" lIns="0" tIns="0" rIns="0" bIns="0" rtlCol="0" anchor="t"/>
          <a:lstStyle/>
          <a:p>
            <a:pPr indent="0" marL="0">
              <a:buNone/>
            </a:pPr>
            <a:r>
              <a:rPr lang="en-US" sz="1500" dirty="0">
                <a:solidFill>
                  <a:schemeClr val="tx1"/>
                </a:solidFill>
              </a:rPr>
              <a:t>Guides and this presentation (PPT)</a:t>
            </a:r>
            <a:endParaRPr lang="en-US" sz="1500" dirty="0"/>
          </a:p>
        </p:txBody>
      </p:sp>
      <p:sp>
        <p:nvSpPr>
          <p:cNvPr id="17" name="note-card"/>
          <p:cNvSpPr/>
          <p:nvPr/>
        </p:nvSpPr>
        <p:spPr>
          <a:xfrm>
            <a:off x="6355080" y="5102352"/>
            <a:ext cx="5285232" cy="822960"/>
          </a:xfrm>
          <a:prstGeom prst="roundRect">
            <a:avLst>
              <a:gd name="adj" fmla="val 13333"/>
            </a:avLst>
          </a:prstGeom>
          <a:solidFill>
            <a:schemeClr val="bg2"/>
          </a:solidFill>
          <a:ln/>
        </p:spPr>
      </p:sp>
      <p:sp>
        <p:nvSpPr>
          <p:cNvPr id="18" name="Text 15"/>
          <p:cNvSpPr txBox="1"/>
          <p:nvPr/>
        </p:nvSpPr>
        <p:spPr>
          <a:xfrm>
            <a:off x="6583680" y="5175504"/>
            <a:ext cx="4846320" cy="310896"/>
          </a:xfrm>
          <a:prstGeom prst="rect">
            <a:avLst/>
          </a:prstGeom>
          <a:noFill/>
          <a:ln/>
        </p:spPr>
        <p:txBody>
          <a:bodyPr wrap="square" lIns="0" tIns="0" rIns="0" bIns="0" rtlCol="0" anchor="t"/>
          <a:lstStyle/>
          <a:p>
            <a:pPr indent="0" marL="0">
              <a:buNone/>
            </a:pPr>
            <a:r>
              <a:rPr lang="en-US" sz="1800" b="1" dirty="0">
                <a:solidFill>
                  <a:schemeClr val="tx2"/>
                </a:solidFill>
              </a:rPr>
              <a:t>media/</a:t>
            </a:r>
            <a:endParaRPr lang="en-US" sz="1800" dirty="0"/>
          </a:p>
        </p:txBody>
      </p:sp>
      <p:sp>
        <p:nvSpPr>
          <p:cNvPr id="19" name="Text 16"/>
          <p:cNvSpPr txBox="1"/>
          <p:nvPr/>
        </p:nvSpPr>
        <p:spPr>
          <a:xfrm>
            <a:off x="6583680" y="5522976"/>
            <a:ext cx="4846320" cy="365760"/>
          </a:xfrm>
          <a:prstGeom prst="rect">
            <a:avLst/>
          </a:prstGeom>
          <a:noFill/>
          <a:ln/>
        </p:spPr>
        <p:txBody>
          <a:bodyPr wrap="square" lIns="0" tIns="0" rIns="0" bIns="0" rtlCol="0" anchor="t"/>
          <a:lstStyle/>
          <a:p>
            <a:pPr indent="0" marL="0">
              <a:buNone/>
            </a:pPr>
            <a:r>
              <a:rPr lang="en-US" sz="1500" dirty="0">
                <a:solidFill>
                  <a:schemeClr val="tx1"/>
                </a:solidFill>
              </a:rPr>
              <a:t>Files uploaded by users (bonus image feature)</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Project vs app</a:t>
            </a:r>
            <a:endParaRPr lang="en-US" sz="3600" dirty="0"/>
          </a:p>
        </p:txBody>
      </p:sp>
      <p:sp>
        <p:nvSpPr>
          <p:cNvPr id="4" name="project-frame"/>
          <p:cNvSpPr/>
          <p:nvPr/>
        </p:nvSpPr>
        <p:spPr>
          <a:xfrm>
            <a:off x="548640" y="1417320"/>
            <a:ext cx="5760720" cy="4572000"/>
          </a:xfrm>
          <a:prstGeom prst="roundRect">
            <a:avLst>
              <a:gd name="adj" fmla="val 2400"/>
            </a:avLst>
          </a:prstGeom>
          <a:solidFill>
            <a:schemeClr val="bg2"/>
          </a:solidFill>
          <a:ln/>
        </p:spPr>
      </p:sp>
      <p:sp>
        <p:nvSpPr>
          <p:cNvPr id="5" name="Text 2"/>
          <p:cNvSpPr txBox="1"/>
          <p:nvPr/>
        </p:nvSpPr>
        <p:spPr>
          <a:xfrm>
            <a:off x="822960" y="1600200"/>
            <a:ext cx="5212080" cy="411480"/>
          </a:xfrm>
          <a:prstGeom prst="rect">
            <a:avLst/>
          </a:prstGeom>
          <a:noFill/>
          <a:ln/>
        </p:spPr>
        <p:txBody>
          <a:bodyPr wrap="square" lIns="0" tIns="0" rIns="0" bIns="0" rtlCol="0" anchor="t"/>
          <a:lstStyle/>
          <a:p>
            <a:pPr indent="0" marL="0">
              <a:buNone/>
            </a:pPr>
            <a:r>
              <a:rPr lang="en-US" sz="2000" b="1" dirty="0">
                <a:solidFill>
                  <a:schemeClr val="tx2"/>
                </a:solidFill>
              </a:rPr>
              <a:t>PROJECT: college_site</a:t>
            </a:r>
            <a:endParaRPr lang="en-US" sz="2000" dirty="0"/>
          </a:p>
        </p:txBody>
      </p:sp>
      <p:sp>
        <p:nvSpPr>
          <p:cNvPr id="6" name="diagram-box"/>
          <p:cNvSpPr txBox="1"/>
          <p:nvPr/>
        </p:nvSpPr>
        <p:spPr>
          <a:xfrm>
            <a:off x="82296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admissions</a:t>
            </a:r>
            <a:endParaRPr lang="en-US" sz="2000" dirty="0"/>
          </a:p>
          <a:p>
            <a:pPr algn="ctr" indent="0" marL="0">
              <a:buNone/>
            </a:pPr>
            <a:r>
              <a:rPr lang="en-US" sz="1400" dirty="0">
                <a:solidFill>
                  <a:schemeClr val="tx2"/>
                </a:solidFill>
              </a:rPr>
              <a:t>app</a:t>
            </a:r>
            <a:endParaRPr lang="en-US" sz="2000" dirty="0"/>
          </a:p>
        </p:txBody>
      </p:sp>
      <p:sp>
        <p:nvSpPr>
          <p:cNvPr id="7" name="diagram-box"/>
          <p:cNvSpPr txBox="1"/>
          <p:nvPr/>
        </p:nvSpPr>
        <p:spPr>
          <a:xfrm>
            <a:off x="260604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library</a:t>
            </a:r>
            <a:endParaRPr lang="en-US" sz="2000" dirty="0"/>
          </a:p>
          <a:p>
            <a:pPr algn="ctr" indent="0" marL="0">
              <a:buNone/>
            </a:pPr>
            <a:r>
              <a:rPr lang="en-US" sz="1400" dirty="0">
                <a:solidFill>
                  <a:schemeClr val="tx2"/>
                </a:solidFill>
              </a:rPr>
              <a:t>app</a:t>
            </a:r>
            <a:endParaRPr lang="en-US" sz="2000" dirty="0"/>
          </a:p>
        </p:txBody>
      </p:sp>
      <p:sp>
        <p:nvSpPr>
          <p:cNvPr id="8" name="diagram-box"/>
          <p:cNvSpPr txBox="1"/>
          <p:nvPr/>
        </p:nvSpPr>
        <p:spPr>
          <a:xfrm>
            <a:off x="438912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results</a:t>
            </a:r>
            <a:endParaRPr lang="en-US" sz="2000" dirty="0"/>
          </a:p>
          <a:p>
            <a:pPr algn="ctr" indent="0" marL="0">
              <a:buNone/>
            </a:pPr>
            <a:r>
              <a:rPr lang="en-US" sz="1400" dirty="0">
                <a:solidFill>
                  <a:schemeClr val="tx2"/>
                </a:solidFill>
              </a:rPr>
              <a:t>app</a:t>
            </a:r>
            <a:endParaRPr lang="en-US" sz="2000" dirty="0"/>
          </a:p>
        </p:txBody>
      </p:sp>
      <p:sp>
        <p:nvSpPr>
          <p:cNvPr id="9" name="diagram-box"/>
          <p:cNvSpPr txBox="1"/>
          <p:nvPr/>
        </p:nvSpPr>
        <p:spPr>
          <a:xfrm>
            <a:off x="822960" y="4160520"/>
            <a:ext cx="5212080" cy="731520"/>
          </a:xfrm>
          <a:prstGeom prst="roundRect">
            <a:avLst>
              <a:gd name="adj" fmla="val 15000"/>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settings.py  |  root urls.py</a:t>
            </a:r>
            <a:endParaRPr lang="en-US" sz="1700" dirty="0"/>
          </a:p>
        </p:txBody>
      </p:sp>
      <p:sp>
        <p:nvSpPr>
          <p:cNvPr id="10" name="Text 7"/>
          <p:cNvSpPr txBox="1"/>
          <p:nvPr/>
        </p:nvSpPr>
        <p:spPr>
          <a:xfrm>
            <a:off x="822960" y="5029200"/>
            <a:ext cx="5212080" cy="365760"/>
          </a:xfrm>
          <a:prstGeom prst="rect">
            <a:avLst/>
          </a:prstGeom>
          <a:noFill/>
          <a:ln/>
        </p:spPr>
        <p:txBody>
          <a:bodyPr wrap="square" lIns="0" tIns="0" rIns="0" bIns="0" rtlCol="0" anchor="t"/>
          <a:lstStyle/>
          <a:p>
            <a:pPr indent="0" marL="0">
              <a:buNone/>
            </a:pPr>
            <a:r>
              <a:rPr lang="en-US" sz="1400" dirty="0">
                <a:solidFill>
                  <a:schemeClr val="accent5"/>
                </a:solidFill>
              </a:rPr>
              <a:t>Shared configuration for every app</a:t>
            </a:r>
            <a:endParaRPr lang="en-US" sz="1400" dirty="0"/>
          </a:p>
        </p:txBody>
      </p:sp>
      <p:sp>
        <p:nvSpPr>
          <p:cNvPr id="11" name="def-card"/>
          <p:cNvSpPr/>
          <p:nvPr/>
        </p:nvSpPr>
        <p:spPr>
          <a:xfrm>
            <a:off x="6583680" y="1417320"/>
            <a:ext cx="5056632" cy="2148840"/>
          </a:xfrm>
          <a:prstGeom prst="roundRect">
            <a:avLst>
              <a:gd name="adj" fmla="val 5106"/>
            </a:avLst>
          </a:prstGeom>
          <a:solidFill>
            <a:schemeClr val="bg2"/>
          </a:solidFill>
          <a:ln/>
        </p:spPr>
      </p:sp>
      <p:sp>
        <p:nvSpPr>
          <p:cNvPr id="12" name="Text 9"/>
          <p:cNvSpPr txBox="1"/>
          <p:nvPr/>
        </p:nvSpPr>
        <p:spPr>
          <a:xfrm>
            <a:off x="6858000" y="1554480"/>
            <a:ext cx="4572000" cy="365760"/>
          </a:xfrm>
          <a:prstGeom prst="rect">
            <a:avLst/>
          </a:prstGeom>
          <a:noFill/>
          <a:ln/>
        </p:spPr>
        <p:txBody>
          <a:bodyPr wrap="square" lIns="0" tIns="0" rIns="0" bIns="0" rtlCol="0" anchor="t"/>
          <a:lstStyle/>
          <a:p>
            <a:pPr indent="0" marL="0">
              <a:buNone/>
            </a:pPr>
            <a:r>
              <a:rPr lang="en-US" sz="2200" b="1" dirty="0">
                <a:solidFill>
                  <a:schemeClr val="tx2"/>
                </a:solidFill>
              </a:rPr>
              <a:t>Project</a:t>
            </a:r>
            <a:endParaRPr lang="en-US" sz="2200" dirty="0"/>
          </a:p>
        </p:txBody>
      </p:sp>
      <p:sp>
        <p:nvSpPr>
          <p:cNvPr id="13" name="Text 10"/>
          <p:cNvSpPr txBox="1"/>
          <p:nvPr/>
        </p:nvSpPr>
        <p:spPr>
          <a:xfrm>
            <a:off x="6858000" y="201168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The whole website</a:t>
            </a:r>
            <a:endParaRPr lang="en-US" sz="1600" dirty="0"/>
          </a:p>
          <a:p>
            <a:pPr marL="342900" indent="-342900">
              <a:spcAft>
                <a:spcPts val="600"/>
              </a:spcAft>
              <a:buSzPct val="100000"/>
              <a:buChar char="•"/>
            </a:pPr>
            <a:r>
              <a:rPr lang="en-US" sz="1600" dirty="0">
                <a:solidFill>
                  <a:schemeClr val="tx1"/>
                </a:solidFill>
              </a:rPr>
              <a:t>One per site (our config/ folder)</a:t>
            </a:r>
            <a:endParaRPr lang="en-US" sz="1600" dirty="0"/>
          </a:p>
          <a:p>
            <a:pPr marL="342900" indent="-342900">
              <a:spcAft>
                <a:spcPts val="600"/>
              </a:spcAft>
              <a:buSzPct val="100000"/>
              <a:buChar char="•"/>
            </a:pPr>
            <a:r>
              <a:rPr lang="en-US" sz="1600" dirty="0">
                <a:solidFill>
                  <a:schemeClr val="tx1"/>
                </a:solidFill>
              </a:rPr>
              <a:t>Holds settings.py and the root urls.py</a:t>
            </a:r>
            <a:endParaRPr lang="en-US" sz="1600" dirty="0"/>
          </a:p>
        </p:txBody>
      </p:sp>
      <p:sp>
        <p:nvSpPr>
          <p:cNvPr id="14" name="def-card"/>
          <p:cNvSpPr/>
          <p:nvPr/>
        </p:nvSpPr>
        <p:spPr>
          <a:xfrm>
            <a:off x="6583680" y="3703320"/>
            <a:ext cx="5056632" cy="1783080"/>
          </a:xfrm>
          <a:prstGeom prst="roundRect">
            <a:avLst>
              <a:gd name="adj" fmla="val 6154"/>
            </a:avLst>
          </a:prstGeom>
          <a:solidFill>
            <a:schemeClr val="bg2"/>
          </a:solidFill>
          <a:ln/>
        </p:spPr>
      </p:sp>
      <p:sp>
        <p:nvSpPr>
          <p:cNvPr id="15" name="Text 12"/>
          <p:cNvSpPr txBox="1"/>
          <p:nvPr/>
        </p:nvSpPr>
        <p:spPr>
          <a:xfrm>
            <a:off x="6858000" y="3840480"/>
            <a:ext cx="4572000" cy="365760"/>
          </a:xfrm>
          <a:prstGeom prst="rect">
            <a:avLst/>
          </a:prstGeom>
          <a:noFill/>
          <a:ln/>
        </p:spPr>
        <p:txBody>
          <a:bodyPr wrap="square" lIns="0" tIns="0" rIns="0" bIns="0" rtlCol="0" anchor="t"/>
          <a:lstStyle/>
          <a:p>
            <a:pPr indent="0" marL="0">
              <a:buNone/>
            </a:pPr>
            <a:r>
              <a:rPr lang="en-US" sz="2200" b="1" dirty="0">
                <a:solidFill>
                  <a:schemeClr val="tx2"/>
                </a:solidFill>
              </a:rPr>
              <a:t>App</a:t>
            </a:r>
            <a:endParaRPr lang="en-US" sz="2200" dirty="0"/>
          </a:p>
        </p:txBody>
      </p:sp>
      <p:sp>
        <p:nvSpPr>
          <p:cNvPr id="16" name="Text 13"/>
          <p:cNvSpPr txBox="1"/>
          <p:nvPr/>
        </p:nvSpPr>
        <p:spPr>
          <a:xfrm>
            <a:off x="6858000" y="4297680"/>
            <a:ext cx="4572000" cy="1188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One feature (our items/ folder)</a:t>
            </a:r>
            <a:endParaRPr lang="en-US" sz="1600" dirty="0"/>
          </a:p>
          <a:p>
            <a:pPr marL="342900" indent="-342900">
              <a:spcAft>
                <a:spcPts val="600"/>
              </a:spcAft>
              <a:buSzPct val="100000"/>
              <a:buChar char="•"/>
            </a:pPr>
            <a:r>
              <a:rPr lang="en-US" sz="1600" dirty="0">
                <a:solidFill>
                  <a:schemeClr val="tx1"/>
                </a:solidFill>
              </a:rPr>
              <a:t>Many per project, and reusable</a:t>
            </a:r>
            <a:endParaRPr lang="en-US" sz="1600" dirty="0"/>
          </a:p>
          <a:p>
            <a:pPr marL="342900" indent="-342900">
              <a:spcAft>
                <a:spcPts val="600"/>
              </a:spcAft>
              <a:buSzPct val="100000"/>
              <a:buChar char="•"/>
            </a:pPr>
            <a:r>
              <a:rPr lang="en-US" sz="1600" dirty="0">
                <a:solidFill>
                  <a:schemeClr val="tx1"/>
                </a:solidFill>
              </a:rPr>
              <a:t>Own models, views, serializers, admin</a:t>
            </a:r>
            <a:endParaRPr lang="en-US" sz="1600" dirty="0"/>
          </a:p>
        </p:txBody>
      </p:sp>
      <p:sp>
        <p:nvSpPr>
          <p:cNvPr id="17" name="tip"/>
          <p:cNvSpPr/>
          <p:nvPr/>
        </p:nvSpPr>
        <p:spPr>
          <a:xfrm>
            <a:off x="6583680" y="5623560"/>
            <a:ext cx="5056632" cy="365760"/>
          </a:xfrm>
          <a:prstGeom prst="roundRect">
            <a:avLst>
              <a:gd name="adj" fmla="val 30000"/>
            </a:avLst>
          </a:prstGeom>
          <a:solidFill>
            <a:schemeClr val="tx2"/>
          </a:solidFill>
          <a:ln/>
        </p:spPr>
      </p:sp>
      <p:sp>
        <p:nvSpPr>
          <p:cNvPr id="18" name="Text 15"/>
          <p:cNvSpPr txBox="1"/>
          <p:nvPr/>
        </p:nvSpPr>
        <p:spPr>
          <a:xfrm>
            <a:off x="6766560" y="5623560"/>
            <a:ext cx="4754880" cy="365760"/>
          </a:xfrm>
          <a:prstGeom prst="rect">
            <a:avLst/>
          </a:prstGeom>
          <a:noFill/>
          <a:ln/>
        </p:spPr>
        <p:txBody>
          <a:bodyPr wrap="square" lIns="0" tIns="0" rIns="0" bIns="0" rtlCol="0" anchor="ctr"/>
          <a:lstStyle/>
          <a:p>
            <a:pPr indent="0" marL="0">
              <a:buNone/>
            </a:pPr>
            <a:r>
              <a:rPr lang="en-US" sz="1400" b="1" dirty="0">
                <a:solidFill>
                  <a:schemeClr val="bg1"/>
                </a:solidFill>
              </a:rPr>
              <a:t>After startapp, add the app to INSTALLED_APPS</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settings.py: the control panel</a:t>
            </a:r>
            <a:endParaRPr lang="en-US" sz="36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766560" cy="914400"/>
        </p:xfrm>
        <a:graphic>
          <a:graphicData uri="http://schemas.openxmlformats.org/drawingml/2006/table">
            <a:tbl>
              <a:tblPr/>
              <a:tblGrid>
                <a:gridCol w="2286000"/>
                <a:gridCol w="4480560"/>
              </a:tblGrid>
              <a:tr h="603504">
                <a:tc>
                  <a:txBody>
                    <a:bodyPr/>
                    <a:lstStyle/>
                    <a:p>
                      <a:pPr indent="0" marL="0">
                        <a:buNone/>
                      </a:pPr>
                      <a:r>
                        <a:rPr lang="en-US" sz="1600" b="1" dirty="0">
                          <a:solidFill>
                            <a:schemeClr val="bg1"/>
                          </a:solidFill>
                        </a:rPr>
                        <a:t>Setting</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What it controls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603504">
                <a:tc>
                  <a:txBody>
                    <a:bodyPr/>
                    <a:lstStyle/>
                    <a:p>
                      <a:pPr indent="0" marL="0">
                        <a:buNone/>
                      </a:pPr>
                      <a:r>
                        <a:rPr lang="en-US" sz="1500" b="1" dirty="0">
                          <a:solidFill>
                            <a:schemeClr val="tx1"/>
                          </a:solidFill>
                        </a:rPr>
                        <a:t>INSTALLED_APPS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Which apps Django loads (admin, auth, ours)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DATABASES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Which database to use and how to connect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500" b="1" dirty="0">
                          <a:solidFill>
                            <a:schemeClr val="tx1"/>
                          </a:solidFill>
                        </a:rPr>
                        <a:t>MIDDLEWARE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Code run on every request (security, sessions)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TEMPLATES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Template engine config (the admin needs it)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500" b="1" dirty="0">
                          <a:solidFill>
                            <a:schemeClr val="tx1"/>
                          </a:solidFill>
                        </a:rPr>
                        <a:t>STATIC / MEDIA</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CSS and JS files, and user-uploaded files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DEBUG, SECRET_KEY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Dev error pages; signing key - keep secret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settings-code"/>
          <p:cNvSpPr txBox="1"/>
          <p:nvPr/>
        </p:nvSpPr>
        <p:spPr>
          <a:xfrm>
            <a:off x="7589520" y="1371600"/>
            <a:ext cx="4050792" cy="3108960"/>
          </a:xfrm>
          <a:prstGeom prst="roundRect">
            <a:avLst>
              <a:gd name="adj" fmla="val 294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INSTALLED_APPS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"rest_framework",</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DEBUG =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ALLOWED_HOSTS = []</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MEDIA_ROOT = BASE_DIR / "media"</a:t>
            </a:r>
            <a:endParaRPr lang="en-US" sz="1400" dirty="0"/>
          </a:p>
        </p:txBody>
      </p:sp>
      <p:sp>
        <p:nvSpPr>
          <p:cNvPr id="6" name="warning"/>
          <p:cNvSpPr/>
          <p:nvPr/>
        </p:nvSpPr>
        <p:spPr>
          <a:xfrm>
            <a:off x="7589520" y="4663440"/>
            <a:ext cx="4050792" cy="914400"/>
          </a:xfrm>
          <a:prstGeom prst="roundRect">
            <a:avLst>
              <a:gd name="adj" fmla="val 12000"/>
            </a:avLst>
          </a:prstGeom>
          <a:solidFill>
            <a:schemeClr val="accent2"/>
          </a:solidFill>
          <a:ln/>
        </p:spPr>
      </p:sp>
      <p:sp>
        <p:nvSpPr>
          <p:cNvPr id="7" name="Text 3"/>
          <p:cNvSpPr txBox="1"/>
          <p:nvPr/>
        </p:nvSpPr>
        <p:spPr>
          <a:xfrm>
            <a:off x="7818120" y="4663440"/>
            <a:ext cx="3611880" cy="914400"/>
          </a:xfrm>
          <a:prstGeom prst="rect">
            <a:avLst/>
          </a:prstGeom>
          <a:noFill/>
          <a:ln/>
        </p:spPr>
        <p:txBody>
          <a:bodyPr wrap="square" lIns="0" tIns="0" rIns="0" bIns="0" rtlCol="0" anchor="ctr"/>
          <a:lstStyle/>
          <a:p>
            <a:pPr indent="0" marL="0">
              <a:buNone/>
            </a:pPr>
            <a:r>
              <a:rPr lang="en-US" sz="1600" b="1" dirty="0">
                <a:solidFill>
                  <a:schemeClr val="accent6"/>
                </a:solidFill>
              </a:rPr>
              <a:t>Never deploy with DEBUG = True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data and APIs</a:t>
            </a:r>
            <a:endParaRPr lang="en-US" sz="3600" dirty="0"/>
          </a:p>
        </p:txBody>
      </p:sp>
      <p:sp>
        <p:nvSpPr>
          <p:cNvPr id="4" name="term-card"/>
          <p:cNvSpPr/>
          <p:nvPr/>
        </p:nvSpPr>
        <p:spPr>
          <a:xfrm>
            <a:off x="548640" y="1371600"/>
            <a:ext cx="3520440" cy="2194560"/>
          </a:xfrm>
          <a:prstGeom prst="roundRect">
            <a:avLst>
              <a:gd name="adj" fmla="val 5000"/>
            </a:avLst>
          </a:prstGeom>
          <a:solidFill>
            <a:schemeClr val="tx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ORM</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Object-Relational Mapper. Lets you use Python classes and objects instead of SQL to work with database tables.</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Model</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Python class that describes your data. One model = one table, one field = one column.</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Migration</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file that records a change to the database structure, so it can be applied again or shared with others.</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API</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 set of URLs that programs use to exchange data with your app, usually as JSON.</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REST</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API design style: each thing has a URL, and HTTP methods (GET, POST, PUT, DELETE) say what to do.</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Serializer</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Converts model objects to JSON and back, and validates incoming data.</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the data layer</a:t>
            </a:r>
            <a:endParaRPr lang="en-US" sz="3600" dirty="0"/>
          </a:p>
        </p:txBody>
      </p:sp>
      <p:sp>
        <p:nvSpPr>
          <p:cNvPr id="4" name="term-card"/>
          <p:cNvSpPr/>
          <p:nvPr/>
        </p:nvSpPr>
        <p:spPr>
          <a:xfrm>
            <a:off x="548640" y="1371600"/>
            <a:ext cx="3520440" cy="2194560"/>
          </a:xfrm>
          <a:prstGeom prst="roundRect">
            <a:avLst>
              <a:gd name="adj" fmla="val 5000"/>
            </a:avLst>
          </a:prstGeom>
          <a:solidFill>
            <a:schemeClr val="bg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Field</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model attribute that becomes a table column. It defines the data type and the validation rules.</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Primary key</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The column that uniquely identifies each row. Django adds an auto-increment id column by default.</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Foreign key</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column that links a row to a row in another table. Declared with models.ForeignKey.</a:t>
            </a:r>
            <a:endParaRPr lang="en-US" sz="1600" dirty="0"/>
          </a:p>
        </p:txBody>
      </p:sp>
      <p:sp>
        <p:nvSpPr>
          <p:cNvPr id="13" name="term-card"/>
          <p:cNvSpPr/>
          <p:nvPr/>
        </p:nvSpPr>
        <p:spPr>
          <a:xfrm>
            <a:off x="548640" y="3840480"/>
            <a:ext cx="3520440" cy="2194560"/>
          </a:xfrm>
          <a:prstGeom prst="roundRect">
            <a:avLst>
              <a:gd name="adj" fmla="val 5000"/>
            </a:avLst>
          </a:prstGeom>
          <a:solidFill>
            <a:schemeClr val="tx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bg1"/>
                </a:solidFill>
              </a:rPr>
              <a:t>QuerySet</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bg1"/>
                </a:solidFill>
              </a:rPr>
              <a:t>A lazy collection of rows returned by the ORM. It can be filtered, ordered and chained before it runs.</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Admin site</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interface generated automatically from registered models for managing the data.</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Superuser</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account with every permission. It can log in to the admin and manage users.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Anatomy of a model</a:t>
            </a:r>
            <a:endParaRPr lang="en-US" sz="3600" dirty="0"/>
          </a:p>
        </p:txBody>
      </p:sp>
      <p:sp>
        <p:nvSpPr>
          <p:cNvPr id="4" name="anatomy-code"/>
          <p:cNvSpPr txBox="1"/>
          <p:nvPr/>
        </p:nvSpPr>
        <p:spPr>
          <a:xfrm>
            <a:off x="548640" y="1371600"/>
            <a:ext cx="6035040" cy="1554480"/>
          </a:xfrm>
          <a:prstGeom prst="roundRect">
            <a:avLst>
              <a:gd name="adj" fmla="val 58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Student(models.Model):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 models.CharField(max_length=50)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age = models.IntegerField()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email = models.EmailField(unique=True)</a:t>
            </a:r>
            <a:endParaRPr lang="en-US" sz="1400" dirty="0"/>
          </a:p>
        </p:txBody>
      </p:sp>
      <p:sp>
        <p:nvSpPr>
          <p:cNvPr id="5" name="Text 2"/>
          <p:cNvSpPr txBox="1"/>
          <p:nvPr/>
        </p:nvSpPr>
        <p:spPr>
          <a:xfrm>
            <a:off x="548640" y="3200400"/>
            <a:ext cx="6035040" cy="274320"/>
          </a:xfrm>
          <a:prstGeom prst="rect">
            <a:avLst/>
          </a:prstGeom>
          <a:noFill/>
          <a:ln/>
        </p:spPr>
        <p:txBody>
          <a:bodyPr wrap="square" lIns="0" tIns="0" rIns="0" bIns="0" rtlCol="0" anchor="t"/>
          <a:lstStyle/>
          <a:p>
            <a:pPr indent="0" marL="0">
              <a:buNone/>
            </a:pPr>
            <a:r>
              <a:rPr lang="en-US" sz="1400" b="1" dirty="0">
                <a:solidFill>
                  <a:schemeClr val="accent5"/>
                </a:solidFill>
              </a:rPr>
              <a:t>The table Django creates (sample rows)</a:t>
            </a:r>
            <a:endParaRPr lang="en-US" sz="14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48640" y="3520440"/>
          <a:ext cx="6035040" cy="914400"/>
        </p:xfrm>
        <a:graphic>
          <a:graphicData uri="http://schemas.openxmlformats.org/drawingml/2006/table">
            <a:tbl>
              <a:tblPr/>
              <a:tblGrid>
                <a:gridCol w="731520"/>
                <a:gridCol w="1645920"/>
                <a:gridCol w="822960"/>
                <a:gridCol w="2834640"/>
              </a:tblGrid>
              <a:tr h="457200">
                <a:tc>
                  <a:txBody>
                    <a:bodyPr/>
                    <a:lstStyle/>
                    <a:p>
                      <a:pPr indent="0" marL="0">
                        <a:buNone/>
                      </a:pPr>
                      <a:r>
                        <a:rPr lang="en-US" sz="1600" b="1" dirty="0">
                          <a:solidFill>
                            <a:schemeClr val="bg1"/>
                          </a:solidFill>
                        </a:rPr>
                        <a:t>id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name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age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email</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400" dirty="0">
                          <a:solidFill>
                            <a:schemeClr val="tx1"/>
                          </a:solidFill>
                        </a:rPr>
                        <a:t>1</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Anita Rao</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23</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anita@college.edu</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rPr>
                        <a:t>2</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Ravi Kumar</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24</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ravi@college.edu</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7" name="legend-card"/>
          <p:cNvSpPr/>
          <p:nvPr/>
        </p:nvSpPr>
        <p:spPr>
          <a:xfrm>
            <a:off x="6903720" y="1371600"/>
            <a:ext cx="4736592" cy="1051560"/>
          </a:xfrm>
          <a:prstGeom prst="roundRect">
            <a:avLst>
              <a:gd name="adj" fmla="val 10435"/>
            </a:avLst>
          </a:prstGeom>
          <a:solidFill>
            <a:schemeClr val="bg2"/>
          </a:solidFill>
          <a:ln/>
        </p:spPr>
      </p:sp>
      <p:sp>
        <p:nvSpPr>
          <p:cNvPr id="8" name="step-number"/>
          <p:cNvSpPr txBox="1"/>
          <p:nvPr/>
        </p:nvSpPr>
        <p:spPr>
          <a:xfrm>
            <a:off x="7086600" y="167335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5"/>
          <p:cNvSpPr txBox="1"/>
          <p:nvPr/>
        </p:nvSpPr>
        <p:spPr>
          <a:xfrm>
            <a:off x="7726680" y="1481328"/>
            <a:ext cx="3794760" cy="320040"/>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class Student(models.Model)</a:t>
            </a:r>
            <a:endParaRPr lang="en-US" sz="1400" dirty="0"/>
          </a:p>
        </p:txBody>
      </p:sp>
      <p:sp>
        <p:nvSpPr>
          <p:cNvPr id="10" name="Text 6"/>
          <p:cNvSpPr txBox="1"/>
          <p:nvPr/>
        </p:nvSpPr>
        <p:spPr>
          <a:xfrm>
            <a:off x="7726680" y="1847088"/>
            <a:ext cx="3794760" cy="502920"/>
          </a:xfrm>
          <a:prstGeom prst="rect">
            <a:avLst/>
          </a:prstGeom>
          <a:noFill/>
          <a:ln/>
        </p:spPr>
        <p:txBody>
          <a:bodyPr wrap="square" lIns="0" tIns="0" rIns="0" bIns="0" rtlCol="0" anchor="t"/>
          <a:lstStyle/>
          <a:p>
            <a:pPr indent="0" marL="0">
              <a:buNone/>
            </a:pPr>
            <a:r>
              <a:rPr lang="en-US" sz="1500" dirty="0">
                <a:solidFill>
                  <a:schemeClr val="tx1"/>
                </a:solidFill>
              </a:rPr>
              <a:t>A model class. One class = one database table.</a:t>
            </a:r>
            <a:endParaRPr lang="en-US" sz="1500" dirty="0"/>
          </a:p>
        </p:txBody>
      </p:sp>
      <p:sp>
        <p:nvSpPr>
          <p:cNvPr id="11" name="legend-card"/>
          <p:cNvSpPr/>
          <p:nvPr/>
        </p:nvSpPr>
        <p:spPr>
          <a:xfrm>
            <a:off x="6903720" y="2542032"/>
            <a:ext cx="4736592" cy="1051560"/>
          </a:xfrm>
          <a:prstGeom prst="roundRect">
            <a:avLst>
              <a:gd name="adj" fmla="val 10435"/>
            </a:avLst>
          </a:prstGeom>
          <a:solidFill>
            <a:schemeClr val="bg2"/>
          </a:solidFill>
          <a:ln/>
        </p:spPr>
      </p:sp>
      <p:sp>
        <p:nvSpPr>
          <p:cNvPr id="12" name="step-number"/>
          <p:cNvSpPr txBox="1"/>
          <p:nvPr/>
        </p:nvSpPr>
        <p:spPr>
          <a:xfrm>
            <a:off x="7086600" y="2843784"/>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9"/>
          <p:cNvSpPr txBox="1"/>
          <p:nvPr/>
        </p:nvSpPr>
        <p:spPr>
          <a:xfrm>
            <a:off x="7726680" y="2651760"/>
            <a:ext cx="3794760" cy="320040"/>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name, age, email</a:t>
            </a:r>
            <a:endParaRPr lang="en-US" sz="1400" dirty="0"/>
          </a:p>
        </p:txBody>
      </p:sp>
      <p:sp>
        <p:nvSpPr>
          <p:cNvPr id="14" name="Text 10"/>
          <p:cNvSpPr txBox="1"/>
          <p:nvPr/>
        </p:nvSpPr>
        <p:spPr>
          <a:xfrm>
            <a:off x="7726680" y="3017520"/>
            <a:ext cx="3794760" cy="502920"/>
          </a:xfrm>
          <a:prstGeom prst="rect">
            <a:avLst/>
          </a:prstGeom>
          <a:noFill/>
          <a:ln/>
        </p:spPr>
        <p:txBody>
          <a:bodyPr wrap="square" lIns="0" tIns="0" rIns="0" bIns="0" rtlCol="0" anchor="t"/>
          <a:lstStyle/>
          <a:p>
            <a:pPr indent="0" marL="0">
              <a:buNone/>
            </a:pPr>
            <a:r>
              <a:rPr lang="en-US" sz="1500" dirty="0">
                <a:solidFill>
                  <a:schemeClr val="tx1"/>
                </a:solidFill>
              </a:rPr>
              <a:t>Attributes. One attribute = one column.</a:t>
            </a:r>
            <a:endParaRPr lang="en-US" sz="1500" dirty="0"/>
          </a:p>
        </p:txBody>
      </p:sp>
      <p:sp>
        <p:nvSpPr>
          <p:cNvPr id="15" name="legend-card"/>
          <p:cNvSpPr/>
          <p:nvPr/>
        </p:nvSpPr>
        <p:spPr>
          <a:xfrm>
            <a:off x="6903720" y="3712464"/>
            <a:ext cx="4736592" cy="1051560"/>
          </a:xfrm>
          <a:prstGeom prst="roundRect">
            <a:avLst>
              <a:gd name="adj" fmla="val 10435"/>
            </a:avLst>
          </a:prstGeom>
          <a:solidFill>
            <a:schemeClr val="bg2"/>
          </a:solidFill>
          <a:ln/>
        </p:spPr>
      </p:sp>
      <p:sp>
        <p:nvSpPr>
          <p:cNvPr id="16" name="step-number"/>
          <p:cNvSpPr txBox="1"/>
          <p:nvPr/>
        </p:nvSpPr>
        <p:spPr>
          <a:xfrm>
            <a:off x="7086600" y="4014216"/>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3"/>
          <p:cNvSpPr txBox="1"/>
          <p:nvPr/>
        </p:nvSpPr>
        <p:spPr>
          <a:xfrm>
            <a:off x="7726680" y="3822192"/>
            <a:ext cx="3794760" cy="320040"/>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CharField, IntegerField, EmailField</a:t>
            </a:r>
            <a:endParaRPr lang="en-US" sz="1400" dirty="0"/>
          </a:p>
        </p:txBody>
      </p:sp>
      <p:sp>
        <p:nvSpPr>
          <p:cNvPr id="18" name="Text 14"/>
          <p:cNvSpPr txBox="1"/>
          <p:nvPr/>
        </p:nvSpPr>
        <p:spPr>
          <a:xfrm>
            <a:off x="7726680" y="4187952"/>
            <a:ext cx="3794760" cy="502920"/>
          </a:xfrm>
          <a:prstGeom prst="rect">
            <a:avLst/>
          </a:prstGeom>
          <a:noFill/>
          <a:ln/>
        </p:spPr>
        <p:txBody>
          <a:bodyPr wrap="square" lIns="0" tIns="0" rIns="0" bIns="0" rtlCol="0" anchor="t"/>
          <a:lstStyle/>
          <a:p>
            <a:pPr indent="0" marL="0">
              <a:buNone/>
            </a:pPr>
            <a:r>
              <a:rPr lang="en-US" sz="1500" dirty="0">
                <a:solidFill>
                  <a:schemeClr val="tx1"/>
                </a:solidFill>
              </a:rPr>
              <a:t>Field types. They set the column type and the validation.</a:t>
            </a:r>
            <a:endParaRPr lang="en-US" sz="1500" dirty="0"/>
          </a:p>
        </p:txBody>
      </p:sp>
      <p:sp>
        <p:nvSpPr>
          <p:cNvPr id="19" name="legend-card"/>
          <p:cNvSpPr/>
          <p:nvPr/>
        </p:nvSpPr>
        <p:spPr>
          <a:xfrm>
            <a:off x="6903720" y="4882896"/>
            <a:ext cx="4736592" cy="1051560"/>
          </a:xfrm>
          <a:prstGeom prst="roundRect">
            <a:avLst>
              <a:gd name="adj" fmla="val 10435"/>
            </a:avLst>
          </a:prstGeom>
          <a:solidFill>
            <a:schemeClr val="bg2"/>
          </a:solidFill>
          <a:ln/>
        </p:spPr>
      </p:sp>
      <p:sp>
        <p:nvSpPr>
          <p:cNvPr id="20" name="step-number"/>
          <p:cNvSpPr txBox="1"/>
          <p:nvPr/>
        </p:nvSpPr>
        <p:spPr>
          <a:xfrm>
            <a:off x="7086600" y="5184648"/>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7"/>
          <p:cNvSpPr txBox="1"/>
          <p:nvPr/>
        </p:nvSpPr>
        <p:spPr>
          <a:xfrm>
            <a:off x="7726680" y="4992624"/>
            <a:ext cx="3794760" cy="320040"/>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max_length=50, unique=True</a:t>
            </a:r>
            <a:endParaRPr lang="en-US" sz="1400" dirty="0"/>
          </a:p>
        </p:txBody>
      </p:sp>
      <p:sp>
        <p:nvSpPr>
          <p:cNvPr id="22" name="Text 18"/>
          <p:cNvSpPr txBox="1"/>
          <p:nvPr/>
        </p:nvSpPr>
        <p:spPr>
          <a:xfrm>
            <a:off x="7726680" y="5358384"/>
            <a:ext cx="3794760" cy="502920"/>
          </a:xfrm>
          <a:prstGeom prst="rect">
            <a:avLst/>
          </a:prstGeom>
          <a:noFill/>
          <a:ln/>
        </p:spPr>
        <p:txBody>
          <a:bodyPr wrap="square" lIns="0" tIns="0" rIns="0" bIns="0" rtlCol="0" anchor="t"/>
          <a:lstStyle/>
          <a:p>
            <a:pPr indent="0" marL="0">
              <a:buNone/>
            </a:pPr>
            <a:r>
              <a:rPr lang="en-US" sz="1500" dirty="0">
                <a:solidFill>
                  <a:schemeClr val="tx1"/>
                </a:solidFill>
              </a:rPr>
              <a:t>Options. Extra rules for that column.</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Models: Python class to table</a:t>
            </a:r>
            <a:endParaRPr lang="en-US" sz="3600" dirty="0"/>
          </a:p>
        </p:txBody>
      </p:sp>
      <p:sp>
        <p:nvSpPr>
          <p:cNvPr id="4" name="Text 1"/>
          <p:cNvSpPr txBox="1"/>
          <p:nvPr/>
        </p:nvSpPr>
        <p:spPr>
          <a:xfrm>
            <a:off x="548640" y="1371600"/>
            <a:ext cx="5303520" cy="274320"/>
          </a:xfrm>
          <a:prstGeom prst="rect">
            <a:avLst/>
          </a:prstGeom>
          <a:noFill/>
          <a:ln/>
        </p:spPr>
        <p:txBody>
          <a:bodyPr wrap="square" lIns="0" tIns="0" rIns="0" bIns="0" rtlCol="0" anchor="t"/>
          <a:lstStyle/>
          <a:p>
            <a:pPr indent="0" marL="0">
              <a:buNone/>
            </a:pPr>
            <a:r>
              <a:rPr lang="en-US" sz="1400" b="1" dirty="0">
                <a:solidFill>
                  <a:schemeClr val="accent5"/>
                </a:solidFill>
              </a:rPr>
              <a:t>items/models.py  (Python)</a:t>
            </a:r>
            <a:endParaRPr lang="en-US" sz="1400" dirty="0"/>
          </a:p>
        </p:txBody>
      </p:sp>
      <p:sp>
        <p:nvSpPr>
          <p:cNvPr id="5" name="model-code"/>
          <p:cNvSpPr txBox="1"/>
          <p:nvPr/>
        </p:nvSpPr>
        <p:spPr>
          <a:xfrm>
            <a:off x="548640" y="1691640"/>
            <a:ext cx="5394960" cy="3749040"/>
          </a:xfrm>
          <a:prstGeom prst="roundRect">
            <a:avLst>
              <a:gd name="adj" fmla="val 2439"/>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Item(models.Model):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 models.CharField(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max_length=100)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description = models.TextField(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blank=True)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 models.DecimalField(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max_digits=8, decimal_places=2)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 models.PositiveIntegerField(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 models.BooleanField(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created_at = models.DateTimeField(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auto_now_add=True)</a:t>
            </a:r>
            <a:endParaRPr lang="en-US" sz="1400" dirty="0"/>
          </a:p>
        </p:txBody>
      </p:sp>
      <p:sp>
        <p:nvSpPr>
          <p:cNvPr id="6" name="arrow"/>
          <p:cNvSpPr/>
          <p:nvPr/>
        </p:nvSpPr>
        <p:spPr>
          <a:xfrm>
            <a:off x="6053328" y="3291840"/>
            <a:ext cx="548640" cy="548640"/>
          </a:xfrm>
          <a:prstGeom prst="rightArrow">
            <a:avLst/>
          </a:prstGeom>
          <a:solidFill>
            <a:schemeClr val="accent1"/>
          </a:solidFill>
          <a:ln/>
        </p:spPr>
      </p:sp>
      <p:sp>
        <p:nvSpPr>
          <p:cNvPr id="7" name="Text 4"/>
          <p:cNvSpPr txBox="1"/>
          <p:nvPr/>
        </p:nvSpPr>
        <p:spPr>
          <a:xfrm>
            <a:off x="6702552" y="1371600"/>
            <a:ext cx="4937760" cy="274320"/>
          </a:xfrm>
          <a:prstGeom prst="rect">
            <a:avLst/>
          </a:prstGeom>
          <a:noFill/>
          <a:ln/>
        </p:spPr>
        <p:txBody>
          <a:bodyPr wrap="square" lIns="0" tIns="0" rIns="0" bIns="0" rtlCol="0" anchor="t"/>
          <a:lstStyle/>
          <a:p>
            <a:pPr indent="0" marL="0">
              <a:buNone/>
            </a:pPr>
            <a:r>
              <a:rPr lang="en-US" sz="1400" b="1" dirty="0">
                <a:solidFill>
                  <a:schemeClr val="accent5"/>
                </a:solidFill>
              </a:rPr>
              <a:t>Database table  (SQL, shortened)</a:t>
            </a:r>
            <a:endParaRPr lang="en-US" sz="1400" dirty="0"/>
          </a:p>
        </p:txBody>
      </p:sp>
      <p:sp>
        <p:nvSpPr>
          <p:cNvPr id="8" name="sql-code"/>
          <p:cNvSpPr txBox="1"/>
          <p:nvPr/>
        </p:nvSpPr>
        <p:spPr>
          <a:xfrm>
            <a:off x="6702552" y="1691640"/>
            <a:ext cx="4937760" cy="3749040"/>
          </a:xfrm>
          <a:prstGeom prst="roundRect">
            <a:avLst>
              <a:gd name="adj" fmla="val 2439"/>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CREATE TABLE "items_item"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"id" integer PRIMARY KEY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AUTOINCREMENT,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varchar(100)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"description" text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decimal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integer unsigned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bool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"created_at" datetime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9" name="callout"/>
          <p:cNvSpPr/>
          <p:nvPr/>
        </p:nvSpPr>
        <p:spPr>
          <a:xfrm>
            <a:off x="548640" y="5623560"/>
            <a:ext cx="11091672" cy="548640"/>
          </a:xfrm>
          <a:prstGeom prst="roundRect">
            <a:avLst>
              <a:gd name="adj" fmla="val 20000"/>
            </a:avLst>
          </a:prstGeom>
          <a:solidFill>
            <a:schemeClr val="bg2"/>
          </a:solidFill>
          <a:ln/>
        </p:spPr>
      </p:sp>
      <p:sp>
        <p:nvSpPr>
          <p:cNvPr id="10" name="Text 7"/>
          <p:cNvSpPr txBox="1"/>
          <p:nvPr/>
        </p:nvSpPr>
        <p:spPr>
          <a:xfrm>
            <a:off x="822960" y="5623560"/>
            <a:ext cx="10543032" cy="548640"/>
          </a:xfrm>
          <a:prstGeom prst="rect">
            <a:avLst/>
          </a:prstGeom>
          <a:noFill/>
          <a:ln/>
        </p:spPr>
        <p:txBody>
          <a:bodyPr wrap="square" lIns="0" tIns="0" rIns="0" bIns="0" rtlCol="0" anchor="ctr"/>
          <a:lstStyle/>
          <a:p>
            <a:pPr indent="0" marL="0">
              <a:buNone/>
            </a:pPr>
            <a:r>
              <a:rPr lang="en-US" sz="1600" dirty="0">
                <a:solidFill>
                  <a:schemeClr val="tx1"/>
                </a:solidFill>
              </a:rPr>
              <a:t>Class = table   |   field = column   |   object = row.   Django adds the id column for you.</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Fields: text</a:t>
            </a:r>
            <a:endParaRPr lang="en-US" sz="36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011680"/>
                <a:gridCol w="2377440"/>
                <a:gridCol w="5029200"/>
                <a:gridCol w="1673352"/>
              </a:tblGrid>
              <a:tr h="457200">
                <a:tc>
                  <a:txBody>
                    <a:bodyPr/>
                    <a:lstStyle/>
                    <a:p>
                      <a:pPr indent="0" marL="0">
                        <a:buNone/>
                      </a:pPr>
                      <a:r>
                        <a:rPr lang="en-US" sz="1600" b="1" dirty="0">
                          <a:solidFill>
                            <a:schemeClr val="bg1"/>
                          </a:solidFill>
                        </a:rPr>
                        <a:t>Field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Use it for</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Example in a model</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Example value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731520">
                <a:tc>
                  <a:txBody>
                    <a:bodyPr/>
                    <a:lstStyle/>
                    <a:p>
                      <a:pPr indent="0" marL="0">
                        <a:buNone/>
                      </a:pPr>
                      <a:r>
                        <a:rPr lang="en-US" sz="1500" b="1" dirty="0">
                          <a:solidFill>
                            <a:schemeClr val="tx1"/>
                          </a:solidFill>
                        </a:rPr>
                        <a:t>CharField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Short text (a name, a title)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name = models.CharField(max_length=50)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Anita Rao</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731520">
                <a:tc>
                  <a:txBody>
                    <a:bodyPr/>
                    <a:lstStyle/>
                    <a:p>
                      <a:pPr indent="0" marL="0">
                        <a:buNone/>
                      </a:pPr>
                      <a:r>
                        <a:rPr lang="en-US" sz="1500" b="1" dirty="0">
                          <a:solidFill>
                            <a:schemeClr val="tx1"/>
                          </a:solidFill>
                        </a:rPr>
                        <a:t>TextField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Long text (a description, a bio)</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bio = models.TextField()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paragraph of text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731520">
                <a:tc>
                  <a:txBody>
                    <a:bodyPr/>
                    <a:lstStyle/>
                    <a:p>
                      <a:pPr indent="0" marL="0">
                        <a:buNone/>
                      </a:pPr>
                      <a:r>
                        <a:rPr lang="en-US" sz="1500" b="1" dirty="0">
                          <a:solidFill>
                            <a:schemeClr val="tx1"/>
                          </a:solidFill>
                        </a:rPr>
                        <a:t>EmailField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An email address (format is checked)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email = models.EmailField()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anita@college.edu</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731520">
                <a:tc>
                  <a:txBody>
                    <a:bodyPr/>
                    <a:lstStyle/>
                    <a:p>
                      <a:pPr indent="0" marL="0">
                        <a:buNone/>
                      </a:pPr>
                      <a:r>
                        <a:rPr lang="en-US" sz="1500" b="1" dirty="0">
                          <a:solidFill>
                            <a:schemeClr val="tx1"/>
                          </a:solidFill>
                        </a:rPr>
                        <a:t>URLField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web address (format is checked)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website = models.URLField()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https://uni.edu</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669280"/>
            <a:ext cx="11091672" cy="548640"/>
          </a:xfrm>
          <a:prstGeom prst="roundRect">
            <a:avLst>
              <a:gd name="adj" fmla="val 20000"/>
            </a:avLst>
          </a:prstGeom>
          <a:solidFill>
            <a:schemeClr val="bg2"/>
          </a:solidFill>
          <a:ln/>
        </p:spPr>
      </p:sp>
      <p:sp>
        <p:nvSpPr>
          <p:cNvPr id="6" name="Text 2"/>
          <p:cNvSpPr txBox="1"/>
          <p:nvPr/>
        </p:nvSpPr>
        <p:spPr>
          <a:xfrm>
            <a:off x="822960" y="5669280"/>
            <a:ext cx="10543032" cy="548640"/>
          </a:xfrm>
          <a:prstGeom prst="rect">
            <a:avLst/>
          </a:prstGeom>
          <a:noFill/>
          <a:ln/>
        </p:spPr>
        <p:txBody>
          <a:bodyPr wrap="square" lIns="0" tIns="0" rIns="0" bIns="0" rtlCol="0" anchor="ctr"/>
          <a:lstStyle/>
          <a:p>
            <a:pPr indent="0" marL="0">
              <a:buNone/>
            </a:pPr>
            <a:r>
              <a:rPr lang="en-US" sz="1500" dirty="0">
                <a:solidFill>
                  <a:schemeClr val="tx1"/>
                </a:solidFill>
              </a:rPr>
              <a:t>CharField needs max_length. TextField does not.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Fields: numbers and true / false</a:t>
            </a:r>
            <a:endParaRPr lang="en-US" sz="36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011680"/>
                <a:gridCol w="2377440"/>
                <a:gridCol w="5029200"/>
                <a:gridCol w="1673352"/>
              </a:tblGrid>
              <a:tr h="457200">
                <a:tc>
                  <a:txBody>
                    <a:bodyPr/>
                    <a:lstStyle/>
                    <a:p>
                      <a:pPr indent="0" marL="0">
                        <a:buNone/>
                      </a:pPr>
                      <a:r>
                        <a:rPr lang="en-US" sz="1600" b="1" dirty="0">
                          <a:solidFill>
                            <a:schemeClr val="bg1"/>
                          </a:solidFill>
                        </a:rPr>
                        <a:t>Field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Use it for</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Example in a model</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Example value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731520">
                <a:tc>
                  <a:txBody>
                    <a:bodyPr/>
                    <a:lstStyle/>
                    <a:p>
                      <a:pPr indent="0" marL="0">
                        <a:buNone/>
                      </a:pPr>
                      <a:r>
                        <a:rPr lang="en-US" sz="1500" b="1" dirty="0">
                          <a:solidFill>
                            <a:schemeClr val="tx1"/>
                          </a:solidFill>
                        </a:rPr>
                        <a:t>IntegerField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Whole numbers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age = models.IntegerField()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23</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731520">
                <a:tc>
                  <a:txBody>
                    <a:bodyPr/>
                    <a:lstStyle/>
                    <a:p>
                      <a:pPr indent="0" marL="0">
                        <a:buNone/>
                      </a:pPr>
                      <a:r>
                        <a:rPr lang="en-US" sz="1500" b="1" dirty="0">
                          <a:solidFill>
                            <a:schemeClr val="tx1"/>
                          </a:solidFill>
                        </a:rPr>
                        <a:t>PositiveIntegerField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Whole numbers, never negative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credits = models.PositiveIntegerField()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4</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731520">
                <a:tc>
                  <a:txBody>
                    <a:bodyPr/>
                    <a:lstStyle/>
                    <a:p>
                      <a:pPr indent="0" marL="0">
                        <a:buNone/>
                      </a:pPr>
                      <a:r>
                        <a:rPr lang="en-US" sz="1500" b="1" dirty="0">
                          <a:solidFill>
                            <a:schemeClr val="tx1"/>
                          </a:solidFill>
                        </a:rPr>
                        <a:t>FloatField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Approximate decimals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cgpa = models.FloatField()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8.7</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731520">
                <a:tc>
                  <a:txBody>
                    <a:bodyPr/>
                    <a:lstStyle/>
                    <a:p>
                      <a:pPr indent="0" marL="0">
                        <a:buNone/>
                      </a:pPr>
                      <a:r>
                        <a:rPr lang="en-US" sz="1500" b="1" dirty="0">
                          <a:solidFill>
                            <a:schemeClr val="tx1"/>
                          </a:solidFill>
                        </a:rPr>
                        <a:t>DecimalField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Exact decimals, such as money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fee = models.DecimalField(max_digits=8, decimal_places=2)</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45000.00</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731520">
                <a:tc>
                  <a:txBody>
                    <a:bodyPr/>
                    <a:lstStyle/>
                    <a:p>
                      <a:pPr indent="0" marL="0">
                        <a:buNone/>
                      </a:pPr>
                      <a:r>
                        <a:rPr lang="en-US" sz="1500" b="1" dirty="0">
                          <a:solidFill>
                            <a:schemeClr val="tx1"/>
                          </a:solidFill>
                        </a:rPr>
                        <a:t>BooleanField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True or False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is_active = models.BooleanField(default=True)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callout"/>
          <p:cNvSpPr/>
          <p:nvPr/>
        </p:nvSpPr>
        <p:spPr>
          <a:xfrm>
            <a:off x="548640" y="5669280"/>
            <a:ext cx="11091672" cy="548640"/>
          </a:xfrm>
          <a:prstGeom prst="roundRect">
            <a:avLst>
              <a:gd name="adj" fmla="val 20000"/>
            </a:avLst>
          </a:prstGeom>
          <a:solidFill>
            <a:schemeClr val="bg2"/>
          </a:solidFill>
          <a:ln/>
        </p:spPr>
      </p:sp>
      <p:sp>
        <p:nvSpPr>
          <p:cNvPr id="6" name="Text 2"/>
          <p:cNvSpPr txBox="1"/>
          <p:nvPr/>
        </p:nvSpPr>
        <p:spPr>
          <a:xfrm>
            <a:off x="822960" y="5669280"/>
            <a:ext cx="10543032" cy="548640"/>
          </a:xfrm>
          <a:prstGeom prst="rect">
            <a:avLst/>
          </a:prstGeom>
          <a:noFill/>
          <a:ln/>
        </p:spPr>
        <p:txBody>
          <a:bodyPr wrap="square" lIns="0" tIns="0" rIns="0" bIns="0" rtlCol="0" anchor="ctr"/>
          <a:lstStyle/>
          <a:p>
            <a:pPr indent="0" marL="0">
              <a:buNone/>
            </a:pPr>
            <a:r>
              <a:rPr lang="en-US" sz="1500" dirty="0">
                <a:solidFill>
                  <a:schemeClr val="tx1"/>
                </a:solidFill>
              </a:rPr>
              <a:t>Use DecimalField for money (exact). FloatField is only approximate.</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Fields: dates and files</a:t>
            </a:r>
            <a:endParaRPr lang="en-US" sz="36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011680"/>
                <a:gridCol w="2377440"/>
                <a:gridCol w="5029200"/>
                <a:gridCol w="1673352"/>
              </a:tblGrid>
              <a:tr h="457200">
                <a:tc>
                  <a:txBody>
                    <a:bodyPr/>
                    <a:lstStyle/>
                    <a:p>
                      <a:pPr indent="0" marL="0">
                        <a:buNone/>
                      </a:pPr>
                      <a:r>
                        <a:rPr lang="en-US" sz="1600" b="1" dirty="0">
                          <a:solidFill>
                            <a:schemeClr val="bg1"/>
                          </a:solidFill>
                        </a:rPr>
                        <a:t>Field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Use it for</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Example in a model</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Example value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731520">
                <a:tc>
                  <a:txBody>
                    <a:bodyPr/>
                    <a:lstStyle/>
                    <a:p>
                      <a:pPr indent="0" marL="0">
                        <a:buNone/>
                      </a:pPr>
                      <a:r>
                        <a:rPr lang="en-US" sz="1500" b="1" dirty="0">
                          <a:solidFill>
                            <a:schemeClr val="tx1"/>
                          </a:solidFill>
                        </a:rPr>
                        <a:t>DateField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 date only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birth_date = models.DateField()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2003-05-14</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731520">
                <a:tc>
                  <a:txBody>
                    <a:bodyPr/>
                    <a:lstStyle/>
                    <a:p>
                      <a:pPr indent="0" marL="0">
                        <a:buNone/>
                      </a:pPr>
                      <a:r>
                        <a:rPr lang="en-US" sz="1500" b="1" dirty="0">
                          <a:solidFill>
                            <a:schemeClr val="tx1"/>
                          </a:solidFill>
                        </a:rPr>
                        <a:t>TimeField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time only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class_time = models.TimeField()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10:30:00</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731520">
                <a:tc>
                  <a:txBody>
                    <a:bodyPr/>
                    <a:lstStyle/>
                    <a:p>
                      <a:pPr indent="0" marL="0">
                        <a:buNone/>
                      </a:pPr>
                      <a:r>
                        <a:rPr lang="en-US" sz="1500" b="1" dirty="0">
                          <a:solidFill>
                            <a:schemeClr val="tx1"/>
                          </a:solidFill>
                        </a:rPr>
                        <a:t>DateTimeField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 date and a time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joined_at = models.DateTimeField()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2026-10-09 10:30</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731520">
                <a:tc>
                  <a:txBody>
                    <a:bodyPr/>
                    <a:lstStyle/>
                    <a:p>
                      <a:pPr indent="0" marL="0">
                        <a:buNone/>
                      </a:pPr>
                      <a:r>
                        <a:rPr lang="en-US" sz="1500" b="1" dirty="0">
                          <a:solidFill>
                            <a:schemeClr val="tx1"/>
                          </a:solidFill>
                        </a:rPr>
                        <a:t>FileField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Any uploaded file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resume = models.FileField(upload_to="cv/")</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cv/anita.pdf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731520">
                <a:tc>
                  <a:txBody>
                    <a:bodyPr/>
                    <a:lstStyle/>
                    <a:p>
                      <a:pPr indent="0" marL="0">
                        <a:buNone/>
                      </a:pPr>
                      <a:r>
                        <a:rPr lang="en-US" sz="1500" b="1" dirty="0">
                          <a:solidFill>
                            <a:schemeClr val="tx1"/>
                          </a:solidFill>
                        </a:rPr>
                        <a:t>ImageField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An uploaded image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photo = models.ImageField(upload_to="img/")</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img/anita.jpg</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callout"/>
          <p:cNvSpPr/>
          <p:nvPr/>
        </p:nvSpPr>
        <p:spPr>
          <a:xfrm>
            <a:off x="548640" y="5669280"/>
            <a:ext cx="11091672" cy="548640"/>
          </a:xfrm>
          <a:prstGeom prst="roundRect">
            <a:avLst>
              <a:gd name="adj" fmla="val 20000"/>
            </a:avLst>
          </a:prstGeom>
          <a:solidFill>
            <a:schemeClr val="bg2"/>
          </a:solidFill>
          <a:ln/>
        </p:spPr>
      </p:sp>
      <p:sp>
        <p:nvSpPr>
          <p:cNvPr id="6" name="Text 2"/>
          <p:cNvSpPr txBox="1"/>
          <p:nvPr/>
        </p:nvSpPr>
        <p:spPr>
          <a:xfrm>
            <a:off x="822960" y="5669280"/>
            <a:ext cx="10543032" cy="548640"/>
          </a:xfrm>
          <a:prstGeom prst="rect">
            <a:avLst/>
          </a:prstGeom>
          <a:noFill/>
          <a:ln/>
        </p:spPr>
        <p:txBody>
          <a:bodyPr wrap="square" lIns="0" tIns="0" rIns="0" bIns="0" rtlCol="0" anchor="ctr"/>
          <a:lstStyle/>
          <a:p>
            <a:pPr indent="0" marL="0">
              <a:buNone/>
            </a:pPr>
            <a:r>
              <a:rPr lang="en-US" sz="1500" dirty="0">
                <a:solidFill>
                  <a:schemeClr val="tx1"/>
                </a:solidFill>
              </a:rPr>
              <a:t>Uploaded files are saved on disk. The database stores only the path. ImageField needs Pillow.</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Field options</a:t>
            </a:r>
            <a:endParaRPr lang="en-US" sz="3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560320"/>
                <a:gridCol w="4114800"/>
                <a:gridCol w="4416552"/>
              </a:tblGrid>
              <a:tr h="457200">
                <a:tc>
                  <a:txBody>
                    <a:bodyPr/>
                    <a:lstStyle/>
                    <a:p>
                      <a:pPr indent="0" marL="0">
                        <a:buNone/>
                      </a:pPr>
                      <a:r>
                        <a:rPr lang="en-US" sz="1600" b="1" dirty="0">
                          <a:solidFill>
                            <a:schemeClr val="bg1"/>
                          </a:solidFill>
                        </a:rPr>
                        <a:t>Option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What it does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Example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max_length</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Maximum number of characters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CharField(max_length=50)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null=True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The database column may hold NULL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DateField(null=True)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blank=True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The field may be left empty in forms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TextField(blank=True)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default=...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Value used when none is given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BooleanField(default=True)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unique=True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No two rows may have the same value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EmailField(unique=True)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choices=...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Only values from a fixed list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CharField(choices=YEAR_CHOICES)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auto_now_add=True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Set once, when the row is created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DateTimeField(auto_now_add=True)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auto_now=True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Updated on every save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DateTimeField(auto_now=True)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715000"/>
            <a:ext cx="11091672" cy="457200"/>
          </a:xfrm>
          <a:prstGeom prst="roundRect">
            <a:avLst>
              <a:gd name="adj" fmla="val 24000"/>
            </a:avLst>
          </a:prstGeom>
          <a:solidFill>
            <a:schemeClr val="bg2"/>
          </a:solidFill>
          <a:ln/>
        </p:spPr>
      </p:sp>
      <p:sp>
        <p:nvSpPr>
          <p:cNvPr id="6" name="Text 2"/>
          <p:cNvSpPr txBox="1"/>
          <p:nvPr/>
        </p:nvSpPr>
        <p:spPr>
          <a:xfrm>
            <a:off x="822960" y="5715000"/>
            <a:ext cx="10543032" cy="457200"/>
          </a:xfrm>
          <a:prstGeom prst="rect">
            <a:avLst/>
          </a:prstGeom>
          <a:noFill/>
          <a:ln/>
        </p:spPr>
        <p:txBody>
          <a:bodyPr wrap="square" lIns="0" tIns="0" rIns="0" bIns="0" rtlCol="0" anchor="ctr"/>
          <a:lstStyle/>
          <a:p>
            <a:pPr indent="0" marL="0">
              <a:buNone/>
            </a:pPr>
            <a:r>
              <a:rPr lang="en-US" sz="1500" dirty="0">
                <a:solidFill>
                  <a:schemeClr val="tx1"/>
                </a:solidFill>
              </a:rPr>
              <a:t>null is about the database.   blank is about form validation.</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Relationships between models</a:t>
            </a:r>
            <a:endParaRPr lang="en-US" sz="3600" dirty="0"/>
          </a:p>
        </p:txBody>
      </p:sp>
      <p:sp>
        <p:nvSpPr>
          <p:cNvPr id="4" name="relation-card"/>
          <p:cNvSpPr/>
          <p:nvPr/>
        </p:nvSpPr>
        <p:spPr>
          <a:xfrm>
            <a:off x="548640" y="1371600"/>
            <a:ext cx="11091672" cy="1417320"/>
          </a:xfrm>
          <a:prstGeom prst="roundRect">
            <a:avLst>
              <a:gd name="adj" fmla="val 7742"/>
            </a:avLst>
          </a:prstGeom>
          <a:solidFill>
            <a:schemeClr val="bg2"/>
          </a:solidFill>
          <a:ln/>
        </p:spPr>
      </p:sp>
      <p:sp>
        <p:nvSpPr>
          <p:cNvPr id="5" name="Text 2"/>
          <p:cNvSpPr txBox="1"/>
          <p:nvPr/>
        </p:nvSpPr>
        <p:spPr>
          <a:xfrm>
            <a:off x="777240" y="1508760"/>
            <a:ext cx="3291840" cy="365760"/>
          </a:xfrm>
          <a:prstGeom prst="rect">
            <a:avLst/>
          </a:prstGeom>
          <a:noFill/>
          <a:ln/>
        </p:spPr>
        <p:txBody>
          <a:bodyPr wrap="square" lIns="0" tIns="0" rIns="0" bIns="0" rtlCol="0" anchor="t"/>
          <a:lstStyle/>
          <a:p>
            <a:pPr indent="0" marL="0">
              <a:buNone/>
            </a:pPr>
            <a:r>
              <a:rPr lang="en-US" sz="2000" b="1" dirty="0">
                <a:solidFill>
                  <a:schemeClr val="tx2"/>
                </a:solidFill>
              </a:rPr>
              <a:t>ForeignKey</a:t>
            </a:r>
            <a:endParaRPr lang="en-US" sz="2000" dirty="0"/>
          </a:p>
        </p:txBody>
      </p:sp>
      <p:sp>
        <p:nvSpPr>
          <p:cNvPr id="6" name="Text 3"/>
          <p:cNvSpPr txBox="1"/>
          <p:nvPr/>
        </p:nvSpPr>
        <p:spPr>
          <a:xfrm>
            <a:off x="777240" y="1920240"/>
            <a:ext cx="3291840" cy="822960"/>
          </a:xfrm>
          <a:prstGeom prst="rect">
            <a:avLst/>
          </a:prstGeom>
          <a:noFill/>
          <a:ln/>
        </p:spPr>
        <p:txBody>
          <a:bodyPr wrap="square" lIns="0" tIns="0" rIns="0" bIns="0" rtlCol="0" anchor="t"/>
          <a:lstStyle/>
          <a:p>
            <a:pPr indent="0" marL="0">
              <a:buNone/>
            </a:pPr>
            <a:r>
              <a:rPr lang="en-US" sz="1500" dirty="0">
                <a:solidFill>
                  <a:schemeClr val="tx1"/>
                </a:solidFill>
              </a:rPr>
              <a:t>Many to one: Many students belong to one department.</a:t>
            </a:r>
            <a:endParaRPr lang="en-US" sz="1500" dirty="0"/>
          </a:p>
        </p:txBody>
      </p:sp>
      <p:sp>
        <p:nvSpPr>
          <p:cNvPr id="7" name="diagram-box"/>
          <p:cNvSpPr txBox="1"/>
          <p:nvPr/>
        </p:nvSpPr>
        <p:spPr>
          <a:xfrm>
            <a:off x="4251960" y="2011680"/>
            <a:ext cx="1234440" cy="548640"/>
          </a:xfrm>
          <a:prstGeom prst="roundRect">
            <a:avLst>
              <a:gd name="adj" fmla="val 20000"/>
            </a:avLst>
          </a:prstGeom>
          <a:solidFill>
            <a:schemeClr val="bg1"/>
          </a:solidFill>
          <a:ln/>
        </p:spPr>
        <p:txBody>
          <a:bodyPr wrap="square" lIns="76200" tIns="76200" rIns="76200" bIns="76200" rtlCol="0" anchor="ctr"/>
          <a:lstStyle/>
          <a:p>
            <a:pPr algn="ctr" indent="0" marL="0">
              <a:buNone/>
            </a:pPr>
            <a:r>
              <a:rPr lang="en-US" sz="1400" b="1" dirty="0">
                <a:solidFill>
                  <a:schemeClr val="tx2"/>
                </a:solidFill>
              </a:rPr>
              <a:t>Department</a:t>
            </a:r>
            <a:endParaRPr lang="en-US" sz="1400" dirty="0"/>
          </a:p>
        </p:txBody>
      </p:sp>
      <p:sp>
        <p:nvSpPr>
          <p:cNvPr id="8" name="diagram-box"/>
          <p:cNvSpPr txBox="1"/>
          <p:nvPr/>
        </p:nvSpPr>
        <p:spPr>
          <a:xfrm>
            <a:off x="5989320" y="2011680"/>
            <a:ext cx="1234440" cy="548640"/>
          </a:xfrm>
          <a:prstGeom prst="roundRect">
            <a:avLst>
              <a:gd name="adj" fmla="val 20000"/>
            </a:avLst>
          </a:prstGeom>
          <a:solidFill>
            <a:schemeClr val="bg1"/>
          </a:solidFill>
          <a:ln/>
        </p:spPr>
        <p:txBody>
          <a:bodyPr wrap="square" lIns="76200" tIns="76200" rIns="76200" bIns="76200" rtlCol="0" anchor="ctr"/>
          <a:lstStyle/>
          <a:p>
            <a:pPr algn="ctr" indent="0" marL="0">
              <a:buNone/>
            </a:pPr>
            <a:r>
              <a:rPr lang="en-US" sz="1400" b="1" dirty="0">
                <a:solidFill>
                  <a:schemeClr val="tx2"/>
                </a:solidFill>
              </a:rPr>
              <a:t>Student</a:t>
            </a:r>
            <a:endParaRPr lang="en-US" sz="1400" dirty="0"/>
          </a:p>
        </p:txBody>
      </p:sp>
      <p:sp>
        <p:nvSpPr>
          <p:cNvPr id="9" name="arrow"/>
          <p:cNvSpPr/>
          <p:nvPr/>
        </p:nvSpPr>
        <p:spPr>
          <a:xfrm>
            <a:off x="5486400" y="2286000"/>
            <a:ext cx="502920" cy="0"/>
          </a:xfrm>
          <a:prstGeom prst="line">
            <a:avLst/>
          </a:prstGeom>
          <a:noFill/>
          <a:ln w="28575">
            <a:solidFill>
              <a:schemeClr val="tx2"/>
            </a:solidFill>
            <a:prstDash val="solid"/>
            <a:tailEnd type="triangle"/>
          </a:ln>
        </p:spPr>
      </p:sp>
      <p:sp>
        <p:nvSpPr>
          <p:cNvPr id="10" name="Text 7"/>
          <p:cNvSpPr txBox="1"/>
          <p:nvPr/>
        </p:nvSpPr>
        <p:spPr>
          <a:xfrm>
            <a:off x="4251960" y="1645920"/>
            <a:ext cx="2971800" cy="274320"/>
          </a:xfrm>
          <a:prstGeom prst="rect">
            <a:avLst/>
          </a:prstGeom>
          <a:noFill/>
          <a:ln/>
        </p:spPr>
        <p:txBody>
          <a:bodyPr wrap="square" lIns="0" tIns="0" rIns="0" bIns="0" rtlCol="0" anchor="t"/>
          <a:lstStyle/>
          <a:p>
            <a:pPr algn="ctr" indent="0" marL="0">
              <a:buNone/>
            </a:pPr>
            <a:r>
              <a:rPr lang="en-US" sz="1300" b="1" dirty="0">
                <a:solidFill>
                  <a:schemeClr val="accent5"/>
                </a:solidFill>
              </a:rPr>
              <a:t>1 : many</a:t>
            </a:r>
            <a:endParaRPr lang="en-US" sz="1300" dirty="0"/>
          </a:p>
        </p:txBody>
      </p:sp>
      <p:sp>
        <p:nvSpPr>
          <p:cNvPr id="11" name="relation-code"/>
          <p:cNvSpPr txBox="1"/>
          <p:nvPr/>
        </p:nvSpPr>
        <p:spPr>
          <a:xfrm>
            <a:off x="7498080" y="1536192"/>
            <a:ext cx="3977640" cy="1097280"/>
          </a:xfrm>
          <a:prstGeom prst="roundRect">
            <a:avLst>
              <a:gd name="adj" fmla="val 8333"/>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department = models.ForeignKey(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Department,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on_delete=models.CASCADE)</a:t>
            </a:r>
            <a:endParaRPr lang="en-US" sz="1400" dirty="0"/>
          </a:p>
        </p:txBody>
      </p:sp>
      <p:sp>
        <p:nvSpPr>
          <p:cNvPr id="12" name="relation-card"/>
          <p:cNvSpPr/>
          <p:nvPr/>
        </p:nvSpPr>
        <p:spPr>
          <a:xfrm>
            <a:off x="548640" y="2926080"/>
            <a:ext cx="11091672" cy="1417320"/>
          </a:xfrm>
          <a:prstGeom prst="roundRect">
            <a:avLst>
              <a:gd name="adj" fmla="val 7742"/>
            </a:avLst>
          </a:prstGeom>
          <a:solidFill>
            <a:schemeClr val="bg2"/>
          </a:solidFill>
          <a:ln/>
        </p:spPr>
      </p:sp>
      <p:sp>
        <p:nvSpPr>
          <p:cNvPr id="13" name="Text 10"/>
          <p:cNvSpPr txBox="1"/>
          <p:nvPr/>
        </p:nvSpPr>
        <p:spPr>
          <a:xfrm>
            <a:off x="777240" y="3063240"/>
            <a:ext cx="3291840" cy="365760"/>
          </a:xfrm>
          <a:prstGeom prst="rect">
            <a:avLst/>
          </a:prstGeom>
          <a:noFill/>
          <a:ln/>
        </p:spPr>
        <p:txBody>
          <a:bodyPr wrap="square" lIns="0" tIns="0" rIns="0" bIns="0" rtlCol="0" anchor="t"/>
          <a:lstStyle/>
          <a:p>
            <a:pPr indent="0" marL="0">
              <a:buNone/>
            </a:pPr>
            <a:r>
              <a:rPr lang="en-US" sz="2000" b="1" dirty="0">
                <a:solidFill>
                  <a:schemeClr val="tx2"/>
                </a:solidFill>
              </a:rPr>
              <a:t>OneToOneField</a:t>
            </a:r>
            <a:endParaRPr lang="en-US" sz="2000" dirty="0"/>
          </a:p>
        </p:txBody>
      </p:sp>
      <p:sp>
        <p:nvSpPr>
          <p:cNvPr id="14" name="Text 11"/>
          <p:cNvSpPr txBox="1"/>
          <p:nvPr/>
        </p:nvSpPr>
        <p:spPr>
          <a:xfrm>
            <a:off x="777240" y="3474720"/>
            <a:ext cx="3291840" cy="822960"/>
          </a:xfrm>
          <a:prstGeom prst="rect">
            <a:avLst/>
          </a:prstGeom>
          <a:noFill/>
          <a:ln/>
        </p:spPr>
        <p:txBody>
          <a:bodyPr wrap="square" lIns="0" tIns="0" rIns="0" bIns="0" rtlCol="0" anchor="t"/>
          <a:lstStyle/>
          <a:p>
            <a:pPr indent="0" marL="0">
              <a:buNone/>
            </a:pPr>
            <a:r>
              <a:rPr lang="en-US" sz="1500" dirty="0">
                <a:solidFill>
                  <a:schemeClr val="tx1"/>
                </a:solidFill>
              </a:rPr>
              <a:t>One to one: One student has exactly one profile.</a:t>
            </a:r>
            <a:endParaRPr lang="en-US" sz="1500" dirty="0"/>
          </a:p>
        </p:txBody>
      </p:sp>
      <p:sp>
        <p:nvSpPr>
          <p:cNvPr id="15" name="diagram-box"/>
          <p:cNvSpPr txBox="1"/>
          <p:nvPr/>
        </p:nvSpPr>
        <p:spPr>
          <a:xfrm>
            <a:off x="4251960" y="3566160"/>
            <a:ext cx="1234440" cy="548640"/>
          </a:xfrm>
          <a:prstGeom prst="roundRect">
            <a:avLst>
              <a:gd name="adj" fmla="val 20000"/>
            </a:avLst>
          </a:prstGeom>
          <a:solidFill>
            <a:schemeClr val="bg1"/>
          </a:solidFill>
          <a:ln/>
        </p:spPr>
        <p:txBody>
          <a:bodyPr wrap="square" lIns="76200" tIns="76200" rIns="76200" bIns="76200" rtlCol="0" anchor="ctr"/>
          <a:lstStyle/>
          <a:p>
            <a:pPr algn="ctr" indent="0" marL="0">
              <a:buNone/>
            </a:pPr>
            <a:r>
              <a:rPr lang="en-US" sz="1400" b="1" dirty="0">
                <a:solidFill>
                  <a:schemeClr val="tx2"/>
                </a:solidFill>
              </a:rPr>
              <a:t>Student</a:t>
            </a:r>
            <a:endParaRPr lang="en-US" sz="1400" dirty="0"/>
          </a:p>
        </p:txBody>
      </p:sp>
      <p:sp>
        <p:nvSpPr>
          <p:cNvPr id="16" name="diagram-box"/>
          <p:cNvSpPr txBox="1"/>
          <p:nvPr/>
        </p:nvSpPr>
        <p:spPr>
          <a:xfrm>
            <a:off x="5989320" y="3566160"/>
            <a:ext cx="1234440" cy="548640"/>
          </a:xfrm>
          <a:prstGeom prst="roundRect">
            <a:avLst>
              <a:gd name="adj" fmla="val 20000"/>
            </a:avLst>
          </a:prstGeom>
          <a:solidFill>
            <a:schemeClr val="bg1"/>
          </a:solidFill>
          <a:ln/>
        </p:spPr>
        <p:txBody>
          <a:bodyPr wrap="square" lIns="76200" tIns="76200" rIns="76200" bIns="76200" rtlCol="0" anchor="ctr"/>
          <a:lstStyle/>
          <a:p>
            <a:pPr algn="ctr" indent="0" marL="0">
              <a:buNone/>
            </a:pPr>
            <a:r>
              <a:rPr lang="en-US" sz="1400" b="1" dirty="0">
                <a:solidFill>
                  <a:schemeClr val="tx2"/>
                </a:solidFill>
              </a:rPr>
              <a:t>Profile</a:t>
            </a:r>
            <a:endParaRPr lang="en-US" sz="1400" dirty="0"/>
          </a:p>
        </p:txBody>
      </p:sp>
      <p:sp>
        <p:nvSpPr>
          <p:cNvPr id="17" name="arrow"/>
          <p:cNvSpPr/>
          <p:nvPr/>
        </p:nvSpPr>
        <p:spPr>
          <a:xfrm>
            <a:off x="5486400" y="3840480"/>
            <a:ext cx="502920" cy="0"/>
          </a:xfrm>
          <a:prstGeom prst="line">
            <a:avLst/>
          </a:prstGeom>
          <a:noFill/>
          <a:ln w="28575">
            <a:solidFill>
              <a:schemeClr val="tx2"/>
            </a:solidFill>
            <a:prstDash val="solid"/>
            <a:tailEnd type="triangle"/>
          </a:ln>
        </p:spPr>
      </p:sp>
      <p:sp>
        <p:nvSpPr>
          <p:cNvPr id="18" name="Text 15"/>
          <p:cNvSpPr txBox="1"/>
          <p:nvPr/>
        </p:nvSpPr>
        <p:spPr>
          <a:xfrm>
            <a:off x="4251960" y="3200400"/>
            <a:ext cx="2971800" cy="274320"/>
          </a:xfrm>
          <a:prstGeom prst="rect">
            <a:avLst/>
          </a:prstGeom>
          <a:noFill/>
          <a:ln/>
        </p:spPr>
        <p:txBody>
          <a:bodyPr wrap="square" lIns="0" tIns="0" rIns="0" bIns="0" rtlCol="0" anchor="t"/>
          <a:lstStyle/>
          <a:p>
            <a:pPr algn="ctr" indent="0" marL="0">
              <a:buNone/>
            </a:pPr>
            <a:r>
              <a:rPr lang="en-US" sz="1300" b="1" dirty="0">
                <a:solidFill>
                  <a:schemeClr val="accent5"/>
                </a:solidFill>
              </a:rPr>
              <a:t>1 : 1</a:t>
            </a:r>
            <a:endParaRPr lang="en-US" sz="1300" dirty="0"/>
          </a:p>
        </p:txBody>
      </p:sp>
      <p:sp>
        <p:nvSpPr>
          <p:cNvPr id="19" name="relation-code"/>
          <p:cNvSpPr txBox="1"/>
          <p:nvPr/>
        </p:nvSpPr>
        <p:spPr>
          <a:xfrm>
            <a:off x="7498080" y="3090672"/>
            <a:ext cx="3977640" cy="1097280"/>
          </a:xfrm>
          <a:prstGeom prst="roundRect">
            <a:avLst>
              <a:gd name="adj" fmla="val 8333"/>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student = models.OneToOneField(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Student,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on_delete=models.CASCADE)</a:t>
            </a:r>
            <a:endParaRPr lang="en-US" sz="1400" dirty="0"/>
          </a:p>
        </p:txBody>
      </p:sp>
      <p:sp>
        <p:nvSpPr>
          <p:cNvPr id="20" name="relation-card"/>
          <p:cNvSpPr/>
          <p:nvPr/>
        </p:nvSpPr>
        <p:spPr>
          <a:xfrm>
            <a:off x="548640" y="4480560"/>
            <a:ext cx="11091672" cy="1417320"/>
          </a:xfrm>
          <a:prstGeom prst="roundRect">
            <a:avLst>
              <a:gd name="adj" fmla="val 7742"/>
            </a:avLst>
          </a:prstGeom>
          <a:solidFill>
            <a:schemeClr val="bg2"/>
          </a:solidFill>
          <a:ln/>
        </p:spPr>
      </p:sp>
      <p:sp>
        <p:nvSpPr>
          <p:cNvPr id="21" name="Text 18"/>
          <p:cNvSpPr txBox="1"/>
          <p:nvPr/>
        </p:nvSpPr>
        <p:spPr>
          <a:xfrm>
            <a:off x="777240" y="4617720"/>
            <a:ext cx="3291840" cy="365760"/>
          </a:xfrm>
          <a:prstGeom prst="rect">
            <a:avLst/>
          </a:prstGeom>
          <a:noFill/>
          <a:ln/>
        </p:spPr>
        <p:txBody>
          <a:bodyPr wrap="square" lIns="0" tIns="0" rIns="0" bIns="0" rtlCol="0" anchor="t"/>
          <a:lstStyle/>
          <a:p>
            <a:pPr indent="0" marL="0">
              <a:buNone/>
            </a:pPr>
            <a:r>
              <a:rPr lang="en-US" sz="2000" b="1" dirty="0">
                <a:solidFill>
                  <a:schemeClr val="tx2"/>
                </a:solidFill>
              </a:rPr>
              <a:t>ManyToManyField</a:t>
            </a:r>
            <a:endParaRPr lang="en-US" sz="2000" dirty="0"/>
          </a:p>
        </p:txBody>
      </p:sp>
      <p:sp>
        <p:nvSpPr>
          <p:cNvPr id="22" name="Text 19"/>
          <p:cNvSpPr txBox="1"/>
          <p:nvPr/>
        </p:nvSpPr>
        <p:spPr>
          <a:xfrm>
            <a:off x="777240" y="5029200"/>
            <a:ext cx="3291840" cy="822960"/>
          </a:xfrm>
          <a:prstGeom prst="rect">
            <a:avLst/>
          </a:prstGeom>
          <a:noFill/>
          <a:ln/>
        </p:spPr>
        <p:txBody>
          <a:bodyPr wrap="square" lIns="0" tIns="0" rIns="0" bIns="0" rtlCol="0" anchor="t"/>
          <a:lstStyle/>
          <a:p>
            <a:pPr indent="0" marL="0">
              <a:buNone/>
            </a:pPr>
            <a:r>
              <a:rPr lang="en-US" sz="1500" dirty="0">
                <a:solidFill>
                  <a:schemeClr val="tx1"/>
                </a:solidFill>
              </a:rPr>
              <a:t>Many to many: Students take many courses, and a course has many students.</a:t>
            </a:r>
            <a:endParaRPr lang="en-US" sz="1500" dirty="0"/>
          </a:p>
        </p:txBody>
      </p:sp>
      <p:sp>
        <p:nvSpPr>
          <p:cNvPr id="23" name="diagram-box"/>
          <p:cNvSpPr txBox="1"/>
          <p:nvPr/>
        </p:nvSpPr>
        <p:spPr>
          <a:xfrm>
            <a:off x="4251960" y="5120640"/>
            <a:ext cx="1234440" cy="548640"/>
          </a:xfrm>
          <a:prstGeom prst="roundRect">
            <a:avLst>
              <a:gd name="adj" fmla="val 20000"/>
            </a:avLst>
          </a:prstGeom>
          <a:solidFill>
            <a:schemeClr val="bg1"/>
          </a:solidFill>
          <a:ln/>
        </p:spPr>
        <p:txBody>
          <a:bodyPr wrap="square" lIns="76200" tIns="76200" rIns="76200" bIns="76200" rtlCol="0" anchor="ctr"/>
          <a:lstStyle/>
          <a:p>
            <a:pPr algn="ctr" indent="0" marL="0">
              <a:buNone/>
            </a:pPr>
            <a:r>
              <a:rPr lang="en-US" sz="1400" b="1" dirty="0">
                <a:solidFill>
                  <a:schemeClr val="tx2"/>
                </a:solidFill>
              </a:rPr>
              <a:t>Student</a:t>
            </a:r>
            <a:endParaRPr lang="en-US" sz="1400" dirty="0"/>
          </a:p>
        </p:txBody>
      </p:sp>
      <p:sp>
        <p:nvSpPr>
          <p:cNvPr id="24" name="diagram-box"/>
          <p:cNvSpPr txBox="1"/>
          <p:nvPr/>
        </p:nvSpPr>
        <p:spPr>
          <a:xfrm>
            <a:off x="5989320" y="5120640"/>
            <a:ext cx="1234440" cy="548640"/>
          </a:xfrm>
          <a:prstGeom prst="roundRect">
            <a:avLst>
              <a:gd name="adj" fmla="val 20000"/>
            </a:avLst>
          </a:prstGeom>
          <a:solidFill>
            <a:schemeClr val="bg1"/>
          </a:solidFill>
          <a:ln/>
        </p:spPr>
        <p:txBody>
          <a:bodyPr wrap="square" lIns="76200" tIns="76200" rIns="76200" bIns="76200" rtlCol="0" anchor="ctr"/>
          <a:lstStyle/>
          <a:p>
            <a:pPr algn="ctr" indent="0" marL="0">
              <a:buNone/>
            </a:pPr>
            <a:r>
              <a:rPr lang="en-US" sz="1400" b="1" dirty="0">
                <a:solidFill>
                  <a:schemeClr val="tx2"/>
                </a:solidFill>
              </a:rPr>
              <a:t>Course</a:t>
            </a:r>
            <a:endParaRPr lang="en-US" sz="1400" dirty="0"/>
          </a:p>
        </p:txBody>
      </p:sp>
      <p:sp>
        <p:nvSpPr>
          <p:cNvPr id="25" name="arrow"/>
          <p:cNvSpPr/>
          <p:nvPr/>
        </p:nvSpPr>
        <p:spPr>
          <a:xfrm>
            <a:off x="5486400" y="5394960"/>
            <a:ext cx="502920" cy="0"/>
          </a:xfrm>
          <a:prstGeom prst="line">
            <a:avLst/>
          </a:prstGeom>
          <a:noFill/>
          <a:ln w="28575">
            <a:solidFill>
              <a:schemeClr val="tx2"/>
            </a:solidFill>
            <a:prstDash val="solid"/>
            <a:tailEnd type="triangle"/>
          </a:ln>
        </p:spPr>
      </p:sp>
      <p:sp>
        <p:nvSpPr>
          <p:cNvPr id="26" name="Text 23"/>
          <p:cNvSpPr txBox="1"/>
          <p:nvPr/>
        </p:nvSpPr>
        <p:spPr>
          <a:xfrm>
            <a:off x="4251960" y="4754880"/>
            <a:ext cx="2971800" cy="274320"/>
          </a:xfrm>
          <a:prstGeom prst="rect">
            <a:avLst/>
          </a:prstGeom>
          <a:noFill/>
          <a:ln/>
        </p:spPr>
        <p:txBody>
          <a:bodyPr wrap="square" lIns="0" tIns="0" rIns="0" bIns="0" rtlCol="0" anchor="t"/>
          <a:lstStyle/>
          <a:p>
            <a:pPr algn="ctr" indent="0" marL="0">
              <a:buNone/>
            </a:pPr>
            <a:r>
              <a:rPr lang="en-US" sz="1300" b="1" dirty="0">
                <a:solidFill>
                  <a:schemeClr val="accent5"/>
                </a:solidFill>
              </a:rPr>
              <a:t>many : many</a:t>
            </a:r>
            <a:endParaRPr lang="en-US" sz="1300" dirty="0"/>
          </a:p>
        </p:txBody>
      </p:sp>
      <p:sp>
        <p:nvSpPr>
          <p:cNvPr id="27" name="relation-code"/>
          <p:cNvSpPr txBox="1"/>
          <p:nvPr/>
        </p:nvSpPr>
        <p:spPr>
          <a:xfrm>
            <a:off x="7498080" y="4645152"/>
            <a:ext cx="3977640" cy="1097280"/>
          </a:xfrm>
          <a:prstGeom prst="roundRect">
            <a:avLst>
              <a:gd name="adj" fmla="val 8333"/>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courses = models.ManyToManyField(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Course)</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Meta options and __str__</a:t>
            </a:r>
            <a:endParaRPr lang="en-US" sz="3600" dirty="0"/>
          </a:p>
        </p:txBody>
      </p:sp>
      <p:sp>
        <p:nvSpPr>
          <p:cNvPr id="4" name="meta-code"/>
          <p:cNvSpPr txBox="1"/>
          <p:nvPr/>
        </p:nvSpPr>
        <p:spPr>
          <a:xfrm>
            <a:off x="548640" y="1371600"/>
            <a:ext cx="6035040" cy="4572000"/>
          </a:xfrm>
          <a:prstGeom prst="roundRect">
            <a:avLst>
              <a:gd name="adj" fmla="val 2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Student(models.Model):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 models.CharField(max_length=50)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age = models.IntegerField()</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class Meta: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ordering = ["name"]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verbose_name_plural = "students"</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 __str__(self):</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self.name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@property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 is_adult(self):</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self.age &gt;= 18</a:t>
            </a:r>
            <a:endParaRPr lang="en-US" sz="1400" dirty="0"/>
          </a:p>
        </p:txBody>
      </p:sp>
      <p:sp>
        <p:nvSpPr>
          <p:cNvPr id="5" name="meta-card"/>
          <p:cNvSpPr/>
          <p:nvPr/>
        </p:nvSpPr>
        <p:spPr>
          <a:xfrm>
            <a:off x="6812280" y="1371600"/>
            <a:ext cx="4828032" cy="1417320"/>
          </a:xfrm>
          <a:prstGeom prst="roundRect">
            <a:avLst>
              <a:gd name="adj" fmla="val 7742"/>
            </a:avLst>
          </a:prstGeom>
          <a:solidFill>
            <a:schemeClr val="bg2"/>
          </a:solidFill>
          <a:ln/>
        </p:spPr>
      </p:sp>
      <p:sp>
        <p:nvSpPr>
          <p:cNvPr id="6" name="Text 3"/>
          <p:cNvSpPr txBox="1"/>
          <p:nvPr/>
        </p:nvSpPr>
        <p:spPr>
          <a:xfrm>
            <a:off x="7040880" y="1481328"/>
            <a:ext cx="4389120" cy="365760"/>
          </a:xfrm>
          <a:prstGeom prst="rect">
            <a:avLst/>
          </a:prstGeom>
          <a:noFill/>
          <a:ln/>
        </p:spPr>
        <p:txBody>
          <a:bodyPr wrap="square" lIns="0" tIns="0" rIns="0" bIns="0" rtlCol="0" anchor="t"/>
          <a:lstStyle/>
          <a:p>
            <a:pPr indent="0" marL="0">
              <a:buNone/>
            </a:pPr>
            <a:r>
              <a:rPr lang="en-US" sz="1900" b="1" dirty="0">
                <a:solidFill>
                  <a:schemeClr val="tx2"/>
                </a:solidFill>
                <a:latin typeface="Courier New" pitchFamily="34" charset="0"/>
                <a:ea typeface="Courier New" pitchFamily="34" charset="-122"/>
                <a:cs typeface="Courier New" pitchFamily="34" charset="-120"/>
              </a:rPr>
              <a:t>class Meta</a:t>
            </a:r>
            <a:endParaRPr lang="en-US" sz="1900" dirty="0"/>
          </a:p>
        </p:txBody>
      </p:sp>
      <p:sp>
        <p:nvSpPr>
          <p:cNvPr id="7" name="Text 4"/>
          <p:cNvSpPr txBox="1"/>
          <p:nvPr/>
        </p:nvSpPr>
        <p:spPr>
          <a:xfrm>
            <a:off x="7040880" y="1901952"/>
            <a:ext cx="4389120" cy="868680"/>
          </a:xfrm>
          <a:prstGeom prst="rect">
            <a:avLst/>
          </a:prstGeom>
          <a:noFill/>
          <a:ln/>
        </p:spPr>
        <p:txBody>
          <a:bodyPr wrap="square" lIns="0" tIns="0" rIns="0" bIns="0" rtlCol="0" anchor="t"/>
          <a:lstStyle/>
          <a:p>
            <a:pPr indent="0" marL="0">
              <a:buNone/>
            </a:pPr>
            <a:r>
              <a:rPr lang="en-US" sz="1500" dirty="0">
                <a:solidFill>
                  <a:schemeClr val="tx1"/>
                </a:solidFill>
              </a:rPr>
              <a:t>Settings about the model itself, such as the default sort order (ordering) and the plural name shown in the admin.</a:t>
            </a:r>
            <a:endParaRPr lang="en-US" sz="1500" dirty="0"/>
          </a:p>
        </p:txBody>
      </p:sp>
      <p:sp>
        <p:nvSpPr>
          <p:cNvPr id="8" name="meta-card"/>
          <p:cNvSpPr/>
          <p:nvPr/>
        </p:nvSpPr>
        <p:spPr>
          <a:xfrm>
            <a:off x="6812280" y="2926080"/>
            <a:ext cx="4828032" cy="1417320"/>
          </a:xfrm>
          <a:prstGeom prst="roundRect">
            <a:avLst>
              <a:gd name="adj" fmla="val 7742"/>
            </a:avLst>
          </a:prstGeom>
          <a:solidFill>
            <a:schemeClr val="bg2"/>
          </a:solidFill>
          <a:ln/>
        </p:spPr>
      </p:sp>
      <p:sp>
        <p:nvSpPr>
          <p:cNvPr id="9" name="Text 6"/>
          <p:cNvSpPr txBox="1"/>
          <p:nvPr/>
        </p:nvSpPr>
        <p:spPr>
          <a:xfrm>
            <a:off x="7040880" y="3035808"/>
            <a:ext cx="4389120" cy="365760"/>
          </a:xfrm>
          <a:prstGeom prst="rect">
            <a:avLst/>
          </a:prstGeom>
          <a:noFill/>
          <a:ln/>
        </p:spPr>
        <p:txBody>
          <a:bodyPr wrap="square" lIns="0" tIns="0" rIns="0" bIns="0" rtlCol="0" anchor="t"/>
          <a:lstStyle/>
          <a:p>
            <a:pPr indent="0" marL="0">
              <a:buNone/>
            </a:pPr>
            <a:r>
              <a:rPr lang="en-US" sz="1900" b="1" dirty="0">
                <a:solidFill>
                  <a:schemeClr val="tx2"/>
                </a:solidFill>
                <a:latin typeface="Courier New" pitchFamily="34" charset="0"/>
                <a:ea typeface="Courier New" pitchFamily="34" charset="-122"/>
                <a:cs typeface="Courier New" pitchFamily="34" charset="-120"/>
              </a:rPr>
              <a:t>__str__()</a:t>
            </a:r>
            <a:endParaRPr lang="en-US" sz="1900" dirty="0"/>
          </a:p>
        </p:txBody>
      </p:sp>
      <p:sp>
        <p:nvSpPr>
          <p:cNvPr id="10" name="Text 7"/>
          <p:cNvSpPr txBox="1"/>
          <p:nvPr/>
        </p:nvSpPr>
        <p:spPr>
          <a:xfrm>
            <a:off x="7040880" y="3456432"/>
            <a:ext cx="4389120" cy="868680"/>
          </a:xfrm>
          <a:prstGeom prst="rect">
            <a:avLst/>
          </a:prstGeom>
          <a:noFill/>
          <a:ln/>
        </p:spPr>
        <p:txBody>
          <a:bodyPr wrap="square" lIns="0" tIns="0" rIns="0" bIns="0" rtlCol="0" anchor="t"/>
          <a:lstStyle/>
          <a:p>
            <a:pPr indent="0" marL="0">
              <a:buNone/>
            </a:pPr>
            <a:r>
              <a:rPr lang="en-US" sz="1500" dirty="0">
                <a:solidFill>
                  <a:schemeClr val="tx1"/>
                </a:solidFill>
              </a:rPr>
              <a:t>The text shown for an object in the admin and the shell. Without it you see "Student object (1)"; with it you see "Anita Rao".</a:t>
            </a:r>
            <a:endParaRPr lang="en-US" sz="1500" dirty="0"/>
          </a:p>
        </p:txBody>
      </p:sp>
      <p:sp>
        <p:nvSpPr>
          <p:cNvPr id="11" name="meta-card"/>
          <p:cNvSpPr/>
          <p:nvPr/>
        </p:nvSpPr>
        <p:spPr>
          <a:xfrm>
            <a:off x="6812280" y="4480560"/>
            <a:ext cx="4828032" cy="1417320"/>
          </a:xfrm>
          <a:prstGeom prst="roundRect">
            <a:avLst>
              <a:gd name="adj" fmla="val 7742"/>
            </a:avLst>
          </a:prstGeom>
          <a:solidFill>
            <a:schemeClr val="bg2"/>
          </a:solidFill>
          <a:ln/>
        </p:spPr>
      </p:sp>
      <p:sp>
        <p:nvSpPr>
          <p:cNvPr id="12" name="Text 9"/>
          <p:cNvSpPr txBox="1"/>
          <p:nvPr/>
        </p:nvSpPr>
        <p:spPr>
          <a:xfrm>
            <a:off x="7040880" y="4590288"/>
            <a:ext cx="4389120" cy="365760"/>
          </a:xfrm>
          <a:prstGeom prst="rect">
            <a:avLst/>
          </a:prstGeom>
          <a:noFill/>
          <a:ln/>
        </p:spPr>
        <p:txBody>
          <a:bodyPr wrap="square" lIns="0" tIns="0" rIns="0" bIns="0" rtlCol="0" anchor="t"/>
          <a:lstStyle/>
          <a:p>
            <a:pPr indent="0" marL="0">
              <a:buNone/>
            </a:pPr>
            <a:r>
              <a:rPr lang="en-US" sz="1900" b="1" dirty="0">
                <a:solidFill>
                  <a:schemeClr val="tx2"/>
                </a:solidFill>
              </a:rPr>
              <a:t>Methods and properties</a:t>
            </a:r>
            <a:endParaRPr lang="en-US" sz="1900" dirty="0"/>
          </a:p>
        </p:txBody>
      </p:sp>
      <p:sp>
        <p:nvSpPr>
          <p:cNvPr id="13" name="Text 10"/>
          <p:cNvSpPr txBox="1"/>
          <p:nvPr/>
        </p:nvSpPr>
        <p:spPr>
          <a:xfrm>
            <a:off x="7040880" y="5010912"/>
            <a:ext cx="4389120" cy="868680"/>
          </a:xfrm>
          <a:prstGeom prst="rect">
            <a:avLst/>
          </a:prstGeom>
          <a:noFill/>
          <a:ln/>
        </p:spPr>
        <p:txBody>
          <a:bodyPr wrap="square" lIns="0" tIns="0" rIns="0" bIns="0" rtlCol="0" anchor="t"/>
          <a:lstStyle/>
          <a:p>
            <a:pPr indent="0" marL="0">
              <a:buNone/>
            </a:pPr>
            <a:r>
              <a:rPr lang="en-US" sz="1500" dirty="0">
                <a:solidFill>
                  <a:schemeClr val="tx1"/>
                </a:solidFill>
              </a:rPr>
              <a:t>Normal Python code on the model. A property like is_adult is calculated when needed and is not stored.</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Putting it together: from class to admin</a:t>
            </a:r>
            <a:endParaRPr lang="en-US" sz="3600" dirty="0"/>
          </a:p>
        </p:txBody>
      </p:sp>
      <p:sp>
        <p:nvSpPr>
          <p:cNvPr id="4" name="together-code"/>
          <p:cNvSpPr txBox="1"/>
          <p:nvPr/>
        </p:nvSpPr>
        <p:spPr>
          <a:xfrm>
            <a:off x="548640" y="1371600"/>
            <a:ext cx="5852160" cy="4663440"/>
          </a:xfrm>
          <a:prstGeom prst="roundRect">
            <a:avLst>
              <a:gd name="adj" fmla="val 196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Department(models.Model):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 models.CharField(max_length=60)</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class Student(models.Model):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 models.CharField(max_length=50)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email = models.EmailField(unique=True)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age = models.PositiveIntegerField()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department = models.ForeignKey(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Department,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on_delete=models.CASCADE)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joined_on = models.DateField(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auto_now_add=True)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is_active = models.BooleanField(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default=True)</a:t>
            </a:r>
            <a:endParaRPr lang="en-US" sz="1400" dirty="0"/>
          </a:p>
        </p:txBody>
      </p:sp>
      <p:sp>
        <p:nvSpPr>
          <p:cNvPr id="5" name="step-card"/>
          <p:cNvSpPr/>
          <p:nvPr/>
        </p:nvSpPr>
        <p:spPr>
          <a:xfrm>
            <a:off x="6675120" y="1371600"/>
            <a:ext cx="4965192" cy="1051560"/>
          </a:xfrm>
          <a:prstGeom prst="roundRect">
            <a:avLst>
              <a:gd name="adj" fmla="val 10435"/>
            </a:avLst>
          </a:prstGeom>
          <a:solidFill>
            <a:schemeClr val="bg2"/>
          </a:solidFill>
          <a:ln/>
        </p:spPr>
      </p:sp>
      <p:sp>
        <p:nvSpPr>
          <p:cNvPr id="6" name="step-number"/>
          <p:cNvSpPr txBox="1"/>
          <p:nvPr/>
        </p:nvSpPr>
        <p:spPr>
          <a:xfrm>
            <a:off x="6858000" y="167335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7498080" y="1508760"/>
            <a:ext cx="4023360" cy="365760"/>
          </a:xfrm>
          <a:prstGeom prst="rect">
            <a:avLst/>
          </a:prstGeom>
          <a:noFill/>
          <a:ln/>
        </p:spPr>
        <p:txBody>
          <a:bodyPr wrap="square" lIns="0" tIns="0" rIns="0" bIns="0" rtlCol="0" anchor="t"/>
          <a:lstStyle/>
          <a:p>
            <a:pPr indent="0" marL="0">
              <a:buNone/>
            </a:pPr>
            <a:r>
              <a:rPr lang="en-US" sz="1800" b="1" dirty="0">
                <a:solidFill>
                  <a:schemeClr val="tx2"/>
                </a:solidFill>
              </a:rPr>
              <a:t>Write the models</a:t>
            </a:r>
            <a:endParaRPr lang="en-US" sz="1800" dirty="0"/>
          </a:p>
        </p:txBody>
      </p:sp>
      <p:sp>
        <p:nvSpPr>
          <p:cNvPr id="8" name="Text 5"/>
          <p:cNvSpPr txBox="1"/>
          <p:nvPr/>
        </p:nvSpPr>
        <p:spPr>
          <a:xfrm>
            <a:off x="7498080" y="1938528"/>
            <a:ext cx="4023360" cy="365760"/>
          </a:xfrm>
          <a:prstGeom prst="rect">
            <a:avLst/>
          </a:prstGeom>
          <a:noFill/>
          <a:ln/>
        </p:spPr>
        <p:txBody>
          <a:bodyPr wrap="square" lIns="0" tIns="0" rIns="0" bIns="0" rtlCol="0" anchor="t"/>
          <a:lstStyle/>
          <a:p>
            <a:pPr indent="0" marL="0">
              <a:buNone/>
            </a:pPr>
            <a:r>
              <a:rPr lang="en-US" sz="1500" dirty="0">
                <a:solidFill>
                  <a:schemeClr val="tx1"/>
                </a:solidFill>
              </a:rPr>
              <a:t>in models.py</a:t>
            </a:r>
            <a:endParaRPr lang="en-US" sz="1500" dirty="0"/>
          </a:p>
        </p:txBody>
      </p:sp>
      <p:sp>
        <p:nvSpPr>
          <p:cNvPr id="9" name="step-card"/>
          <p:cNvSpPr/>
          <p:nvPr/>
        </p:nvSpPr>
        <p:spPr>
          <a:xfrm>
            <a:off x="6675120" y="2542032"/>
            <a:ext cx="4965192" cy="1051560"/>
          </a:xfrm>
          <a:prstGeom prst="roundRect">
            <a:avLst>
              <a:gd name="adj" fmla="val 10435"/>
            </a:avLst>
          </a:prstGeom>
          <a:solidFill>
            <a:schemeClr val="bg2"/>
          </a:solidFill>
          <a:ln/>
        </p:spPr>
      </p:sp>
      <p:sp>
        <p:nvSpPr>
          <p:cNvPr id="10" name="step-number"/>
          <p:cNvSpPr txBox="1"/>
          <p:nvPr/>
        </p:nvSpPr>
        <p:spPr>
          <a:xfrm>
            <a:off x="6858000" y="2843784"/>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498080" y="2679192"/>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ourier New" pitchFamily="34" charset="0"/>
                <a:ea typeface="Courier New" pitchFamily="34" charset="-122"/>
                <a:cs typeface="Courier New" pitchFamily="34" charset="-120"/>
              </a:rPr>
              <a:t>python manage.py makemigrations</a:t>
            </a:r>
            <a:endParaRPr lang="en-US" sz="1500" dirty="0"/>
          </a:p>
        </p:txBody>
      </p:sp>
      <p:sp>
        <p:nvSpPr>
          <p:cNvPr id="12" name="Text 9"/>
          <p:cNvSpPr txBox="1"/>
          <p:nvPr/>
        </p:nvSpPr>
        <p:spPr>
          <a:xfrm>
            <a:off x="7498080" y="3108960"/>
            <a:ext cx="4023360" cy="365760"/>
          </a:xfrm>
          <a:prstGeom prst="rect">
            <a:avLst/>
          </a:prstGeom>
          <a:noFill/>
          <a:ln/>
        </p:spPr>
        <p:txBody>
          <a:bodyPr wrap="square" lIns="0" tIns="0" rIns="0" bIns="0" rtlCol="0" anchor="t"/>
          <a:lstStyle/>
          <a:p>
            <a:pPr indent="0" marL="0">
              <a:buNone/>
            </a:pPr>
            <a:r>
              <a:rPr lang="en-US" sz="1500" dirty="0">
                <a:solidFill>
                  <a:schemeClr val="tx1"/>
                </a:solidFill>
              </a:rPr>
              <a:t>creates the migration file</a:t>
            </a:r>
            <a:endParaRPr lang="en-US" sz="1500" dirty="0"/>
          </a:p>
        </p:txBody>
      </p:sp>
      <p:sp>
        <p:nvSpPr>
          <p:cNvPr id="13" name="step-card"/>
          <p:cNvSpPr/>
          <p:nvPr/>
        </p:nvSpPr>
        <p:spPr>
          <a:xfrm>
            <a:off x="6675120" y="3712464"/>
            <a:ext cx="4965192" cy="1051560"/>
          </a:xfrm>
          <a:prstGeom prst="roundRect">
            <a:avLst>
              <a:gd name="adj" fmla="val 10435"/>
            </a:avLst>
          </a:prstGeom>
          <a:solidFill>
            <a:schemeClr val="bg2"/>
          </a:solidFill>
          <a:ln/>
        </p:spPr>
      </p:sp>
      <p:sp>
        <p:nvSpPr>
          <p:cNvPr id="14" name="step-number"/>
          <p:cNvSpPr txBox="1"/>
          <p:nvPr/>
        </p:nvSpPr>
        <p:spPr>
          <a:xfrm>
            <a:off x="6858000" y="4014216"/>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2"/>
          <p:cNvSpPr txBox="1"/>
          <p:nvPr/>
        </p:nvSpPr>
        <p:spPr>
          <a:xfrm>
            <a:off x="7498080" y="3849624"/>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ourier New" pitchFamily="34" charset="0"/>
                <a:ea typeface="Courier New" pitchFamily="34" charset="-122"/>
                <a:cs typeface="Courier New" pitchFamily="34" charset="-120"/>
              </a:rPr>
              <a:t>python manage.py migrate</a:t>
            </a:r>
            <a:endParaRPr lang="en-US" sz="1500" dirty="0"/>
          </a:p>
        </p:txBody>
      </p:sp>
      <p:sp>
        <p:nvSpPr>
          <p:cNvPr id="16" name="Text 13"/>
          <p:cNvSpPr txBox="1"/>
          <p:nvPr/>
        </p:nvSpPr>
        <p:spPr>
          <a:xfrm>
            <a:off x="7498080" y="4279392"/>
            <a:ext cx="4023360" cy="365760"/>
          </a:xfrm>
          <a:prstGeom prst="rect">
            <a:avLst/>
          </a:prstGeom>
          <a:noFill/>
          <a:ln/>
        </p:spPr>
        <p:txBody>
          <a:bodyPr wrap="square" lIns="0" tIns="0" rIns="0" bIns="0" rtlCol="0" anchor="t"/>
          <a:lstStyle/>
          <a:p>
            <a:pPr indent="0" marL="0">
              <a:buNone/>
            </a:pPr>
            <a:r>
              <a:rPr lang="en-US" sz="1500" dirty="0">
                <a:solidFill>
                  <a:schemeClr val="tx1"/>
                </a:solidFill>
              </a:rPr>
              <a:t>creates the tables</a:t>
            </a:r>
            <a:endParaRPr lang="en-US" sz="1500" dirty="0"/>
          </a:p>
        </p:txBody>
      </p:sp>
      <p:sp>
        <p:nvSpPr>
          <p:cNvPr id="17" name="step-card"/>
          <p:cNvSpPr/>
          <p:nvPr/>
        </p:nvSpPr>
        <p:spPr>
          <a:xfrm>
            <a:off x="6675120" y="4882896"/>
            <a:ext cx="4965192" cy="1051560"/>
          </a:xfrm>
          <a:prstGeom prst="roundRect">
            <a:avLst>
              <a:gd name="adj" fmla="val 10435"/>
            </a:avLst>
          </a:prstGeom>
          <a:solidFill>
            <a:schemeClr val="bg2"/>
          </a:solidFill>
          <a:ln/>
        </p:spPr>
      </p:sp>
      <p:sp>
        <p:nvSpPr>
          <p:cNvPr id="18" name="step-number"/>
          <p:cNvSpPr txBox="1"/>
          <p:nvPr/>
        </p:nvSpPr>
        <p:spPr>
          <a:xfrm>
            <a:off x="6858000" y="5184648"/>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Text 16"/>
          <p:cNvSpPr txBox="1"/>
          <p:nvPr/>
        </p:nvSpPr>
        <p:spPr>
          <a:xfrm>
            <a:off x="7498080" y="5020056"/>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ourier New" pitchFamily="34" charset="0"/>
                <a:ea typeface="Courier New" pitchFamily="34" charset="-122"/>
                <a:cs typeface="Courier New" pitchFamily="34" charset="-120"/>
              </a:rPr>
              <a:t>admin.site.register(Student)</a:t>
            </a:r>
            <a:endParaRPr lang="en-US" sz="1500" dirty="0"/>
          </a:p>
        </p:txBody>
      </p:sp>
      <p:sp>
        <p:nvSpPr>
          <p:cNvPr id="20" name="Text 17"/>
          <p:cNvSpPr txBox="1"/>
          <p:nvPr/>
        </p:nvSpPr>
        <p:spPr>
          <a:xfrm>
            <a:off x="7498080" y="5449824"/>
            <a:ext cx="4023360" cy="365760"/>
          </a:xfrm>
          <a:prstGeom prst="rect">
            <a:avLst/>
          </a:prstGeom>
          <a:noFill/>
          <a:ln/>
        </p:spPr>
        <p:txBody>
          <a:bodyPr wrap="square" lIns="0" tIns="0" rIns="0" bIns="0" rtlCol="0" anchor="t"/>
          <a:lstStyle/>
          <a:p>
            <a:pPr indent="0" marL="0">
              <a:buNone/>
            </a:pPr>
            <a:r>
              <a:rPr lang="en-US" sz="1500" dirty="0">
                <a:solidFill>
                  <a:schemeClr val="tx1"/>
                </a:solidFill>
              </a:rPr>
              <a:t>adds it to the admin panel</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Database: SQLite by default</a:t>
            </a:r>
            <a:endParaRPr lang="en-US" sz="3600" dirty="0"/>
          </a:p>
        </p:txBody>
      </p:sp>
      <p:sp>
        <p:nvSpPr>
          <p:cNvPr id="4" name="db-code"/>
          <p:cNvSpPr txBox="1"/>
          <p:nvPr/>
        </p:nvSpPr>
        <p:spPr>
          <a:xfrm>
            <a:off x="548640" y="1371600"/>
            <a:ext cx="5760720" cy="2011680"/>
          </a:xfrm>
          <a:prstGeom prst="roundRect">
            <a:avLst>
              <a:gd name="adj" fmla="val 4545"/>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"django.db.backends.sqlite3",</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BASE_DIR / "db.sqlite3",</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5" name="db-note"/>
          <p:cNvSpPr/>
          <p:nvPr/>
        </p:nvSpPr>
        <p:spPr>
          <a:xfrm>
            <a:off x="548640" y="3611880"/>
            <a:ext cx="5760720" cy="2377440"/>
          </a:xfrm>
          <a:prstGeom prst="roundRect">
            <a:avLst>
              <a:gd name="adj" fmla="val 4615"/>
            </a:avLst>
          </a:prstGeom>
          <a:solidFill>
            <a:schemeClr val="bg2"/>
          </a:solidFill>
          <a:ln/>
        </p:spPr>
      </p:sp>
      <p:sp>
        <p:nvSpPr>
          <p:cNvPr id="6" name="Text 3"/>
          <p:cNvSpPr txBox="1"/>
          <p:nvPr/>
        </p:nvSpPr>
        <p:spPr>
          <a:xfrm>
            <a:off x="822960" y="3794760"/>
            <a:ext cx="5212080" cy="365760"/>
          </a:xfrm>
          <a:prstGeom prst="rect">
            <a:avLst/>
          </a:prstGeom>
          <a:noFill/>
          <a:ln/>
        </p:spPr>
        <p:txBody>
          <a:bodyPr wrap="square" lIns="0" tIns="0" rIns="0" bIns="0" rtlCol="0" anchor="t"/>
          <a:lstStyle/>
          <a:p>
            <a:pPr indent="0" marL="0">
              <a:buNone/>
            </a:pPr>
            <a:r>
              <a:rPr lang="en-US" sz="2000" b="1" dirty="0">
                <a:solidFill>
                  <a:schemeClr val="tx2"/>
                </a:solidFill>
              </a:rPr>
              <a:t>Where is my data?</a:t>
            </a:r>
            <a:endParaRPr lang="en-US" sz="2000" dirty="0"/>
          </a:p>
        </p:txBody>
      </p:sp>
      <p:sp>
        <p:nvSpPr>
          <p:cNvPr id="7" name="Text 4"/>
          <p:cNvSpPr txBox="1"/>
          <p:nvPr/>
        </p:nvSpPr>
        <p:spPr>
          <a:xfrm>
            <a:off x="822960" y="4251960"/>
            <a:ext cx="5212080" cy="1554480"/>
          </a:xfrm>
          <a:prstGeom prst="rect">
            <a:avLst/>
          </a:prstGeom>
          <a:noFill/>
          <a:ln/>
        </p:spPr>
        <p:txBody>
          <a:bodyPr wrap="square" lIns="0" tIns="0" rIns="0" bIns="0" rtlCol="0" anchor="t"/>
          <a:lstStyle/>
          <a:p>
            <a:pPr indent="0" marL="0">
              <a:buNone/>
            </a:pPr>
            <a:r>
              <a:rPr lang="en-US" sz="1600" dirty="0">
                <a:solidFill>
                  <a:schemeClr val="tx1"/>
                </a:solidFill>
              </a:rPr>
              <a:t>The file db.sqlite3 appears in the project folder after your first migrate. It is ignored by Git, so every student gets a fresh database.</a:t>
            </a:r>
            <a:endParaRPr lang="en-US" sz="1600" dirty="0"/>
          </a:p>
        </p:txBody>
      </p:sp>
      <p:sp>
        <p:nvSpPr>
          <p:cNvPr id="8" name="icon-circle"/>
          <p:cNvSpPr/>
          <p:nvPr/>
        </p:nvSpPr>
        <p:spPr>
          <a:xfrm>
            <a:off x="6766560" y="1463040"/>
            <a:ext cx="640080" cy="640080"/>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6926580" y="1623060"/>
            <a:ext cx="320040" cy="320040"/>
          </a:xfrm>
          <a:prstGeom prst="rect">
            <a:avLst/>
          </a:prstGeom>
        </p:spPr>
      </p:pic>
      <p:sp>
        <p:nvSpPr>
          <p:cNvPr id="10" name="Text 6"/>
          <p:cNvSpPr txBox="1"/>
          <p:nvPr/>
        </p:nvSpPr>
        <p:spPr>
          <a:xfrm>
            <a:off x="7589520" y="1417320"/>
            <a:ext cx="4023360" cy="365760"/>
          </a:xfrm>
          <a:prstGeom prst="rect">
            <a:avLst/>
          </a:prstGeom>
          <a:noFill/>
          <a:ln/>
        </p:spPr>
        <p:txBody>
          <a:bodyPr wrap="square" lIns="0" tIns="0" rIns="0" bIns="0" rtlCol="0" anchor="t"/>
          <a:lstStyle/>
          <a:p>
            <a:pPr indent="0" marL="0">
              <a:buNone/>
            </a:pPr>
            <a:r>
              <a:rPr lang="en-US" sz="1900" b="1" dirty="0">
                <a:solidFill>
                  <a:schemeClr val="tx2"/>
                </a:solidFill>
              </a:rPr>
              <a:t>One file</a:t>
            </a:r>
            <a:endParaRPr lang="en-US" sz="1900" dirty="0"/>
          </a:p>
        </p:txBody>
      </p:sp>
      <p:sp>
        <p:nvSpPr>
          <p:cNvPr id="11" name="Text 7"/>
          <p:cNvSpPr txBox="1"/>
          <p:nvPr/>
        </p:nvSpPr>
        <p:spPr>
          <a:xfrm>
            <a:off x="7589520" y="1828800"/>
            <a:ext cx="4023360" cy="548640"/>
          </a:xfrm>
          <a:prstGeom prst="rect">
            <a:avLst/>
          </a:prstGeom>
          <a:noFill/>
          <a:ln/>
        </p:spPr>
        <p:txBody>
          <a:bodyPr wrap="square" lIns="0" tIns="0" rIns="0" bIns="0" rtlCol="0" anchor="t"/>
          <a:lstStyle/>
          <a:p>
            <a:pPr indent="0" marL="0">
              <a:buNone/>
            </a:pPr>
            <a:r>
              <a:rPr lang="en-US" sz="1600" dirty="0">
                <a:solidFill>
                  <a:schemeClr val="tx1"/>
                </a:solidFill>
              </a:rPr>
              <a:t>The whole database is db.sqlite3.</a:t>
            </a:r>
            <a:endParaRPr lang="en-US" sz="1600" dirty="0"/>
          </a:p>
        </p:txBody>
      </p:sp>
      <p:sp>
        <p:nvSpPr>
          <p:cNvPr id="12" name="icon-circle"/>
          <p:cNvSpPr/>
          <p:nvPr/>
        </p:nvSpPr>
        <p:spPr>
          <a:xfrm>
            <a:off x="6766560" y="2633472"/>
            <a:ext cx="640080" cy="640080"/>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6926580" y="2793492"/>
            <a:ext cx="320040" cy="320040"/>
          </a:xfrm>
          <a:prstGeom prst="rect">
            <a:avLst/>
          </a:prstGeom>
        </p:spPr>
      </p:pic>
      <p:sp>
        <p:nvSpPr>
          <p:cNvPr id="14" name="Text 9"/>
          <p:cNvSpPr txBox="1"/>
          <p:nvPr/>
        </p:nvSpPr>
        <p:spPr>
          <a:xfrm>
            <a:off x="7589520" y="2587752"/>
            <a:ext cx="4023360" cy="365760"/>
          </a:xfrm>
          <a:prstGeom prst="rect">
            <a:avLst/>
          </a:prstGeom>
          <a:noFill/>
          <a:ln/>
        </p:spPr>
        <p:txBody>
          <a:bodyPr wrap="square" lIns="0" tIns="0" rIns="0" bIns="0" rtlCol="0" anchor="t"/>
          <a:lstStyle/>
          <a:p>
            <a:pPr indent="0" marL="0">
              <a:buNone/>
            </a:pPr>
            <a:r>
              <a:rPr lang="en-US" sz="1900" b="1" dirty="0">
                <a:solidFill>
                  <a:schemeClr val="tx2"/>
                </a:solidFill>
              </a:rPr>
              <a:t>Nothing to install</a:t>
            </a:r>
            <a:endParaRPr lang="en-US" sz="1900" dirty="0"/>
          </a:p>
        </p:txBody>
      </p:sp>
      <p:sp>
        <p:nvSpPr>
          <p:cNvPr id="15" name="Text 10"/>
          <p:cNvSpPr txBox="1"/>
          <p:nvPr/>
        </p:nvSpPr>
        <p:spPr>
          <a:xfrm>
            <a:off x="7589520" y="2999232"/>
            <a:ext cx="4023360" cy="548640"/>
          </a:xfrm>
          <a:prstGeom prst="rect">
            <a:avLst/>
          </a:prstGeom>
          <a:noFill/>
          <a:ln/>
        </p:spPr>
        <p:txBody>
          <a:bodyPr wrap="square" lIns="0" tIns="0" rIns="0" bIns="0" rtlCol="0" anchor="t"/>
          <a:lstStyle/>
          <a:p>
            <a:pPr indent="0" marL="0">
              <a:buNone/>
            </a:pPr>
            <a:r>
              <a:rPr lang="en-US" sz="1600" dirty="0">
                <a:solidFill>
                  <a:schemeClr val="tx1"/>
                </a:solidFill>
              </a:rPr>
              <a:t>SQLite comes with Python.</a:t>
            </a:r>
            <a:endParaRPr lang="en-US" sz="1600" dirty="0"/>
          </a:p>
        </p:txBody>
      </p:sp>
      <p:sp>
        <p:nvSpPr>
          <p:cNvPr id="16" name="icon-circle"/>
          <p:cNvSpPr/>
          <p:nvPr/>
        </p:nvSpPr>
        <p:spPr>
          <a:xfrm>
            <a:off x="6766560" y="3803904"/>
            <a:ext cx="640080" cy="640080"/>
          </a:xfrm>
          <a:prstGeom prst="ellipse">
            <a:avLst/>
          </a:prstGeom>
          <a:solidFill>
            <a:schemeClr val="tx2"/>
          </a:solidFill>
          <a:ln/>
        </p:spPr>
      </p:sp>
      <p:pic>
        <p:nvPicPr>
          <p:cNvPr id="17" name="Image 2" descr="preencoded.png">    </p:cNvPr>
          <p:cNvPicPr>
            <a:picLocks noChangeAspect="1"/>
          </p:cNvPicPr>
          <p:nvPr/>
        </p:nvPicPr>
        <p:blipFill>
          <a:blip r:embed="rId3"/>
          <a:stretch>
            <a:fillRect/>
          </a:stretch>
        </p:blipFill>
        <p:spPr>
          <a:xfrm>
            <a:off x="6926580" y="3963924"/>
            <a:ext cx="320040" cy="320040"/>
          </a:xfrm>
          <a:prstGeom prst="rect">
            <a:avLst/>
          </a:prstGeom>
        </p:spPr>
      </p:pic>
      <p:sp>
        <p:nvSpPr>
          <p:cNvPr id="18" name="Text 12"/>
          <p:cNvSpPr txBox="1"/>
          <p:nvPr/>
        </p:nvSpPr>
        <p:spPr>
          <a:xfrm>
            <a:off x="7589520" y="3758184"/>
            <a:ext cx="4023360" cy="365760"/>
          </a:xfrm>
          <a:prstGeom prst="rect">
            <a:avLst/>
          </a:prstGeom>
          <a:noFill/>
          <a:ln/>
        </p:spPr>
        <p:txBody>
          <a:bodyPr wrap="square" lIns="0" tIns="0" rIns="0" bIns="0" rtlCol="0" anchor="t"/>
          <a:lstStyle/>
          <a:p>
            <a:pPr indent="0" marL="0">
              <a:buNone/>
            </a:pPr>
            <a:r>
              <a:rPr lang="en-US" sz="1900" b="1" dirty="0">
                <a:solidFill>
                  <a:schemeClr val="tx2"/>
                </a:solidFill>
              </a:rPr>
              <a:t>Perfect for learning</a:t>
            </a:r>
            <a:endParaRPr lang="en-US" sz="1900" dirty="0"/>
          </a:p>
        </p:txBody>
      </p:sp>
      <p:sp>
        <p:nvSpPr>
          <p:cNvPr id="19" name="Text 13"/>
          <p:cNvSpPr txBox="1"/>
          <p:nvPr/>
        </p:nvSpPr>
        <p:spPr>
          <a:xfrm>
            <a:off x="7589520" y="4169664"/>
            <a:ext cx="4023360" cy="548640"/>
          </a:xfrm>
          <a:prstGeom prst="rect">
            <a:avLst/>
          </a:prstGeom>
          <a:noFill/>
          <a:ln/>
        </p:spPr>
        <p:txBody>
          <a:bodyPr wrap="square" lIns="0" tIns="0" rIns="0" bIns="0" rtlCol="0" anchor="t"/>
          <a:lstStyle/>
          <a:p>
            <a:pPr indent="0" marL="0">
              <a:buNone/>
            </a:pPr>
            <a:r>
              <a:rPr lang="en-US" sz="1600" dirty="0">
                <a:solidFill>
                  <a:schemeClr val="tx1"/>
                </a:solidFill>
              </a:rPr>
              <a:t>Same ORM code as bigger databases.</a:t>
            </a:r>
            <a:endParaRPr lang="en-US" sz="1600" dirty="0"/>
          </a:p>
        </p:txBody>
      </p:sp>
      <p:sp>
        <p:nvSpPr>
          <p:cNvPr id="20" name="icon-circle"/>
          <p:cNvSpPr/>
          <p:nvPr/>
        </p:nvSpPr>
        <p:spPr>
          <a:xfrm>
            <a:off x="6766560" y="4974336"/>
            <a:ext cx="640080" cy="640080"/>
          </a:xfrm>
          <a:prstGeom prst="ellipse">
            <a:avLst/>
          </a:prstGeom>
          <a:solidFill>
            <a:schemeClr val="accent3"/>
          </a:solidFill>
          <a:ln/>
        </p:spPr>
      </p:sp>
      <p:pic>
        <p:nvPicPr>
          <p:cNvPr id="21" name="Image 3" descr="preencoded.png">    </p:cNvPr>
          <p:cNvPicPr>
            <a:picLocks noChangeAspect="1"/>
          </p:cNvPicPr>
          <p:nvPr/>
        </p:nvPicPr>
        <p:blipFill>
          <a:blip r:embed="rId4"/>
          <a:stretch>
            <a:fillRect/>
          </a:stretch>
        </p:blipFill>
        <p:spPr>
          <a:xfrm>
            <a:off x="6926580" y="5134356"/>
            <a:ext cx="320040" cy="320040"/>
          </a:xfrm>
          <a:prstGeom prst="rect">
            <a:avLst/>
          </a:prstGeom>
        </p:spPr>
      </p:pic>
      <p:sp>
        <p:nvSpPr>
          <p:cNvPr id="22" name="Text 15"/>
          <p:cNvSpPr txBox="1"/>
          <p:nvPr/>
        </p:nvSpPr>
        <p:spPr>
          <a:xfrm>
            <a:off x="7589520" y="4928616"/>
            <a:ext cx="4023360" cy="365760"/>
          </a:xfrm>
          <a:prstGeom prst="rect">
            <a:avLst/>
          </a:prstGeom>
          <a:noFill/>
          <a:ln/>
        </p:spPr>
        <p:txBody>
          <a:bodyPr wrap="square" lIns="0" tIns="0" rIns="0" bIns="0" rtlCol="0" anchor="t"/>
          <a:lstStyle/>
          <a:p>
            <a:pPr indent="0" marL="0">
              <a:buNone/>
            </a:pPr>
            <a:r>
              <a:rPr lang="en-US" sz="1900" b="1" dirty="0">
                <a:solidFill>
                  <a:schemeClr val="tx2"/>
                </a:solidFill>
              </a:rPr>
              <a:t>Not for heavy traffic</a:t>
            </a:r>
            <a:endParaRPr lang="en-US" sz="1900" dirty="0"/>
          </a:p>
        </p:txBody>
      </p:sp>
      <p:sp>
        <p:nvSpPr>
          <p:cNvPr id="23" name="Text 16"/>
          <p:cNvSpPr txBox="1"/>
          <p:nvPr/>
        </p:nvSpPr>
        <p:spPr>
          <a:xfrm>
            <a:off x="7589520" y="5340096"/>
            <a:ext cx="4023360" cy="548640"/>
          </a:xfrm>
          <a:prstGeom prst="rect">
            <a:avLst/>
          </a:prstGeom>
          <a:noFill/>
          <a:ln/>
        </p:spPr>
        <p:txBody>
          <a:bodyPr wrap="square" lIns="0" tIns="0" rIns="0" bIns="0" rtlCol="0" anchor="t"/>
          <a:lstStyle/>
          <a:p>
            <a:pPr indent="0" marL="0">
              <a:buNone/>
            </a:pPr>
            <a:r>
              <a:rPr lang="en-US" sz="1600" dirty="0">
                <a:solidFill>
                  <a:schemeClr val="tx1"/>
                </a:solidFill>
              </a:rPr>
              <a:t>Use PostgreSQL or MySQL in production.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is an ORM and why it matters</a:t>
            </a:r>
            <a:endParaRPr lang="en-US" sz="3600" dirty="0"/>
          </a:p>
        </p:txBody>
      </p:sp>
      <p:sp>
        <p:nvSpPr>
          <p:cNvPr id="4" name="diagram-box"/>
          <p:cNvSpPr txBox="1"/>
          <p:nvPr/>
        </p:nvSpPr>
        <p:spPr>
          <a:xfrm>
            <a:off x="548640" y="1417320"/>
            <a:ext cx="3291840" cy="1554480"/>
          </a:xfrm>
          <a:prstGeom prst="roundRect">
            <a:avLst>
              <a:gd name="adj" fmla="val 705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Your Python</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Item.objects.create(</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    name="Notebook")</a:t>
            </a:r>
            <a:endParaRPr lang="en-US" sz="2000" dirty="0"/>
          </a:p>
        </p:txBody>
      </p:sp>
      <p:sp>
        <p:nvSpPr>
          <p:cNvPr id="5" name="diagram-box"/>
          <p:cNvSpPr txBox="1"/>
          <p:nvPr/>
        </p:nvSpPr>
        <p:spPr>
          <a:xfrm>
            <a:off x="4434840" y="1417320"/>
            <a:ext cx="3291840" cy="1554480"/>
          </a:xfrm>
          <a:prstGeom prst="roundRect">
            <a:avLst>
              <a:gd name="adj" fmla="val 705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Django ORM</a:t>
            </a:r>
            <a:endParaRPr lang="en-US" sz="2000" dirty="0"/>
          </a:p>
          <a:p>
            <a:pPr algn="ctr" indent="0" marL="0">
              <a:buNone/>
            </a:pPr>
            <a:r>
              <a:rPr lang="en-US" sz="1400" dirty="0">
                <a:solidFill>
                  <a:schemeClr val="bg1"/>
                </a:solidFill>
              </a:rPr>
              <a:t>translates and runs</a:t>
            </a:r>
            <a:endParaRPr lang="en-US" sz="2000" dirty="0"/>
          </a:p>
        </p:txBody>
      </p:sp>
      <p:sp>
        <p:nvSpPr>
          <p:cNvPr id="6" name="diagram-box"/>
          <p:cNvSpPr txBox="1"/>
          <p:nvPr/>
        </p:nvSpPr>
        <p:spPr>
          <a:xfrm>
            <a:off x="8348472" y="1417320"/>
            <a:ext cx="3291840" cy="1554480"/>
          </a:xfrm>
          <a:prstGeom prst="roundRect">
            <a:avLst>
              <a:gd name="adj" fmla="val 705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SQL on the database</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INSERT INTO items_item</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(name) VALUES (?)</a:t>
            </a:r>
            <a:endParaRPr lang="en-US" sz="2000" dirty="0"/>
          </a:p>
        </p:txBody>
      </p:sp>
      <p:sp>
        <p:nvSpPr>
          <p:cNvPr id="7" name="arrow"/>
          <p:cNvSpPr/>
          <p:nvPr/>
        </p:nvSpPr>
        <p:spPr>
          <a:xfrm>
            <a:off x="3840480" y="2194560"/>
            <a:ext cx="594360" cy="0"/>
          </a:xfrm>
          <a:prstGeom prst="line">
            <a:avLst/>
          </a:prstGeom>
          <a:noFill/>
          <a:ln w="28575">
            <a:solidFill>
              <a:schemeClr val="tx2"/>
            </a:solidFill>
            <a:prstDash val="solid"/>
            <a:tailEnd type="triangle"/>
          </a:ln>
        </p:spPr>
      </p:sp>
      <p:sp>
        <p:nvSpPr>
          <p:cNvPr id="8" name="arrow"/>
          <p:cNvSpPr/>
          <p:nvPr/>
        </p:nvSpPr>
        <p:spPr>
          <a:xfrm>
            <a:off x="7726680" y="2194560"/>
            <a:ext cx="621792" cy="0"/>
          </a:xfrm>
          <a:prstGeom prst="line">
            <a:avLst/>
          </a:prstGeom>
          <a:noFill/>
          <a:ln w="28575">
            <a:solidFill>
              <a:schemeClr val="tx2"/>
            </a:solidFill>
            <a:prstDash val="solid"/>
            <a:tailEnd type="triangle"/>
          </a:ln>
        </p:spPr>
      </p:sp>
      <p:sp>
        <p:nvSpPr>
          <p:cNvPr id="9" name="definition"/>
          <p:cNvSpPr/>
          <p:nvPr/>
        </p:nvSpPr>
        <p:spPr>
          <a:xfrm>
            <a:off x="548640" y="3154680"/>
            <a:ext cx="11091672" cy="685800"/>
          </a:xfrm>
          <a:prstGeom prst="roundRect">
            <a:avLst>
              <a:gd name="adj" fmla="val 16000"/>
            </a:avLst>
          </a:prstGeom>
          <a:solidFill>
            <a:schemeClr val="tx2"/>
          </a:solidFill>
          <a:ln/>
        </p:spPr>
      </p:sp>
      <p:sp>
        <p:nvSpPr>
          <p:cNvPr id="10" name="Text 7"/>
          <p:cNvSpPr txBox="1"/>
          <p:nvPr/>
        </p:nvSpPr>
        <p:spPr>
          <a:xfrm>
            <a:off x="822960" y="3154680"/>
            <a:ext cx="10543032" cy="685800"/>
          </a:xfrm>
          <a:prstGeom prst="rect">
            <a:avLst/>
          </a:prstGeom>
          <a:noFill/>
          <a:ln/>
        </p:spPr>
        <p:txBody>
          <a:bodyPr wrap="square" lIns="0" tIns="0" rIns="0" bIns="0" rtlCol="0" anchor="ctr"/>
          <a:lstStyle/>
          <a:p>
            <a:pPr indent="0" marL="0">
              <a:buNone/>
            </a:pPr>
            <a:r>
              <a:rPr lang="en-US" sz="1600" b="1" dirty="0">
                <a:solidFill>
                  <a:schemeClr val="accent1"/>
                </a:solidFill>
              </a:rPr>
              <a:t>ORM</a:t>
            </a:r>
            <a:pPr indent="0" marL="0">
              <a:buNone/>
            </a:pPr>
            <a:r>
              <a:rPr lang="en-US" sz="1600" dirty="0">
                <a:solidFill>
                  <a:schemeClr val="bg1"/>
                </a:solidFill>
              </a:rPr>
              <a:t> (Object-Relational Mapper): a layer that lets you read and write database tables using Python classes and objects instead of SQL.</a:t>
            </a:r>
            <a:endParaRPr lang="en-US" sz="1600" dirty="0"/>
          </a:p>
        </p:txBody>
      </p:sp>
      <p:sp>
        <p:nvSpPr>
          <p:cNvPr id="11" name="benefit-card"/>
          <p:cNvSpPr/>
          <p:nvPr/>
        </p:nvSpPr>
        <p:spPr>
          <a:xfrm>
            <a:off x="548640" y="4023360"/>
            <a:ext cx="2596896" cy="2103120"/>
          </a:xfrm>
          <a:prstGeom prst="roundRect">
            <a:avLst>
              <a:gd name="adj" fmla="val 5217"/>
            </a:avLst>
          </a:prstGeom>
          <a:solidFill>
            <a:schemeClr val="bg2"/>
          </a:solidFill>
          <a:ln/>
        </p:spPr>
      </p:sp>
      <p:sp>
        <p:nvSpPr>
          <p:cNvPr id="12" name="icon-circle"/>
          <p:cNvSpPr/>
          <p:nvPr/>
        </p:nvSpPr>
        <p:spPr>
          <a:xfrm>
            <a:off x="777240" y="4160520"/>
            <a:ext cx="640080" cy="640080"/>
          </a:xfrm>
          <a:prstGeom prst="ellipse">
            <a:avLst/>
          </a:prstGeom>
          <a:solidFill>
            <a:schemeClr val="tx2"/>
          </a:solidFill>
          <a:ln/>
        </p:spPr>
      </p:sp>
      <p:pic>
        <p:nvPicPr>
          <p:cNvPr id="13" name="Image 0" descr="preencoded.png">    </p:cNvPr>
          <p:cNvPicPr>
            <a:picLocks noChangeAspect="1"/>
          </p:cNvPicPr>
          <p:nvPr/>
        </p:nvPicPr>
        <p:blipFill>
          <a:blip r:embed="rId1"/>
          <a:stretch>
            <a:fillRect/>
          </a:stretch>
        </p:blipFill>
        <p:spPr>
          <a:xfrm>
            <a:off x="937260" y="4320540"/>
            <a:ext cx="320040" cy="320040"/>
          </a:xfrm>
          <a:prstGeom prst="rect">
            <a:avLst/>
          </a:prstGeom>
        </p:spPr>
      </p:pic>
      <p:sp>
        <p:nvSpPr>
          <p:cNvPr id="14" name="Text 10"/>
          <p:cNvSpPr txBox="1"/>
          <p:nvPr/>
        </p:nvSpPr>
        <p:spPr>
          <a:xfrm>
            <a:off x="777240"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Python, not SQL</a:t>
            </a:r>
            <a:endParaRPr lang="en-US" sz="2000" dirty="0"/>
          </a:p>
        </p:txBody>
      </p:sp>
      <p:sp>
        <p:nvSpPr>
          <p:cNvPr id="15" name="Text 11"/>
          <p:cNvSpPr txBox="1"/>
          <p:nvPr/>
        </p:nvSpPr>
        <p:spPr>
          <a:xfrm>
            <a:off x="777240"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Work with objects and methods you already know.</a:t>
            </a:r>
            <a:endParaRPr lang="en-US" sz="1500" dirty="0"/>
          </a:p>
        </p:txBody>
      </p:sp>
      <p:sp>
        <p:nvSpPr>
          <p:cNvPr id="16" name="benefit-card"/>
          <p:cNvSpPr/>
          <p:nvPr/>
        </p:nvSpPr>
        <p:spPr>
          <a:xfrm>
            <a:off x="3380537" y="4023360"/>
            <a:ext cx="2596896" cy="2103120"/>
          </a:xfrm>
          <a:prstGeom prst="roundRect">
            <a:avLst>
              <a:gd name="adj" fmla="val 5217"/>
            </a:avLst>
          </a:prstGeom>
          <a:solidFill>
            <a:schemeClr val="bg2"/>
          </a:solidFill>
          <a:ln/>
        </p:spPr>
      </p:sp>
      <p:sp>
        <p:nvSpPr>
          <p:cNvPr id="17" name="icon-circle"/>
          <p:cNvSpPr/>
          <p:nvPr/>
        </p:nvSpPr>
        <p:spPr>
          <a:xfrm>
            <a:off x="3609137" y="4160520"/>
            <a:ext cx="640080" cy="640080"/>
          </a:xfrm>
          <a:prstGeom prst="ellipse">
            <a:avLst/>
          </a:prstGeom>
          <a:solidFill>
            <a:schemeClr val="tx2"/>
          </a:solidFill>
          <a:ln/>
        </p:spPr>
      </p:sp>
      <p:pic>
        <p:nvPicPr>
          <p:cNvPr id="18" name="Image 1" descr="preencoded.png">    </p:cNvPr>
          <p:cNvPicPr>
            <a:picLocks noChangeAspect="1"/>
          </p:cNvPicPr>
          <p:nvPr/>
        </p:nvPicPr>
        <p:blipFill>
          <a:blip r:embed="rId2"/>
          <a:stretch>
            <a:fillRect/>
          </a:stretch>
        </p:blipFill>
        <p:spPr>
          <a:xfrm>
            <a:off x="3769157" y="4320540"/>
            <a:ext cx="320040" cy="320040"/>
          </a:xfrm>
          <a:prstGeom prst="rect">
            <a:avLst/>
          </a:prstGeom>
        </p:spPr>
      </p:pic>
      <p:sp>
        <p:nvSpPr>
          <p:cNvPr id="19" name="Text 14"/>
          <p:cNvSpPr txBox="1"/>
          <p:nvPr/>
        </p:nvSpPr>
        <p:spPr>
          <a:xfrm>
            <a:off x="3609137"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Any database</a:t>
            </a:r>
            <a:endParaRPr lang="en-US" sz="2000" dirty="0"/>
          </a:p>
        </p:txBody>
      </p:sp>
      <p:sp>
        <p:nvSpPr>
          <p:cNvPr id="20" name="Text 15"/>
          <p:cNvSpPr txBox="1"/>
          <p:nvPr/>
        </p:nvSpPr>
        <p:spPr>
          <a:xfrm>
            <a:off x="3609137"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Switch SQLite to PostgreSQL without rewriting code.</a:t>
            </a:r>
            <a:endParaRPr lang="en-US" sz="1500" dirty="0"/>
          </a:p>
        </p:txBody>
      </p:sp>
      <p:sp>
        <p:nvSpPr>
          <p:cNvPr id="21" name="benefit-card"/>
          <p:cNvSpPr/>
          <p:nvPr/>
        </p:nvSpPr>
        <p:spPr>
          <a:xfrm>
            <a:off x="6212434" y="4023360"/>
            <a:ext cx="2596896" cy="2103120"/>
          </a:xfrm>
          <a:prstGeom prst="roundRect">
            <a:avLst>
              <a:gd name="adj" fmla="val 5217"/>
            </a:avLst>
          </a:prstGeom>
          <a:solidFill>
            <a:schemeClr val="bg2"/>
          </a:solidFill>
          <a:ln/>
        </p:spPr>
      </p:sp>
      <p:sp>
        <p:nvSpPr>
          <p:cNvPr id="22" name="icon-circle"/>
          <p:cNvSpPr/>
          <p:nvPr/>
        </p:nvSpPr>
        <p:spPr>
          <a:xfrm>
            <a:off x="6441034" y="4160520"/>
            <a:ext cx="640080" cy="640080"/>
          </a:xfrm>
          <a:prstGeom prst="ellipse">
            <a:avLst/>
          </a:prstGeom>
          <a:solidFill>
            <a:schemeClr val="tx2"/>
          </a:solidFill>
          <a:ln/>
        </p:spPr>
      </p:sp>
      <p:pic>
        <p:nvPicPr>
          <p:cNvPr id="23" name="Image 2" descr="preencoded.png">    </p:cNvPr>
          <p:cNvPicPr>
            <a:picLocks noChangeAspect="1"/>
          </p:cNvPicPr>
          <p:nvPr/>
        </p:nvPicPr>
        <p:blipFill>
          <a:blip r:embed="rId3"/>
          <a:stretch>
            <a:fillRect/>
          </a:stretch>
        </p:blipFill>
        <p:spPr>
          <a:xfrm>
            <a:off x="6601054" y="4320540"/>
            <a:ext cx="320040" cy="320040"/>
          </a:xfrm>
          <a:prstGeom prst="rect">
            <a:avLst/>
          </a:prstGeom>
        </p:spPr>
      </p:pic>
      <p:sp>
        <p:nvSpPr>
          <p:cNvPr id="24" name="Text 18"/>
          <p:cNvSpPr txBox="1"/>
          <p:nvPr/>
        </p:nvSpPr>
        <p:spPr>
          <a:xfrm>
            <a:off x="6441034"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Safer</a:t>
            </a:r>
            <a:endParaRPr lang="en-US" sz="2000" dirty="0"/>
          </a:p>
        </p:txBody>
      </p:sp>
      <p:sp>
        <p:nvSpPr>
          <p:cNvPr id="25" name="Text 19"/>
          <p:cNvSpPr txBox="1"/>
          <p:nvPr/>
        </p:nvSpPr>
        <p:spPr>
          <a:xfrm>
            <a:off x="6441034"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Values are sent as parameters, blocking SQL injection.</a:t>
            </a:r>
            <a:endParaRPr lang="en-US" sz="1500" dirty="0"/>
          </a:p>
        </p:txBody>
      </p:sp>
      <p:sp>
        <p:nvSpPr>
          <p:cNvPr id="26" name="benefit-card"/>
          <p:cNvSpPr/>
          <p:nvPr/>
        </p:nvSpPr>
        <p:spPr>
          <a:xfrm>
            <a:off x="9044330" y="4023360"/>
            <a:ext cx="2596896" cy="2103120"/>
          </a:xfrm>
          <a:prstGeom prst="roundRect">
            <a:avLst>
              <a:gd name="adj" fmla="val 5217"/>
            </a:avLst>
          </a:prstGeom>
          <a:solidFill>
            <a:schemeClr val="bg2"/>
          </a:solidFill>
          <a:ln/>
        </p:spPr>
      </p:sp>
      <p:sp>
        <p:nvSpPr>
          <p:cNvPr id="27" name="icon-circle"/>
          <p:cNvSpPr/>
          <p:nvPr/>
        </p:nvSpPr>
        <p:spPr>
          <a:xfrm>
            <a:off x="9272930" y="4160520"/>
            <a:ext cx="640080" cy="640080"/>
          </a:xfrm>
          <a:prstGeom prst="ellipse">
            <a:avLst/>
          </a:prstGeom>
          <a:solidFill>
            <a:schemeClr val="tx2"/>
          </a:solidFill>
          <a:ln/>
        </p:spPr>
      </p:sp>
      <p:pic>
        <p:nvPicPr>
          <p:cNvPr id="28" name="Image 3" descr="preencoded.png">    </p:cNvPr>
          <p:cNvPicPr>
            <a:picLocks noChangeAspect="1"/>
          </p:cNvPicPr>
          <p:nvPr/>
        </p:nvPicPr>
        <p:blipFill>
          <a:blip r:embed="rId4"/>
          <a:stretch>
            <a:fillRect/>
          </a:stretch>
        </p:blipFill>
        <p:spPr>
          <a:xfrm>
            <a:off x="9432950" y="4320540"/>
            <a:ext cx="320040" cy="320040"/>
          </a:xfrm>
          <a:prstGeom prst="rect">
            <a:avLst/>
          </a:prstGeom>
        </p:spPr>
      </p:pic>
      <p:sp>
        <p:nvSpPr>
          <p:cNvPr id="29" name="Text 22"/>
          <p:cNvSpPr txBox="1"/>
          <p:nvPr/>
        </p:nvSpPr>
        <p:spPr>
          <a:xfrm>
            <a:off x="9272930"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Less code</a:t>
            </a:r>
            <a:endParaRPr lang="en-US" sz="2000" dirty="0"/>
          </a:p>
        </p:txBody>
      </p:sp>
      <p:sp>
        <p:nvSpPr>
          <p:cNvPr id="30" name="Text 23"/>
          <p:cNvSpPr txBox="1"/>
          <p:nvPr/>
        </p:nvSpPr>
        <p:spPr>
          <a:xfrm>
            <a:off x="9272930"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Readable queries, fewer bugs, faster development.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ORM in action: CRUD</a:t>
            </a:r>
            <a:endParaRPr lang="en-US" sz="36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554480"/>
                <a:gridCol w="5212080"/>
                <a:gridCol w="4325112"/>
              </a:tblGrid>
              <a:tr h="530352">
                <a:tc>
                  <a:txBody>
                    <a:bodyPr/>
                    <a:lstStyle/>
                    <a:p>
                      <a:pPr indent="0" marL="0">
                        <a:buNone/>
                      </a:pPr>
                      <a:r>
                        <a:rPr lang="en-US" sz="1600" b="1" dirty="0">
                          <a:solidFill>
                            <a:schemeClr val="bg1"/>
                          </a:solidFill>
                        </a:rPr>
                        <a:t>Operation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ORM</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SQL it runs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30352">
                <a:tc>
                  <a:txBody>
                    <a:bodyPr/>
                    <a:lstStyle/>
                    <a:p>
                      <a:pPr indent="0" marL="0">
                        <a:buNone/>
                      </a:pPr>
                      <a:r>
                        <a:rPr lang="en-US" sz="1500" b="1" dirty="0">
                          <a:solidFill>
                            <a:schemeClr val="tx1"/>
                          </a:solidFill>
                        </a:rPr>
                        <a:t>Create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Item.objects.create(name="Pen",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INSERT INTO items_item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Read all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Item.objects.all()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SELECT * FROM items_item</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Filter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Item.objects.filter(is_available=True)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WHERE is_available = 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Get one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Item.objects.get(pk=1)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WHERE id = 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Update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item.quantity = 10; item.save()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UPDATE items_item SET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Delete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item.delete()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DELETE FROM items_item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Sort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Item.objects.order_by("-price")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ORDER BY price DESC</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callout"/>
          <p:cNvSpPr/>
          <p:nvPr/>
        </p:nvSpPr>
        <p:spPr>
          <a:xfrm>
            <a:off x="548640" y="5760720"/>
            <a:ext cx="11091672" cy="502920"/>
          </a:xfrm>
          <a:prstGeom prst="roundRect">
            <a:avLst>
              <a:gd name="adj" fmla="val 21818"/>
            </a:avLst>
          </a:prstGeom>
          <a:solidFill>
            <a:schemeClr val="bg2"/>
          </a:solidFill>
          <a:ln/>
        </p:spPr>
      </p:sp>
      <p:sp>
        <p:nvSpPr>
          <p:cNvPr id="6" name="Text 2"/>
          <p:cNvSpPr txBox="1"/>
          <p:nvPr/>
        </p:nvSpPr>
        <p:spPr>
          <a:xfrm>
            <a:off x="822960" y="5760720"/>
            <a:ext cx="10543032" cy="502920"/>
          </a:xfrm>
          <a:prstGeom prst="rect">
            <a:avLst/>
          </a:prstGeom>
          <a:noFill/>
          <a:ln/>
        </p:spPr>
        <p:txBody>
          <a:bodyPr wrap="square" lIns="0" tIns="0" rIns="0" bIns="0" rtlCol="0" anchor="ctr"/>
          <a:lstStyle/>
          <a:p>
            <a:pPr indent="0" marL="0">
              <a:buNone/>
            </a:pPr>
            <a:r>
              <a:rPr lang="en-US" sz="1600" dirty="0">
                <a:solidFill>
                  <a:schemeClr val="tx1"/>
                </a:solidFill>
              </a:rPr>
              <a:t>Try it yourself:  python manage.py shell  and type these lines.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ORM: managers and QuerySets</a:t>
            </a:r>
            <a:endParaRPr lang="en-US" sz="3600" dirty="0"/>
          </a:p>
        </p:txBody>
      </p:sp>
      <p:sp>
        <p:nvSpPr>
          <p:cNvPr id="4" name="queryset-code"/>
          <p:cNvSpPr txBox="1"/>
          <p:nvPr/>
        </p:nvSpPr>
        <p:spPr>
          <a:xfrm>
            <a:off x="548640" y="1371600"/>
            <a:ext cx="6675120" cy="2194560"/>
          </a:xfrm>
          <a:prstGeom prst="roundRect">
            <a:avLst>
              <a:gd name="adj" fmla="val 41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items = Item.objects.all()          # no SQL yet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items = items.filter(price__gt=20)  # no SQL yet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items = items.order_by("-price")    # no SQL yet</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for item in items:                  # SQL runs now</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print(item.name)</a:t>
            </a:r>
            <a:endParaRPr lang="en-US" sz="1400" dirty="0"/>
          </a:p>
        </p:txBody>
      </p:sp>
      <p:sp>
        <p:nvSpPr>
          <p:cNvPr id="5" name="callout"/>
          <p:cNvSpPr/>
          <p:nvPr/>
        </p:nvSpPr>
        <p:spPr>
          <a:xfrm>
            <a:off x="548640" y="3794760"/>
            <a:ext cx="6675120" cy="2286000"/>
          </a:xfrm>
          <a:prstGeom prst="roundRect">
            <a:avLst>
              <a:gd name="adj" fmla="val 4800"/>
            </a:avLst>
          </a:prstGeom>
          <a:solidFill>
            <a:schemeClr val="bg2"/>
          </a:solidFill>
          <a:ln/>
        </p:spPr>
      </p:sp>
      <p:sp>
        <p:nvSpPr>
          <p:cNvPr id="6" name="Text 3"/>
          <p:cNvSpPr txBox="1"/>
          <p:nvPr/>
        </p:nvSpPr>
        <p:spPr>
          <a:xfrm>
            <a:off x="822960" y="3931920"/>
            <a:ext cx="6126480" cy="365760"/>
          </a:xfrm>
          <a:prstGeom prst="rect">
            <a:avLst/>
          </a:prstGeom>
          <a:noFill/>
          <a:ln/>
        </p:spPr>
        <p:txBody>
          <a:bodyPr wrap="square" lIns="0" tIns="0" rIns="0" bIns="0" rtlCol="0" anchor="t"/>
          <a:lstStyle/>
          <a:p>
            <a:pPr indent="0" marL="0">
              <a:buNone/>
            </a:pPr>
            <a:r>
              <a:rPr lang="en-US" sz="2000" b="1" dirty="0">
                <a:solidFill>
                  <a:schemeClr val="tx2"/>
                </a:solidFill>
              </a:rPr>
              <a:t>Why lazy?</a:t>
            </a:r>
            <a:endParaRPr lang="en-US" sz="2000" dirty="0"/>
          </a:p>
        </p:txBody>
      </p:sp>
      <p:sp>
        <p:nvSpPr>
          <p:cNvPr id="7" name="Text 4"/>
          <p:cNvSpPr txBox="1"/>
          <p:nvPr/>
        </p:nvSpPr>
        <p:spPr>
          <a:xfrm>
            <a:off x="822960" y="4389120"/>
            <a:ext cx="6126480" cy="1554480"/>
          </a:xfrm>
          <a:prstGeom prst="rect">
            <a:avLst/>
          </a:prstGeom>
          <a:noFill/>
          <a:ln/>
        </p:spPr>
        <p:txBody>
          <a:bodyPr wrap="square" lIns="0" tIns="0" rIns="0" bIns="0" rtlCol="0" anchor="t"/>
          <a:lstStyle/>
          <a:p>
            <a:pPr indent="0" marL="0">
              <a:buNone/>
            </a:pPr>
            <a:r>
              <a:rPr lang="en-US" sz="1600" dirty="0">
                <a:solidFill>
                  <a:schemeClr val="tx1"/>
                </a:solidFill>
              </a:rPr>
              <a:t>Django waits until you really need the data, then combines all the steps into one efficient SQL query. You can build a query in small readable pieces without slowing the database down.</a:t>
            </a:r>
            <a:endParaRPr lang="en-US" sz="1600" dirty="0"/>
          </a:p>
        </p:txBody>
      </p:sp>
      <p:sp>
        <p:nvSpPr>
          <p:cNvPr id="8" name="def-card"/>
          <p:cNvSpPr/>
          <p:nvPr/>
        </p:nvSpPr>
        <p:spPr>
          <a:xfrm>
            <a:off x="7498080" y="1371600"/>
            <a:ext cx="4142232" cy="1463040"/>
          </a:xfrm>
          <a:prstGeom prst="roundRect">
            <a:avLst>
              <a:gd name="adj" fmla="val 7500"/>
            </a:avLst>
          </a:prstGeom>
          <a:solidFill>
            <a:schemeClr val="bg2"/>
          </a:solidFill>
          <a:ln/>
        </p:spPr>
      </p:sp>
      <p:sp>
        <p:nvSpPr>
          <p:cNvPr id="9" name="Text 6"/>
          <p:cNvSpPr txBox="1"/>
          <p:nvPr/>
        </p:nvSpPr>
        <p:spPr>
          <a:xfrm>
            <a:off x="7726680" y="1481328"/>
            <a:ext cx="3657600" cy="365760"/>
          </a:xfrm>
          <a:prstGeom prst="rect">
            <a:avLst/>
          </a:prstGeom>
          <a:noFill/>
          <a:ln/>
        </p:spPr>
        <p:txBody>
          <a:bodyPr wrap="square" lIns="0" tIns="0" rIns="0" bIns="0" rtlCol="0" anchor="t"/>
          <a:lstStyle/>
          <a:p>
            <a:pPr indent="0" marL="0">
              <a:buNone/>
            </a:pPr>
            <a:r>
              <a:rPr lang="en-US" sz="1900" b="1" dirty="0">
                <a:solidFill>
                  <a:schemeClr val="tx2"/>
                </a:solidFill>
              </a:rPr>
              <a:t>Manager</a:t>
            </a:r>
            <a:endParaRPr lang="en-US" sz="1900" dirty="0"/>
          </a:p>
        </p:txBody>
      </p:sp>
      <p:sp>
        <p:nvSpPr>
          <p:cNvPr id="10" name="Text 7"/>
          <p:cNvSpPr txBox="1"/>
          <p:nvPr/>
        </p:nvSpPr>
        <p:spPr>
          <a:xfrm>
            <a:off x="7726680" y="1901952"/>
            <a:ext cx="3657600" cy="914400"/>
          </a:xfrm>
          <a:prstGeom prst="rect">
            <a:avLst/>
          </a:prstGeom>
          <a:noFill/>
          <a:ln/>
        </p:spPr>
        <p:txBody>
          <a:bodyPr wrap="square" lIns="0" tIns="0" rIns="0" bIns="0" rtlCol="0" anchor="t"/>
          <a:lstStyle/>
          <a:p>
            <a:pPr indent="0" marL="0">
              <a:buNone/>
            </a:pPr>
            <a:r>
              <a:rPr lang="en-US" sz="1500" dirty="0">
                <a:solidFill>
                  <a:schemeClr val="tx1"/>
                </a:solidFill>
              </a:rPr>
              <a:t>objects. The door to a model's table. Every model has one: Item.objects.</a:t>
            </a:r>
            <a:endParaRPr lang="en-US" sz="1500" dirty="0"/>
          </a:p>
        </p:txBody>
      </p:sp>
      <p:sp>
        <p:nvSpPr>
          <p:cNvPr id="11" name="def-card"/>
          <p:cNvSpPr/>
          <p:nvPr/>
        </p:nvSpPr>
        <p:spPr>
          <a:xfrm>
            <a:off x="7498080" y="2971800"/>
            <a:ext cx="4142232" cy="1463040"/>
          </a:xfrm>
          <a:prstGeom prst="roundRect">
            <a:avLst>
              <a:gd name="adj" fmla="val 7500"/>
            </a:avLst>
          </a:prstGeom>
          <a:solidFill>
            <a:schemeClr val="tx2"/>
          </a:solidFill>
          <a:ln/>
        </p:spPr>
      </p:sp>
      <p:sp>
        <p:nvSpPr>
          <p:cNvPr id="12" name="Text 9"/>
          <p:cNvSpPr txBox="1"/>
          <p:nvPr/>
        </p:nvSpPr>
        <p:spPr>
          <a:xfrm>
            <a:off x="7726680" y="3081528"/>
            <a:ext cx="3657600" cy="365760"/>
          </a:xfrm>
          <a:prstGeom prst="rect">
            <a:avLst/>
          </a:prstGeom>
          <a:noFill/>
          <a:ln/>
        </p:spPr>
        <p:txBody>
          <a:bodyPr wrap="square" lIns="0" tIns="0" rIns="0" bIns="0" rtlCol="0" anchor="t"/>
          <a:lstStyle/>
          <a:p>
            <a:pPr indent="0" marL="0">
              <a:buNone/>
            </a:pPr>
            <a:r>
              <a:rPr lang="en-US" sz="1900" b="1" dirty="0">
                <a:solidFill>
                  <a:schemeClr val="bg1"/>
                </a:solidFill>
              </a:rPr>
              <a:t>QuerySet</a:t>
            </a:r>
            <a:endParaRPr lang="en-US" sz="1900" dirty="0"/>
          </a:p>
        </p:txBody>
      </p:sp>
      <p:sp>
        <p:nvSpPr>
          <p:cNvPr id="13" name="Text 10"/>
          <p:cNvSpPr txBox="1"/>
          <p:nvPr/>
        </p:nvSpPr>
        <p:spPr>
          <a:xfrm>
            <a:off x="7726680" y="3502152"/>
            <a:ext cx="3657600" cy="914400"/>
          </a:xfrm>
          <a:prstGeom prst="rect">
            <a:avLst/>
          </a:prstGeom>
          <a:noFill/>
          <a:ln/>
        </p:spPr>
        <p:txBody>
          <a:bodyPr wrap="square" lIns="0" tIns="0" rIns="0" bIns="0" rtlCol="0" anchor="t"/>
          <a:lstStyle/>
          <a:p>
            <a:pPr indent="0" marL="0">
              <a:buNone/>
            </a:pPr>
            <a:r>
              <a:rPr lang="en-US" sz="1500" dirty="0">
                <a:solidFill>
                  <a:schemeClr val="bg1"/>
                </a:solidFill>
              </a:rPr>
              <a:t>A list-like collection of rows returned by the ORM. You can filter, sort and chain it.</a:t>
            </a:r>
            <a:endParaRPr lang="en-US" sz="1500" dirty="0"/>
          </a:p>
        </p:txBody>
      </p:sp>
      <p:sp>
        <p:nvSpPr>
          <p:cNvPr id="14" name="def-card"/>
          <p:cNvSpPr/>
          <p:nvPr/>
        </p:nvSpPr>
        <p:spPr>
          <a:xfrm>
            <a:off x="7498080" y="4572000"/>
            <a:ext cx="4142232" cy="1463040"/>
          </a:xfrm>
          <a:prstGeom prst="roundRect">
            <a:avLst>
              <a:gd name="adj" fmla="val 7500"/>
            </a:avLst>
          </a:prstGeom>
          <a:solidFill>
            <a:schemeClr val="bg2"/>
          </a:solidFill>
          <a:ln/>
        </p:spPr>
      </p:sp>
      <p:sp>
        <p:nvSpPr>
          <p:cNvPr id="15" name="Text 12"/>
          <p:cNvSpPr txBox="1"/>
          <p:nvPr/>
        </p:nvSpPr>
        <p:spPr>
          <a:xfrm>
            <a:off x="7726680" y="4681728"/>
            <a:ext cx="3657600" cy="365760"/>
          </a:xfrm>
          <a:prstGeom prst="rect">
            <a:avLst/>
          </a:prstGeom>
          <a:noFill/>
          <a:ln/>
        </p:spPr>
        <p:txBody>
          <a:bodyPr wrap="square" lIns="0" tIns="0" rIns="0" bIns="0" rtlCol="0" anchor="t"/>
          <a:lstStyle/>
          <a:p>
            <a:pPr indent="0" marL="0">
              <a:buNone/>
            </a:pPr>
            <a:r>
              <a:rPr lang="en-US" sz="1900" b="1" dirty="0">
                <a:solidFill>
                  <a:schemeClr val="tx2"/>
                </a:solidFill>
              </a:rPr>
              <a:t>Lazy evaluation</a:t>
            </a:r>
            <a:endParaRPr lang="en-US" sz="1900" dirty="0"/>
          </a:p>
        </p:txBody>
      </p:sp>
      <p:sp>
        <p:nvSpPr>
          <p:cNvPr id="16" name="Text 13"/>
          <p:cNvSpPr txBox="1"/>
          <p:nvPr/>
        </p:nvSpPr>
        <p:spPr>
          <a:xfrm>
            <a:off x="7726680" y="5102352"/>
            <a:ext cx="3657600" cy="914400"/>
          </a:xfrm>
          <a:prstGeom prst="rect">
            <a:avLst/>
          </a:prstGeom>
          <a:noFill/>
          <a:ln/>
        </p:spPr>
        <p:txBody>
          <a:bodyPr wrap="square" lIns="0" tIns="0" rIns="0" bIns="0" rtlCol="0" anchor="t"/>
          <a:lstStyle/>
          <a:p>
            <a:pPr indent="0" marL="0">
              <a:buNone/>
            </a:pPr>
            <a:r>
              <a:rPr lang="en-US" sz="1500" dirty="0">
                <a:solidFill>
                  <a:schemeClr val="tx1"/>
                </a:solidFill>
              </a:rPr>
              <a:t>The SQL query runs only when the result is actually used.</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Common ORM methods</a:t>
            </a:r>
            <a:endParaRPr lang="en-US" sz="36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017520"/>
                <a:gridCol w="5120640"/>
                <a:gridCol w="2953512"/>
              </a:tblGrid>
              <a:tr h="457200">
                <a:tc>
                  <a:txBody>
                    <a:bodyPr/>
                    <a:lstStyle/>
                    <a:p>
                      <a:pPr indent="0" marL="0">
                        <a:buNone/>
                      </a:pPr>
                      <a:r>
                        <a:rPr lang="en-US" sz="1600" b="1" dirty="0">
                          <a:solidFill>
                            <a:schemeClr val="bg1"/>
                          </a:solidFill>
                        </a:rPr>
                        <a:t>Method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What it does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Returns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all()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Every row in the table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QuerySet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filter(...)</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Rows that match the condition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QuerySet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exclude(...)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Rows that do NOT match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QuerySet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Exactly one row (error if none or many)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One object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order_by("-price")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Sort the rows (minus = descending)</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QuerySet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count()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How many rows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number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first()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The first row, or None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Object or None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exists()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Is there at least one match?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True or False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create(...)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Insert a new row</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The new object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Filtering with field lookups</a:t>
            </a:r>
            <a:endParaRPr lang="en-US" sz="36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286000"/>
                <a:gridCol w="3200400"/>
                <a:gridCol w="5605272"/>
              </a:tblGrid>
              <a:tr h="502920">
                <a:tc>
                  <a:txBody>
                    <a:bodyPr/>
                    <a:lstStyle/>
                    <a:p>
                      <a:pPr indent="0" marL="0">
                        <a:buNone/>
                      </a:pPr>
                      <a:r>
                        <a:rPr lang="en-US" sz="1600" b="1" dirty="0">
                          <a:solidFill>
                            <a:schemeClr val="bg1"/>
                          </a:solidFill>
                        </a:rPr>
                        <a:t>Lookup</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Meaning</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Example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(none)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Equals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Item.objects.filter(name="Pen")</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__icontains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Contains text, ignoring case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Item.objects.filter(name__icontains="pen")</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__startswith</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Begins with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Item.objects.filter(name__startswith="Note")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__gt  /  __gte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Greater than  /  or equal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Item.objects.filter(price__gt=20)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__lt  /  __lte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Less than  /  or equal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Item.objects.filter(price__lte=50)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__in</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Value is in a list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Item.objects.filter(quantity__in=[0, 5])</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__isnull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Value is NULL (empty)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Item.objects.filter(image__isnull=True)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callout"/>
          <p:cNvSpPr/>
          <p:nvPr/>
        </p:nvSpPr>
        <p:spPr>
          <a:xfrm>
            <a:off x="548640" y="5486400"/>
            <a:ext cx="11091672" cy="640080"/>
          </a:xfrm>
          <a:prstGeom prst="roundRect">
            <a:avLst>
              <a:gd name="adj" fmla="val 17143"/>
            </a:avLst>
          </a:prstGeom>
          <a:solidFill>
            <a:schemeClr val="bg2"/>
          </a:solidFill>
          <a:ln/>
        </p:spPr>
      </p:sp>
      <p:sp>
        <p:nvSpPr>
          <p:cNvPr id="6" name="Text 2"/>
          <p:cNvSpPr txBox="1"/>
          <p:nvPr/>
        </p:nvSpPr>
        <p:spPr>
          <a:xfrm>
            <a:off x="822960" y="5486400"/>
            <a:ext cx="10543032" cy="640080"/>
          </a:xfrm>
          <a:prstGeom prst="rect">
            <a:avLst/>
          </a:prstGeom>
          <a:noFill/>
          <a:ln/>
        </p:spPr>
        <p:txBody>
          <a:bodyPr wrap="square" lIns="0" tIns="0" rIns="0" bIns="0" rtlCol="0" anchor="ctr"/>
          <a:lstStyle/>
          <a:p>
            <a:pPr indent="0" marL="0">
              <a:buNone/>
            </a:pPr>
            <a:r>
              <a:rPr lang="en-US" sz="1500" dirty="0">
                <a:solidFill>
                  <a:schemeClr val="tx1"/>
                </a:solidFill>
              </a:rPr>
              <a:t>Pattern: field name + double underscore + lookup.   Several conditions in one filter() are combined with AND.</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The ORM and relationships</a:t>
            </a:r>
            <a:endParaRPr lang="en-US" sz="3600" dirty="0"/>
          </a:p>
        </p:txBody>
      </p:sp>
      <p:sp>
        <p:nvSpPr>
          <p:cNvPr id="4" name="relation-card"/>
          <p:cNvSpPr/>
          <p:nvPr/>
        </p:nvSpPr>
        <p:spPr>
          <a:xfrm>
            <a:off x="548640" y="1371600"/>
            <a:ext cx="5431536" cy="2286000"/>
          </a:xfrm>
          <a:prstGeom prst="roundRect">
            <a:avLst>
              <a:gd name="adj" fmla="val 4800"/>
            </a:avLst>
          </a:prstGeom>
          <a:solidFill>
            <a:schemeClr val="bg2"/>
          </a:solidFill>
          <a:ln/>
        </p:spPr>
      </p:sp>
      <p:sp>
        <p:nvSpPr>
          <p:cNvPr id="5" name="Text 2"/>
          <p:cNvSpPr txBox="1"/>
          <p:nvPr/>
        </p:nvSpPr>
        <p:spPr>
          <a:xfrm>
            <a:off x="822960" y="1508760"/>
            <a:ext cx="4846320" cy="365760"/>
          </a:xfrm>
          <a:prstGeom prst="rect">
            <a:avLst/>
          </a:prstGeom>
          <a:noFill/>
          <a:ln/>
        </p:spPr>
        <p:txBody>
          <a:bodyPr wrap="square" lIns="0" tIns="0" rIns="0" bIns="0" rtlCol="0" anchor="t"/>
          <a:lstStyle/>
          <a:p>
            <a:pPr indent="0" marL="0">
              <a:buNone/>
            </a:pPr>
            <a:r>
              <a:rPr lang="en-US" sz="1900" b="1" dirty="0">
                <a:solidFill>
                  <a:schemeClr val="tx2"/>
                </a:solidFill>
              </a:rPr>
              <a:t>Forward: many to one</a:t>
            </a:r>
            <a:endParaRPr lang="en-US" sz="1900" dirty="0"/>
          </a:p>
        </p:txBody>
      </p:sp>
      <p:sp>
        <p:nvSpPr>
          <p:cNvPr id="6" name="orm-snippet"/>
          <p:cNvSpPr txBox="1"/>
          <p:nvPr/>
        </p:nvSpPr>
        <p:spPr>
          <a:xfrm>
            <a:off x="822960" y="1965960"/>
            <a:ext cx="4882896" cy="822960"/>
          </a:xfrm>
          <a:prstGeom prst="roundRect">
            <a:avLst>
              <a:gd name="adj" fmla="val 1111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student.department.name</a:t>
            </a:r>
            <a:endParaRPr lang="en-US" sz="1400" dirty="0"/>
          </a:p>
        </p:txBody>
      </p:sp>
      <p:sp>
        <p:nvSpPr>
          <p:cNvPr id="7" name="Text 4"/>
          <p:cNvSpPr txBox="1"/>
          <p:nvPr/>
        </p:nvSpPr>
        <p:spPr>
          <a:xfrm>
            <a:off x="822960" y="2926080"/>
            <a:ext cx="4846320" cy="685800"/>
          </a:xfrm>
          <a:prstGeom prst="rect">
            <a:avLst/>
          </a:prstGeom>
          <a:noFill/>
          <a:ln/>
        </p:spPr>
        <p:txBody>
          <a:bodyPr wrap="square" lIns="0" tIns="0" rIns="0" bIns="0" rtlCol="0" anchor="t"/>
          <a:lstStyle/>
          <a:p>
            <a:pPr indent="0" marL="0">
              <a:buNone/>
            </a:pPr>
            <a:r>
              <a:rPr lang="en-US" sz="1500" dirty="0">
                <a:solidFill>
                  <a:schemeClr val="tx1"/>
                </a:solidFill>
              </a:rPr>
              <a:t>Follow a ForeignKey like a normal attribute.</a:t>
            </a:r>
            <a:endParaRPr lang="en-US" sz="1500" dirty="0"/>
          </a:p>
        </p:txBody>
      </p:sp>
      <p:sp>
        <p:nvSpPr>
          <p:cNvPr id="8" name="relation-card"/>
          <p:cNvSpPr/>
          <p:nvPr/>
        </p:nvSpPr>
        <p:spPr>
          <a:xfrm>
            <a:off x="6208776" y="1371600"/>
            <a:ext cx="5431536" cy="2286000"/>
          </a:xfrm>
          <a:prstGeom prst="roundRect">
            <a:avLst>
              <a:gd name="adj" fmla="val 4800"/>
            </a:avLst>
          </a:prstGeom>
          <a:solidFill>
            <a:schemeClr val="bg2"/>
          </a:solidFill>
          <a:ln/>
        </p:spPr>
      </p:sp>
      <p:sp>
        <p:nvSpPr>
          <p:cNvPr id="9" name="Text 6"/>
          <p:cNvSpPr txBox="1"/>
          <p:nvPr/>
        </p:nvSpPr>
        <p:spPr>
          <a:xfrm>
            <a:off x="6483096" y="1508760"/>
            <a:ext cx="4846320" cy="365760"/>
          </a:xfrm>
          <a:prstGeom prst="rect">
            <a:avLst/>
          </a:prstGeom>
          <a:noFill/>
          <a:ln/>
        </p:spPr>
        <p:txBody>
          <a:bodyPr wrap="square" lIns="0" tIns="0" rIns="0" bIns="0" rtlCol="0" anchor="t"/>
          <a:lstStyle/>
          <a:p>
            <a:pPr indent="0" marL="0">
              <a:buNone/>
            </a:pPr>
            <a:r>
              <a:rPr lang="en-US" sz="1900" b="1" dirty="0">
                <a:solidFill>
                  <a:schemeClr val="tx2"/>
                </a:solidFill>
              </a:rPr>
              <a:t>Backward: one to many</a:t>
            </a:r>
            <a:endParaRPr lang="en-US" sz="1900" dirty="0"/>
          </a:p>
        </p:txBody>
      </p:sp>
      <p:sp>
        <p:nvSpPr>
          <p:cNvPr id="10" name="orm-snippet"/>
          <p:cNvSpPr txBox="1"/>
          <p:nvPr/>
        </p:nvSpPr>
        <p:spPr>
          <a:xfrm>
            <a:off x="6483096" y="1965960"/>
            <a:ext cx="4882896" cy="822960"/>
          </a:xfrm>
          <a:prstGeom prst="roundRect">
            <a:avLst>
              <a:gd name="adj" fmla="val 1111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department.student_set.all()</a:t>
            </a:r>
            <a:endParaRPr lang="en-US" sz="1400" dirty="0"/>
          </a:p>
        </p:txBody>
      </p:sp>
      <p:sp>
        <p:nvSpPr>
          <p:cNvPr id="11" name="Text 8"/>
          <p:cNvSpPr txBox="1"/>
          <p:nvPr/>
        </p:nvSpPr>
        <p:spPr>
          <a:xfrm>
            <a:off x="6483096" y="2926080"/>
            <a:ext cx="4846320" cy="685800"/>
          </a:xfrm>
          <a:prstGeom prst="rect">
            <a:avLst/>
          </a:prstGeom>
          <a:noFill/>
          <a:ln/>
        </p:spPr>
        <p:txBody>
          <a:bodyPr wrap="square" lIns="0" tIns="0" rIns="0" bIns="0" rtlCol="0" anchor="t"/>
          <a:lstStyle/>
          <a:p>
            <a:pPr indent="0" marL="0">
              <a:buNone/>
            </a:pPr>
            <a:r>
              <a:rPr lang="en-US" sz="1500" dirty="0">
                <a:solidFill>
                  <a:schemeClr val="tx1"/>
                </a:solidFill>
              </a:rPr>
              <a:t>Django adds &lt;model&gt;_set automatically. related_name renames it.</a:t>
            </a:r>
            <a:endParaRPr lang="en-US" sz="1500" dirty="0"/>
          </a:p>
        </p:txBody>
      </p:sp>
      <p:sp>
        <p:nvSpPr>
          <p:cNvPr id="12" name="relation-card"/>
          <p:cNvSpPr/>
          <p:nvPr/>
        </p:nvSpPr>
        <p:spPr>
          <a:xfrm>
            <a:off x="548640" y="3794760"/>
            <a:ext cx="5431536" cy="2286000"/>
          </a:xfrm>
          <a:prstGeom prst="roundRect">
            <a:avLst>
              <a:gd name="adj" fmla="val 4800"/>
            </a:avLst>
          </a:prstGeom>
          <a:solidFill>
            <a:schemeClr val="bg2"/>
          </a:solidFill>
          <a:ln/>
        </p:spPr>
      </p:sp>
      <p:sp>
        <p:nvSpPr>
          <p:cNvPr id="13" name="Text 10"/>
          <p:cNvSpPr txBox="1"/>
          <p:nvPr/>
        </p:nvSpPr>
        <p:spPr>
          <a:xfrm>
            <a:off x="822960" y="3931920"/>
            <a:ext cx="4846320" cy="365760"/>
          </a:xfrm>
          <a:prstGeom prst="rect">
            <a:avLst/>
          </a:prstGeom>
          <a:noFill/>
          <a:ln/>
        </p:spPr>
        <p:txBody>
          <a:bodyPr wrap="square" lIns="0" tIns="0" rIns="0" bIns="0" rtlCol="0" anchor="t"/>
          <a:lstStyle/>
          <a:p>
            <a:pPr indent="0" marL="0">
              <a:buNone/>
            </a:pPr>
            <a:r>
              <a:rPr lang="en-US" sz="1900" b="1" dirty="0">
                <a:solidFill>
                  <a:schemeClr val="tx2"/>
                </a:solidFill>
              </a:rPr>
              <a:t>Filter across tables</a:t>
            </a:r>
            <a:endParaRPr lang="en-US" sz="1900" dirty="0"/>
          </a:p>
        </p:txBody>
      </p:sp>
      <p:sp>
        <p:nvSpPr>
          <p:cNvPr id="14" name="orm-snippet"/>
          <p:cNvSpPr txBox="1"/>
          <p:nvPr/>
        </p:nvSpPr>
        <p:spPr>
          <a:xfrm>
            <a:off x="822960" y="4389120"/>
            <a:ext cx="4882896" cy="822960"/>
          </a:xfrm>
          <a:prstGeom prst="roundRect">
            <a:avLst>
              <a:gd name="adj" fmla="val 1111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Student.objects.filter(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department__name="MCA")</a:t>
            </a:r>
            <a:endParaRPr lang="en-US" sz="1400" dirty="0"/>
          </a:p>
        </p:txBody>
      </p:sp>
      <p:sp>
        <p:nvSpPr>
          <p:cNvPr id="15" name="Text 12"/>
          <p:cNvSpPr txBox="1"/>
          <p:nvPr/>
        </p:nvSpPr>
        <p:spPr>
          <a:xfrm>
            <a:off x="822960" y="5349240"/>
            <a:ext cx="4846320" cy="685800"/>
          </a:xfrm>
          <a:prstGeom prst="rect">
            <a:avLst/>
          </a:prstGeom>
          <a:noFill/>
          <a:ln/>
        </p:spPr>
        <p:txBody>
          <a:bodyPr wrap="square" lIns="0" tIns="0" rIns="0" bIns="0" rtlCol="0" anchor="t"/>
          <a:lstStyle/>
          <a:p>
            <a:pPr indent="0" marL="0">
              <a:buNone/>
            </a:pPr>
            <a:r>
              <a:rPr lang="en-US" sz="1500" dirty="0">
                <a:solidFill>
                  <a:schemeClr val="tx1"/>
                </a:solidFill>
              </a:rPr>
              <a:t>Two underscores walk through the relation. Django writes the JOIN.</a:t>
            </a:r>
            <a:endParaRPr lang="en-US" sz="1500" dirty="0"/>
          </a:p>
        </p:txBody>
      </p:sp>
      <p:sp>
        <p:nvSpPr>
          <p:cNvPr id="16" name="relation-card"/>
          <p:cNvSpPr/>
          <p:nvPr/>
        </p:nvSpPr>
        <p:spPr>
          <a:xfrm>
            <a:off x="6208776" y="3794760"/>
            <a:ext cx="5431536" cy="2286000"/>
          </a:xfrm>
          <a:prstGeom prst="roundRect">
            <a:avLst>
              <a:gd name="adj" fmla="val 4800"/>
            </a:avLst>
          </a:prstGeom>
          <a:solidFill>
            <a:schemeClr val="bg2"/>
          </a:solidFill>
          <a:ln/>
        </p:spPr>
      </p:sp>
      <p:sp>
        <p:nvSpPr>
          <p:cNvPr id="17" name="Text 14"/>
          <p:cNvSpPr txBox="1"/>
          <p:nvPr/>
        </p:nvSpPr>
        <p:spPr>
          <a:xfrm>
            <a:off x="6483096" y="3931920"/>
            <a:ext cx="4846320" cy="365760"/>
          </a:xfrm>
          <a:prstGeom prst="rect">
            <a:avLst/>
          </a:prstGeom>
          <a:noFill/>
          <a:ln/>
        </p:spPr>
        <p:txBody>
          <a:bodyPr wrap="square" lIns="0" tIns="0" rIns="0" bIns="0" rtlCol="0" anchor="t"/>
          <a:lstStyle/>
          <a:p>
            <a:pPr indent="0" marL="0">
              <a:buNone/>
            </a:pPr>
            <a:r>
              <a:rPr lang="en-US" sz="1900" b="1" dirty="0">
                <a:solidFill>
                  <a:schemeClr val="tx2"/>
                </a:solidFill>
              </a:rPr>
              <a:t>Many to many</a:t>
            </a:r>
            <a:endParaRPr lang="en-US" sz="1900" dirty="0"/>
          </a:p>
        </p:txBody>
      </p:sp>
      <p:sp>
        <p:nvSpPr>
          <p:cNvPr id="18" name="orm-snippet"/>
          <p:cNvSpPr txBox="1"/>
          <p:nvPr/>
        </p:nvSpPr>
        <p:spPr>
          <a:xfrm>
            <a:off x="6483096" y="4389120"/>
            <a:ext cx="4882896" cy="822960"/>
          </a:xfrm>
          <a:prstGeom prst="roundRect">
            <a:avLst>
              <a:gd name="adj" fmla="val 1111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student.courses.add(course)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student.courses.all()</a:t>
            </a:r>
            <a:endParaRPr lang="en-US" sz="1400" dirty="0"/>
          </a:p>
        </p:txBody>
      </p:sp>
      <p:sp>
        <p:nvSpPr>
          <p:cNvPr id="19" name="Text 16"/>
          <p:cNvSpPr txBox="1"/>
          <p:nvPr/>
        </p:nvSpPr>
        <p:spPr>
          <a:xfrm>
            <a:off x="6483096" y="5349240"/>
            <a:ext cx="4846320" cy="685800"/>
          </a:xfrm>
          <a:prstGeom prst="rect">
            <a:avLst/>
          </a:prstGeom>
          <a:noFill/>
          <a:ln/>
        </p:spPr>
        <p:txBody>
          <a:bodyPr wrap="square" lIns="0" tIns="0" rIns="0" bIns="0" rtlCol="0" anchor="t"/>
          <a:lstStyle/>
          <a:p>
            <a:pPr indent="0" marL="0">
              <a:buNone/>
            </a:pPr>
            <a:r>
              <a:rPr lang="en-US" sz="1500" dirty="0">
                <a:solidFill>
                  <a:schemeClr val="tx1"/>
                </a:solidFill>
              </a:rPr>
              <a:t>add() links two rows. all() lists everything linked.</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Try it: the ORM in the shell</a:t>
            </a:r>
            <a:endParaRPr lang="en-US" sz="3600" dirty="0"/>
          </a:p>
        </p:txBody>
      </p:sp>
      <p:sp>
        <p:nvSpPr>
          <p:cNvPr id="4" name="shell-code"/>
          <p:cNvSpPr txBox="1"/>
          <p:nvPr/>
        </p:nvSpPr>
        <p:spPr>
          <a:xfrm>
            <a:off x="548640" y="1371600"/>
            <a:ext cx="6858000" cy="3840480"/>
          </a:xfrm>
          <a:prstGeom prst="roundRect">
            <a:avLst>
              <a:gd name="adj" fmla="val 238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&gt;&gt;&gt; from items.models import 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&gt;&gt;&gt; Item.objects.create(name="Notebook", price=60)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&lt;Item: Notebook&gt;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&gt;&gt;&gt; Item.objects.create(name="Pen", price=10, quantity=100)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&lt;Item: Pen&gt;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&gt;&gt;&gt; Item.objects.all()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&lt;QuerySet [&lt;Item: Notebook&gt;, &lt;Item: Pen&gt;]&gt;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&gt;&gt;&gt; Item.objects.filter(price__gt=20)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&lt;QuerySet [&lt;Item: Notebook&gt;]&gt;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&gt;&gt;&gt; Item.objects.get(name="Pen").price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Decimal('10.00')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&gt;&gt;&gt; Item.objects.count()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&gt;&gt;&gt; Item.objects.get(name="Nope")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DoesNotExist: Item matching query does not exist.</a:t>
            </a:r>
            <a:endParaRPr lang="en-US" sz="1400" dirty="0"/>
          </a:p>
        </p:txBody>
      </p:sp>
      <p:sp>
        <p:nvSpPr>
          <p:cNvPr id="5" name="step-card"/>
          <p:cNvSpPr/>
          <p:nvPr/>
        </p:nvSpPr>
        <p:spPr>
          <a:xfrm>
            <a:off x="7635240" y="1371600"/>
            <a:ext cx="4005072" cy="1280160"/>
          </a:xfrm>
          <a:prstGeom prst="roundRect">
            <a:avLst>
              <a:gd name="adj" fmla="val 8571"/>
            </a:avLst>
          </a:prstGeom>
          <a:solidFill>
            <a:schemeClr val="bg2"/>
          </a:solidFill>
          <a:ln/>
        </p:spPr>
      </p:sp>
      <p:sp>
        <p:nvSpPr>
          <p:cNvPr id="6" name="Text 3"/>
          <p:cNvSpPr txBox="1"/>
          <p:nvPr/>
        </p:nvSpPr>
        <p:spPr>
          <a:xfrm>
            <a:off x="7863840" y="14630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1. Open the shell</a:t>
            </a:r>
            <a:endParaRPr lang="en-US" sz="1800" dirty="0"/>
          </a:p>
        </p:txBody>
      </p:sp>
      <p:sp>
        <p:nvSpPr>
          <p:cNvPr id="7" name="command"/>
          <p:cNvSpPr txBox="1"/>
          <p:nvPr/>
        </p:nvSpPr>
        <p:spPr>
          <a:xfrm>
            <a:off x="7863840" y="1920240"/>
            <a:ext cx="3566160" cy="502920"/>
          </a:xfrm>
          <a:prstGeom prst="roundRect">
            <a:avLst>
              <a:gd name="adj" fmla="val 181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shell</a:t>
            </a:r>
            <a:endParaRPr lang="en-US" sz="1400" dirty="0"/>
          </a:p>
        </p:txBody>
      </p:sp>
      <p:sp>
        <p:nvSpPr>
          <p:cNvPr id="8" name="step-card"/>
          <p:cNvSpPr/>
          <p:nvPr/>
        </p:nvSpPr>
        <p:spPr>
          <a:xfrm>
            <a:off x="7635240" y="2834640"/>
            <a:ext cx="4005072" cy="1920240"/>
          </a:xfrm>
          <a:prstGeom prst="roundRect">
            <a:avLst>
              <a:gd name="adj" fmla="val 5714"/>
            </a:avLst>
          </a:prstGeom>
          <a:solidFill>
            <a:schemeClr val="bg2"/>
          </a:solidFill>
          <a:ln/>
        </p:spPr>
      </p:sp>
      <p:sp>
        <p:nvSpPr>
          <p:cNvPr id="9" name="Text 6"/>
          <p:cNvSpPr txBox="1"/>
          <p:nvPr/>
        </p:nvSpPr>
        <p:spPr>
          <a:xfrm>
            <a:off x="7863840" y="2926080"/>
            <a:ext cx="3566160" cy="365760"/>
          </a:xfrm>
          <a:prstGeom prst="rect">
            <a:avLst/>
          </a:prstGeom>
          <a:noFill/>
          <a:ln/>
        </p:spPr>
        <p:txBody>
          <a:bodyPr wrap="square" lIns="0" tIns="0" rIns="0" bIns="0" rtlCol="0" anchor="t"/>
          <a:lstStyle/>
          <a:p>
            <a:pPr indent="0" marL="0">
              <a:buNone/>
            </a:pPr>
            <a:r>
              <a:rPr lang="en-US" sz="1800" b="1" dirty="0">
                <a:solidFill>
                  <a:schemeClr val="tx2"/>
                </a:solidFill>
              </a:rPr>
              <a:t>2. See the SQL behind a query</a:t>
            </a:r>
            <a:endParaRPr lang="en-US" sz="1800" dirty="0"/>
          </a:p>
        </p:txBody>
      </p:sp>
      <p:sp>
        <p:nvSpPr>
          <p:cNvPr id="10" name="sql-snippet"/>
          <p:cNvSpPr txBox="1"/>
          <p:nvPr/>
        </p:nvSpPr>
        <p:spPr>
          <a:xfrm>
            <a:off x="7863840" y="3383280"/>
            <a:ext cx="3566160" cy="1234440"/>
          </a:xfrm>
          <a:prstGeom prst="roundRect">
            <a:avLst>
              <a:gd name="adj" fmla="val 740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print(qs.query)</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SELECT ... FROM "items_item"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WHERE "price" &gt; 20</a:t>
            </a:r>
            <a:endParaRPr lang="en-US" sz="1400" dirty="0"/>
          </a:p>
        </p:txBody>
      </p:sp>
      <p:sp>
        <p:nvSpPr>
          <p:cNvPr id="11" name="callout"/>
          <p:cNvSpPr/>
          <p:nvPr/>
        </p:nvSpPr>
        <p:spPr>
          <a:xfrm>
            <a:off x="548640" y="5440680"/>
            <a:ext cx="11091672" cy="640080"/>
          </a:xfrm>
          <a:prstGeom prst="roundRect">
            <a:avLst>
              <a:gd name="adj" fmla="val 17143"/>
            </a:avLst>
          </a:prstGeom>
          <a:solidFill>
            <a:schemeClr val="bg2"/>
          </a:solidFill>
          <a:ln/>
        </p:spPr>
      </p:sp>
      <p:sp>
        <p:nvSpPr>
          <p:cNvPr id="12" name="Text 9"/>
          <p:cNvSpPr txBox="1"/>
          <p:nvPr/>
        </p:nvSpPr>
        <p:spPr>
          <a:xfrm>
            <a:off x="822960" y="5440680"/>
            <a:ext cx="10543032" cy="640080"/>
          </a:xfrm>
          <a:prstGeom prst="rect">
            <a:avLst/>
          </a:prstGeom>
          <a:noFill/>
          <a:ln/>
        </p:spPr>
        <p:txBody>
          <a:bodyPr wrap="square" lIns="0" tIns="0" rIns="0" bIns="0" rtlCol="0" anchor="ctr"/>
          <a:lstStyle/>
          <a:p>
            <a:pPr indent="0" marL="0">
              <a:buNone/>
            </a:pPr>
            <a:r>
              <a:rPr lang="en-US" sz="1600" dirty="0">
                <a:solidFill>
                  <a:schemeClr val="tx1"/>
                </a:solidFill>
              </a:rPr>
              <a:t>Every ORM line becomes SQL. Reading the SQL helps you trust and debug the ORM.</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How the ORM works inside</a:t>
            </a:r>
            <a:endParaRPr lang="en-US" sz="3600" dirty="0"/>
          </a:p>
        </p:txBody>
      </p:sp>
      <p:sp>
        <p:nvSpPr>
          <p:cNvPr id="4" name="diagram-box"/>
          <p:cNvSpPr txBox="1"/>
          <p:nvPr/>
        </p:nvSpPr>
        <p:spPr>
          <a:xfrm>
            <a:off x="548640" y="1417320"/>
            <a:ext cx="2011680" cy="1325880"/>
          </a:xfrm>
          <a:prstGeom prst="roundRect">
            <a:avLst>
              <a:gd name="adj" fmla="val 8276"/>
            </a:avLst>
          </a:prstGeom>
          <a:solidFill>
            <a:schemeClr val="bg2"/>
          </a:solidFill>
          <a:ln/>
        </p:spPr>
        <p:txBody>
          <a:bodyPr wrap="square" lIns="76200" tIns="76200" rIns="76200" bIns="76200" rtlCol="0" anchor="ctr"/>
          <a:lstStyle/>
          <a:p>
            <a:pPr algn="ctr" indent="0" marL="0">
              <a:buNone/>
            </a:pPr>
            <a:r>
              <a:rPr lang="en-US" sz="1900" b="1" dirty="0">
                <a:solidFill>
                  <a:schemeClr val="tx2"/>
                </a:solidFill>
              </a:rPr>
              <a:t>Your code</a:t>
            </a:r>
            <a:endParaRPr lang="en-US" sz="1900" dirty="0"/>
          </a:p>
          <a:p>
            <a:pPr algn="ctr" indent="0" marL="0">
              <a:buNone/>
            </a:pPr>
            <a:r>
              <a:rPr lang="en-US" sz="1400" dirty="0">
                <a:solidFill>
                  <a:schemeClr val="tx2"/>
                </a:solidFill>
              </a:rPr>
              <a:t>calls the manager</a:t>
            </a:r>
            <a:endParaRPr lang="en-US" sz="1900" dirty="0"/>
          </a:p>
        </p:txBody>
      </p:sp>
      <p:sp>
        <p:nvSpPr>
          <p:cNvPr id="5" name="arrow"/>
          <p:cNvSpPr/>
          <p:nvPr/>
        </p:nvSpPr>
        <p:spPr>
          <a:xfrm>
            <a:off x="2560320" y="2080260"/>
            <a:ext cx="256032" cy="0"/>
          </a:xfrm>
          <a:prstGeom prst="line">
            <a:avLst/>
          </a:prstGeom>
          <a:noFill/>
          <a:ln w="28575">
            <a:solidFill>
              <a:schemeClr val="tx2"/>
            </a:solidFill>
            <a:prstDash val="solid"/>
            <a:tailEnd type="triangle"/>
          </a:ln>
        </p:spPr>
      </p:sp>
      <p:sp>
        <p:nvSpPr>
          <p:cNvPr id="6" name="diagram-box"/>
          <p:cNvSpPr txBox="1"/>
          <p:nvPr/>
        </p:nvSpPr>
        <p:spPr>
          <a:xfrm>
            <a:off x="2816352" y="1417320"/>
            <a:ext cx="2011680" cy="1325880"/>
          </a:xfrm>
          <a:prstGeom prst="roundRect">
            <a:avLst>
              <a:gd name="adj" fmla="val 8276"/>
            </a:avLst>
          </a:prstGeom>
          <a:solidFill>
            <a:schemeClr val="bg2"/>
          </a:solidFill>
          <a:ln/>
        </p:spPr>
        <p:txBody>
          <a:bodyPr wrap="square" lIns="76200" tIns="76200" rIns="76200" bIns="76200" rtlCol="0" anchor="ctr"/>
          <a:lstStyle/>
          <a:p>
            <a:pPr algn="ctr" indent="0" marL="0">
              <a:buNone/>
            </a:pPr>
            <a:r>
              <a:rPr lang="en-US" sz="1900" b="1" dirty="0">
                <a:solidFill>
                  <a:schemeClr val="tx2"/>
                </a:solidFill>
              </a:rPr>
              <a:t>QuerySet</a:t>
            </a:r>
            <a:endParaRPr lang="en-US" sz="1900" dirty="0"/>
          </a:p>
          <a:p>
            <a:pPr algn="ctr" indent="0" marL="0">
              <a:buNone/>
            </a:pPr>
            <a:r>
              <a:rPr lang="en-US" sz="1400" dirty="0">
                <a:solidFill>
                  <a:schemeClr val="tx2"/>
                </a:solidFill>
              </a:rPr>
              <a:t>builds the query (lazy)</a:t>
            </a:r>
            <a:endParaRPr lang="en-US" sz="1900" dirty="0"/>
          </a:p>
        </p:txBody>
      </p:sp>
      <p:sp>
        <p:nvSpPr>
          <p:cNvPr id="7" name="arrow"/>
          <p:cNvSpPr/>
          <p:nvPr/>
        </p:nvSpPr>
        <p:spPr>
          <a:xfrm>
            <a:off x="4828032" y="2080260"/>
            <a:ext cx="256032" cy="0"/>
          </a:xfrm>
          <a:prstGeom prst="line">
            <a:avLst/>
          </a:prstGeom>
          <a:noFill/>
          <a:ln w="28575">
            <a:solidFill>
              <a:schemeClr val="tx2"/>
            </a:solidFill>
            <a:prstDash val="solid"/>
            <a:tailEnd type="triangle"/>
          </a:ln>
        </p:spPr>
      </p:sp>
      <p:sp>
        <p:nvSpPr>
          <p:cNvPr id="8" name="diagram-box"/>
          <p:cNvSpPr txBox="1"/>
          <p:nvPr/>
        </p:nvSpPr>
        <p:spPr>
          <a:xfrm>
            <a:off x="5084064" y="1417320"/>
            <a:ext cx="2011680" cy="1325880"/>
          </a:xfrm>
          <a:prstGeom prst="roundRect">
            <a:avLst>
              <a:gd name="adj" fmla="val 8276"/>
            </a:avLst>
          </a:prstGeom>
          <a:solidFill>
            <a:schemeClr val="tx2"/>
          </a:solidFill>
          <a:ln/>
        </p:spPr>
        <p:txBody>
          <a:bodyPr wrap="square" lIns="76200" tIns="76200" rIns="76200" bIns="76200" rtlCol="0" anchor="ctr"/>
          <a:lstStyle/>
          <a:p>
            <a:pPr algn="ctr" indent="0" marL="0">
              <a:buNone/>
            </a:pPr>
            <a:r>
              <a:rPr lang="en-US" sz="1900" b="1" dirty="0">
                <a:solidFill>
                  <a:schemeClr val="bg1"/>
                </a:solidFill>
              </a:rPr>
              <a:t>SQL compiler</a:t>
            </a:r>
            <a:endParaRPr lang="en-US" sz="1900" dirty="0"/>
          </a:p>
          <a:p>
            <a:pPr algn="ctr" indent="0" marL="0">
              <a:buNone/>
            </a:pPr>
            <a:r>
              <a:rPr lang="en-US" sz="1400" dirty="0">
                <a:solidFill>
                  <a:schemeClr val="bg1"/>
                </a:solidFill>
              </a:rPr>
              <a:t>writes SQL and parameters</a:t>
            </a:r>
            <a:endParaRPr lang="en-US" sz="1900" dirty="0"/>
          </a:p>
        </p:txBody>
      </p:sp>
      <p:sp>
        <p:nvSpPr>
          <p:cNvPr id="9" name="arrow"/>
          <p:cNvSpPr/>
          <p:nvPr/>
        </p:nvSpPr>
        <p:spPr>
          <a:xfrm>
            <a:off x="7095744" y="2080260"/>
            <a:ext cx="256032" cy="0"/>
          </a:xfrm>
          <a:prstGeom prst="line">
            <a:avLst/>
          </a:prstGeom>
          <a:noFill/>
          <a:ln w="28575">
            <a:solidFill>
              <a:schemeClr val="tx2"/>
            </a:solidFill>
            <a:prstDash val="solid"/>
            <a:tailEnd type="triangle"/>
          </a:ln>
        </p:spPr>
      </p:sp>
      <p:sp>
        <p:nvSpPr>
          <p:cNvPr id="10" name="diagram-box"/>
          <p:cNvSpPr txBox="1"/>
          <p:nvPr/>
        </p:nvSpPr>
        <p:spPr>
          <a:xfrm>
            <a:off x="7351776" y="1417320"/>
            <a:ext cx="2011680" cy="1325880"/>
          </a:xfrm>
          <a:prstGeom prst="roundRect">
            <a:avLst>
              <a:gd name="adj" fmla="val 8276"/>
            </a:avLst>
          </a:prstGeom>
          <a:solidFill>
            <a:schemeClr val="tx2"/>
          </a:solidFill>
          <a:ln/>
        </p:spPr>
        <p:txBody>
          <a:bodyPr wrap="square" lIns="76200" tIns="76200" rIns="76200" bIns="76200" rtlCol="0" anchor="ctr"/>
          <a:lstStyle/>
          <a:p>
            <a:pPr algn="ctr" indent="0" marL="0">
              <a:buNone/>
            </a:pPr>
            <a:r>
              <a:rPr lang="en-US" sz="1900" b="1" dirty="0">
                <a:solidFill>
                  <a:schemeClr val="bg1"/>
                </a:solidFill>
              </a:rPr>
              <a:t>DB backend</a:t>
            </a:r>
            <a:endParaRPr lang="en-US" sz="1900" dirty="0"/>
          </a:p>
          <a:p>
            <a:pPr algn="ctr" indent="0" marL="0">
              <a:buNone/>
            </a:pPr>
            <a:r>
              <a:rPr lang="en-US" sz="1400" dirty="0">
                <a:solidFill>
                  <a:schemeClr val="bg1"/>
                </a:solidFill>
              </a:rPr>
              <a:t>driver for SQLite, MySQL, PostgreSQL</a:t>
            </a:r>
            <a:endParaRPr lang="en-US" sz="1900" dirty="0"/>
          </a:p>
        </p:txBody>
      </p:sp>
      <p:sp>
        <p:nvSpPr>
          <p:cNvPr id="11" name="arrow"/>
          <p:cNvSpPr/>
          <p:nvPr/>
        </p:nvSpPr>
        <p:spPr>
          <a:xfrm>
            <a:off x="9363456" y="2080260"/>
            <a:ext cx="256032" cy="0"/>
          </a:xfrm>
          <a:prstGeom prst="line">
            <a:avLst/>
          </a:prstGeom>
          <a:noFill/>
          <a:ln w="28575">
            <a:solidFill>
              <a:schemeClr val="tx2"/>
            </a:solidFill>
            <a:prstDash val="solid"/>
            <a:tailEnd type="triangle"/>
          </a:ln>
        </p:spPr>
      </p:sp>
      <p:sp>
        <p:nvSpPr>
          <p:cNvPr id="12" name="diagram-box"/>
          <p:cNvSpPr txBox="1"/>
          <p:nvPr/>
        </p:nvSpPr>
        <p:spPr>
          <a:xfrm>
            <a:off x="9619488" y="1417320"/>
            <a:ext cx="2011680" cy="1325880"/>
          </a:xfrm>
          <a:prstGeom prst="roundRect">
            <a:avLst>
              <a:gd name="adj" fmla="val 8276"/>
            </a:avLst>
          </a:prstGeom>
          <a:solidFill>
            <a:schemeClr val="bg2"/>
          </a:solidFill>
          <a:ln/>
        </p:spPr>
        <p:txBody>
          <a:bodyPr wrap="square" lIns="76200" tIns="76200" rIns="76200" bIns="76200" rtlCol="0" anchor="ctr"/>
          <a:lstStyle/>
          <a:p>
            <a:pPr algn="ctr" indent="0" marL="0">
              <a:buNone/>
            </a:pPr>
            <a:r>
              <a:rPr lang="en-US" sz="1900" b="1" dirty="0">
                <a:solidFill>
                  <a:schemeClr val="tx2"/>
                </a:solidFill>
              </a:rPr>
              <a:t>Database</a:t>
            </a:r>
            <a:endParaRPr lang="en-US" sz="1900" dirty="0"/>
          </a:p>
          <a:p>
            <a:pPr algn="ctr" indent="0" marL="0">
              <a:buNone/>
            </a:pPr>
            <a:r>
              <a:rPr lang="en-US" sz="1400" dirty="0">
                <a:solidFill>
                  <a:schemeClr val="tx2"/>
                </a:solidFill>
              </a:rPr>
              <a:t>runs it and returns rows</a:t>
            </a:r>
            <a:endParaRPr lang="en-US" sz="1900" dirty="0"/>
          </a:p>
        </p:txBody>
      </p:sp>
      <p:sp>
        <p:nvSpPr>
          <p:cNvPr id="13" name="def-card"/>
          <p:cNvSpPr/>
          <p:nvPr/>
        </p:nvSpPr>
        <p:spPr>
          <a:xfrm>
            <a:off x="548640" y="3017520"/>
            <a:ext cx="3566160" cy="1691640"/>
          </a:xfrm>
          <a:prstGeom prst="roundRect">
            <a:avLst>
              <a:gd name="adj" fmla="val 6486"/>
            </a:avLst>
          </a:prstGeom>
          <a:solidFill>
            <a:schemeClr val="bg2"/>
          </a:solidFill>
          <a:ln/>
        </p:spPr>
      </p:sp>
      <p:sp>
        <p:nvSpPr>
          <p:cNvPr id="14" name="Text 11"/>
          <p:cNvSpPr txBox="1"/>
          <p:nvPr/>
        </p:nvSpPr>
        <p:spPr>
          <a:xfrm>
            <a:off x="777240" y="3154680"/>
            <a:ext cx="3108960" cy="365760"/>
          </a:xfrm>
          <a:prstGeom prst="rect">
            <a:avLst/>
          </a:prstGeom>
          <a:noFill/>
          <a:ln/>
        </p:spPr>
        <p:txBody>
          <a:bodyPr wrap="square" lIns="0" tIns="0" rIns="0" bIns="0" rtlCol="0" anchor="t"/>
          <a:lstStyle/>
          <a:p>
            <a:pPr indent="0" marL="0">
              <a:buNone/>
            </a:pPr>
            <a:r>
              <a:rPr lang="en-US" sz="1900" b="1" dirty="0">
                <a:solidFill>
                  <a:schemeClr val="tx2"/>
                </a:solidFill>
              </a:rPr>
              <a:t>Parameters</a:t>
            </a:r>
            <a:endParaRPr lang="en-US" sz="1900" dirty="0"/>
          </a:p>
        </p:txBody>
      </p:sp>
      <p:sp>
        <p:nvSpPr>
          <p:cNvPr id="15" name="Text 12"/>
          <p:cNvSpPr txBox="1"/>
          <p:nvPr/>
        </p:nvSpPr>
        <p:spPr>
          <a:xfrm>
            <a:off x="777240" y="3611880"/>
            <a:ext cx="3108960" cy="1005840"/>
          </a:xfrm>
          <a:prstGeom prst="rect">
            <a:avLst/>
          </a:prstGeom>
          <a:noFill/>
          <a:ln/>
        </p:spPr>
        <p:txBody>
          <a:bodyPr wrap="square" lIns="0" tIns="0" rIns="0" bIns="0" rtlCol="0" anchor="t"/>
          <a:lstStyle/>
          <a:p>
            <a:pPr indent="0" marL="0">
              <a:buNone/>
            </a:pPr>
            <a:r>
              <a:rPr lang="en-US" sz="1500" dirty="0">
                <a:solidFill>
                  <a:schemeClr val="tx1"/>
                </a:solidFill>
              </a:rPr>
              <a:t>Values are sent separately from the SQL text. This is what blocks SQL injection.</a:t>
            </a:r>
            <a:endParaRPr lang="en-US" sz="1500" dirty="0"/>
          </a:p>
        </p:txBody>
      </p:sp>
      <p:sp>
        <p:nvSpPr>
          <p:cNvPr id="16" name="def-card"/>
          <p:cNvSpPr/>
          <p:nvPr/>
        </p:nvSpPr>
        <p:spPr>
          <a:xfrm>
            <a:off x="4311396" y="3017520"/>
            <a:ext cx="3566160" cy="1691640"/>
          </a:xfrm>
          <a:prstGeom prst="roundRect">
            <a:avLst>
              <a:gd name="adj" fmla="val 6486"/>
            </a:avLst>
          </a:prstGeom>
          <a:solidFill>
            <a:schemeClr val="bg2"/>
          </a:solidFill>
          <a:ln/>
        </p:spPr>
      </p:sp>
      <p:sp>
        <p:nvSpPr>
          <p:cNvPr id="17" name="Text 14"/>
          <p:cNvSpPr txBox="1"/>
          <p:nvPr/>
        </p:nvSpPr>
        <p:spPr>
          <a:xfrm>
            <a:off x="4539996" y="3154680"/>
            <a:ext cx="3108960" cy="365760"/>
          </a:xfrm>
          <a:prstGeom prst="rect">
            <a:avLst/>
          </a:prstGeom>
          <a:noFill/>
          <a:ln/>
        </p:spPr>
        <p:txBody>
          <a:bodyPr wrap="square" lIns="0" tIns="0" rIns="0" bIns="0" rtlCol="0" anchor="t"/>
          <a:lstStyle/>
          <a:p>
            <a:pPr indent="0" marL="0">
              <a:buNone/>
            </a:pPr>
            <a:r>
              <a:rPr lang="en-US" sz="1900" b="1" dirty="0">
                <a:solidFill>
                  <a:schemeClr val="tx2"/>
                </a:solidFill>
              </a:rPr>
              <a:t>Database backend</a:t>
            </a:r>
            <a:endParaRPr lang="en-US" sz="1900" dirty="0"/>
          </a:p>
        </p:txBody>
      </p:sp>
      <p:sp>
        <p:nvSpPr>
          <p:cNvPr id="18" name="Text 15"/>
          <p:cNvSpPr txBox="1"/>
          <p:nvPr/>
        </p:nvSpPr>
        <p:spPr>
          <a:xfrm>
            <a:off x="4539996" y="3611880"/>
            <a:ext cx="3108960" cy="1005840"/>
          </a:xfrm>
          <a:prstGeom prst="rect">
            <a:avLst/>
          </a:prstGeom>
          <a:noFill/>
          <a:ln/>
        </p:spPr>
        <p:txBody>
          <a:bodyPr wrap="square" lIns="0" tIns="0" rIns="0" bIns="0" rtlCol="0" anchor="t"/>
          <a:lstStyle/>
          <a:p>
            <a:pPr indent="0" marL="0">
              <a:buNone/>
            </a:pPr>
            <a:r>
              <a:rPr lang="en-US" sz="1500" dirty="0">
                <a:solidFill>
                  <a:schemeClr val="tx1"/>
                </a:solidFill>
              </a:rPr>
              <a:t>The part of Django that speaks one database's dialect, so your code does not change.</a:t>
            </a:r>
            <a:endParaRPr lang="en-US" sz="1500" dirty="0"/>
          </a:p>
        </p:txBody>
      </p:sp>
      <p:sp>
        <p:nvSpPr>
          <p:cNvPr id="19" name="def-card"/>
          <p:cNvSpPr/>
          <p:nvPr/>
        </p:nvSpPr>
        <p:spPr>
          <a:xfrm>
            <a:off x="8074152" y="3017520"/>
            <a:ext cx="3566160" cy="1691640"/>
          </a:xfrm>
          <a:prstGeom prst="roundRect">
            <a:avLst>
              <a:gd name="adj" fmla="val 6486"/>
            </a:avLst>
          </a:prstGeom>
          <a:solidFill>
            <a:schemeClr val="bg2"/>
          </a:solidFill>
          <a:ln/>
        </p:spPr>
      </p:sp>
      <p:sp>
        <p:nvSpPr>
          <p:cNvPr id="20" name="Text 17"/>
          <p:cNvSpPr txBox="1"/>
          <p:nvPr/>
        </p:nvSpPr>
        <p:spPr>
          <a:xfrm>
            <a:off x="8302752" y="3154680"/>
            <a:ext cx="3108960" cy="365760"/>
          </a:xfrm>
          <a:prstGeom prst="rect">
            <a:avLst/>
          </a:prstGeom>
          <a:noFill/>
          <a:ln/>
        </p:spPr>
        <p:txBody>
          <a:bodyPr wrap="square" lIns="0" tIns="0" rIns="0" bIns="0" rtlCol="0" anchor="t"/>
          <a:lstStyle/>
          <a:p>
            <a:pPr indent="0" marL="0">
              <a:buNone/>
            </a:pPr>
            <a:r>
              <a:rPr lang="en-US" sz="1900" b="1" dirty="0">
                <a:solidFill>
                  <a:schemeClr val="tx2"/>
                </a:solidFill>
              </a:rPr>
              <a:t>Model instance</a:t>
            </a:r>
            <a:endParaRPr lang="en-US" sz="1900" dirty="0"/>
          </a:p>
        </p:txBody>
      </p:sp>
      <p:sp>
        <p:nvSpPr>
          <p:cNvPr id="21" name="Text 18"/>
          <p:cNvSpPr txBox="1"/>
          <p:nvPr/>
        </p:nvSpPr>
        <p:spPr>
          <a:xfrm>
            <a:off x="8302752" y="3611880"/>
            <a:ext cx="3108960" cy="1005840"/>
          </a:xfrm>
          <a:prstGeom prst="rect">
            <a:avLst/>
          </a:prstGeom>
          <a:noFill/>
          <a:ln/>
        </p:spPr>
        <p:txBody>
          <a:bodyPr wrap="square" lIns="0" tIns="0" rIns="0" bIns="0" rtlCol="0" anchor="t"/>
          <a:lstStyle/>
          <a:p>
            <a:pPr indent="0" marL="0">
              <a:buNone/>
            </a:pPr>
            <a:r>
              <a:rPr lang="en-US" sz="1500" dirty="0">
                <a:solidFill>
                  <a:schemeClr val="tx1"/>
                </a:solidFill>
              </a:rPr>
              <a:t>Every row that comes back is turned into a Python object of your model class.</a:t>
            </a:r>
            <a:endParaRPr lang="en-US" sz="1500" dirty="0"/>
          </a:p>
        </p:txBody>
      </p:sp>
      <p:sp>
        <p:nvSpPr>
          <p:cNvPr id="22" name="flow-code"/>
          <p:cNvSpPr txBox="1"/>
          <p:nvPr/>
        </p:nvSpPr>
        <p:spPr>
          <a:xfrm>
            <a:off x="548640" y="4937760"/>
            <a:ext cx="11091672" cy="1097280"/>
          </a:xfrm>
          <a:prstGeom prst="roundRect">
            <a:avLst>
              <a:gd name="adj" fmla="val 8333"/>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Item.objects.filter(price__gt=20)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-&gt; SELECT ... FROM "items_item" WHERE "price" &gt; ?     params: (20,)</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SQL to Django ORM cheat sheet</a:t>
            </a:r>
            <a:endParaRPr lang="en-US" sz="36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4114800"/>
                <a:gridCol w="6976872"/>
              </a:tblGrid>
              <a:tr h="393192">
                <a:tc>
                  <a:txBody>
                    <a:bodyPr/>
                    <a:lstStyle/>
                    <a:p>
                      <a:pPr indent="0" marL="0">
                        <a:buNone/>
                      </a:pPr>
                      <a:r>
                        <a:rPr lang="en-US" sz="1600" b="1" dirty="0">
                          <a:solidFill>
                            <a:schemeClr val="bg1"/>
                          </a:solidFill>
                        </a:rPr>
                        <a:t>SQL</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ORM</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SELECT * FROM items_item</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Item.objects.all()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WHERE price &gt; 20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Item.objects.filter(price__gt=20)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WHERE price &lt; 20 OR quantity = 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Item.objects.filter(Q(price__lt=20) | Q(quantity=0))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ORDER BY price DESC</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Item.objects.order_by("-price")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LIMIT 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Item.objects.all()[:3]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SELECT COUNT(*)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Item.objects.count()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GROUP BY is_available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Item.objects.values("is_available").annotate(n=Count("id"))</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INSERT INTO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Item.objects.create(name="Pen", price=10)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UPDATE ... SET quantity = 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Item.objects.filter(...).update(quantity=0)</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DELETE FROM ... WHERE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Item.objects.filter(...).delete()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JOIN departments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Student.objects.filter(department__name="MCA")</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ORM: creating objects</a:t>
            </a:r>
            <a:endParaRPr lang="en-US" sz="3600" dirty="0"/>
          </a:p>
        </p:txBody>
      </p:sp>
      <p:sp>
        <p:nvSpPr>
          <p:cNvPr id="4" name="row-card"/>
          <p:cNvSpPr/>
          <p:nvPr/>
        </p:nvSpPr>
        <p:spPr>
          <a:xfrm>
            <a:off x="548640" y="1371600"/>
            <a:ext cx="11091672" cy="1097280"/>
          </a:xfrm>
          <a:prstGeom prst="roundRect">
            <a:avLst>
              <a:gd name="adj" fmla="val 10000"/>
            </a:avLst>
          </a:prstGeom>
          <a:solidFill>
            <a:schemeClr val="bg2"/>
          </a:solidFill>
          <a:ln/>
        </p:spPr>
      </p:sp>
      <p:sp>
        <p:nvSpPr>
          <p:cNvPr id="5" name="Text 2"/>
          <p:cNvSpPr txBox="1"/>
          <p:nvPr/>
        </p:nvSpPr>
        <p:spPr>
          <a:xfrm>
            <a:off x="777240" y="1371600"/>
            <a:ext cx="2286000" cy="1097280"/>
          </a:xfrm>
          <a:prstGeom prst="rect">
            <a:avLst/>
          </a:prstGeom>
          <a:noFill/>
          <a:ln/>
        </p:spPr>
        <p:txBody>
          <a:bodyPr wrap="square" lIns="0" tIns="0" rIns="0" bIns="0" rtlCol="0" anchor="ctr"/>
          <a:lstStyle/>
          <a:p>
            <a:pPr indent="0" marL="0">
              <a:buNone/>
            </a:pPr>
            <a:r>
              <a:rPr lang="en-US" sz="1800" b="1" dirty="0">
                <a:solidFill>
                  <a:schemeClr val="tx2"/>
                </a:solidFill>
              </a:rPr>
              <a:t>Build, then save</a:t>
            </a:r>
            <a:endParaRPr lang="en-US" sz="1800" dirty="0"/>
          </a:p>
        </p:txBody>
      </p:sp>
      <p:sp>
        <p:nvSpPr>
          <p:cNvPr id="6" name="orm-snippet"/>
          <p:cNvSpPr txBox="1"/>
          <p:nvPr/>
        </p:nvSpPr>
        <p:spPr>
          <a:xfrm>
            <a:off x="3063240" y="1499616"/>
            <a:ext cx="5394960" cy="841248"/>
          </a:xfrm>
          <a:prstGeom prst="roundRect">
            <a:avLst>
              <a:gd name="adj" fmla="val 1087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 = Item(name="Pen", price=10)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item.save()</a:t>
            </a:r>
            <a:endParaRPr lang="en-US" sz="1400" dirty="0"/>
          </a:p>
        </p:txBody>
      </p:sp>
      <p:sp>
        <p:nvSpPr>
          <p:cNvPr id="7" name="Text 4"/>
          <p:cNvSpPr txBox="1"/>
          <p:nvPr/>
        </p:nvSpPr>
        <p:spPr>
          <a:xfrm>
            <a:off x="8686800" y="1371600"/>
            <a:ext cx="2834640" cy="1097280"/>
          </a:xfrm>
          <a:prstGeom prst="rect">
            <a:avLst/>
          </a:prstGeom>
          <a:noFill/>
          <a:ln/>
        </p:spPr>
        <p:txBody>
          <a:bodyPr wrap="square" lIns="0" tIns="0" rIns="0" bIns="0" rtlCol="0" anchor="ctr"/>
          <a:lstStyle/>
          <a:p>
            <a:pPr indent="0" marL="0">
              <a:buNone/>
            </a:pPr>
            <a:r>
              <a:rPr lang="en-US" sz="1500" dirty="0">
                <a:solidFill>
                  <a:schemeClr val="tx1"/>
                </a:solidFill>
              </a:rPr>
              <a:t>Build the object, then save it. Good when you change it before saving.</a:t>
            </a:r>
            <a:endParaRPr lang="en-US" sz="1500" dirty="0"/>
          </a:p>
        </p:txBody>
      </p:sp>
      <p:sp>
        <p:nvSpPr>
          <p:cNvPr id="8" name="row-card"/>
          <p:cNvSpPr/>
          <p:nvPr/>
        </p:nvSpPr>
        <p:spPr>
          <a:xfrm>
            <a:off x="548640" y="2560320"/>
            <a:ext cx="11091672" cy="1097280"/>
          </a:xfrm>
          <a:prstGeom prst="roundRect">
            <a:avLst>
              <a:gd name="adj" fmla="val 10000"/>
            </a:avLst>
          </a:prstGeom>
          <a:solidFill>
            <a:schemeClr val="bg2"/>
          </a:solidFill>
          <a:ln/>
        </p:spPr>
      </p:sp>
      <p:sp>
        <p:nvSpPr>
          <p:cNvPr id="9" name="Text 6"/>
          <p:cNvSpPr txBox="1"/>
          <p:nvPr/>
        </p:nvSpPr>
        <p:spPr>
          <a:xfrm>
            <a:off x="777240" y="2560320"/>
            <a:ext cx="2286000" cy="1097280"/>
          </a:xfrm>
          <a:prstGeom prst="rect">
            <a:avLst/>
          </a:prstGeom>
          <a:noFill/>
          <a:ln/>
        </p:spPr>
        <p:txBody>
          <a:bodyPr wrap="square" lIns="0" tIns="0" rIns="0" bIns="0" rtlCol="0" anchor="ctr"/>
          <a:lstStyle/>
          <a:p>
            <a:pPr indent="0" marL="0">
              <a:buNone/>
            </a:pPr>
            <a:r>
              <a:rPr lang="en-US" sz="1800" b="1" dirty="0">
                <a:solidFill>
                  <a:schemeClr val="tx2"/>
                </a:solidFill>
              </a:rPr>
              <a:t>create()</a:t>
            </a:r>
            <a:endParaRPr lang="en-US" sz="1800" dirty="0"/>
          </a:p>
        </p:txBody>
      </p:sp>
      <p:sp>
        <p:nvSpPr>
          <p:cNvPr id="10" name="orm-snippet"/>
          <p:cNvSpPr txBox="1"/>
          <p:nvPr/>
        </p:nvSpPr>
        <p:spPr>
          <a:xfrm>
            <a:off x="3063240" y="2688336"/>
            <a:ext cx="5394960" cy="841248"/>
          </a:xfrm>
          <a:prstGeom prst="roundRect">
            <a:avLst>
              <a:gd name="adj" fmla="val 1087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Item.objects.create(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name="Pen", price=10)</a:t>
            </a:r>
            <a:endParaRPr lang="en-US" sz="1400" dirty="0"/>
          </a:p>
        </p:txBody>
      </p:sp>
      <p:sp>
        <p:nvSpPr>
          <p:cNvPr id="11" name="Text 8"/>
          <p:cNvSpPr txBox="1"/>
          <p:nvPr/>
        </p:nvSpPr>
        <p:spPr>
          <a:xfrm>
            <a:off x="8686800" y="2560320"/>
            <a:ext cx="2834640" cy="1097280"/>
          </a:xfrm>
          <a:prstGeom prst="rect">
            <a:avLst/>
          </a:prstGeom>
          <a:noFill/>
          <a:ln/>
        </p:spPr>
        <p:txBody>
          <a:bodyPr wrap="square" lIns="0" tIns="0" rIns="0" bIns="0" rtlCol="0" anchor="ctr"/>
          <a:lstStyle/>
          <a:p>
            <a:pPr indent="0" marL="0">
              <a:buNone/>
            </a:pPr>
            <a:r>
              <a:rPr lang="en-US" sz="1500" dirty="0">
                <a:solidFill>
                  <a:schemeClr val="tx1"/>
                </a:solidFill>
              </a:rPr>
              <a:t>Build and save in one step.</a:t>
            </a:r>
            <a:endParaRPr lang="en-US" sz="1500" dirty="0"/>
          </a:p>
        </p:txBody>
      </p:sp>
      <p:sp>
        <p:nvSpPr>
          <p:cNvPr id="12" name="row-card"/>
          <p:cNvSpPr/>
          <p:nvPr/>
        </p:nvSpPr>
        <p:spPr>
          <a:xfrm>
            <a:off x="548640" y="3749040"/>
            <a:ext cx="11091672" cy="1097280"/>
          </a:xfrm>
          <a:prstGeom prst="roundRect">
            <a:avLst>
              <a:gd name="adj" fmla="val 10000"/>
            </a:avLst>
          </a:prstGeom>
          <a:solidFill>
            <a:schemeClr val="bg2"/>
          </a:solidFill>
          <a:ln/>
        </p:spPr>
      </p:sp>
      <p:sp>
        <p:nvSpPr>
          <p:cNvPr id="13" name="Text 10"/>
          <p:cNvSpPr txBox="1"/>
          <p:nvPr/>
        </p:nvSpPr>
        <p:spPr>
          <a:xfrm>
            <a:off x="777240" y="3749040"/>
            <a:ext cx="2286000" cy="1097280"/>
          </a:xfrm>
          <a:prstGeom prst="rect">
            <a:avLst/>
          </a:prstGeom>
          <a:noFill/>
          <a:ln/>
        </p:spPr>
        <p:txBody>
          <a:bodyPr wrap="square" lIns="0" tIns="0" rIns="0" bIns="0" rtlCol="0" anchor="ctr"/>
          <a:lstStyle/>
          <a:p>
            <a:pPr indent="0" marL="0">
              <a:buNone/>
            </a:pPr>
            <a:r>
              <a:rPr lang="en-US" sz="1800" b="1" dirty="0">
                <a:solidFill>
                  <a:schemeClr val="tx2"/>
                </a:solidFill>
              </a:rPr>
              <a:t>bulk_create()</a:t>
            </a:r>
            <a:endParaRPr lang="en-US" sz="1800" dirty="0"/>
          </a:p>
        </p:txBody>
      </p:sp>
      <p:sp>
        <p:nvSpPr>
          <p:cNvPr id="14" name="orm-snippet"/>
          <p:cNvSpPr txBox="1"/>
          <p:nvPr/>
        </p:nvSpPr>
        <p:spPr>
          <a:xfrm>
            <a:off x="3063240" y="3877056"/>
            <a:ext cx="5394960" cy="841248"/>
          </a:xfrm>
          <a:prstGeom prst="roundRect">
            <a:avLst>
              <a:gd name="adj" fmla="val 1087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Item.objects.bulk_create([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 Item(...)])</a:t>
            </a:r>
            <a:endParaRPr lang="en-US" sz="1400" dirty="0"/>
          </a:p>
        </p:txBody>
      </p:sp>
      <p:sp>
        <p:nvSpPr>
          <p:cNvPr id="15" name="Text 12"/>
          <p:cNvSpPr txBox="1"/>
          <p:nvPr/>
        </p:nvSpPr>
        <p:spPr>
          <a:xfrm>
            <a:off x="8686800" y="3749040"/>
            <a:ext cx="2834640" cy="1097280"/>
          </a:xfrm>
          <a:prstGeom prst="rect">
            <a:avLst/>
          </a:prstGeom>
          <a:noFill/>
          <a:ln/>
        </p:spPr>
        <p:txBody>
          <a:bodyPr wrap="square" lIns="0" tIns="0" rIns="0" bIns="0" rtlCol="0" anchor="ctr"/>
          <a:lstStyle/>
          <a:p>
            <a:pPr indent="0" marL="0">
              <a:buNone/>
            </a:pPr>
            <a:r>
              <a:rPr lang="en-US" sz="1500" dirty="0">
                <a:solidFill>
                  <a:schemeClr val="tx1"/>
                </a:solidFill>
              </a:rPr>
              <a:t>Insert many rows with ONE query. Much faster than a loop of create().</a:t>
            </a:r>
            <a:endParaRPr lang="en-US" sz="1500" dirty="0"/>
          </a:p>
        </p:txBody>
      </p:sp>
      <p:sp>
        <p:nvSpPr>
          <p:cNvPr id="16" name="row-card"/>
          <p:cNvSpPr/>
          <p:nvPr/>
        </p:nvSpPr>
        <p:spPr>
          <a:xfrm>
            <a:off x="548640" y="4937760"/>
            <a:ext cx="11091672" cy="1097280"/>
          </a:xfrm>
          <a:prstGeom prst="roundRect">
            <a:avLst>
              <a:gd name="adj" fmla="val 10000"/>
            </a:avLst>
          </a:prstGeom>
          <a:solidFill>
            <a:schemeClr val="bg2"/>
          </a:solidFill>
          <a:ln/>
        </p:spPr>
      </p:sp>
      <p:sp>
        <p:nvSpPr>
          <p:cNvPr id="17" name="Text 14"/>
          <p:cNvSpPr txBox="1"/>
          <p:nvPr/>
        </p:nvSpPr>
        <p:spPr>
          <a:xfrm>
            <a:off x="777240" y="4937760"/>
            <a:ext cx="2286000" cy="1097280"/>
          </a:xfrm>
          <a:prstGeom prst="rect">
            <a:avLst/>
          </a:prstGeom>
          <a:noFill/>
          <a:ln/>
        </p:spPr>
        <p:txBody>
          <a:bodyPr wrap="square" lIns="0" tIns="0" rIns="0" bIns="0" rtlCol="0" anchor="ctr"/>
          <a:lstStyle/>
          <a:p>
            <a:pPr indent="0" marL="0">
              <a:buNone/>
            </a:pPr>
            <a:r>
              <a:rPr lang="en-US" sz="1800" b="1" dirty="0">
                <a:solidFill>
                  <a:schemeClr val="tx2"/>
                </a:solidFill>
              </a:rPr>
              <a:t>get_or_create()</a:t>
            </a:r>
            <a:endParaRPr lang="en-US" sz="1800" dirty="0"/>
          </a:p>
        </p:txBody>
      </p:sp>
      <p:sp>
        <p:nvSpPr>
          <p:cNvPr id="18" name="orm-snippet"/>
          <p:cNvSpPr txBox="1"/>
          <p:nvPr/>
        </p:nvSpPr>
        <p:spPr>
          <a:xfrm>
            <a:off x="3063240" y="5065776"/>
            <a:ext cx="5394960" cy="841248"/>
          </a:xfrm>
          <a:prstGeom prst="roundRect">
            <a:avLst>
              <a:gd name="adj" fmla="val 1087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 created = Item.objects.get_or_create(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name="Pen", defaults={"price": 5})</a:t>
            </a:r>
            <a:endParaRPr lang="en-US" sz="1400" dirty="0"/>
          </a:p>
        </p:txBody>
      </p:sp>
      <p:sp>
        <p:nvSpPr>
          <p:cNvPr id="19" name="Text 16"/>
          <p:cNvSpPr txBox="1"/>
          <p:nvPr/>
        </p:nvSpPr>
        <p:spPr>
          <a:xfrm>
            <a:off x="8686800" y="4937760"/>
            <a:ext cx="2834640" cy="1097280"/>
          </a:xfrm>
          <a:prstGeom prst="rect">
            <a:avLst/>
          </a:prstGeom>
          <a:noFill/>
          <a:ln/>
        </p:spPr>
        <p:txBody>
          <a:bodyPr wrap="square" lIns="0" tIns="0" rIns="0" bIns="0" rtlCol="0" anchor="ctr"/>
          <a:lstStyle/>
          <a:p>
            <a:pPr indent="0" marL="0">
              <a:buNone/>
            </a:pPr>
            <a:r>
              <a:rPr lang="en-US" sz="1500" dirty="0">
                <a:solidFill>
                  <a:schemeClr val="tx1"/>
                </a:solidFill>
              </a:rPr>
              <a:t>Get the row if it exists, otherwise create it. Returns (object, created).</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ORM: get() vs filter()</a:t>
            </a:r>
            <a:endParaRPr lang="en-US" sz="3600" dirty="0"/>
          </a:p>
        </p:txBody>
      </p:sp>
      <p:sp>
        <p:nvSpPr>
          <p:cNvPr id="4" name="compare-card"/>
          <p:cNvSpPr/>
          <p:nvPr/>
        </p:nvSpPr>
        <p:spPr>
          <a:xfrm>
            <a:off x="548640" y="1371600"/>
            <a:ext cx="5431536" cy="2240280"/>
          </a:xfrm>
          <a:prstGeom prst="roundRect">
            <a:avLst>
              <a:gd name="adj" fmla="val 4898"/>
            </a:avLst>
          </a:prstGeom>
          <a:solidFill>
            <a:schemeClr val="tx2"/>
          </a:solidFill>
          <a:ln/>
        </p:spPr>
      </p:sp>
      <p:sp>
        <p:nvSpPr>
          <p:cNvPr id="5" name="Text 2"/>
          <p:cNvSpPr txBox="1"/>
          <p:nvPr/>
        </p:nvSpPr>
        <p:spPr>
          <a:xfrm>
            <a:off x="822960" y="1508760"/>
            <a:ext cx="4846320" cy="411480"/>
          </a:xfrm>
          <a:prstGeom prst="rect">
            <a:avLst/>
          </a:prstGeom>
          <a:noFill/>
          <a:ln/>
        </p:spPr>
        <p:txBody>
          <a:bodyPr wrap="square" lIns="0" tIns="0" rIns="0" bIns="0" rtlCol="0" anchor="t"/>
          <a:lstStyle/>
          <a:p>
            <a:pPr indent="0" marL="0">
              <a:buNone/>
            </a:pPr>
            <a:r>
              <a:rPr lang="en-US" sz="2200" b="1" dirty="0">
                <a:solidFill>
                  <a:schemeClr val="bg1"/>
                </a:solidFill>
              </a:rPr>
              <a:t>get(): exactly one</a:t>
            </a:r>
            <a:endParaRPr lang="en-US" sz="2200" dirty="0"/>
          </a:p>
        </p:txBody>
      </p:sp>
      <p:sp>
        <p:nvSpPr>
          <p:cNvPr id="6" name="Text 3"/>
          <p:cNvSpPr txBox="1"/>
          <p:nvPr/>
        </p:nvSpPr>
        <p:spPr>
          <a:xfrm>
            <a:off x="822960" y="2011680"/>
            <a:ext cx="4846320"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bg1"/>
                </a:solidFill>
              </a:rPr>
              <a:t>Returns one object</a:t>
            </a:r>
            <a:endParaRPr lang="en-US" sz="1500" dirty="0"/>
          </a:p>
          <a:p>
            <a:pPr marL="342900" indent="-342900">
              <a:spcAft>
                <a:spcPts val="500"/>
              </a:spcAft>
              <a:buSzPct val="100000"/>
              <a:buChar char="•"/>
            </a:pPr>
            <a:r>
              <a:rPr lang="en-US" sz="1500" dirty="0">
                <a:solidFill>
                  <a:schemeClr val="bg1"/>
                </a:solidFill>
              </a:rPr>
              <a:t>Raises DoesNotExist if there is none</a:t>
            </a:r>
            <a:endParaRPr lang="en-US" sz="1500" dirty="0"/>
          </a:p>
          <a:p>
            <a:pPr marL="342900" indent="-342900">
              <a:spcAft>
                <a:spcPts val="500"/>
              </a:spcAft>
              <a:buSzPct val="100000"/>
              <a:buChar char="•"/>
            </a:pPr>
            <a:r>
              <a:rPr lang="en-US" sz="1500" dirty="0">
                <a:solidFill>
                  <a:schemeClr val="bg1"/>
                </a:solidFill>
              </a:rPr>
              <a:t>Raises MultipleObjectsReturned if there are many</a:t>
            </a:r>
            <a:endParaRPr lang="en-US" sz="1500" dirty="0"/>
          </a:p>
        </p:txBody>
      </p:sp>
      <p:sp>
        <p:nvSpPr>
          <p:cNvPr id="7" name="compare-card"/>
          <p:cNvSpPr/>
          <p:nvPr/>
        </p:nvSpPr>
        <p:spPr>
          <a:xfrm>
            <a:off x="6208776" y="1371600"/>
            <a:ext cx="5431536" cy="2240280"/>
          </a:xfrm>
          <a:prstGeom prst="roundRect">
            <a:avLst>
              <a:gd name="adj" fmla="val 4898"/>
            </a:avLst>
          </a:prstGeom>
          <a:solidFill>
            <a:schemeClr val="bg2"/>
          </a:solidFill>
          <a:ln/>
        </p:spPr>
      </p:sp>
      <p:sp>
        <p:nvSpPr>
          <p:cNvPr id="8" name="Text 5"/>
          <p:cNvSpPr txBox="1"/>
          <p:nvPr/>
        </p:nvSpPr>
        <p:spPr>
          <a:xfrm>
            <a:off x="6483096" y="1508760"/>
            <a:ext cx="4846320" cy="411480"/>
          </a:xfrm>
          <a:prstGeom prst="rect">
            <a:avLst/>
          </a:prstGeom>
          <a:noFill/>
          <a:ln/>
        </p:spPr>
        <p:txBody>
          <a:bodyPr wrap="square" lIns="0" tIns="0" rIns="0" bIns="0" rtlCol="0" anchor="t"/>
          <a:lstStyle/>
          <a:p>
            <a:pPr indent="0" marL="0">
              <a:buNone/>
            </a:pPr>
            <a:r>
              <a:rPr lang="en-US" sz="2200" b="1" dirty="0">
                <a:solidFill>
                  <a:schemeClr val="tx2"/>
                </a:solidFill>
              </a:rPr>
              <a:t>filter(): zero or more</a:t>
            </a:r>
            <a:endParaRPr lang="en-US" sz="2200" dirty="0"/>
          </a:p>
        </p:txBody>
      </p:sp>
      <p:sp>
        <p:nvSpPr>
          <p:cNvPr id="9" name="Text 6"/>
          <p:cNvSpPr txBox="1"/>
          <p:nvPr/>
        </p:nvSpPr>
        <p:spPr>
          <a:xfrm>
            <a:off x="6483096" y="2011680"/>
            <a:ext cx="4846320"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Returns a QuerySet (may be empty)</a:t>
            </a:r>
            <a:endParaRPr lang="en-US" sz="1500" dirty="0"/>
          </a:p>
          <a:p>
            <a:pPr marL="342900" indent="-342900">
              <a:spcAft>
                <a:spcPts val="500"/>
              </a:spcAft>
              <a:buSzPct val="100000"/>
              <a:buChar char="•"/>
            </a:pPr>
            <a:r>
              <a:rPr lang="en-US" sz="1500" dirty="0">
                <a:solidFill>
                  <a:schemeClr val="tx1"/>
                </a:solidFill>
              </a:rPr>
              <a:t>Never raises an error for no match</a:t>
            </a:r>
            <a:endParaRPr lang="en-US" sz="1500" dirty="0"/>
          </a:p>
          <a:p>
            <a:pPr marL="342900" indent="-342900">
              <a:spcAft>
                <a:spcPts val="500"/>
              </a:spcAft>
              <a:buSzPct val="100000"/>
              <a:buChar char="•"/>
            </a:pPr>
            <a:r>
              <a:rPr lang="en-US" sz="1500" dirty="0">
                <a:solidFill>
                  <a:schemeClr val="tx1"/>
                </a:solidFill>
              </a:rPr>
              <a:t>Use it for lists and searches</a:t>
            </a:r>
            <a:endParaRPr lang="en-US" sz="1500" dirty="0"/>
          </a:p>
        </p:txBody>
      </p:sp>
      <p:sp>
        <p:nvSpPr>
          <p:cNvPr id="10" name="get-code"/>
          <p:cNvSpPr txBox="1"/>
          <p:nvPr/>
        </p:nvSpPr>
        <p:spPr>
          <a:xfrm>
            <a:off x="548640" y="3840480"/>
            <a:ext cx="6949440" cy="2194560"/>
          </a:xfrm>
          <a:prstGeom prst="roundRect">
            <a:avLst>
              <a:gd name="adj" fmla="val 41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try: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 = Item.objects.get(pk=1)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except Item.DoesNotExist: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 = None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 = Item.objects.filter(pk=1).first()  # None if missing</a:t>
            </a:r>
            <a:endParaRPr lang="en-US" sz="1400" dirty="0"/>
          </a:p>
        </p:txBody>
      </p:sp>
      <p:sp>
        <p:nvSpPr>
          <p:cNvPr id="11" name="callout"/>
          <p:cNvSpPr/>
          <p:nvPr/>
        </p:nvSpPr>
        <p:spPr>
          <a:xfrm>
            <a:off x="7726680" y="3840480"/>
            <a:ext cx="3913632" cy="2194560"/>
          </a:xfrm>
          <a:prstGeom prst="roundRect">
            <a:avLst>
              <a:gd name="adj" fmla="val 5000"/>
            </a:avLst>
          </a:prstGeom>
          <a:solidFill>
            <a:schemeClr val="bg2"/>
          </a:solidFill>
          <a:ln/>
        </p:spPr>
      </p:sp>
      <p:sp>
        <p:nvSpPr>
          <p:cNvPr id="12" name="Text 9"/>
          <p:cNvSpPr txBox="1"/>
          <p:nvPr/>
        </p:nvSpPr>
        <p:spPr>
          <a:xfrm>
            <a:off x="7955280" y="3977640"/>
            <a:ext cx="3474720" cy="365760"/>
          </a:xfrm>
          <a:prstGeom prst="rect">
            <a:avLst/>
          </a:prstGeom>
          <a:noFill/>
          <a:ln/>
        </p:spPr>
        <p:txBody>
          <a:bodyPr wrap="square" lIns="0" tIns="0" rIns="0" bIns="0" rtlCol="0" anchor="t"/>
          <a:lstStyle/>
          <a:p>
            <a:pPr indent="0" marL="0">
              <a:buNone/>
            </a:pPr>
            <a:r>
              <a:rPr lang="en-US" sz="1900" b="1" dirty="0">
                <a:solidFill>
                  <a:schemeClr val="tx2"/>
                </a:solidFill>
              </a:rPr>
              <a:t>Shortcut in views</a:t>
            </a:r>
            <a:endParaRPr lang="en-US" sz="1900" dirty="0"/>
          </a:p>
        </p:txBody>
      </p:sp>
      <p:sp>
        <p:nvSpPr>
          <p:cNvPr id="13" name="Text 10"/>
          <p:cNvSpPr txBox="1"/>
          <p:nvPr/>
        </p:nvSpPr>
        <p:spPr>
          <a:xfrm>
            <a:off x="7955280" y="4434840"/>
            <a:ext cx="3474720" cy="1554480"/>
          </a:xfrm>
          <a:prstGeom prst="rect">
            <a:avLst/>
          </a:prstGeom>
          <a:noFill/>
          <a:ln/>
        </p:spPr>
        <p:txBody>
          <a:bodyPr wrap="square" lIns="0" tIns="0" rIns="0" bIns="0" rtlCol="0" anchor="t"/>
          <a:lstStyle/>
          <a:p>
            <a:pPr indent="0" marL="0">
              <a:buNone/>
            </a:pPr>
            <a:r>
              <a:rPr lang="en-US" sz="1500" dirty="0">
                <a:solidFill>
                  <a:schemeClr val="tx1"/>
                </a:solidFill>
              </a:rPr>
              <a:t>get_object_or_404(Item, pk=pk) returns the object, or answers with an HTTP 404 page automatically.</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ORM: updating and deleting</a:t>
            </a:r>
            <a:endParaRPr lang="en-US" sz="3600" dirty="0"/>
          </a:p>
        </p:txBody>
      </p:sp>
      <p:sp>
        <p:nvSpPr>
          <p:cNvPr id="4" name="update-card"/>
          <p:cNvSpPr/>
          <p:nvPr/>
        </p:nvSpPr>
        <p:spPr>
          <a:xfrm>
            <a:off x="548640" y="1371600"/>
            <a:ext cx="5577840" cy="4709160"/>
          </a:xfrm>
          <a:prstGeom prst="roundRect">
            <a:avLst>
              <a:gd name="adj" fmla="val 2330"/>
            </a:avLst>
          </a:prstGeom>
          <a:solidFill>
            <a:schemeClr val="bg2"/>
          </a:solidFill>
          <a:ln/>
        </p:spPr>
      </p:sp>
      <p:sp>
        <p:nvSpPr>
          <p:cNvPr id="5" name="Text 2"/>
          <p:cNvSpPr txBox="1"/>
          <p:nvPr/>
        </p:nvSpPr>
        <p:spPr>
          <a:xfrm>
            <a:off x="822960" y="1481328"/>
            <a:ext cx="5029200" cy="411480"/>
          </a:xfrm>
          <a:prstGeom prst="rect">
            <a:avLst/>
          </a:prstGeom>
          <a:noFill/>
          <a:ln/>
        </p:spPr>
        <p:txBody>
          <a:bodyPr wrap="square" lIns="0" tIns="0" rIns="0" bIns="0" rtlCol="0" anchor="t"/>
          <a:lstStyle/>
          <a:p>
            <a:pPr indent="0" marL="0">
              <a:buNone/>
            </a:pPr>
            <a:r>
              <a:rPr lang="en-US" sz="2200" b="1" dirty="0">
                <a:solidFill>
                  <a:schemeClr val="tx2"/>
                </a:solidFill>
              </a:rPr>
              <a:t>Update</a:t>
            </a:r>
            <a:endParaRPr lang="en-US" sz="2200" dirty="0"/>
          </a:p>
        </p:txBody>
      </p:sp>
      <p:sp>
        <p:nvSpPr>
          <p:cNvPr id="6" name="Text 3"/>
          <p:cNvSpPr txBox="1"/>
          <p:nvPr/>
        </p:nvSpPr>
        <p:spPr>
          <a:xfrm>
            <a:off x="822960" y="1965960"/>
            <a:ext cx="5029200" cy="274320"/>
          </a:xfrm>
          <a:prstGeom prst="rect">
            <a:avLst/>
          </a:prstGeom>
          <a:noFill/>
          <a:ln/>
        </p:spPr>
        <p:txBody>
          <a:bodyPr wrap="square" lIns="0" tIns="0" rIns="0" bIns="0" rtlCol="0" anchor="t"/>
          <a:lstStyle/>
          <a:p>
            <a:pPr indent="0" marL="0">
              <a:buNone/>
            </a:pPr>
            <a:r>
              <a:rPr lang="en-US" sz="1400" b="1" dirty="0">
                <a:solidFill>
                  <a:schemeClr val="accent5"/>
                </a:solidFill>
              </a:rPr>
              <a:t>One object</a:t>
            </a:r>
            <a:endParaRPr lang="en-US" sz="1400" dirty="0"/>
          </a:p>
        </p:txBody>
      </p:sp>
      <p:sp>
        <p:nvSpPr>
          <p:cNvPr id="7" name="orm-snippet"/>
          <p:cNvSpPr txBox="1"/>
          <p:nvPr/>
        </p:nvSpPr>
        <p:spPr>
          <a:xfrm>
            <a:off x="822960" y="2240280"/>
            <a:ext cx="5029200" cy="822960"/>
          </a:xfrm>
          <a:prstGeom prst="roundRect">
            <a:avLst>
              <a:gd name="adj" fmla="val 1111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item.price = 12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item.save()</a:t>
            </a:r>
            <a:endParaRPr lang="en-US" sz="1400" dirty="0"/>
          </a:p>
        </p:txBody>
      </p:sp>
      <p:sp>
        <p:nvSpPr>
          <p:cNvPr id="8" name="Text 5"/>
          <p:cNvSpPr txBox="1"/>
          <p:nvPr/>
        </p:nvSpPr>
        <p:spPr>
          <a:xfrm>
            <a:off x="822960" y="3200400"/>
            <a:ext cx="5029200" cy="274320"/>
          </a:xfrm>
          <a:prstGeom prst="rect">
            <a:avLst/>
          </a:prstGeom>
          <a:noFill/>
          <a:ln/>
        </p:spPr>
        <p:txBody>
          <a:bodyPr wrap="square" lIns="0" tIns="0" rIns="0" bIns="0" rtlCol="0" anchor="t"/>
          <a:lstStyle/>
          <a:p>
            <a:pPr indent="0" marL="0">
              <a:buNone/>
            </a:pPr>
            <a:r>
              <a:rPr lang="en-US" sz="1400" b="1" dirty="0">
                <a:solidFill>
                  <a:schemeClr val="accent5"/>
                </a:solidFill>
              </a:rPr>
              <a:t>Only some columns</a:t>
            </a:r>
            <a:endParaRPr lang="en-US" sz="1400" dirty="0"/>
          </a:p>
        </p:txBody>
      </p:sp>
      <p:sp>
        <p:nvSpPr>
          <p:cNvPr id="9" name="orm-snippet"/>
          <p:cNvSpPr txBox="1"/>
          <p:nvPr/>
        </p:nvSpPr>
        <p:spPr>
          <a:xfrm>
            <a:off x="822960" y="3474720"/>
            <a:ext cx="5029200" cy="502920"/>
          </a:xfrm>
          <a:prstGeom prst="roundRect">
            <a:avLst>
              <a:gd name="adj" fmla="val 181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item.save(update_fields=["price"])</a:t>
            </a:r>
            <a:endParaRPr lang="en-US" sz="1400" dirty="0"/>
          </a:p>
        </p:txBody>
      </p:sp>
      <p:sp>
        <p:nvSpPr>
          <p:cNvPr id="10" name="Text 7"/>
          <p:cNvSpPr txBox="1"/>
          <p:nvPr/>
        </p:nvSpPr>
        <p:spPr>
          <a:xfrm>
            <a:off x="822960" y="4114800"/>
            <a:ext cx="5029200" cy="274320"/>
          </a:xfrm>
          <a:prstGeom prst="rect">
            <a:avLst/>
          </a:prstGeom>
          <a:noFill/>
          <a:ln/>
        </p:spPr>
        <p:txBody>
          <a:bodyPr wrap="square" lIns="0" tIns="0" rIns="0" bIns="0" rtlCol="0" anchor="t"/>
          <a:lstStyle/>
          <a:p>
            <a:pPr indent="0" marL="0">
              <a:buNone/>
            </a:pPr>
            <a:r>
              <a:rPr lang="en-US" sz="1400" b="1" dirty="0">
                <a:solidFill>
                  <a:schemeClr val="accent5"/>
                </a:solidFill>
              </a:rPr>
              <a:t>Many rows, one query (returns 1)</a:t>
            </a:r>
            <a:endParaRPr lang="en-US" sz="1400" dirty="0"/>
          </a:p>
        </p:txBody>
      </p:sp>
      <p:sp>
        <p:nvSpPr>
          <p:cNvPr id="11" name="orm-snippet"/>
          <p:cNvSpPr txBox="1"/>
          <p:nvPr/>
        </p:nvSpPr>
        <p:spPr>
          <a:xfrm>
            <a:off x="822960" y="4389120"/>
            <a:ext cx="5029200" cy="1371600"/>
          </a:xfrm>
          <a:prstGeom prst="roundRect">
            <a:avLst>
              <a:gd name="adj" fmla="val 66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Item.objects.filter(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is_available=False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).update(price=700)</a:t>
            </a:r>
            <a:endParaRPr lang="en-US" sz="1400" dirty="0"/>
          </a:p>
        </p:txBody>
      </p:sp>
      <p:sp>
        <p:nvSpPr>
          <p:cNvPr id="12" name="delete-card"/>
          <p:cNvSpPr/>
          <p:nvPr/>
        </p:nvSpPr>
        <p:spPr>
          <a:xfrm>
            <a:off x="6245352" y="1371600"/>
            <a:ext cx="5394960" cy="4709160"/>
          </a:xfrm>
          <a:prstGeom prst="roundRect">
            <a:avLst>
              <a:gd name="adj" fmla="val 2330"/>
            </a:avLst>
          </a:prstGeom>
          <a:solidFill>
            <a:schemeClr val="bg2"/>
          </a:solidFill>
          <a:ln/>
        </p:spPr>
      </p:sp>
      <p:sp>
        <p:nvSpPr>
          <p:cNvPr id="13" name="Text 10"/>
          <p:cNvSpPr txBox="1"/>
          <p:nvPr/>
        </p:nvSpPr>
        <p:spPr>
          <a:xfrm>
            <a:off x="6519672" y="1481328"/>
            <a:ext cx="4846320" cy="411480"/>
          </a:xfrm>
          <a:prstGeom prst="rect">
            <a:avLst/>
          </a:prstGeom>
          <a:noFill/>
          <a:ln/>
        </p:spPr>
        <p:txBody>
          <a:bodyPr wrap="square" lIns="0" tIns="0" rIns="0" bIns="0" rtlCol="0" anchor="t"/>
          <a:lstStyle/>
          <a:p>
            <a:pPr indent="0" marL="0">
              <a:buNone/>
            </a:pPr>
            <a:r>
              <a:rPr lang="en-US" sz="2200" b="1" dirty="0">
                <a:solidFill>
                  <a:schemeClr val="tx2"/>
                </a:solidFill>
              </a:rPr>
              <a:t>Delete</a:t>
            </a:r>
            <a:endParaRPr lang="en-US" sz="2200" dirty="0"/>
          </a:p>
        </p:txBody>
      </p:sp>
      <p:sp>
        <p:nvSpPr>
          <p:cNvPr id="14" name="Text 11"/>
          <p:cNvSpPr txBox="1"/>
          <p:nvPr/>
        </p:nvSpPr>
        <p:spPr>
          <a:xfrm>
            <a:off x="6519672" y="1965960"/>
            <a:ext cx="4846320" cy="274320"/>
          </a:xfrm>
          <a:prstGeom prst="rect">
            <a:avLst/>
          </a:prstGeom>
          <a:noFill/>
          <a:ln/>
        </p:spPr>
        <p:txBody>
          <a:bodyPr wrap="square" lIns="0" tIns="0" rIns="0" bIns="0" rtlCol="0" anchor="t"/>
          <a:lstStyle/>
          <a:p>
            <a:pPr indent="0" marL="0">
              <a:buNone/>
            </a:pPr>
            <a:r>
              <a:rPr lang="en-US" sz="1400" b="1" dirty="0">
                <a:solidFill>
                  <a:schemeClr val="accent5"/>
                </a:solidFill>
              </a:rPr>
              <a:t>One object</a:t>
            </a:r>
            <a:endParaRPr lang="en-US" sz="1400" dirty="0"/>
          </a:p>
        </p:txBody>
      </p:sp>
      <p:sp>
        <p:nvSpPr>
          <p:cNvPr id="15" name="orm-snippet"/>
          <p:cNvSpPr txBox="1"/>
          <p:nvPr/>
        </p:nvSpPr>
        <p:spPr>
          <a:xfrm>
            <a:off x="6519672" y="2240280"/>
            <a:ext cx="4846320" cy="822960"/>
          </a:xfrm>
          <a:prstGeom prst="roundRect">
            <a:avLst>
              <a:gd name="adj" fmla="val 1111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item.delete()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(1, {'items.Item': 1})</a:t>
            </a:r>
            <a:endParaRPr lang="en-US" sz="1400" dirty="0"/>
          </a:p>
        </p:txBody>
      </p:sp>
      <p:sp>
        <p:nvSpPr>
          <p:cNvPr id="16" name="Text 13"/>
          <p:cNvSpPr txBox="1"/>
          <p:nvPr/>
        </p:nvSpPr>
        <p:spPr>
          <a:xfrm>
            <a:off x="6519672" y="3200400"/>
            <a:ext cx="4846320" cy="274320"/>
          </a:xfrm>
          <a:prstGeom prst="rect">
            <a:avLst/>
          </a:prstGeom>
          <a:noFill/>
          <a:ln/>
        </p:spPr>
        <p:txBody>
          <a:bodyPr wrap="square" lIns="0" tIns="0" rIns="0" bIns="0" rtlCol="0" anchor="t"/>
          <a:lstStyle/>
          <a:p>
            <a:pPr indent="0" marL="0">
              <a:buNone/>
            </a:pPr>
            <a:r>
              <a:rPr lang="en-US" sz="1400" b="1" dirty="0">
                <a:solidFill>
                  <a:schemeClr val="accent5"/>
                </a:solidFill>
              </a:rPr>
              <a:t>Many rows, one query</a:t>
            </a:r>
            <a:endParaRPr lang="en-US" sz="1400" dirty="0"/>
          </a:p>
        </p:txBody>
      </p:sp>
      <p:sp>
        <p:nvSpPr>
          <p:cNvPr id="17" name="orm-snippet"/>
          <p:cNvSpPr txBox="1"/>
          <p:nvPr/>
        </p:nvSpPr>
        <p:spPr>
          <a:xfrm>
            <a:off x="6519672" y="3474720"/>
            <a:ext cx="4846320" cy="1097280"/>
          </a:xfrm>
          <a:prstGeom prst="roundRect">
            <a:avLst>
              <a:gd name="adj" fmla="val 8333"/>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Item.objects.filter(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).delete()</a:t>
            </a:r>
            <a:endParaRPr lang="en-US" sz="1400" dirty="0"/>
          </a:p>
        </p:txBody>
      </p:sp>
      <p:sp>
        <p:nvSpPr>
          <p:cNvPr id="18" name="warning"/>
          <p:cNvSpPr/>
          <p:nvPr/>
        </p:nvSpPr>
        <p:spPr>
          <a:xfrm>
            <a:off x="6519672" y="4754880"/>
            <a:ext cx="4846320" cy="1143000"/>
          </a:xfrm>
          <a:prstGeom prst="roundRect">
            <a:avLst>
              <a:gd name="adj" fmla="val 9600"/>
            </a:avLst>
          </a:prstGeom>
          <a:solidFill>
            <a:schemeClr val="accent2"/>
          </a:solidFill>
          <a:ln/>
        </p:spPr>
      </p:sp>
      <p:sp>
        <p:nvSpPr>
          <p:cNvPr id="19" name="Text 16"/>
          <p:cNvSpPr txBox="1"/>
          <p:nvPr/>
        </p:nvSpPr>
        <p:spPr>
          <a:xfrm>
            <a:off x="6720840" y="4754880"/>
            <a:ext cx="4480560" cy="1143000"/>
          </a:xfrm>
          <a:prstGeom prst="rect">
            <a:avLst/>
          </a:prstGeom>
          <a:noFill/>
          <a:ln/>
        </p:spPr>
        <p:txBody>
          <a:bodyPr wrap="square" lIns="0" tIns="0" rIns="0" bIns="0" rtlCol="0" anchor="ctr"/>
          <a:lstStyle/>
          <a:p>
            <a:pPr indent="0" marL="0">
              <a:buNone/>
            </a:pPr>
            <a:r>
              <a:rPr lang="en-US" sz="1500" b="1" dirty="0">
                <a:solidFill>
                  <a:schemeClr val="accent6"/>
                </a:solidFill>
              </a:rPr>
              <a:t>delete() cannot be undone. Rows linked with on_delete=CASCADE are deleted too.</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Q objects: AND, OR, NOT</a:t>
            </a:r>
            <a:endParaRPr lang="en-US" sz="3600" dirty="0"/>
          </a:p>
        </p:txBody>
      </p:sp>
      <p:sp>
        <p:nvSpPr>
          <p:cNvPr id="4" name="definition"/>
          <p:cNvSpPr/>
          <p:nvPr/>
        </p:nvSpPr>
        <p:spPr>
          <a:xfrm>
            <a:off x="548640" y="1371600"/>
            <a:ext cx="11091672" cy="1005840"/>
          </a:xfrm>
          <a:prstGeom prst="roundRect">
            <a:avLst>
              <a:gd name="adj" fmla="val 10909"/>
            </a:avLst>
          </a:prstGeom>
          <a:solidFill>
            <a:schemeClr val="tx2"/>
          </a:solidFill>
          <a:ln/>
        </p:spPr>
      </p:sp>
      <p:sp>
        <p:nvSpPr>
          <p:cNvPr id="5" name="Text 2"/>
          <p:cNvSpPr txBox="1"/>
          <p:nvPr/>
        </p:nvSpPr>
        <p:spPr>
          <a:xfrm>
            <a:off x="822960" y="1371600"/>
            <a:ext cx="10543032" cy="1005840"/>
          </a:xfrm>
          <a:prstGeom prst="rect">
            <a:avLst/>
          </a:prstGeom>
          <a:noFill/>
          <a:ln/>
        </p:spPr>
        <p:txBody>
          <a:bodyPr wrap="square" lIns="0" tIns="0" rIns="0" bIns="0" rtlCol="0" anchor="ctr"/>
          <a:lstStyle/>
          <a:p>
            <a:pPr indent="0" marL="0">
              <a:buNone/>
            </a:pPr>
            <a:r>
              <a:rPr lang="en-US" sz="1700" b="1" dirty="0">
                <a:solidFill>
                  <a:schemeClr val="accent1"/>
                </a:solidFill>
              </a:rPr>
              <a:t>Q object</a:t>
            </a:r>
            <a:pPr indent="0" marL="0">
              <a:buNone/>
            </a:pPr>
            <a:r>
              <a:rPr lang="en-US" sz="1700" dirty="0">
                <a:solidFill>
                  <a:schemeClr val="bg1"/>
                </a:solidFill>
              </a:rPr>
              <a:t>: wraps one condition so conditions can be combined with | (OR), &amp; (AND) and ~ (NOT).</a:t>
            </a:r>
            <a:endParaRPr lang="en-US" sz="1700" dirty="0"/>
          </a:p>
        </p:txBody>
      </p:sp>
      <p:sp>
        <p:nvSpPr>
          <p:cNvPr id="6" name="q-code"/>
          <p:cNvSpPr txBox="1"/>
          <p:nvPr/>
        </p:nvSpPr>
        <p:spPr>
          <a:xfrm>
            <a:off x="548640" y="2606040"/>
            <a:ext cx="6766560" cy="3474720"/>
          </a:xfrm>
          <a:prstGeom prst="roundRect">
            <a:avLst>
              <a:gd name="adj" fmla="val 263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from django.db.models import Q</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Item.objects.filter(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Q(price__lt=20) | Q(quantity=0))</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AND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Item.objects.filter(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Q(price__lt=20) &amp; Q(is_available=True))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Item.objects.filter(~Q(is_available=True))</a:t>
            </a:r>
            <a:endParaRPr lang="en-US" sz="1400" dirty="0"/>
          </a:p>
        </p:txBody>
      </p:sp>
      <p:sp>
        <p:nvSpPr>
          <p:cNvPr id="7" name="result-card"/>
          <p:cNvSpPr/>
          <p:nvPr/>
        </p:nvSpPr>
        <p:spPr>
          <a:xfrm>
            <a:off x="7543800" y="2606040"/>
            <a:ext cx="4096512" cy="1097280"/>
          </a:xfrm>
          <a:prstGeom prst="roundRect">
            <a:avLst>
              <a:gd name="adj" fmla="val 10000"/>
            </a:avLst>
          </a:prstGeom>
          <a:solidFill>
            <a:schemeClr val="bg2"/>
          </a:solidFill>
          <a:ln/>
        </p:spPr>
      </p:sp>
      <p:sp>
        <p:nvSpPr>
          <p:cNvPr id="8" name="Text 5"/>
          <p:cNvSpPr txBox="1"/>
          <p:nvPr/>
        </p:nvSpPr>
        <p:spPr>
          <a:xfrm>
            <a:off x="7726680" y="2697480"/>
            <a:ext cx="12801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  OR</a:t>
            </a:r>
            <a:endParaRPr lang="en-US" sz="1700" dirty="0"/>
          </a:p>
        </p:txBody>
      </p:sp>
      <p:sp>
        <p:nvSpPr>
          <p:cNvPr id="9" name="Text 6"/>
          <p:cNvSpPr txBox="1"/>
          <p:nvPr/>
        </p:nvSpPr>
        <p:spPr>
          <a:xfrm>
            <a:off x="9006840" y="2697480"/>
            <a:ext cx="2560320" cy="365760"/>
          </a:xfrm>
          <a:prstGeom prst="rect">
            <a:avLst/>
          </a:prstGeom>
          <a:noFill/>
          <a:ln/>
        </p:spPr>
        <p:txBody>
          <a:bodyPr wrap="square" lIns="0" tIns="0" rIns="0" bIns="0" rtlCol="0" anchor="t"/>
          <a:lstStyle/>
          <a:p>
            <a:pPr indent="0" marL="0">
              <a:buNone/>
            </a:pPr>
            <a:r>
              <a:rPr lang="en-US" sz="1400" dirty="0">
                <a:solidFill>
                  <a:schemeClr val="accent5"/>
                </a:solidFill>
              </a:rPr>
              <a:t>price &lt; 20 or out of stock</a:t>
            </a:r>
            <a:endParaRPr lang="en-US" sz="1400" dirty="0"/>
          </a:p>
        </p:txBody>
      </p:sp>
      <p:sp>
        <p:nvSpPr>
          <p:cNvPr id="10" name="Text 7"/>
          <p:cNvSpPr txBox="1"/>
          <p:nvPr/>
        </p:nvSpPr>
        <p:spPr>
          <a:xfrm>
            <a:off x="7726680" y="3154680"/>
            <a:ext cx="3749040" cy="457200"/>
          </a:xfrm>
          <a:prstGeom prst="rect">
            <a:avLst/>
          </a:prstGeom>
          <a:noFill/>
          <a:ln/>
        </p:spPr>
        <p:txBody>
          <a:bodyPr wrap="square" lIns="0" tIns="0" rIns="0" bIns="0" rtlCol="0" anchor="t"/>
          <a:lstStyle/>
          <a:p>
            <a:pPr indent="0" marL="0">
              <a:buNone/>
            </a:pPr>
            <a:r>
              <a:rPr lang="en-US" sz="1700" b="1" dirty="0">
                <a:solidFill>
                  <a:schemeClr val="tx1"/>
                </a:solidFill>
              </a:rPr>
              <a:t>Result: Pen, Backpack</a:t>
            </a:r>
            <a:endParaRPr lang="en-US" sz="1700" dirty="0"/>
          </a:p>
        </p:txBody>
      </p:sp>
      <p:sp>
        <p:nvSpPr>
          <p:cNvPr id="11" name="result-card"/>
          <p:cNvSpPr/>
          <p:nvPr/>
        </p:nvSpPr>
        <p:spPr>
          <a:xfrm>
            <a:off x="7543800" y="3794760"/>
            <a:ext cx="4096512" cy="1097280"/>
          </a:xfrm>
          <a:prstGeom prst="roundRect">
            <a:avLst>
              <a:gd name="adj" fmla="val 10000"/>
            </a:avLst>
          </a:prstGeom>
          <a:solidFill>
            <a:schemeClr val="bg2"/>
          </a:solidFill>
          <a:ln/>
        </p:spPr>
      </p:sp>
      <p:sp>
        <p:nvSpPr>
          <p:cNvPr id="12" name="Text 9"/>
          <p:cNvSpPr txBox="1"/>
          <p:nvPr/>
        </p:nvSpPr>
        <p:spPr>
          <a:xfrm>
            <a:off x="7726680" y="3886200"/>
            <a:ext cx="12801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&amp;  AND</a:t>
            </a:r>
            <a:endParaRPr lang="en-US" sz="1700" dirty="0"/>
          </a:p>
        </p:txBody>
      </p:sp>
      <p:sp>
        <p:nvSpPr>
          <p:cNvPr id="13" name="Text 10"/>
          <p:cNvSpPr txBox="1"/>
          <p:nvPr/>
        </p:nvSpPr>
        <p:spPr>
          <a:xfrm>
            <a:off x="9006840" y="3886200"/>
            <a:ext cx="2560320" cy="365760"/>
          </a:xfrm>
          <a:prstGeom prst="rect">
            <a:avLst/>
          </a:prstGeom>
          <a:noFill/>
          <a:ln/>
        </p:spPr>
        <p:txBody>
          <a:bodyPr wrap="square" lIns="0" tIns="0" rIns="0" bIns="0" rtlCol="0" anchor="t"/>
          <a:lstStyle/>
          <a:p>
            <a:pPr indent="0" marL="0">
              <a:buNone/>
            </a:pPr>
            <a:r>
              <a:rPr lang="en-US" sz="1400" dirty="0">
                <a:solidFill>
                  <a:schemeClr val="accent5"/>
                </a:solidFill>
              </a:rPr>
              <a:t>price &lt; 20 and available</a:t>
            </a:r>
            <a:endParaRPr lang="en-US" sz="1400" dirty="0"/>
          </a:p>
        </p:txBody>
      </p:sp>
      <p:sp>
        <p:nvSpPr>
          <p:cNvPr id="14" name="Text 11"/>
          <p:cNvSpPr txBox="1"/>
          <p:nvPr/>
        </p:nvSpPr>
        <p:spPr>
          <a:xfrm>
            <a:off x="7726680" y="4343400"/>
            <a:ext cx="3749040" cy="457200"/>
          </a:xfrm>
          <a:prstGeom prst="rect">
            <a:avLst/>
          </a:prstGeom>
          <a:noFill/>
          <a:ln/>
        </p:spPr>
        <p:txBody>
          <a:bodyPr wrap="square" lIns="0" tIns="0" rIns="0" bIns="0" rtlCol="0" anchor="t"/>
          <a:lstStyle/>
          <a:p>
            <a:pPr indent="0" marL="0">
              <a:buNone/>
            </a:pPr>
            <a:r>
              <a:rPr lang="en-US" sz="1700" b="1" dirty="0">
                <a:solidFill>
                  <a:schemeClr val="tx1"/>
                </a:solidFill>
              </a:rPr>
              <a:t>Result: Pen</a:t>
            </a:r>
            <a:endParaRPr lang="en-US" sz="1700" dirty="0"/>
          </a:p>
        </p:txBody>
      </p:sp>
      <p:sp>
        <p:nvSpPr>
          <p:cNvPr id="15" name="result-card"/>
          <p:cNvSpPr/>
          <p:nvPr/>
        </p:nvSpPr>
        <p:spPr>
          <a:xfrm>
            <a:off x="7543800" y="4983480"/>
            <a:ext cx="4096512" cy="1097280"/>
          </a:xfrm>
          <a:prstGeom prst="roundRect">
            <a:avLst>
              <a:gd name="adj" fmla="val 10000"/>
            </a:avLst>
          </a:prstGeom>
          <a:solidFill>
            <a:schemeClr val="bg2"/>
          </a:solidFill>
          <a:ln/>
        </p:spPr>
      </p:sp>
      <p:sp>
        <p:nvSpPr>
          <p:cNvPr id="16" name="Text 13"/>
          <p:cNvSpPr txBox="1"/>
          <p:nvPr/>
        </p:nvSpPr>
        <p:spPr>
          <a:xfrm>
            <a:off x="7726680" y="5074920"/>
            <a:ext cx="12801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  NOT</a:t>
            </a:r>
            <a:endParaRPr lang="en-US" sz="1700" dirty="0"/>
          </a:p>
        </p:txBody>
      </p:sp>
      <p:sp>
        <p:nvSpPr>
          <p:cNvPr id="17" name="Text 14"/>
          <p:cNvSpPr txBox="1"/>
          <p:nvPr/>
        </p:nvSpPr>
        <p:spPr>
          <a:xfrm>
            <a:off x="9006840" y="5074920"/>
            <a:ext cx="2560320" cy="365760"/>
          </a:xfrm>
          <a:prstGeom prst="rect">
            <a:avLst/>
          </a:prstGeom>
          <a:noFill/>
          <a:ln/>
        </p:spPr>
        <p:txBody>
          <a:bodyPr wrap="square" lIns="0" tIns="0" rIns="0" bIns="0" rtlCol="0" anchor="t"/>
          <a:lstStyle/>
          <a:p>
            <a:pPr indent="0" marL="0">
              <a:buNone/>
            </a:pPr>
            <a:r>
              <a:rPr lang="en-US" sz="1400" dirty="0">
                <a:solidFill>
                  <a:schemeClr val="accent5"/>
                </a:solidFill>
              </a:rPr>
              <a:t>not available</a:t>
            </a:r>
            <a:endParaRPr lang="en-US" sz="1400" dirty="0"/>
          </a:p>
        </p:txBody>
      </p:sp>
      <p:sp>
        <p:nvSpPr>
          <p:cNvPr id="18" name="Text 15"/>
          <p:cNvSpPr txBox="1"/>
          <p:nvPr/>
        </p:nvSpPr>
        <p:spPr>
          <a:xfrm>
            <a:off x="7726680" y="5532120"/>
            <a:ext cx="3749040" cy="457200"/>
          </a:xfrm>
          <a:prstGeom prst="rect">
            <a:avLst/>
          </a:prstGeom>
          <a:noFill/>
          <a:ln/>
        </p:spPr>
        <p:txBody>
          <a:bodyPr wrap="square" lIns="0" tIns="0" rIns="0" bIns="0" rtlCol="0" anchor="t"/>
          <a:lstStyle/>
          <a:p>
            <a:pPr indent="0" marL="0">
              <a:buNone/>
            </a:pPr>
            <a:r>
              <a:rPr lang="en-US" sz="1700" b="1" dirty="0">
                <a:solidFill>
                  <a:schemeClr val="tx1"/>
                </a:solidFill>
              </a:rPr>
              <a:t>Result: Backpack</a:t>
            </a:r>
            <a:endParaRPr lang="en-US" sz="17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F expressions</a:t>
            </a:r>
            <a:endParaRPr lang="en-US" sz="3600" dirty="0"/>
          </a:p>
        </p:txBody>
      </p:sp>
      <p:sp>
        <p:nvSpPr>
          <p:cNvPr id="4" name="definition"/>
          <p:cNvSpPr/>
          <p:nvPr/>
        </p:nvSpPr>
        <p:spPr>
          <a:xfrm>
            <a:off x="548640" y="1371600"/>
            <a:ext cx="11091672" cy="1005840"/>
          </a:xfrm>
          <a:prstGeom prst="roundRect">
            <a:avLst>
              <a:gd name="adj" fmla="val 10909"/>
            </a:avLst>
          </a:prstGeom>
          <a:solidFill>
            <a:schemeClr val="tx2"/>
          </a:solidFill>
          <a:ln/>
        </p:spPr>
      </p:sp>
      <p:sp>
        <p:nvSpPr>
          <p:cNvPr id="5" name="Text 2"/>
          <p:cNvSpPr txBox="1"/>
          <p:nvPr/>
        </p:nvSpPr>
        <p:spPr>
          <a:xfrm>
            <a:off x="822960" y="1371600"/>
            <a:ext cx="10543032" cy="1005840"/>
          </a:xfrm>
          <a:prstGeom prst="rect">
            <a:avLst/>
          </a:prstGeom>
          <a:noFill/>
          <a:ln/>
        </p:spPr>
        <p:txBody>
          <a:bodyPr wrap="square" lIns="0" tIns="0" rIns="0" bIns="0" rtlCol="0" anchor="ctr"/>
          <a:lstStyle/>
          <a:p>
            <a:pPr indent="0" marL="0">
              <a:buNone/>
            </a:pPr>
            <a:r>
              <a:rPr lang="en-US" sz="1600" b="1" dirty="0">
                <a:solidFill>
                  <a:schemeClr val="accent1"/>
                </a:solidFill>
              </a:rPr>
              <a:t>F expression</a:t>
            </a:r>
            <a:pPr indent="0" marL="0">
              <a:buNone/>
            </a:pPr>
            <a:r>
              <a:rPr lang="en-US" sz="1600" dirty="0">
                <a:solidFill>
                  <a:schemeClr val="bg1"/>
                </a:solidFill>
              </a:rPr>
              <a:t>: refers to the value of a column inside the database, so you can compare columns or update a value without loading it into Python.</a:t>
            </a:r>
            <a:endParaRPr lang="en-US" sz="1600" dirty="0"/>
          </a:p>
        </p:txBody>
      </p:sp>
      <p:sp>
        <p:nvSpPr>
          <p:cNvPr id="6" name="Text 3"/>
          <p:cNvSpPr txBox="1"/>
          <p:nvPr/>
        </p:nvSpPr>
        <p:spPr>
          <a:xfrm>
            <a:off x="548640" y="260604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Without F: 2 queries, can lose updates</a:t>
            </a:r>
            <a:endParaRPr lang="en-US" sz="1400" dirty="0"/>
          </a:p>
        </p:txBody>
      </p:sp>
      <p:sp>
        <p:nvSpPr>
          <p:cNvPr id="7" name="f-bad"/>
          <p:cNvSpPr txBox="1"/>
          <p:nvPr/>
        </p:nvSpPr>
        <p:spPr>
          <a:xfrm>
            <a:off x="548640" y="2926080"/>
            <a:ext cx="5431536" cy="1280160"/>
          </a:xfrm>
          <a:prstGeom prst="roundRect">
            <a:avLst>
              <a:gd name="adj" fmla="val 7143"/>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 = Item.objects.get(name="Pen")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item.quantity = item.quantity - 1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item.save()</a:t>
            </a:r>
            <a:endParaRPr lang="en-US" sz="1400" dirty="0"/>
          </a:p>
        </p:txBody>
      </p:sp>
      <p:sp>
        <p:nvSpPr>
          <p:cNvPr id="8" name="Text 5"/>
          <p:cNvSpPr txBox="1"/>
          <p:nvPr/>
        </p:nvSpPr>
        <p:spPr>
          <a:xfrm>
            <a:off x="6208776" y="260604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With F: 1 query, safe</a:t>
            </a:r>
            <a:endParaRPr lang="en-US" sz="1400" dirty="0"/>
          </a:p>
        </p:txBody>
      </p:sp>
      <p:sp>
        <p:nvSpPr>
          <p:cNvPr id="9" name="f-good"/>
          <p:cNvSpPr txBox="1"/>
          <p:nvPr/>
        </p:nvSpPr>
        <p:spPr>
          <a:xfrm>
            <a:off x="6208776" y="2926080"/>
            <a:ext cx="5431536" cy="1280160"/>
          </a:xfrm>
          <a:prstGeom prst="roundRect">
            <a:avLst>
              <a:gd name="adj" fmla="val 7143"/>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Item.objects.filter(name="Pen").update(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quantity=F("quantity") - 1)</a:t>
            </a:r>
            <a:endParaRPr lang="en-US" sz="1400" dirty="0"/>
          </a:p>
        </p:txBody>
      </p:sp>
      <p:sp>
        <p:nvSpPr>
          <p:cNvPr id="10" name="callout"/>
          <p:cNvSpPr/>
          <p:nvPr/>
        </p:nvSpPr>
        <p:spPr>
          <a:xfrm>
            <a:off x="548640" y="4480560"/>
            <a:ext cx="11091672" cy="1554480"/>
          </a:xfrm>
          <a:prstGeom prst="roundRect">
            <a:avLst>
              <a:gd name="adj" fmla="val 7059"/>
            </a:avLst>
          </a:prstGeom>
          <a:solidFill>
            <a:schemeClr val="bg2"/>
          </a:solidFill>
          <a:ln/>
        </p:spPr>
      </p:sp>
      <p:sp>
        <p:nvSpPr>
          <p:cNvPr id="11" name="Text 8"/>
          <p:cNvSpPr txBox="1"/>
          <p:nvPr/>
        </p:nvSpPr>
        <p:spPr>
          <a:xfrm>
            <a:off x="822960" y="4572000"/>
            <a:ext cx="4572000" cy="365760"/>
          </a:xfrm>
          <a:prstGeom prst="rect">
            <a:avLst/>
          </a:prstGeom>
          <a:noFill/>
          <a:ln/>
        </p:spPr>
        <p:txBody>
          <a:bodyPr wrap="square" lIns="0" tIns="0" rIns="0" bIns="0" rtlCol="0" anchor="t"/>
          <a:lstStyle/>
          <a:p>
            <a:pPr indent="0" marL="0">
              <a:buNone/>
            </a:pPr>
            <a:r>
              <a:rPr lang="en-US" sz="1900" b="1" dirty="0">
                <a:solidFill>
                  <a:schemeClr val="tx2"/>
                </a:solidFill>
              </a:rPr>
              <a:t>Compare two columns</a:t>
            </a:r>
            <a:endParaRPr lang="en-US" sz="1900" dirty="0"/>
          </a:p>
        </p:txBody>
      </p:sp>
      <p:sp>
        <p:nvSpPr>
          <p:cNvPr id="12" name="f-compare"/>
          <p:cNvSpPr txBox="1"/>
          <p:nvPr/>
        </p:nvSpPr>
        <p:spPr>
          <a:xfrm>
            <a:off x="822960" y="5029200"/>
            <a:ext cx="5669280" cy="502920"/>
          </a:xfrm>
          <a:prstGeom prst="roundRect">
            <a:avLst>
              <a:gd name="adj" fmla="val 181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Item.objects.filter(quantity__gt=F("price"))</a:t>
            </a:r>
            <a:endParaRPr lang="en-US" sz="1400" dirty="0"/>
          </a:p>
        </p:txBody>
      </p:sp>
      <p:sp>
        <p:nvSpPr>
          <p:cNvPr id="13" name="Text 10"/>
          <p:cNvSpPr txBox="1"/>
          <p:nvPr/>
        </p:nvSpPr>
        <p:spPr>
          <a:xfrm>
            <a:off x="6949440" y="5029200"/>
            <a:ext cx="4480560" cy="822960"/>
          </a:xfrm>
          <a:prstGeom prst="rect">
            <a:avLst/>
          </a:prstGeom>
          <a:noFill/>
          <a:ln/>
        </p:spPr>
        <p:txBody>
          <a:bodyPr wrap="square" lIns="0" tIns="0" rIns="0" bIns="0" rtlCol="0" anchor="ctr"/>
          <a:lstStyle/>
          <a:p>
            <a:pPr indent="0" marL="0">
              <a:buNone/>
            </a:pPr>
            <a:r>
              <a:rPr lang="en-US" sz="1500" dirty="0">
                <a:solidFill>
                  <a:schemeClr val="tx1"/>
                </a:solidFill>
              </a:rPr>
              <a:t>Items whose quantity is greater than their price. Result: Pen.</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Aggregation: summaries of many rows</a:t>
            </a:r>
            <a:endParaRPr lang="en-US" sz="3600" dirty="0"/>
          </a:p>
        </p:txBody>
      </p:sp>
      <p:sp>
        <p:nvSpPr>
          <p:cNvPr id="4" name="definition"/>
          <p:cNvSpPr/>
          <p:nvPr/>
        </p:nvSpPr>
        <p:spPr>
          <a:xfrm>
            <a:off x="548640" y="1371600"/>
            <a:ext cx="11091672" cy="914400"/>
          </a:xfrm>
          <a:prstGeom prst="roundRect">
            <a:avLst>
              <a:gd name="adj" fmla="val 12000"/>
            </a:avLst>
          </a:prstGeom>
          <a:solidFill>
            <a:schemeClr val="tx2"/>
          </a:solidFill>
          <a:ln/>
        </p:spPr>
      </p:sp>
      <p:sp>
        <p:nvSpPr>
          <p:cNvPr id="5" name="Text 2"/>
          <p:cNvSpPr txBox="1"/>
          <p:nvPr/>
        </p:nvSpPr>
        <p:spPr>
          <a:xfrm>
            <a:off x="822960" y="1371600"/>
            <a:ext cx="10543032" cy="914400"/>
          </a:xfrm>
          <a:prstGeom prst="rect">
            <a:avLst/>
          </a:prstGeom>
          <a:noFill/>
          <a:ln/>
        </p:spPr>
        <p:txBody>
          <a:bodyPr wrap="square" lIns="0" tIns="0" rIns="0" bIns="0" rtlCol="0" anchor="ctr"/>
          <a:lstStyle/>
          <a:p>
            <a:pPr indent="0" marL="0">
              <a:buNone/>
            </a:pPr>
            <a:r>
              <a:rPr lang="en-US" sz="1700" b="1" dirty="0">
                <a:solidFill>
                  <a:schemeClr val="accent1"/>
                </a:solidFill>
              </a:rPr>
              <a:t>Aggregation</a:t>
            </a:r>
            <a:pPr indent="0" marL="0">
              <a:buNone/>
            </a:pPr>
            <a:r>
              <a:rPr lang="en-US" sz="1700" dirty="0">
                <a:solidFill>
                  <a:schemeClr val="bg1"/>
                </a:solidFill>
              </a:rPr>
              <a:t>: calculating one summary value (count, sum, average, minimum, maximum) from many rows.</a:t>
            </a:r>
            <a:endParaRPr lang="en-US" sz="1700" dirty="0"/>
          </a:p>
        </p:txBody>
      </p:sp>
      <p:sp>
        <p:nvSpPr>
          <p:cNvPr id="6" name="agg-code"/>
          <p:cNvSpPr txBox="1"/>
          <p:nvPr/>
        </p:nvSpPr>
        <p:spPr>
          <a:xfrm>
            <a:off x="548640" y="2514600"/>
            <a:ext cx="6766560" cy="2514600"/>
          </a:xfrm>
          <a:prstGeom prst="roundRect">
            <a:avLst>
              <a:gd name="adj" fmla="val 363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from django.db.models import Avg, Max, Sum</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Item.objects.aggregate(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Avg("price"), Max("price"), Sum("quantity"))</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{'price__avg': Decimal('254.5'),</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'price__max': Decimal('799'),</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'quantity__sum': 155}</a:t>
            </a:r>
            <a:endParaRPr lang="en-US" sz="14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7543800" y="2514600"/>
          <a:ext cx="4096512" cy="914400"/>
        </p:xfrm>
        <a:graphic>
          <a:graphicData uri="http://schemas.openxmlformats.org/drawingml/2006/table">
            <a:tbl>
              <a:tblPr/>
              <a:tblGrid>
                <a:gridCol w="1554480"/>
                <a:gridCol w="2542032"/>
              </a:tblGrid>
              <a:tr h="457200">
                <a:tc>
                  <a:txBody>
                    <a:bodyPr/>
                    <a:lstStyle/>
                    <a:p>
                      <a:pPr indent="0" marL="0">
                        <a:buNone/>
                      </a:pPr>
                      <a:r>
                        <a:rPr lang="en-US" sz="1600" b="1" dirty="0">
                          <a:solidFill>
                            <a:schemeClr val="bg1"/>
                          </a:solidFill>
                        </a:rPr>
                        <a:t>Function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Calculates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500" b="1" dirty="0">
                          <a:solidFill>
                            <a:schemeClr val="tx1"/>
                          </a:solidFill>
                        </a:rPr>
                        <a:t>Count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How many rows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Sum</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Total of a column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Avg</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Average value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Min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Smallest value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Max</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Largest value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8" name="callout"/>
          <p:cNvSpPr/>
          <p:nvPr/>
        </p:nvSpPr>
        <p:spPr>
          <a:xfrm>
            <a:off x="548640" y="5440680"/>
            <a:ext cx="11091672" cy="640080"/>
          </a:xfrm>
          <a:prstGeom prst="roundRect">
            <a:avLst>
              <a:gd name="adj" fmla="val 17143"/>
            </a:avLst>
          </a:prstGeom>
          <a:solidFill>
            <a:schemeClr val="bg2"/>
          </a:solidFill>
          <a:ln/>
        </p:spPr>
      </p:sp>
      <p:sp>
        <p:nvSpPr>
          <p:cNvPr id="9" name="Text 5"/>
          <p:cNvSpPr txBox="1"/>
          <p:nvPr/>
        </p:nvSpPr>
        <p:spPr>
          <a:xfrm>
            <a:off x="822960" y="5440680"/>
            <a:ext cx="10543032" cy="640080"/>
          </a:xfrm>
          <a:prstGeom prst="rect">
            <a:avLst/>
          </a:prstGeom>
          <a:noFill/>
          <a:ln/>
        </p:spPr>
        <p:txBody>
          <a:bodyPr wrap="square" lIns="0" tIns="0" rIns="0" bIns="0" rtlCol="0" anchor="ctr"/>
          <a:lstStyle/>
          <a:p>
            <a:pPr indent="0" marL="0">
              <a:buNone/>
            </a:pPr>
            <a:r>
              <a:rPr lang="en-US" sz="1600" dirty="0">
                <a:solidFill>
                  <a:schemeClr val="tx1"/>
                </a:solidFill>
              </a:rPr>
              <a:t>aggregate() returns ONE dictionary for the whole table, so nothing can be chained after it.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annotate() and group by</a:t>
            </a:r>
            <a:endParaRPr lang="en-US" sz="3600" dirty="0"/>
          </a:p>
        </p:txBody>
      </p:sp>
      <p:sp>
        <p:nvSpPr>
          <p:cNvPr id="4" name="def-card"/>
          <p:cNvSpPr/>
          <p:nvPr/>
        </p:nvSpPr>
        <p:spPr>
          <a:xfrm>
            <a:off x="548640" y="1371600"/>
            <a:ext cx="5431536" cy="1463040"/>
          </a:xfrm>
          <a:prstGeom prst="roundRect">
            <a:avLst>
              <a:gd name="adj" fmla="val 7500"/>
            </a:avLst>
          </a:prstGeom>
          <a:solidFill>
            <a:schemeClr val="bg2"/>
          </a:solidFill>
          <a:ln/>
        </p:spPr>
      </p:sp>
      <p:sp>
        <p:nvSpPr>
          <p:cNvPr id="5" name="Text 2"/>
          <p:cNvSpPr txBox="1"/>
          <p:nvPr/>
        </p:nvSpPr>
        <p:spPr>
          <a:xfrm>
            <a:off x="822960" y="1481328"/>
            <a:ext cx="4846320" cy="365760"/>
          </a:xfrm>
          <a:prstGeom prst="rect">
            <a:avLst/>
          </a:prstGeom>
          <a:noFill/>
          <a:ln/>
        </p:spPr>
        <p:txBody>
          <a:bodyPr wrap="square" lIns="0" tIns="0" rIns="0" bIns="0" rtlCol="0" anchor="t"/>
          <a:lstStyle/>
          <a:p>
            <a:pPr indent="0" marL="0">
              <a:buNone/>
            </a:pPr>
            <a:r>
              <a:rPr lang="en-US" sz="2000" b="1" dirty="0">
                <a:solidFill>
                  <a:schemeClr val="tx2"/>
                </a:solidFill>
              </a:rPr>
              <a:t>aggregate()</a:t>
            </a:r>
            <a:endParaRPr lang="en-US" sz="2000" dirty="0"/>
          </a:p>
        </p:txBody>
      </p:sp>
      <p:sp>
        <p:nvSpPr>
          <p:cNvPr id="6" name="Text 3"/>
          <p:cNvSpPr txBox="1"/>
          <p:nvPr/>
        </p:nvSpPr>
        <p:spPr>
          <a:xfrm>
            <a:off x="822960" y="1920240"/>
            <a:ext cx="4846320" cy="822960"/>
          </a:xfrm>
          <a:prstGeom prst="rect">
            <a:avLst/>
          </a:prstGeom>
          <a:noFill/>
          <a:ln/>
        </p:spPr>
        <p:txBody>
          <a:bodyPr wrap="square" lIns="0" tIns="0" rIns="0" bIns="0" rtlCol="0" anchor="t"/>
          <a:lstStyle/>
          <a:p>
            <a:pPr indent="0" marL="0">
              <a:buNone/>
            </a:pPr>
            <a:r>
              <a:rPr lang="en-US" sz="1600" dirty="0">
                <a:solidFill>
                  <a:schemeClr val="tx1"/>
                </a:solidFill>
              </a:rPr>
              <a:t>One summary for the whole table. Returns a dictionary.</a:t>
            </a:r>
            <a:endParaRPr lang="en-US" sz="1600" dirty="0"/>
          </a:p>
        </p:txBody>
      </p:sp>
      <p:sp>
        <p:nvSpPr>
          <p:cNvPr id="7" name="def-card"/>
          <p:cNvSpPr/>
          <p:nvPr/>
        </p:nvSpPr>
        <p:spPr>
          <a:xfrm>
            <a:off x="6208776" y="1371600"/>
            <a:ext cx="5431536" cy="1463040"/>
          </a:xfrm>
          <a:prstGeom prst="roundRect">
            <a:avLst>
              <a:gd name="adj" fmla="val 7500"/>
            </a:avLst>
          </a:prstGeom>
          <a:solidFill>
            <a:schemeClr val="tx2"/>
          </a:solidFill>
          <a:ln/>
        </p:spPr>
      </p:sp>
      <p:sp>
        <p:nvSpPr>
          <p:cNvPr id="8" name="Text 5"/>
          <p:cNvSpPr txBox="1"/>
          <p:nvPr/>
        </p:nvSpPr>
        <p:spPr>
          <a:xfrm>
            <a:off x="6483096" y="1481328"/>
            <a:ext cx="4846320" cy="365760"/>
          </a:xfrm>
          <a:prstGeom prst="rect">
            <a:avLst/>
          </a:prstGeom>
          <a:noFill/>
          <a:ln/>
        </p:spPr>
        <p:txBody>
          <a:bodyPr wrap="square" lIns="0" tIns="0" rIns="0" bIns="0" rtlCol="0" anchor="t"/>
          <a:lstStyle/>
          <a:p>
            <a:pPr indent="0" marL="0">
              <a:buNone/>
            </a:pPr>
            <a:r>
              <a:rPr lang="en-US" sz="2000" b="1" dirty="0">
                <a:solidFill>
                  <a:schemeClr val="bg1"/>
                </a:solidFill>
              </a:rPr>
              <a:t>annotate()</a:t>
            </a:r>
            <a:endParaRPr lang="en-US" sz="2000" dirty="0"/>
          </a:p>
        </p:txBody>
      </p:sp>
      <p:sp>
        <p:nvSpPr>
          <p:cNvPr id="9" name="Text 6"/>
          <p:cNvSpPr txBox="1"/>
          <p:nvPr/>
        </p:nvSpPr>
        <p:spPr>
          <a:xfrm>
            <a:off x="6483096" y="1920240"/>
            <a:ext cx="4846320" cy="822960"/>
          </a:xfrm>
          <a:prstGeom prst="rect">
            <a:avLst/>
          </a:prstGeom>
          <a:noFill/>
          <a:ln/>
        </p:spPr>
        <p:txBody>
          <a:bodyPr wrap="square" lIns="0" tIns="0" rIns="0" bIns="0" rtlCol="0" anchor="t"/>
          <a:lstStyle/>
          <a:p>
            <a:pPr indent="0" marL="0">
              <a:buNone/>
            </a:pPr>
            <a:r>
              <a:rPr lang="en-US" sz="1600" dirty="0">
                <a:solidFill>
                  <a:schemeClr val="bg1"/>
                </a:solidFill>
              </a:rPr>
              <a:t>A summary added to each object, or to each group. Returns a QuerySet.</a:t>
            </a:r>
            <a:endParaRPr lang="en-US" sz="1600" dirty="0"/>
          </a:p>
        </p:txBody>
      </p:sp>
      <p:sp>
        <p:nvSpPr>
          <p:cNvPr id="10" name="Text 7"/>
          <p:cNvSpPr txBox="1"/>
          <p:nvPr/>
        </p:nvSpPr>
        <p:spPr>
          <a:xfrm>
            <a:off x="548640" y="3063240"/>
            <a:ext cx="6858000" cy="274320"/>
          </a:xfrm>
          <a:prstGeom prst="rect">
            <a:avLst/>
          </a:prstGeom>
          <a:noFill/>
          <a:ln/>
        </p:spPr>
        <p:txBody>
          <a:bodyPr wrap="square" lIns="0" tIns="0" rIns="0" bIns="0" rtlCol="0" anchor="t"/>
          <a:lstStyle/>
          <a:p>
            <a:pPr indent="0" marL="0">
              <a:buNone/>
            </a:pPr>
            <a:r>
              <a:rPr lang="en-US" sz="1400" b="1" dirty="0">
                <a:solidFill>
                  <a:schemeClr val="accent5"/>
                </a:solidFill>
              </a:rPr>
              <a:t>Group by: how many items are available or not?</a:t>
            </a:r>
            <a:endParaRPr lang="en-US" sz="1400" dirty="0"/>
          </a:p>
        </p:txBody>
      </p:sp>
      <p:sp>
        <p:nvSpPr>
          <p:cNvPr id="11" name="group-code"/>
          <p:cNvSpPr txBox="1"/>
          <p:nvPr/>
        </p:nvSpPr>
        <p:spPr>
          <a:xfrm>
            <a:off x="548640" y="3383280"/>
            <a:ext cx="6858000" cy="1828800"/>
          </a:xfrm>
          <a:prstGeom prst="roundRect">
            <a:avLst>
              <a:gd name="adj" fmla="val 5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Item.objects.values("is_available").annotate(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n=Count("id"))</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[{'is_available': False, 'n': 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True, 'n': 3}]</a:t>
            </a:r>
            <a:endParaRPr lang="en-US" sz="1400" dirty="0"/>
          </a:p>
        </p:txBody>
      </p:sp>
      <p:sp>
        <p:nvSpPr>
          <p:cNvPr id="12" name="callout"/>
          <p:cNvSpPr/>
          <p:nvPr/>
        </p:nvSpPr>
        <p:spPr>
          <a:xfrm>
            <a:off x="7680960" y="3383280"/>
            <a:ext cx="3959352" cy="2697480"/>
          </a:xfrm>
          <a:prstGeom prst="roundRect">
            <a:avLst>
              <a:gd name="adj" fmla="val 4068"/>
            </a:avLst>
          </a:prstGeom>
          <a:solidFill>
            <a:schemeClr val="bg2"/>
          </a:solidFill>
          <a:ln/>
        </p:spPr>
      </p:sp>
      <p:sp>
        <p:nvSpPr>
          <p:cNvPr id="13" name="Text 10"/>
          <p:cNvSpPr txBox="1"/>
          <p:nvPr/>
        </p:nvSpPr>
        <p:spPr>
          <a:xfrm>
            <a:off x="7909560" y="3493008"/>
            <a:ext cx="3566160" cy="365760"/>
          </a:xfrm>
          <a:prstGeom prst="rect">
            <a:avLst/>
          </a:prstGeom>
          <a:noFill/>
          <a:ln/>
        </p:spPr>
        <p:txBody>
          <a:bodyPr wrap="square" lIns="0" tIns="0" rIns="0" bIns="0" rtlCol="0" anchor="t"/>
          <a:lstStyle/>
          <a:p>
            <a:pPr indent="0" marL="0">
              <a:buNone/>
            </a:pPr>
            <a:r>
              <a:rPr lang="en-US" sz="1800" b="1" dirty="0">
                <a:solidFill>
                  <a:schemeClr val="tx2"/>
                </a:solidFill>
              </a:rPr>
              <a:t>With relationships</a:t>
            </a:r>
            <a:endParaRPr lang="en-US" sz="1800" dirty="0"/>
          </a:p>
        </p:txBody>
      </p:sp>
      <p:sp>
        <p:nvSpPr>
          <p:cNvPr id="14" name="orm-snippet"/>
          <p:cNvSpPr txBox="1"/>
          <p:nvPr/>
        </p:nvSpPr>
        <p:spPr>
          <a:xfrm>
            <a:off x="7909560" y="3977640"/>
            <a:ext cx="3520440" cy="868680"/>
          </a:xfrm>
          <a:prstGeom prst="roundRect">
            <a:avLst>
              <a:gd name="adj" fmla="val 105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Department.objects.annotate(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n=Count("student"))</a:t>
            </a:r>
            <a:endParaRPr lang="en-US" sz="1400" dirty="0"/>
          </a:p>
        </p:txBody>
      </p:sp>
      <p:sp>
        <p:nvSpPr>
          <p:cNvPr id="15" name="Text 12"/>
          <p:cNvSpPr txBox="1"/>
          <p:nvPr/>
        </p:nvSpPr>
        <p:spPr>
          <a:xfrm>
            <a:off x="7909560" y="4937760"/>
            <a:ext cx="3520440" cy="1005840"/>
          </a:xfrm>
          <a:prstGeom prst="rect">
            <a:avLst/>
          </a:prstGeom>
          <a:noFill/>
          <a:ln/>
        </p:spPr>
        <p:txBody>
          <a:bodyPr wrap="square" lIns="0" tIns="0" rIns="0" bIns="0" rtlCol="0" anchor="t"/>
          <a:lstStyle/>
          <a:p>
            <a:pPr indent="0" marL="0">
              <a:buNone/>
            </a:pPr>
            <a:r>
              <a:rPr lang="en-US" sz="1500" dirty="0">
                <a:solidFill>
                  <a:schemeClr val="tx1"/>
                </a:solidFill>
              </a:rPr>
              <a:t>Every department gets an n attribute: its number of students.</a:t>
            </a:r>
            <a:endParaRPr lang="en-US" sz="1500" dirty="0"/>
          </a:p>
        </p:txBody>
      </p:sp>
      <p:sp>
        <p:nvSpPr>
          <p:cNvPr id="16" name="callout"/>
          <p:cNvSpPr/>
          <p:nvPr/>
        </p:nvSpPr>
        <p:spPr>
          <a:xfrm>
            <a:off x="548640" y="5440680"/>
            <a:ext cx="6858000" cy="640080"/>
          </a:xfrm>
          <a:prstGeom prst="roundRect">
            <a:avLst>
              <a:gd name="adj" fmla="val 17143"/>
            </a:avLst>
          </a:prstGeom>
          <a:solidFill>
            <a:schemeClr val="bg2"/>
          </a:solidFill>
          <a:ln/>
        </p:spPr>
      </p:sp>
      <p:sp>
        <p:nvSpPr>
          <p:cNvPr id="17" name="Text 14"/>
          <p:cNvSpPr txBox="1"/>
          <p:nvPr/>
        </p:nvSpPr>
        <p:spPr>
          <a:xfrm>
            <a:off x="822960" y="5440680"/>
            <a:ext cx="6309360" cy="640080"/>
          </a:xfrm>
          <a:prstGeom prst="rect">
            <a:avLst/>
          </a:prstGeom>
          <a:noFill/>
          <a:ln/>
        </p:spPr>
        <p:txBody>
          <a:bodyPr wrap="square" lIns="0" tIns="0" rIns="0" bIns="0" rtlCol="0" anchor="ctr"/>
          <a:lstStyle/>
          <a:p>
            <a:pPr indent="0" marL="0">
              <a:buNone/>
            </a:pPr>
            <a:r>
              <a:rPr lang="en-US" sz="1500" dirty="0">
                <a:solidFill>
                  <a:schemeClr val="tx1"/>
                </a:solidFill>
              </a:rPr>
              <a:t>values() chooses the GROUP BY column. annotate() adds the calculation.</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values(), ordering and slicing</a:t>
            </a:r>
            <a:endParaRPr lang="en-US" sz="36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4206240"/>
                <a:gridCol w="4023360"/>
                <a:gridCol w="2862072"/>
              </a:tblGrid>
              <a:tr h="594360">
                <a:tc>
                  <a:txBody>
                    <a:bodyPr/>
                    <a:lstStyle/>
                    <a:p>
                      <a:pPr indent="0" marL="0">
                        <a:buNone/>
                      </a:pPr>
                      <a:r>
                        <a:rPr lang="en-US" sz="1600" b="1" dirty="0">
                          <a:solidFill>
                            <a:schemeClr val="bg1"/>
                          </a:solidFill>
                        </a:rPr>
                        <a:t>Code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What it does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Result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943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order_by("-price")[:2]</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Sort, then keep the first 2 rows (LIMIT)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Backpack, USB cable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943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order_by("-price", "name")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Sort by price, then by name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Highest price first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943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values("name", "price")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Dictionaries instead of model objects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{'name': 'Pen', 'price': ...}</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943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values_list("name", flat=True)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plain list of one column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['Backpack', 'Notebook', ...]</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943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distinct()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Remove duplicate rows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2 distinct is_available values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943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only("name")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Load fewer columns (faster)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Other columns load later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669280"/>
            <a:ext cx="11091672" cy="502920"/>
          </a:xfrm>
          <a:prstGeom prst="roundRect">
            <a:avLst>
              <a:gd name="adj" fmla="val 21818"/>
            </a:avLst>
          </a:prstGeom>
          <a:solidFill>
            <a:schemeClr val="bg2"/>
          </a:solidFill>
          <a:ln/>
        </p:spPr>
      </p:sp>
      <p:sp>
        <p:nvSpPr>
          <p:cNvPr id="6" name="Text 2"/>
          <p:cNvSpPr txBox="1"/>
          <p:nvPr/>
        </p:nvSpPr>
        <p:spPr>
          <a:xfrm>
            <a:off x="822960" y="5669280"/>
            <a:ext cx="10543032" cy="502920"/>
          </a:xfrm>
          <a:prstGeom prst="rect">
            <a:avLst/>
          </a:prstGeom>
          <a:noFill/>
          <a:ln/>
        </p:spPr>
        <p:txBody>
          <a:bodyPr wrap="square" lIns="0" tIns="0" rIns="0" bIns="0" rtlCol="0" anchor="ctr"/>
          <a:lstStyle/>
          <a:p>
            <a:pPr indent="0" marL="0">
              <a:buNone/>
            </a:pPr>
            <a:r>
              <a:rPr lang="en-US" sz="1500" dirty="0">
                <a:solidFill>
                  <a:schemeClr val="tx1"/>
                </a:solidFill>
              </a:rPr>
              <a:t>A slice like [:5] becomes SQL LIMIT 5. Negative indexes are not supported.</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Relationships and performance: N+1</a:t>
            </a:r>
            <a:endParaRPr lang="en-US" sz="3600" dirty="0"/>
          </a:p>
        </p:txBody>
      </p:sp>
      <p:sp>
        <p:nvSpPr>
          <p:cNvPr id="4" name="definition"/>
          <p:cNvSpPr/>
          <p:nvPr/>
        </p:nvSpPr>
        <p:spPr>
          <a:xfrm>
            <a:off x="548640" y="1371600"/>
            <a:ext cx="11091672" cy="914400"/>
          </a:xfrm>
          <a:prstGeom prst="roundRect">
            <a:avLst>
              <a:gd name="adj" fmla="val 12000"/>
            </a:avLst>
          </a:prstGeom>
          <a:solidFill>
            <a:schemeClr val="tx2"/>
          </a:solidFill>
          <a:ln/>
        </p:spPr>
      </p:sp>
      <p:sp>
        <p:nvSpPr>
          <p:cNvPr id="5" name="Text 2"/>
          <p:cNvSpPr txBox="1"/>
          <p:nvPr/>
        </p:nvSpPr>
        <p:spPr>
          <a:xfrm>
            <a:off x="822960" y="1371600"/>
            <a:ext cx="10543032" cy="914400"/>
          </a:xfrm>
          <a:prstGeom prst="rect">
            <a:avLst/>
          </a:prstGeom>
          <a:noFill/>
          <a:ln/>
        </p:spPr>
        <p:txBody>
          <a:bodyPr wrap="square" lIns="0" tIns="0" rIns="0" bIns="0" rtlCol="0" anchor="ctr"/>
          <a:lstStyle/>
          <a:p>
            <a:pPr indent="0" marL="0">
              <a:buNone/>
            </a:pPr>
            <a:r>
              <a:rPr lang="en-US" sz="1700" b="1" dirty="0">
                <a:solidFill>
                  <a:schemeClr val="accent1"/>
                </a:solidFill>
              </a:rPr>
              <a:t>N+1 problem</a:t>
            </a:r>
            <a:pPr indent="0" marL="0">
              <a:buNone/>
            </a:pPr>
            <a:r>
              <a:rPr lang="en-US" sz="1700" dirty="0">
                <a:solidFill>
                  <a:schemeClr val="bg1"/>
                </a:solidFill>
              </a:rPr>
              <a:t>: 1 query to load N objects, plus N more queries to load each object's related object.</a:t>
            </a:r>
            <a:endParaRPr lang="en-US" sz="1700" dirty="0"/>
          </a:p>
        </p:txBody>
      </p:sp>
      <p:sp>
        <p:nvSpPr>
          <p:cNvPr id="6" name="Text 3"/>
          <p:cNvSpPr txBox="1"/>
          <p:nvPr/>
        </p:nvSpPr>
        <p:spPr>
          <a:xfrm>
            <a:off x="548640" y="251460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Slow: 1 + N queries</a:t>
            </a:r>
            <a:endParaRPr lang="en-US" sz="1400" dirty="0"/>
          </a:p>
        </p:txBody>
      </p:sp>
      <p:sp>
        <p:nvSpPr>
          <p:cNvPr id="7" name="slow-code"/>
          <p:cNvSpPr txBox="1"/>
          <p:nvPr/>
        </p:nvSpPr>
        <p:spPr>
          <a:xfrm>
            <a:off x="548640" y="2834640"/>
            <a:ext cx="5431536" cy="1325880"/>
          </a:xfrm>
          <a:prstGeom prst="roundRect">
            <a:avLst>
              <a:gd name="adj" fmla="val 689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students = Student.objects.all()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for s in students: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print(s.department.name)</a:t>
            </a:r>
            <a:endParaRPr lang="en-US" sz="1400" dirty="0"/>
          </a:p>
        </p:txBody>
      </p:sp>
      <p:sp>
        <p:nvSpPr>
          <p:cNvPr id="8" name="Text 5"/>
          <p:cNvSpPr txBox="1"/>
          <p:nvPr/>
        </p:nvSpPr>
        <p:spPr>
          <a:xfrm>
            <a:off x="6208776" y="251460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Fast: 1 query</a:t>
            </a:r>
            <a:endParaRPr lang="en-US" sz="1400" dirty="0"/>
          </a:p>
        </p:txBody>
      </p:sp>
      <p:sp>
        <p:nvSpPr>
          <p:cNvPr id="9" name="fast-code"/>
          <p:cNvSpPr txBox="1"/>
          <p:nvPr/>
        </p:nvSpPr>
        <p:spPr>
          <a:xfrm>
            <a:off x="6208776" y="2834640"/>
            <a:ext cx="5431536" cy="1325880"/>
          </a:xfrm>
          <a:prstGeom prst="roundRect">
            <a:avLst>
              <a:gd name="adj" fmla="val 689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students = (Student.objects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.select_related("department"))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for s in students: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print(s.department.name)</a:t>
            </a:r>
            <a:endParaRPr lang="en-US" sz="1400" dirty="0"/>
          </a:p>
        </p:txBody>
      </p:sp>
      <p:sp>
        <p:nvSpPr>
          <p:cNvPr id="10" name="def-card"/>
          <p:cNvSpPr/>
          <p:nvPr/>
        </p:nvSpPr>
        <p:spPr>
          <a:xfrm>
            <a:off x="548640" y="4434840"/>
            <a:ext cx="5431536" cy="1645920"/>
          </a:xfrm>
          <a:prstGeom prst="roundRect">
            <a:avLst>
              <a:gd name="adj" fmla="val 6667"/>
            </a:avLst>
          </a:prstGeom>
          <a:solidFill>
            <a:schemeClr val="bg2"/>
          </a:solidFill>
          <a:ln/>
        </p:spPr>
      </p:sp>
      <p:sp>
        <p:nvSpPr>
          <p:cNvPr id="11" name="Text 8"/>
          <p:cNvSpPr txBox="1"/>
          <p:nvPr/>
        </p:nvSpPr>
        <p:spPr>
          <a:xfrm>
            <a:off x="822960" y="4526280"/>
            <a:ext cx="4846320" cy="365760"/>
          </a:xfrm>
          <a:prstGeom prst="rect">
            <a:avLst/>
          </a:prstGeom>
          <a:noFill/>
          <a:ln/>
        </p:spPr>
        <p:txBody>
          <a:bodyPr wrap="square" lIns="0" tIns="0" rIns="0" bIns="0" rtlCol="0" anchor="t"/>
          <a:lstStyle/>
          <a:p>
            <a:pPr indent="0" marL="0">
              <a:buNone/>
            </a:pPr>
            <a:r>
              <a:rPr lang="en-US" sz="1900" b="1" dirty="0">
                <a:solidFill>
                  <a:schemeClr val="tx2"/>
                </a:solidFill>
                <a:latin typeface="Courier New" pitchFamily="34" charset="0"/>
                <a:ea typeface="Courier New" pitchFamily="34" charset="-122"/>
                <a:cs typeface="Courier New" pitchFamily="34" charset="-120"/>
              </a:rPr>
              <a:t>select_related()</a:t>
            </a:r>
            <a:endParaRPr lang="en-US" sz="1900" dirty="0"/>
          </a:p>
        </p:txBody>
      </p:sp>
      <p:sp>
        <p:nvSpPr>
          <p:cNvPr id="12" name="Text 9"/>
          <p:cNvSpPr txBox="1"/>
          <p:nvPr/>
        </p:nvSpPr>
        <p:spPr>
          <a:xfrm>
            <a:off x="822960" y="4983480"/>
            <a:ext cx="4846320" cy="1005840"/>
          </a:xfrm>
          <a:prstGeom prst="rect">
            <a:avLst/>
          </a:prstGeom>
          <a:noFill/>
          <a:ln/>
        </p:spPr>
        <p:txBody>
          <a:bodyPr wrap="square" lIns="0" tIns="0" rIns="0" bIns="0" rtlCol="0" anchor="t"/>
          <a:lstStyle/>
          <a:p>
            <a:pPr indent="0" marL="0">
              <a:buNone/>
            </a:pPr>
            <a:r>
              <a:rPr lang="en-US" sz="1500" dirty="0">
                <a:solidFill>
                  <a:schemeClr val="tx1"/>
                </a:solidFill>
              </a:rPr>
              <a:t>For ForeignKey and OneToOne. Uses a SQL JOIN: one query.</a:t>
            </a:r>
            <a:endParaRPr lang="en-US" sz="1500" dirty="0"/>
          </a:p>
        </p:txBody>
      </p:sp>
      <p:sp>
        <p:nvSpPr>
          <p:cNvPr id="13" name="def-card"/>
          <p:cNvSpPr/>
          <p:nvPr/>
        </p:nvSpPr>
        <p:spPr>
          <a:xfrm>
            <a:off x="6208776" y="4434840"/>
            <a:ext cx="5431536" cy="1645920"/>
          </a:xfrm>
          <a:prstGeom prst="roundRect">
            <a:avLst>
              <a:gd name="adj" fmla="val 6667"/>
            </a:avLst>
          </a:prstGeom>
          <a:solidFill>
            <a:schemeClr val="bg2"/>
          </a:solidFill>
          <a:ln/>
        </p:spPr>
      </p:sp>
      <p:sp>
        <p:nvSpPr>
          <p:cNvPr id="14" name="Text 11"/>
          <p:cNvSpPr txBox="1"/>
          <p:nvPr/>
        </p:nvSpPr>
        <p:spPr>
          <a:xfrm>
            <a:off x="6483096" y="4526280"/>
            <a:ext cx="4846320" cy="365760"/>
          </a:xfrm>
          <a:prstGeom prst="rect">
            <a:avLst/>
          </a:prstGeom>
          <a:noFill/>
          <a:ln/>
        </p:spPr>
        <p:txBody>
          <a:bodyPr wrap="square" lIns="0" tIns="0" rIns="0" bIns="0" rtlCol="0" anchor="t"/>
          <a:lstStyle/>
          <a:p>
            <a:pPr indent="0" marL="0">
              <a:buNone/>
            </a:pPr>
            <a:r>
              <a:rPr lang="en-US" sz="1900" b="1" dirty="0">
                <a:solidFill>
                  <a:schemeClr val="tx2"/>
                </a:solidFill>
                <a:latin typeface="Courier New" pitchFamily="34" charset="0"/>
                <a:ea typeface="Courier New" pitchFamily="34" charset="-122"/>
                <a:cs typeface="Courier New" pitchFamily="34" charset="-120"/>
              </a:rPr>
              <a:t>prefetch_related()</a:t>
            </a:r>
            <a:endParaRPr lang="en-US" sz="1900" dirty="0"/>
          </a:p>
        </p:txBody>
      </p:sp>
      <p:sp>
        <p:nvSpPr>
          <p:cNvPr id="15" name="Text 12"/>
          <p:cNvSpPr txBox="1"/>
          <p:nvPr/>
        </p:nvSpPr>
        <p:spPr>
          <a:xfrm>
            <a:off x="6483096" y="4983480"/>
            <a:ext cx="4846320" cy="1005840"/>
          </a:xfrm>
          <a:prstGeom prst="rect">
            <a:avLst/>
          </a:prstGeom>
          <a:noFill/>
          <a:ln/>
        </p:spPr>
        <p:txBody>
          <a:bodyPr wrap="square" lIns="0" tIns="0" rIns="0" bIns="0" rtlCol="0" anchor="t"/>
          <a:lstStyle/>
          <a:p>
            <a:pPr indent="0" marL="0">
              <a:buNone/>
            </a:pPr>
            <a:r>
              <a:rPr lang="en-US" sz="1500" dirty="0">
                <a:solidFill>
                  <a:schemeClr val="tx1"/>
                </a:solidFill>
              </a:rPr>
              <a:t>For many-to-many and reverse relations. One extra query, joined in Python.</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Transactions: all or nothing</a:t>
            </a:r>
            <a:endParaRPr lang="en-US" sz="3600" dirty="0"/>
          </a:p>
        </p:txBody>
      </p:sp>
      <p:sp>
        <p:nvSpPr>
          <p:cNvPr id="4" name="atomic-code"/>
          <p:cNvSpPr txBox="1"/>
          <p:nvPr/>
        </p:nvSpPr>
        <p:spPr>
          <a:xfrm>
            <a:off x="548640" y="1371600"/>
            <a:ext cx="6400800" cy="2834640"/>
          </a:xfrm>
          <a:prstGeom prst="roundRect">
            <a:avLst>
              <a:gd name="adj" fmla="val 32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from django.db import transaction</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with transaction.atomic():</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Item.objects.filter(pk=1).update(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quantity=F("quantity") - 5)</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Item.objects.filter(pk=2).update(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quantity=F("quantity") + 5)</a:t>
            </a:r>
            <a:endParaRPr lang="en-US" sz="1400" dirty="0"/>
          </a:p>
        </p:txBody>
      </p:sp>
      <p:sp>
        <p:nvSpPr>
          <p:cNvPr id="5" name="callout"/>
          <p:cNvSpPr/>
          <p:nvPr/>
        </p:nvSpPr>
        <p:spPr>
          <a:xfrm>
            <a:off x="548640" y="4434840"/>
            <a:ext cx="6400800" cy="1645920"/>
          </a:xfrm>
          <a:prstGeom prst="roundRect">
            <a:avLst>
              <a:gd name="adj" fmla="val 6667"/>
            </a:avLst>
          </a:prstGeom>
          <a:solidFill>
            <a:schemeClr val="bg2"/>
          </a:solidFill>
          <a:ln/>
        </p:spPr>
      </p:sp>
      <p:sp>
        <p:nvSpPr>
          <p:cNvPr id="6" name="Text 3"/>
          <p:cNvSpPr txBox="1"/>
          <p:nvPr/>
        </p:nvSpPr>
        <p:spPr>
          <a:xfrm>
            <a:off x="822960" y="4434840"/>
            <a:ext cx="5852160" cy="1645920"/>
          </a:xfrm>
          <a:prstGeom prst="rect">
            <a:avLst/>
          </a:prstGeom>
          <a:noFill/>
          <a:ln/>
        </p:spPr>
        <p:txBody>
          <a:bodyPr wrap="square" lIns="0" tIns="0" rIns="0" bIns="0" rtlCol="0" anchor="ctr"/>
          <a:lstStyle/>
          <a:p>
            <a:pPr indent="0" marL="0">
              <a:buNone/>
            </a:pPr>
            <a:r>
              <a:rPr lang="en-US" sz="1700" dirty="0">
                <a:solidFill>
                  <a:schemeClr val="tx1"/>
                </a:solidFill>
              </a:rPr>
              <a:t>If anything inside the block fails, BOTH updates are undone. The data is never left half-changed.</a:t>
            </a:r>
            <a:endParaRPr lang="en-US" sz="1700" dirty="0"/>
          </a:p>
        </p:txBody>
      </p:sp>
      <p:sp>
        <p:nvSpPr>
          <p:cNvPr id="7" name="def-card"/>
          <p:cNvSpPr/>
          <p:nvPr/>
        </p:nvSpPr>
        <p:spPr>
          <a:xfrm>
            <a:off x="7223760" y="1371600"/>
            <a:ext cx="4416552" cy="1463040"/>
          </a:xfrm>
          <a:prstGeom prst="roundRect">
            <a:avLst>
              <a:gd name="adj" fmla="val 7500"/>
            </a:avLst>
          </a:prstGeom>
          <a:solidFill>
            <a:schemeClr val="tx2"/>
          </a:solidFill>
          <a:ln/>
        </p:spPr>
      </p:sp>
      <p:sp>
        <p:nvSpPr>
          <p:cNvPr id="8" name="Text 5"/>
          <p:cNvSpPr txBox="1"/>
          <p:nvPr/>
        </p:nvSpPr>
        <p:spPr>
          <a:xfrm>
            <a:off x="7452360" y="1508760"/>
            <a:ext cx="3931920" cy="365760"/>
          </a:xfrm>
          <a:prstGeom prst="rect">
            <a:avLst/>
          </a:prstGeom>
          <a:noFill/>
          <a:ln/>
        </p:spPr>
        <p:txBody>
          <a:bodyPr wrap="square" lIns="0" tIns="0" rIns="0" bIns="0" rtlCol="0" anchor="t"/>
          <a:lstStyle/>
          <a:p>
            <a:pPr indent="0" marL="0">
              <a:buNone/>
            </a:pPr>
            <a:r>
              <a:rPr lang="en-US" sz="2000" b="1" dirty="0">
                <a:solidFill>
                  <a:schemeClr val="bg1"/>
                </a:solidFill>
              </a:rPr>
              <a:t>Transaction</a:t>
            </a:r>
            <a:endParaRPr lang="en-US" sz="2000" dirty="0"/>
          </a:p>
        </p:txBody>
      </p:sp>
      <p:sp>
        <p:nvSpPr>
          <p:cNvPr id="9" name="Text 6"/>
          <p:cNvSpPr txBox="1"/>
          <p:nvPr/>
        </p:nvSpPr>
        <p:spPr>
          <a:xfrm>
            <a:off x="7452360" y="1965960"/>
            <a:ext cx="3931920" cy="777240"/>
          </a:xfrm>
          <a:prstGeom prst="rect">
            <a:avLst/>
          </a:prstGeom>
          <a:noFill/>
          <a:ln/>
        </p:spPr>
        <p:txBody>
          <a:bodyPr wrap="square" lIns="0" tIns="0" rIns="0" bIns="0" rtlCol="0" anchor="t"/>
          <a:lstStyle/>
          <a:p>
            <a:pPr indent="0" marL="0">
              <a:buNone/>
            </a:pPr>
            <a:r>
              <a:rPr lang="en-US" sz="1600" dirty="0">
                <a:solidFill>
                  <a:schemeClr val="bg1"/>
                </a:solidFill>
              </a:rPr>
              <a:t>A group of operations that succeed or fail together.</a:t>
            </a:r>
            <a:endParaRPr lang="en-US" sz="1600" dirty="0"/>
          </a:p>
        </p:txBody>
      </p:sp>
      <p:sp>
        <p:nvSpPr>
          <p:cNvPr id="10" name="def-card"/>
          <p:cNvSpPr/>
          <p:nvPr/>
        </p:nvSpPr>
        <p:spPr>
          <a:xfrm>
            <a:off x="7223760" y="2971800"/>
            <a:ext cx="4416552" cy="1463040"/>
          </a:xfrm>
          <a:prstGeom prst="roundRect">
            <a:avLst>
              <a:gd name="adj" fmla="val 7500"/>
            </a:avLst>
          </a:prstGeom>
          <a:solidFill>
            <a:schemeClr val="bg2"/>
          </a:solidFill>
          <a:ln/>
        </p:spPr>
      </p:sp>
      <p:sp>
        <p:nvSpPr>
          <p:cNvPr id="11" name="Text 8"/>
          <p:cNvSpPr txBox="1"/>
          <p:nvPr/>
        </p:nvSpPr>
        <p:spPr>
          <a:xfrm>
            <a:off x="7452360" y="3108960"/>
            <a:ext cx="3931920" cy="365760"/>
          </a:xfrm>
          <a:prstGeom prst="rect">
            <a:avLst/>
          </a:prstGeom>
          <a:noFill/>
          <a:ln/>
        </p:spPr>
        <p:txBody>
          <a:bodyPr wrap="square" lIns="0" tIns="0" rIns="0" bIns="0" rtlCol="0" anchor="t"/>
          <a:lstStyle/>
          <a:p>
            <a:pPr indent="0" marL="0">
              <a:buNone/>
            </a:pPr>
            <a:r>
              <a:rPr lang="en-US" sz="2000" b="1" dirty="0">
                <a:solidFill>
                  <a:schemeClr val="tx2"/>
                </a:solidFill>
              </a:rPr>
              <a:t>Commit</a:t>
            </a:r>
            <a:endParaRPr lang="en-US" sz="2000" dirty="0"/>
          </a:p>
        </p:txBody>
      </p:sp>
      <p:sp>
        <p:nvSpPr>
          <p:cNvPr id="12" name="Text 9"/>
          <p:cNvSpPr txBox="1"/>
          <p:nvPr/>
        </p:nvSpPr>
        <p:spPr>
          <a:xfrm>
            <a:off x="7452360" y="3566160"/>
            <a:ext cx="3931920" cy="777240"/>
          </a:xfrm>
          <a:prstGeom prst="rect">
            <a:avLst/>
          </a:prstGeom>
          <a:noFill/>
          <a:ln/>
        </p:spPr>
        <p:txBody>
          <a:bodyPr wrap="square" lIns="0" tIns="0" rIns="0" bIns="0" rtlCol="0" anchor="t"/>
          <a:lstStyle/>
          <a:p>
            <a:pPr indent="0" marL="0">
              <a:buNone/>
            </a:pPr>
            <a:r>
              <a:rPr lang="en-US" sz="1600" dirty="0">
                <a:solidFill>
                  <a:schemeClr val="tx1"/>
                </a:solidFill>
              </a:rPr>
              <a:t>Make the changes permanent.</a:t>
            </a:r>
            <a:endParaRPr lang="en-US" sz="1600" dirty="0"/>
          </a:p>
        </p:txBody>
      </p:sp>
      <p:sp>
        <p:nvSpPr>
          <p:cNvPr id="13" name="def-card"/>
          <p:cNvSpPr/>
          <p:nvPr/>
        </p:nvSpPr>
        <p:spPr>
          <a:xfrm>
            <a:off x="7223760" y="4572000"/>
            <a:ext cx="4416552" cy="1463040"/>
          </a:xfrm>
          <a:prstGeom prst="roundRect">
            <a:avLst>
              <a:gd name="adj" fmla="val 7500"/>
            </a:avLst>
          </a:prstGeom>
          <a:solidFill>
            <a:schemeClr val="bg2"/>
          </a:solidFill>
          <a:ln/>
        </p:spPr>
      </p:sp>
      <p:sp>
        <p:nvSpPr>
          <p:cNvPr id="14" name="Text 11"/>
          <p:cNvSpPr txBox="1"/>
          <p:nvPr/>
        </p:nvSpPr>
        <p:spPr>
          <a:xfrm>
            <a:off x="7452360" y="4709160"/>
            <a:ext cx="3931920" cy="365760"/>
          </a:xfrm>
          <a:prstGeom prst="rect">
            <a:avLst/>
          </a:prstGeom>
          <a:noFill/>
          <a:ln/>
        </p:spPr>
        <p:txBody>
          <a:bodyPr wrap="square" lIns="0" tIns="0" rIns="0" bIns="0" rtlCol="0" anchor="t"/>
          <a:lstStyle/>
          <a:p>
            <a:pPr indent="0" marL="0">
              <a:buNone/>
            </a:pPr>
            <a:r>
              <a:rPr lang="en-US" sz="2000" b="1" dirty="0">
                <a:solidFill>
                  <a:schemeClr val="tx2"/>
                </a:solidFill>
              </a:rPr>
              <a:t>Rollback</a:t>
            </a:r>
            <a:endParaRPr lang="en-US" sz="2000" dirty="0"/>
          </a:p>
        </p:txBody>
      </p:sp>
      <p:sp>
        <p:nvSpPr>
          <p:cNvPr id="15" name="Text 12"/>
          <p:cNvSpPr txBox="1"/>
          <p:nvPr/>
        </p:nvSpPr>
        <p:spPr>
          <a:xfrm>
            <a:off x="7452360" y="5166360"/>
            <a:ext cx="3931920" cy="777240"/>
          </a:xfrm>
          <a:prstGeom prst="rect">
            <a:avLst/>
          </a:prstGeom>
          <a:noFill/>
          <a:ln/>
        </p:spPr>
        <p:txBody>
          <a:bodyPr wrap="square" lIns="0" tIns="0" rIns="0" bIns="0" rtlCol="0" anchor="t"/>
          <a:lstStyle/>
          <a:p>
            <a:pPr indent="0" marL="0">
              <a:buNone/>
            </a:pPr>
            <a:r>
              <a:rPr lang="en-US" sz="1600" dirty="0">
                <a:solidFill>
                  <a:schemeClr val="tx1"/>
                </a:solidFill>
              </a:rPr>
              <a:t>Undo every change made in the transaction.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Custom managers</a:t>
            </a:r>
            <a:endParaRPr lang="en-US" sz="3600" dirty="0"/>
          </a:p>
        </p:txBody>
      </p:sp>
      <p:sp>
        <p:nvSpPr>
          <p:cNvPr id="4" name="manager-code"/>
          <p:cNvSpPr txBox="1"/>
          <p:nvPr/>
        </p:nvSpPr>
        <p:spPr>
          <a:xfrm>
            <a:off x="548640" y="1371600"/>
            <a:ext cx="6675120" cy="3200400"/>
          </a:xfrm>
          <a:prstGeom prst="roundRect">
            <a:avLst>
              <a:gd name="adj" fmla="val 285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AvailableManager(models.Manager):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 get_queryset(self):</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super().get_queryset().filter(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is_available=True)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class Item(models.Model):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objects = models.Manager()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available = AvailableManager()</a:t>
            </a:r>
            <a:endParaRPr lang="en-US" sz="1400" dirty="0"/>
          </a:p>
        </p:txBody>
      </p:sp>
      <p:sp>
        <p:nvSpPr>
          <p:cNvPr id="5" name="definition"/>
          <p:cNvSpPr/>
          <p:nvPr/>
        </p:nvSpPr>
        <p:spPr>
          <a:xfrm>
            <a:off x="7498080" y="1371600"/>
            <a:ext cx="4142232" cy="1554480"/>
          </a:xfrm>
          <a:prstGeom prst="roundRect">
            <a:avLst>
              <a:gd name="adj" fmla="val 7059"/>
            </a:avLst>
          </a:prstGeom>
          <a:solidFill>
            <a:schemeClr val="tx2"/>
          </a:solidFill>
          <a:ln/>
        </p:spPr>
      </p:sp>
      <p:sp>
        <p:nvSpPr>
          <p:cNvPr id="6" name="Text 3"/>
          <p:cNvSpPr txBox="1"/>
          <p:nvPr/>
        </p:nvSpPr>
        <p:spPr>
          <a:xfrm>
            <a:off x="7726680" y="1481328"/>
            <a:ext cx="3657600" cy="365760"/>
          </a:xfrm>
          <a:prstGeom prst="rect">
            <a:avLst/>
          </a:prstGeom>
          <a:noFill/>
          <a:ln/>
        </p:spPr>
        <p:txBody>
          <a:bodyPr wrap="square" lIns="0" tIns="0" rIns="0" bIns="0" rtlCol="0" anchor="t"/>
          <a:lstStyle/>
          <a:p>
            <a:pPr indent="0" marL="0">
              <a:buNone/>
            </a:pPr>
            <a:r>
              <a:rPr lang="en-US" sz="2000" b="1" dirty="0">
                <a:solidFill>
                  <a:schemeClr val="bg1"/>
                </a:solidFill>
              </a:rPr>
              <a:t>Manager</a:t>
            </a:r>
            <a:endParaRPr lang="en-US" sz="2000" dirty="0"/>
          </a:p>
        </p:txBody>
      </p:sp>
      <p:sp>
        <p:nvSpPr>
          <p:cNvPr id="7" name="Text 4"/>
          <p:cNvSpPr txBox="1"/>
          <p:nvPr/>
        </p:nvSpPr>
        <p:spPr>
          <a:xfrm>
            <a:off x="7726680" y="1920240"/>
            <a:ext cx="3657600" cy="960120"/>
          </a:xfrm>
          <a:prstGeom prst="rect">
            <a:avLst/>
          </a:prstGeom>
          <a:noFill/>
          <a:ln/>
        </p:spPr>
        <p:txBody>
          <a:bodyPr wrap="square" lIns="0" tIns="0" rIns="0" bIns="0" rtlCol="0" anchor="t"/>
          <a:lstStyle/>
          <a:p>
            <a:pPr indent="0" marL="0">
              <a:buNone/>
            </a:pPr>
            <a:r>
              <a:rPr lang="en-US" sz="1500" dirty="0">
                <a:solidFill>
                  <a:schemeClr val="bg1"/>
                </a:solidFill>
              </a:rPr>
              <a:t>The interface through which a model runs its queries. A custom manager adds ready-made queries.</a:t>
            </a:r>
            <a:endParaRPr lang="en-US" sz="1500" dirty="0"/>
          </a:p>
        </p:txBody>
      </p:sp>
      <p:sp>
        <p:nvSpPr>
          <p:cNvPr id="8" name="Text 5"/>
          <p:cNvSpPr txBox="1"/>
          <p:nvPr/>
        </p:nvSpPr>
        <p:spPr>
          <a:xfrm>
            <a:off x="7498080" y="3154680"/>
            <a:ext cx="4114800" cy="274320"/>
          </a:xfrm>
          <a:prstGeom prst="rect">
            <a:avLst/>
          </a:prstGeom>
          <a:noFill/>
          <a:ln/>
        </p:spPr>
        <p:txBody>
          <a:bodyPr wrap="square" lIns="0" tIns="0" rIns="0" bIns="0" rtlCol="0" anchor="t"/>
          <a:lstStyle/>
          <a:p>
            <a:pPr indent="0" marL="0">
              <a:buNone/>
            </a:pPr>
            <a:r>
              <a:rPr lang="en-US" sz="1400" b="1" dirty="0">
                <a:solidFill>
                  <a:schemeClr val="accent5"/>
                </a:solidFill>
              </a:rPr>
              <a:t>Usage</a:t>
            </a:r>
            <a:endParaRPr lang="en-US" sz="1400" dirty="0"/>
          </a:p>
        </p:txBody>
      </p:sp>
      <p:sp>
        <p:nvSpPr>
          <p:cNvPr id="9" name="usage-code"/>
          <p:cNvSpPr txBox="1"/>
          <p:nvPr/>
        </p:nvSpPr>
        <p:spPr>
          <a:xfrm>
            <a:off x="7498080" y="3474720"/>
            <a:ext cx="4142232" cy="1463040"/>
          </a:xfrm>
          <a:prstGeom prst="roundRect">
            <a:avLst>
              <a:gd name="adj" fmla="val 625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every item</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Item.available.all()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only available items</a:t>
            </a:r>
            <a:endParaRPr lang="en-US" sz="1400" dirty="0"/>
          </a:p>
        </p:txBody>
      </p:sp>
      <p:sp>
        <p:nvSpPr>
          <p:cNvPr id="10" name="callout"/>
          <p:cNvSpPr/>
          <p:nvPr/>
        </p:nvSpPr>
        <p:spPr>
          <a:xfrm>
            <a:off x="548640" y="5257800"/>
            <a:ext cx="11091672" cy="640080"/>
          </a:xfrm>
          <a:prstGeom prst="roundRect">
            <a:avLst>
              <a:gd name="adj" fmla="val 17143"/>
            </a:avLst>
          </a:prstGeom>
          <a:solidFill>
            <a:schemeClr val="bg2"/>
          </a:solidFill>
          <a:ln/>
        </p:spPr>
      </p:sp>
      <p:sp>
        <p:nvSpPr>
          <p:cNvPr id="11" name="Text 8"/>
          <p:cNvSpPr txBox="1"/>
          <p:nvPr/>
        </p:nvSpPr>
        <p:spPr>
          <a:xfrm>
            <a:off x="822960" y="5257800"/>
            <a:ext cx="10543032" cy="640080"/>
          </a:xfrm>
          <a:prstGeom prst="rect">
            <a:avLst/>
          </a:prstGeom>
          <a:noFill/>
          <a:ln/>
        </p:spPr>
        <p:txBody>
          <a:bodyPr wrap="square" lIns="0" tIns="0" rIns="0" bIns="0" rtlCol="0" anchor="ctr"/>
          <a:lstStyle/>
          <a:p>
            <a:pPr indent="0" marL="0">
              <a:buNone/>
            </a:pPr>
            <a:r>
              <a:rPr lang="en-US" sz="1600" dirty="0">
                <a:solidFill>
                  <a:schemeClr val="tx1"/>
                </a:solidFill>
              </a:rPr>
              <a:t>Write the filter once in the model, then reuse it in every view.</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Validation in models</a:t>
            </a:r>
            <a:endParaRPr lang="en-US" sz="3600" dirty="0"/>
          </a:p>
        </p:txBody>
      </p:sp>
      <p:sp>
        <p:nvSpPr>
          <p:cNvPr id="4" name="validation-code"/>
          <p:cNvSpPr txBox="1"/>
          <p:nvPr/>
        </p:nvSpPr>
        <p:spPr>
          <a:xfrm>
            <a:off x="548640" y="1371600"/>
            <a:ext cx="6949440" cy="3200400"/>
          </a:xfrm>
          <a:prstGeom prst="roundRect">
            <a:avLst>
              <a:gd name="adj" fmla="val 285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from django.core.exceptions import ValidationError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from django.core.validators import MinValueValidator</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price = models.DecimalField(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max_digits=8, decimal_places=2,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validators=[MinValueValidator(0)])</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def clean(self):</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if self.quantity == 0 and self.is_available: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raise ValidationError("Out of stock")</a:t>
            </a:r>
            <a:endParaRPr lang="en-US" sz="1400" dirty="0"/>
          </a:p>
        </p:txBody>
      </p:sp>
      <p:sp>
        <p:nvSpPr>
          <p:cNvPr id="5" name="def-card"/>
          <p:cNvSpPr/>
          <p:nvPr/>
        </p:nvSpPr>
        <p:spPr>
          <a:xfrm>
            <a:off x="7726680" y="1371600"/>
            <a:ext cx="3913632" cy="1005840"/>
          </a:xfrm>
          <a:prstGeom prst="roundRect">
            <a:avLst>
              <a:gd name="adj" fmla="val 10909"/>
            </a:avLst>
          </a:prstGeom>
          <a:solidFill>
            <a:schemeClr val="bg2"/>
          </a:solidFill>
          <a:ln/>
        </p:spPr>
      </p:sp>
      <p:sp>
        <p:nvSpPr>
          <p:cNvPr id="6" name="Text 3"/>
          <p:cNvSpPr txBox="1"/>
          <p:nvPr/>
        </p:nvSpPr>
        <p:spPr>
          <a:xfrm>
            <a:off x="7955280" y="1463040"/>
            <a:ext cx="3474720" cy="365760"/>
          </a:xfrm>
          <a:prstGeom prst="rect">
            <a:avLst/>
          </a:prstGeom>
          <a:noFill/>
          <a:ln/>
        </p:spPr>
        <p:txBody>
          <a:bodyPr wrap="square" lIns="0" tIns="0" rIns="0" bIns="0" rtlCol="0" anchor="t"/>
          <a:lstStyle/>
          <a:p>
            <a:pPr indent="0" marL="0">
              <a:buNone/>
            </a:pPr>
            <a:r>
              <a:rPr lang="en-US" sz="1800" b="1" dirty="0">
                <a:solidFill>
                  <a:schemeClr val="tx2"/>
                </a:solidFill>
              </a:rPr>
              <a:t>Field validators</a:t>
            </a:r>
            <a:endParaRPr lang="en-US" sz="1800" dirty="0"/>
          </a:p>
        </p:txBody>
      </p:sp>
      <p:sp>
        <p:nvSpPr>
          <p:cNvPr id="7" name="Text 4"/>
          <p:cNvSpPr txBox="1"/>
          <p:nvPr/>
        </p:nvSpPr>
        <p:spPr>
          <a:xfrm>
            <a:off x="7955280" y="1874520"/>
            <a:ext cx="3474720" cy="457200"/>
          </a:xfrm>
          <a:prstGeom prst="rect">
            <a:avLst/>
          </a:prstGeom>
          <a:noFill/>
          <a:ln/>
        </p:spPr>
        <p:txBody>
          <a:bodyPr wrap="square" lIns="0" tIns="0" rIns="0" bIns="0" rtlCol="0" anchor="t"/>
          <a:lstStyle/>
          <a:p>
            <a:pPr indent="0" marL="0">
              <a:buNone/>
            </a:pPr>
            <a:r>
              <a:rPr lang="en-US" sz="1400" dirty="0">
                <a:solidFill>
                  <a:schemeClr val="tx1"/>
                </a:solidFill>
              </a:rPr>
              <a:t>Rules for one field, such as a minimum value.</a:t>
            </a:r>
            <a:endParaRPr lang="en-US" sz="1400" dirty="0"/>
          </a:p>
        </p:txBody>
      </p:sp>
      <p:sp>
        <p:nvSpPr>
          <p:cNvPr id="8" name="def-card"/>
          <p:cNvSpPr/>
          <p:nvPr/>
        </p:nvSpPr>
        <p:spPr>
          <a:xfrm>
            <a:off x="7726680" y="2468880"/>
            <a:ext cx="3913632" cy="1005840"/>
          </a:xfrm>
          <a:prstGeom prst="roundRect">
            <a:avLst>
              <a:gd name="adj" fmla="val 10909"/>
            </a:avLst>
          </a:prstGeom>
          <a:solidFill>
            <a:schemeClr val="bg2"/>
          </a:solidFill>
          <a:ln/>
        </p:spPr>
      </p:sp>
      <p:sp>
        <p:nvSpPr>
          <p:cNvPr id="9" name="Text 6"/>
          <p:cNvSpPr txBox="1"/>
          <p:nvPr/>
        </p:nvSpPr>
        <p:spPr>
          <a:xfrm>
            <a:off x="7955280" y="2560320"/>
            <a:ext cx="3474720" cy="365760"/>
          </a:xfrm>
          <a:prstGeom prst="rect">
            <a:avLst/>
          </a:prstGeom>
          <a:noFill/>
          <a:ln/>
        </p:spPr>
        <p:txBody>
          <a:bodyPr wrap="square" lIns="0" tIns="0" rIns="0" bIns="0" rtlCol="0" anchor="t"/>
          <a:lstStyle/>
          <a:p>
            <a:pPr indent="0" marL="0">
              <a:buNone/>
            </a:pPr>
            <a:r>
              <a:rPr lang="en-US" sz="1800" b="1" dirty="0">
                <a:solidFill>
                  <a:schemeClr val="tx2"/>
                </a:solidFill>
              </a:rPr>
              <a:t>clean()</a:t>
            </a:r>
            <a:endParaRPr lang="en-US" sz="1800" dirty="0"/>
          </a:p>
        </p:txBody>
      </p:sp>
      <p:sp>
        <p:nvSpPr>
          <p:cNvPr id="10" name="Text 7"/>
          <p:cNvSpPr txBox="1"/>
          <p:nvPr/>
        </p:nvSpPr>
        <p:spPr>
          <a:xfrm>
            <a:off x="7955280" y="2971800"/>
            <a:ext cx="3474720" cy="457200"/>
          </a:xfrm>
          <a:prstGeom prst="rect">
            <a:avLst/>
          </a:prstGeom>
          <a:noFill/>
          <a:ln/>
        </p:spPr>
        <p:txBody>
          <a:bodyPr wrap="square" lIns="0" tIns="0" rIns="0" bIns="0" rtlCol="0" anchor="t"/>
          <a:lstStyle/>
          <a:p>
            <a:pPr indent="0" marL="0">
              <a:buNone/>
            </a:pPr>
            <a:r>
              <a:rPr lang="en-US" sz="1400" dirty="0">
                <a:solidFill>
                  <a:schemeClr val="tx1"/>
                </a:solidFill>
              </a:rPr>
              <a:t>A model method for rules that involve several fields.</a:t>
            </a:r>
            <a:endParaRPr lang="en-US" sz="1400" dirty="0"/>
          </a:p>
        </p:txBody>
      </p:sp>
      <p:sp>
        <p:nvSpPr>
          <p:cNvPr id="11" name="def-card"/>
          <p:cNvSpPr/>
          <p:nvPr/>
        </p:nvSpPr>
        <p:spPr>
          <a:xfrm>
            <a:off x="7726680" y="3566160"/>
            <a:ext cx="3913632" cy="1005840"/>
          </a:xfrm>
          <a:prstGeom prst="roundRect">
            <a:avLst>
              <a:gd name="adj" fmla="val 10909"/>
            </a:avLst>
          </a:prstGeom>
          <a:solidFill>
            <a:schemeClr val="bg2"/>
          </a:solidFill>
          <a:ln/>
        </p:spPr>
      </p:sp>
      <p:sp>
        <p:nvSpPr>
          <p:cNvPr id="12" name="Text 9"/>
          <p:cNvSpPr txBox="1"/>
          <p:nvPr/>
        </p:nvSpPr>
        <p:spPr>
          <a:xfrm>
            <a:off x="7955280" y="3657600"/>
            <a:ext cx="3474720" cy="365760"/>
          </a:xfrm>
          <a:prstGeom prst="rect">
            <a:avLst/>
          </a:prstGeom>
          <a:noFill/>
          <a:ln/>
        </p:spPr>
        <p:txBody>
          <a:bodyPr wrap="square" lIns="0" tIns="0" rIns="0" bIns="0" rtlCol="0" anchor="t"/>
          <a:lstStyle/>
          <a:p>
            <a:pPr indent="0" marL="0">
              <a:buNone/>
            </a:pPr>
            <a:r>
              <a:rPr lang="en-US" sz="1800" b="1" dirty="0">
                <a:solidFill>
                  <a:schemeClr val="tx2"/>
                </a:solidFill>
              </a:rPr>
              <a:t>full_clean()</a:t>
            </a:r>
            <a:endParaRPr lang="en-US" sz="1800" dirty="0"/>
          </a:p>
        </p:txBody>
      </p:sp>
      <p:sp>
        <p:nvSpPr>
          <p:cNvPr id="13" name="Text 10"/>
          <p:cNvSpPr txBox="1"/>
          <p:nvPr/>
        </p:nvSpPr>
        <p:spPr>
          <a:xfrm>
            <a:off x="7955280" y="4069080"/>
            <a:ext cx="3474720" cy="457200"/>
          </a:xfrm>
          <a:prstGeom prst="rect">
            <a:avLst/>
          </a:prstGeom>
          <a:noFill/>
          <a:ln/>
        </p:spPr>
        <p:txBody>
          <a:bodyPr wrap="square" lIns="0" tIns="0" rIns="0" bIns="0" rtlCol="0" anchor="t"/>
          <a:lstStyle/>
          <a:p>
            <a:pPr indent="0" marL="0">
              <a:buNone/>
            </a:pPr>
            <a:r>
              <a:rPr lang="en-US" sz="1400" dirty="0">
                <a:solidFill>
                  <a:schemeClr val="tx1"/>
                </a:solidFill>
              </a:rPr>
              <a:t>Runs every check. Call it yourself in code.</a:t>
            </a:r>
            <a:endParaRPr lang="en-US" sz="1400" dirty="0"/>
          </a:p>
        </p:txBody>
      </p:sp>
      <p:sp>
        <p:nvSpPr>
          <p:cNvPr id="14" name="warning"/>
          <p:cNvSpPr/>
          <p:nvPr/>
        </p:nvSpPr>
        <p:spPr>
          <a:xfrm>
            <a:off x="7726680" y="4663440"/>
            <a:ext cx="3913632" cy="1417320"/>
          </a:xfrm>
          <a:prstGeom prst="roundRect">
            <a:avLst>
              <a:gd name="adj" fmla="val 7742"/>
            </a:avLst>
          </a:prstGeom>
          <a:solidFill>
            <a:schemeClr val="accent2"/>
          </a:solidFill>
          <a:ln/>
        </p:spPr>
      </p:sp>
      <p:sp>
        <p:nvSpPr>
          <p:cNvPr id="15" name="Text 12"/>
          <p:cNvSpPr txBox="1"/>
          <p:nvPr/>
        </p:nvSpPr>
        <p:spPr>
          <a:xfrm>
            <a:off x="7955280" y="4663440"/>
            <a:ext cx="3474720" cy="1417320"/>
          </a:xfrm>
          <a:prstGeom prst="rect">
            <a:avLst/>
          </a:prstGeom>
          <a:noFill/>
          <a:ln/>
        </p:spPr>
        <p:txBody>
          <a:bodyPr wrap="square" lIns="0" tIns="0" rIns="0" bIns="0" rtlCol="0" anchor="ctr"/>
          <a:lstStyle/>
          <a:p>
            <a:pPr indent="0" marL="0">
              <a:buNone/>
            </a:pPr>
            <a:r>
              <a:rPr lang="en-US" sz="1500" b="1" dirty="0">
                <a:solidFill>
                  <a:schemeClr val="accent6"/>
                </a:solidFill>
              </a:rPr>
              <a:t>save() and create() do NOT run these checks. Admin and ModelForms do.</a:t>
            </a:r>
            <a:endParaRPr lang="en-US" sz="1500" dirty="0"/>
          </a:p>
        </p:txBody>
      </p:sp>
      <p:sp>
        <p:nvSpPr>
          <p:cNvPr id="16" name="callout"/>
          <p:cNvSpPr/>
          <p:nvPr/>
        </p:nvSpPr>
        <p:spPr>
          <a:xfrm>
            <a:off x="548640" y="4800600"/>
            <a:ext cx="6949440" cy="1280160"/>
          </a:xfrm>
          <a:prstGeom prst="roundRect">
            <a:avLst>
              <a:gd name="adj" fmla="val 8571"/>
            </a:avLst>
          </a:prstGeom>
          <a:solidFill>
            <a:schemeClr val="bg2"/>
          </a:solidFill>
          <a:ln/>
        </p:spPr>
      </p:sp>
      <p:sp>
        <p:nvSpPr>
          <p:cNvPr id="17" name="Text 14"/>
          <p:cNvSpPr txBox="1"/>
          <p:nvPr/>
        </p:nvSpPr>
        <p:spPr>
          <a:xfrm>
            <a:off x="822960" y="4800600"/>
            <a:ext cx="6400800" cy="1280160"/>
          </a:xfrm>
          <a:prstGeom prst="rect">
            <a:avLst/>
          </a:prstGeom>
          <a:noFill/>
          <a:ln/>
        </p:spPr>
        <p:txBody>
          <a:bodyPr wrap="square" lIns="0" tIns="0" rIns="0" bIns="0" rtlCol="0" anchor="ctr"/>
          <a:lstStyle/>
          <a:p>
            <a:pPr indent="0" marL="0">
              <a:buNone/>
            </a:pPr>
            <a:r>
              <a:rPr lang="en-US" sz="1600" dirty="0">
                <a:solidFill>
                  <a:schemeClr val="tx1"/>
                </a:solidFill>
              </a:rPr>
              <a:t>Validation protects your data: always validate in the model layer, not only in the browser.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Model inheritance</a:t>
            </a:r>
            <a:endParaRPr lang="en-US" sz="3600" dirty="0"/>
          </a:p>
        </p:txBody>
      </p:sp>
      <p:sp>
        <p:nvSpPr>
          <p:cNvPr id="4" name="inherit-code"/>
          <p:cNvSpPr txBox="1"/>
          <p:nvPr/>
        </p:nvSpPr>
        <p:spPr>
          <a:xfrm>
            <a:off x="548640" y="1371600"/>
            <a:ext cx="6217920" cy="3931920"/>
          </a:xfrm>
          <a:prstGeom prst="roundRect">
            <a:avLst>
              <a:gd name="adj" fmla="val 23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TimeStamped(models.Model):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created_at = models.DateTimeField(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auto_now_add=True)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updated_at = models.DateTimeField(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auto_now=True)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class Meta: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abstract = True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class Item(TimeStamped):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 models.CharField(max_length=100)</a:t>
            </a:r>
            <a:endParaRPr lang="en-US" sz="1400" dirty="0"/>
          </a:p>
        </p:txBody>
      </p:sp>
      <p:sp>
        <p:nvSpPr>
          <p:cNvPr id="5" name="kind-card"/>
          <p:cNvSpPr/>
          <p:nvPr/>
        </p:nvSpPr>
        <p:spPr>
          <a:xfrm>
            <a:off x="6995160" y="1371600"/>
            <a:ext cx="4645152" cy="1280160"/>
          </a:xfrm>
          <a:prstGeom prst="roundRect">
            <a:avLst>
              <a:gd name="adj" fmla="val 8571"/>
            </a:avLst>
          </a:prstGeom>
          <a:solidFill>
            <a:schemeClr val="tx2"/>
          </a:solidFill>
          <a:ln/>
        </p:spPr>
      </p:sp>
      <p:sp>
        <p:nvSpPr>
          <p:cNvPr id="6" name="Text 3"/>
          <p:cNvSpPr txBox="1"/>
          <p:nvPr/>
        </p:nvSpPr>
        <p:spPr>
          <a:xfrm>
            <a:off x="7223760" y="1481328"/>
            <a:ext cx="4206240" cy="365760"/>
          </a:xfrm>
          <a:prstGeom prst="rect">
            <a:avLst/>
          </a:prstGeom>
          <a:noFill/>
          <a:ln/>
        </p:spPr>
        <p:txBody>
          <a:bodyPr wrap="square" lIns="0" tIns="0" rIns="0" bIns="0" rtlCol="0" anchor="t"/>
          <a:lstStyle/>
          <a:p>
            <a:pPr indent="0" marL="0">
              <a:buNone/>
            </a:pPr>
            <a:r>
              <a:rPr lang="en-US" sz="1900" b="1" dirty="0">
                <a:solidFill>
                  <a:schemeClr val="bg1"/>
                </a:solidFill>
              </a:rPr>
              <a:t>Abstract base class</a:t>
            </a:r>
            <a:endParaRPr lang="en-US" sz="1900" dirty="0"/>
          </a:p>
        </p:txBody>
      </p:sp>
      <p:sp>
        <p:nvSpPr>
          <p:cNvPr id="7" name="Text 4"/>
          <p:cNvSpPr txBox="1"/>
          <p:nvPr/>
        </p:nvSpPr>
        <p:spPr>
          <a:xfrm>
            <a:off x="7223760" y="1874520"/>
            <a:ext cx="4206240" cy="731520"/>
          </a:xfrm>
          <a:prstGeom prst="rect">
            <a:avLst/>
          </a:prstGeom>
          <a:noFill/>
          <a:ln/>
        </p:spPr>
        <p:txBody>
          <a:bodyPr wrap="square" lIns="0" tIns="0" rIns="0" bIns="0" rtlCol="0" anchor="t"/>
          <a:lstStyle/>
          <a:p>
            <a:pPr indent="0" marL="0">
              <a:buNone/>
            </a:pPr>
            <a:r>
              <a:rPr lang="en-US" sz="1500" dirty="0">
                <a:solidFill>
                  <a:schemeClr val="bg1"/>
                </a:solidFill>
              </a:rPr>
              <a:t>Shared fields and methods. No table of its own. The most common kind.</a:t>
            </a:r>
            <a:endParaRPr lang="en-US" sz="1500" dirty="0"/>
          </a:p>
        </p:txBody>
      </p:sp>
      <p:sp>
        <p:nvSpPr>
          <p:cNvPr id="8" name="kind-card"/>
          <p:cNvSpPr/>
          <p:nvPr/>
        </p:nvSpPr>
        <p:spPr>
          <a:xfrm>
            <a:off x="6995160" y="2743200"/>
            <a:ext cx="4645152" cy="1280160"/>
          </a:xfrm>
          <a:prstGeom prst="roundRect">
            <a:avLst>
              <a:gd name="adj" fmla="val 8571"/>
            </a:avLst>
          </a:prstGeom>
          <a:solidFill>
            <a:schemeClr val="bg2"/>
          </a:solidFill>
          <a:ln/>
        </p:spPr>
      </p:sp>
      <p:sp>
        <p:nvSpPr>
          <p:cNvPr id="9" name="Text 6"/>
          <p:cNvSpPr txBox="1"/>
          <p:nvPr/>
        </p:nvSpPr>
        <p:spPr>
          <a:xfrm>
            <a:off x="7223760" y="2852928"/>
            <a:ext cx="4206240" cy="365760"/>
          </a:xfrm>
          <a:prstGeom prst="rect">
            <a:avLst/>
          </a:prstGeom>
          <a:noFill/>
          <a:ln/>
        </p:spPr>
        <p:txBody>
          <a:bodyPr wrap="square" lIns="0" tIns="0" rIns="0" bIns="0" rtlCol="0" anchor="t"/>
          <a:lstStyle/>
          <a:p>
            <a:pPr indent="0" marL="0">
              <a:buNone/>
            </a:pPr>
            <a:r>
              <a:rPr lang="en-US" sz="1900" b="1" dirty="0">
                <a:solidFill>
                  <a:schemeClr val="tx2"/>
                </a:solidFill>
              </a:rPr>
              <a:t>Multi-table inheritance</a:t>
            </a:r>
            <a:endParaRPr lang="en-US" sz="1900" dirty="0"/>
          </a:p>
        </p:txBody>
      </p:sp>
      <p:sp>
        <p:nvSpPr>
          <p:cNvPr id="10" name="Text 7"/>
          <p:cNvSpPr txBox="1"/>
          <p:nvPr/>
        </p:nvSpPr>
        <p:spPr>
          <a:xfrm>
            <a:off x="7223760" y="3246120"/>
            <a:ext cx="4206240" cy="731520"/>
          </a:xfrm>
          <a:prstGeom prst="rect">
            <a:avLst/>
          </a:prstGeom>
          <a:noFill/>
          <a:ln/>
        </p:spPr>
        <p:txBody>
          <a:bodyPr wrap="square" lIns="0" tIns="0" rIns="0" bIns="0" rtlCol="0" anchor="t"/>
          <a:lstStyle/>
          <a:p>
            <a:pPr indent="0" marL="0">
              <a:buNone/>
            </a:pPr>
            <a:r>
              <a:rPr lang="en-US" sz="1500" dirty="0">
                <a:solidFill>
                  <a:schemeClr val="tx1"/>
                </a:solidFill>
              </a:rPr>
              <a:t>Each model has its own table, linked one-to-one. Rarely needed.</a:t>
            </a:r>
            <a:endParaRPr lang="en-US" sz="1500" dirty="0"/>
          </a:p>
        </p:txBody>
      </p:sp>
      <p:sp>
        <p:nvSpPr>
          <p:cNvPr id="11" name="kind-card"/>
          <p:cNvSpPr/>
          <p:nvPr/>
        </p:nvSpPr>
        <p:spPr>
          <a:xfrm>
            <a:off x="6995160" y="4114800"/>
            <a:ext cx="4645152" cy="1280160"/>
          </a:xfrm>
          <a:prstGeom prst="roundRect">
            <a:avLst>
              <a:gd name="adj" fmla="val 8571"/>
            </a:avLst>
          </a:prstGeom>
          <a:solidFill>
            <a:schemeClr val="bg2"/>
          </a:solidFill>
          <a:ln/>
        </p:spPr>
      </p:sp>
      <p:sp>
        <p:nvSpPr>
          <p:cNvPr id="12" name="Text 9"/>
          <p:cNvSpPr txBox="1"/>
          <p:nvPr/>
        </p:nvSpPr>
        <p:spPr>
          <a:xfrm>
            <a:off x="7223760" y="4224528"/>
            <a:ext cx="4206240" cy="365760"/>
          </a:xfrm>
          <a:prstGeom prst="rect">
            <a:avLst/>
          </a:prstGeom>
          <a:noFill/>
          <a:ln/>
        </p:spPr>
        <p:txBody>
          <a:bodyPr wrap="square" lIns="0" tIns="0" rIns="0" bIns="0" rtlCol="0" anchor="t"/>
          <a:lstStyle/>
          <a:p>
            <a:pPr indent="0" marL="0">
              <a:buNone/>
            </a:pPr>
            <a:r>
              <a:rPr lang="en-US" sz="1900" b="1" dirty="0">
                <a:solidFill>
                  <a:schemeClr val="tx2"/>
                </a:solidFill>
              </a:rPr>
              <a:t>Proxy model</a:t>
            </a:r>
            <a:endParaRPr lang="en-US" sz="1900" dirty="0"/>
          </a:p>
        </p:txBody>
      </p:sp>
      <p:sp>
        <p:nvSpPr>
          <p:cNvPr id="13" name="Text 10"/>
          <p:cNvSpPr txBox="1"/>
          <p:nvPr/>
        </p:nvSpPr>
        <p:spPr>
          <a:xfrm>
            <a:off x="7223760" y="4617720"/>
            <a:ext cx="4206240" cy="731520"/>
          </a:xfrm>
          <a:prstGeom prst="rect">
            <a:avLst/>
          </a:prstGeom>
          <a:noFill/>
          <a:ln/>
        </p:spPr>
        <p:txBody>
          <a:bodyPr wrap="square" lIns="0" tIns="0" rIns="0" bIns="0" rtlCol="0" anchor="t"/>
          <a:lstStyle/>
          <a:p>
            <a:pPr indent="0" marL="0">
              <a:buNone/>
            </a:pPr>
            <a:r>
              <a:rPr lang="en-US" sz="1500" dirty="0">
                <a:solidFill>
                  <a:schemeClr val="tx1"/>
                </a:solidFill>
              </a:rPr>
              <a:t>Same table, different Python behaviour, such as another default ordering.</a:t>
            </a:r>
            <a:endParaRPr lang="en-US" sz="1500" dirty="0"/>
          </a:p>
        </p:txBody>
      </p:sp>
      <p:sp>
        <p:nvSpPr>
          <p:cNvPr id="14" name="callout"/>
          <p:cNvSpPr/>
          <p:nvPr/>
        </p:nvSpPr>
        <p:spPr>
          <a:xfrm>
            <a:off x="548640" y="5669280"/>
            <a:ext cx="11091672" cy="502920"/>
          </a:xfrm>
          <a:prstGeom prst="roundRect">
            <a:avLst>
              <a:gd name="adj" fmla="val 21818"/>
            </a:avLst>
          </a:prstGeom>
          <a:solidFill>
            <a:schemeClr val="bg2"/>
          </a:solidFill>
          <a:ln/>
        </p:spPr>
      </p:sp>
      <p:sp>
        <p:nvSpPr>
          <p:cNvPr id="15" name="Text 12"/>
          <p:cNvSpPr txBox="1"/>
          <p:nvPr/>
        </p:nvSpPr>
        <p:spPr>
          <a:xfrm>
            <a:off x="822960" y="5669280"/>
            <a:ext cx="10543032" cy="502920"/>
          </a:xfrm>
          <a:prstGeom prst="rect">
            <a:avLst/>
          </a:prstGeom>
          <a:noFill/>
          <a:ln/>
        </p:spPr>
        <p:txBody>
          <a:bodyPr wrap="square" lIns="0" tIns="0" rIns="0" bIns="0" rtlCol="0" anchor="ctr"/>
          <a:lstStyle/>
          <a:p>
            <a:pPr indent="0" marL="0">
              <a:buNone/>
            </a:pPr>
            <a:r>
              <a:rPr lang="en-US" sz="1500" dirty="0">
                <a:solidFill>
                  <a:schemeClr val="tx1"/>
                </a:solidFill>
              </a:rPr>
              <a:t>Item now has created_at and updated_at without repeating them in every model.</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Raw SQL: the escape hatch</a:t>
            </a:r>
            <a:endParaRPr lang="en-US" sz="3600" dirty="0"/>
          </a:p>
        </p:txBody>
      </p:sp>
      <p:sp>
        <p:nvSpPr>
          <p:cNvPr id="4" name="raw-code"/>
          <p:cNvSpPr txBox="1"/>
          <p:nvPr/>
        </p:nvSpPr>
        <p:spPr>
          <a:xfrm>
            <a:off x="548640" y="1371600"/>
            <a:ext cx="7223760" cy="3383280"/>
          </a:xfrm>
          <a:prstGeom prst="roundRect">
            <a:avLst>
              <a:gd name="adj" fmla="val 2703"/>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 Returns model objects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Item.objects.raw(</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"SELECT * FROM items_item WHERE price &gt; %s",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[20])</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Any SQL at 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from django.db import connection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with connection.cursor() as cursor: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cursor.execute("SELECT COUNT(*) FROM items_item")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row = cursor.fetchone()</a:t>
            </a:r>
            <a:endParaRPr lang="en-US" sz="1400" dirty="0"/>
          </a:p>
        </p:txBody>
      </p:sp>
      <p:sp>
        <p:nvSpPr>
          <p:cNvPr id="5" name="warning"/>
          <p:cNvSpPr/>
          <p:nvPr/>
        </p:nvSpPr>
        <p:spPr>
          <a:xfrm>
            <a:off x="8046720" y="1371600"/>
            <a:ext cx="3593592" cy="2011680"/>
          </a:xfrm>
          <a:prstGeom prst="roundRect">
            <a:avLst>
              <a:gd name="adj" fmla="val 5455"/>
            </a:avLst>
          </a:prstGeom>
          <a:solidFill>
            <a:schemeClr val="accent2"/>
          </a:solidFill>
          <a:ln/>
        </p:spPr>
      </p:sp>
      <p:sp>
        <p:nvSpPr>
          <p:cNvPr id="6" name="Text 3"/>
          <p:cNvSpPr txBox="1"/>
          <p:nvPr/>
        </p:nvSpPr>
        <p:spPr>
          <a:xfrm>
            <a:off x="8275320" y="1481328"/>
            <a:ext cx="3108960" cy="365760"/>
          </a:xfrm>
          <a:prstGeom prst="rect">
            <a:avLst/>
          </a:prstGeom>
          <a:noFill/>
          <a:ln/>
        </p:spPr>
        <p:txBody>
          <a:bodyPr wrap="square" lIns="0" tIns="0" rIns="0" bIns="0" rtlCol="0" anchor="t"/>
          <a:lstStyle/>
          <a:p>
            <a:pPr indent="0" marL="0">
              <a:buNone/>
            </a:pPr>
            <a:r>
              <a:rPr lang="en-US" sz="1900" b="1" dirty="0">
                <a:solidFill>
                  <a:schemeClr val="accent6"/>
                </a:solidFill>
              </a:rPr>
              <a:t>Never do this</a:t>
            </a:r>
            <a:endParaRPr lang="en-US" sz="1900" dirty="0"/>
          </a:p>
        </p:txBody>
      </p:sp>
      <p:sp>
        <p:nvSpPr>
          <p:cNvPr id="7" name="Text 4"/>
          <p:cNvSpPr txBox="1"/>
          <p:nvPr/>
        </p:nvSpPr>
        <p:spPr>
          <a:xfrm>
            <a:off x="8275320" y="1920240"/>
            <a:ext cx="3154680" cy="1371600"/>
          </a:xfrm>
          <a:prstGeom prst="rect">
            <a:avLst/>
          </a:prstGeom>
          <a:noFill/>
          <a:ln/>
        </p:spPr>
        <p:txBody>
          <a:bodyPr wrap="square" lIns="0" tIns="0" rIns="0" bIns="0" rtlCol="0" anchor="t"/>
          <a:lstStyle/>
          <a:p>
            <a:pPr indent="0" marL="0">
              <a:buNone/>
            </a:pPr>
            <a:r>
              <a:rPr lang="en-US" sz="1500" dirty="0">
                <a:solidFill>
                  <a:schemeClr val="accent6"/>
                </a:solidFill>
              </a:rPr>
              <a:t>Building SQL with f-strings or +. User input could become SQL. Always pass parameters: %s and a list.</a:t>
            </a:r>
            <a:endParaRPr lang="en-US" sz="1500" dirty="0"/>
          </a:p>
        </p:txBody>
      </p:sp>
      <p:sp>
        <p:nvSpPr>
          <p:cNvPr id="8" name="callout"/>
          <p:cNvSpPr/>
          <p:nvPr/>
        </p:nvSpPr>
        <p:spPr>
          <a:xfrm>
            <a:off x="8046720" y="3566160"/>
            <a:ext cx="3593592" cy="1188720"/>
          </a:xfrm>
          <a:prstGeom prst="roundRect">
            <a:avLst>
              <a:gd name="adj" fmla="val 9231"/>
            </a:avLst>
          </a:prstGeom>
          <a:solidFill>
            <a:schemeClr val="bg2"/>
          </a:solidFill>
          <a:ln/>
        </p:spPr>
      </p:sp>
      <p:sp>
        <p:nvSpPr>
          <p:cNvPr id="9" name="Text 6"/>
          <p:cNvSpPr txBox="1"/>
          <p:nvPr/>
        </p:nvSpPr>
        <p:spPr>
          <a:xfrm>
            <a:off x="8275320" y="3566160"/>
            <a:ext cx="3154680" cy="1188720"/>
          </a:xfrm>
          <a:prstGeom prst="rect">
            <a:avLst/>
          </a:prstGeom>
          <a:noFill/>
          <a:ln/>
        </p:spPr>
        <p:txBody>
          <a:bodyPr wrap="square" lIns="0" tIns="0" rIns="0" bIns="0" rtlCol="0" anchor="ctr"/>
          <a:lstStyle/>
          <a:p>
            <a:pPr indent="0" marL="0">
              <a:buNone/>
            </a:pPr>
            <a:r>
              <a:rPr lang="en-US" sz="1600" b="1" dirty="0">
                <a:solidFill>
                  <a:schemeClr val="tx2"/>
                </a:solidFill>
              </a:rPr>
              <a:t>If the ORM can do it, use the ORM.</a:t>
            </a:r>
            <a:endParaRPr lang="en-US" sz="1600" dirty="0"/>
          </a:p>
        </p:txBody>
      </p:sp>
      <p:sp>
        <p:nvSpPr>
          <p:cNvPr id="10" name="callout"/>
          <p:cNvSpPr/>
          <p:nvPr/>
        </p:nvSpPr>
        <p:spPr>
          <a:xfrm>
            <a:off x="548640" y="5029200"/>
            <a:ext cx="11091672" cy="731520"/>
          </a:xfrm>
          <a:prstGeom prst="roundRect">
            <a:avLst>
              <a:gd name="adj" fmla="val 15000"/>
            </a:avLst>
          </a:prstGeom>
          <a:solidFill>
            <a:schemeClr val="bg2"/>
          </a:solidFill>
          <a:ln/>
        </p:spPr>
      </p:sp>
      <p:sp>
        <p:nvSpPr>
          <p:cNvPr id="11" name="Text 8"/>
          <p:cNvSpPr txBox="1"/>
          <p:nvPr/>
        </p:nvSpPr>
        <p:spPr>
          <a:xfrm>
            <a:off x="822960" y="5029200"/>
            <a:ext cx="10543032" cy="731520"/>
          </a:xfrm>
          <a:prstGeom prst="rect">
            <a:avLst/>
          </a:prstGeom>
          <a:noFill/>
          <a:ln/>
        </p:spPr>
        <p:txBody>
          <a:bodyPr wrap="square" lIns="0" tIns="0" rIns="0" bIns="0" rtlCol="0" anchor="ctr"/>
          <a:lstStyle/>
          <a:p>
            <a:pPr indent="0" marL="0">
              <a:buNone/>
            </a:pPr>
            <a:r>
              <a:rPr lang="en-US" sz="1600" dirty="0">
                <a:solidFill>
                  <a:schemeClr val="tx1"/>
                </a:solidFill>
              </a:rPr>
              <a:t>Use raw SQL for complex reports or database-specific features, with parameters every time.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Migrations: makemigrations vs migrate</a:t>
            </a:r>
            <a:endParaRPr lang="en-US" sz="3600" dirty="0"/>
          </a:p>
        </p:txBody>
      </p:sp>
      <p:sp>
        <p:nvSpPr>
          <p:cNvPr id="4" name="diagram-box"/>
          <p:cNvSpPr txBox="1"/>
          <p:nvPr/>
        </p:nvSpPr>
        <p:spPr>
          <a:xfrm>
            <a:off x="548640" y="1417320"/>
            <a:ext cx="2377440" cy="1371600"/>
          </a:xfrm>
          <a:prstGeom prst="roundRect">
            <a:avLst>
              <a:gd name="adj" fmla="val 8000"/>
            </a:avLst>
          </a:prstGeom>
          <a:solidFill>
            <a:schemeClr val="bg2"/>
          </a:solidFill>
          <a:ln/>
        </p:spPr>
        <p:txBody>
          <a:bodyPr wrap="square" lIns="76200" tIns="76200" rIns="76200" bIns="76200" rtlCol="0" anchor="ctr"/>
          <a:lstStyle/>
          <a:p>
            <a:pPr algn="ctr" indent="0" marL="0">
              <a:buNone/>
            </a:pPr>
            <a:r>
              <a:rPr lang="en-US" sz="1800" b="1" dirty="0">
                <a:solidFill>
                  <a:schemeClr val="tx2"/>
                </a:solidFill>
              </a:rPr>
              <a:t>Edit models.py</a:t>
            </a:r>
            <a:endParaRPr lang="en-US" sz="1800" dirty="0"/>
          </a:p>
          <a:p>
            <a:pPr algn="ctr" indent="0" marL="0">
              <a:buNone/>
            </a:pPr>
            <a:r>
              <a:rPr lang="en-US" sz="1400" dirty="0">
                <a:solidFill>
                  <a:schemeClr val="tx2"/>
                </a:solidFill>
              </a:rPr>
              <a:t>add or change a field</a:t>
            </a:r>
            <a:endParaRPr lang="en-US" sz="1800" dirty="0"/>
          </a:p>
        </p:txBody>
      </p:sp>
      <p:sp>
        <p:nvSpPr>
          <p:cNvPr id="5" name="arrow"/>
          <p:cNvSpPr/>
          <p:nvPr/>
        </p:nvSpPr>
        <p:spPr>
          <a:xfrm>
            <a:off x="2926080" y="2103120"/>
            <a:ext cx="457200" cy="0"/>
          </a:xfrm>
          <a:prstGeom prst="line">
            <a:avLst/>
          </a:prstGeom>
          <a:noFill/>
          <a:ln w="28575">
            <a:solidFill>
              <a:schemeClr val="tx2"/>
            </a:solidFill>
            <a:prstDash val="solid"/>
            <a:tailEnd type="triangle"/>
          </a:ln>
        </p:spPr>
      </p:sp>
      <p:sp>
        <p:nvSpPr>
          <p:cNvPr id="6" name="diagram-box"/>
          <p:cNvSpPr txBox="1"/>
          <p:nvPr/>
        </p:nvSpPr>
        <p:spPr>
          <a:xfrm>
            <a:off x="3383280" y="1417320"/>
            <a:ext cx="2377440" cy="1371600"/>
          </a:xfrm>
          <a:prstGeom prst="roundRect">
            <a:avLst>
              <a:gd name="adj" fmla="val 8000"/>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makemigrations</a:t>
            </a:r>
            <a:endParaRPr lang="en-US" sz="1800" dirty="0"/>
          </a:p>
          <a:p>
            <a:pPr algn="ctr" indent="0" marL="0">
              <a:buNone/>
            </a:pPr>
            <a:r>
              <a:rPr lang="en-US" sz="1400" dirty="0">
                <a:solidFill>
                  <a:schemeClr val="bg1"/>
                </a:solidFill>
              </a:rPr>
              <a:t>creates 0001_initial.py</a:t>
            </a:r>
            <a:endParaRPr lang="en-US" sz="1800" dirty="0"/>
          </a:p>
        </p:txBody>
      </p:sp>
      <p:sp>
        <p:nvSpPr>
          <p:cNvPr id="7" name="arrow"/>
          <p:cNvSpPr/>
          <p:nvPr/>
        </p:nvSpPr>
        <p:spPr>
          <a:xfrm>
            <a:off x="5760720" y="2103120"/>
            <a:ext cx="457200" cy="0"/>
          </a:xfrm>
          <a:prstGeom prst="line">
            <a:avLst/>
          </a:prstGeom>
          <a:noFill/>
          <a:ln w="28575">
            <a:solidFill>
              <a:schemeClr val="tx2"/>
            </a:solidFill>
            <a:prstDash val="solid"/>
            <a:tailEnd type="triangle"/>
          </a:ln>
        </p:spPr>
      </p:sp>
      <p:sp>
        <p:nvSpPr>
          <p:cNvPr id="8" name="diagram-box"/>
          <p:cNvSpPr txBox="1"/>
          <p:nvPr/>
        </p:nvSpPr>
        <p:spPr>
          <a:xfrm>
            <a:off x="6217920" y="1417320"/>
            <a:ext cx="2377440" cy="1371600"/>
          </a:xfrm>
          <a:prstGeom prst="roundRect">
            <a:avLst>
              <a:gd name="adj" fmla="val 8000"/>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migrate</a:t>
            </a:r>
            <a:endParaRPr lang="en-US" sz="1800" dirty="0"/>
          </a:p>
          <a:p>
            <a:pPr algn="ctr" indent="0" marL="0">
              <a:buNone/>
            </a:pPr>
            <a:r>
              <a:rPr lang="en-US" sz="1400" dirty="0">
                <a:solidFill>
                  <a:schemeClr val="bg1"/>
                </a:solidFill>
              </a:rPr>
              <a:t>runs the SQL on the database</a:t>
            </a:r>
            <a:endParaRPr lang="en-US" sz="1800" dirty="0"/>
          </a:p>
        </p:txBody>
      </p:sp>
      <p:sp>
        <p:nvSpPr>
          <p:cNvPr id="9" name="arrow"/>
          <p:cNvSpPr/>
          <p:nvPr/>
        </p:nvSpPr>
        <p:spPr>
          <a:xfrm>
            <a:off x="8595360" y="2103120"/>
            <a:ext cx="457200" cy="0"/>
          </a:xfrm>
          <a:prstGeom prst="line">
            <a:avLst/>
          </a:prstGeom>
          <a:noFill/>
          <a:ln w="28575">
            <a:solidFill>
              <a:schemeClr val="tx2"/>
            </a:solidFill>
            <a:prstDash val="solid"/>
            <a:tailEnd type="triangle"/>
          </a:ln>
        </p:spPr>
      </p:sp>
      <p:sp>
        <p:nvSpPr>
          <p:cNvPr id="10" name="diagram-box"/>
          <p:cNvSpPr txBox="1"/>
          <p:nvPr/>
        </p:nvSpPr>
        <p:spPr>
          <a:xfrm>
            <a:off x="9052560" y="1417320"/>
            <a:ext cx="2377440" cy="1371600"/>
          </a:xfrm>
          <a:prstGeom prst="roundRect">
            <a:avLst>
              <a:gd name="adj" fmla="val 8000"/>
            </a:avLst>
          </a:prstGeom>
          <a:solidFill>
            <a:schemeClr val="bg2"/>
          </a:solidFill>
          <a:ln/>
        </p:spPr>
        <p:txBody>
          <a:bodyPr wrap="square" lIns="76200" tIns="76200" rIns="76200" bIns="76200" rtlCol="0" anchor="ctr"/>
          <a:lstStyle/>
          <a:p>
            <a:pPr algn="ctr" indent="0" marL="0">
              <a:buNone/>
            </a:pPr>
            <a:r>
              <a:rPr lang="en-US" sz="1800" b="1" dirty="0">
                <a:solidFill>
                  <a:schemeClr val="tx2"/>
                </a:solidFill>
              </a:rPr>
              <a:t>Tables ready</a:t>
            </a:r>
            <a:endParaRPr lang="en-US" sz="1800" dirty="0"/>
          </a:p>
          <a:p>
            <a:pPr algn="ctr" indent="0" marL="0">
              <a:buNone/>
            </a:pPr>
            <a:r>
              <a:rPr lang="en-US" sz="1400" dirty="0">
                <a:solidFill>
                  <a:schemeClr val="tx2"/>
                </a:solidFill>
              </a:rPr>
              <a:t>app can read and write data</a:t>
            </a:r>
            <a:endParaRPr lang="en-US" sz="1800" dirty="0"/>
          </a:p>
        </p:txBody>
      </p:sp>
      <p:sp>
        <p:nvSpPr>
          <p:cNvPr id="11" name="compare-card"/>
          <p:cNvSpPr/>
          <p:nvPr/>
        </p:nvSpPr>
        <p:spPr>
          <a:xfrm>
            <a:off x="548640" y="3154680"/>
            <a:ext cx="5431536" cy="2468880"/>
          </a:xfrm>
          <a:prstGeom prst="roundRect">
            <a:avLst>
              <a:gd name="adj" fmla="val 4444"/>
            </a:avLst>
          </a:prstGeom>
          <a:solidFill>
            <a:schemeClr val="bg2"/>
          </a:solidFill>
          <a:ln/>
        </p:spPr>
      </p:sp>
      <p:sp>
        <p:nvSpPr>
          <p:cNvPr id="12" name="Text 9"/>
          <p:cNvSpPr txBox="1"/>
          <p:nvPr/>
        </p:nvSpPr>
        <p:spPr>
          <a:xfrm>
            <a:off x="822960" y="3291840"/>
            <a:ext cx="4846320" cy="411480"/>
          </a:xfrm>
          <a:prstGeom prst="rect">
            <a:avLst/>
          </a:prstGeom>
          <a:noFill/>
          <a:ln/>
        </p:spPr>
        <p:txBody>
          <a:bodyPr wrap="square" lIns="0" tIns="0" rIns="0" bIns="0" rtlCol="0" anchor="t"/>
          <a:lstStyle/>
          <a:p>
            <a:pPr indent="0" marL="0">
              <a:buNone/>
            </a:pPr>
            <a:r>
              <a:rPr lang="en-US" sz="2200" b="1" dirty="0">
                <a:solidFill>
                  <a:schemeClr val="tx2"/>
                </a:solidFill>
              </a:rPr>
              <a:t>makemigrations</a:t>
            </a:r>
            <a:endParaRPr lang="en-US" sz="2200" dirty="0"/>
          </a:p>
        </p:txBody>
      </p:sp>
      <p:sp>
        <p:nvSpPr>
          <p:cNvPr id="13" name="Text 10"/>
          <p:cNvSpPr txBox="1"/>
          <p:nvPr/>
        </p:nvSpPr>
        <p:spPr>
          <a:xfrm>
            <a:off x="822960" y="379476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Reads your models, writes a migration file</a:t>
            </a:r>
            <a:endParaRPr lang="en-US" sz="1600" dirty="0"/>
          </a:p>
          <a:p>
            <a:pPr marL="342900" indent="-342900">
              <a:spcAft>
                <a:spcPts val="800"/>
              </a:spcAft>
              <a:buSzPct val="100000"/>
              <a:buChar char="•"/>
            </a:pPr>
            <a:r>
              <a:rPr lang="en-US" sz="1600" dirty="0">
                <a:solidFill>
                  <a:schemeClr val="tx1"/>
                </a:solidFill>
              </a:rPr>
              <a:t>Does NOT touch the database</a:t>
            </a:r>
            <a:endParaRPr lang="en-US" sz="1600" dirty="0"/>
          </a:p>
          <a:p>
            <a:pPr marL="342900" indent="-342900">
              <a:spcAft>
                <a:spcPts val="800"/>
              </a:spcAft>
              <a:buSzPct val="100000"/>
              <a:buChar char="•"/>
            </a:pPr>
            <a:r>
              <a:rPr lang="en-US" sz="1600" dirty="0">
                <a:solidFill>
                  <a:schemeClr val="tx1"/>
                </a:solidFill>
              </a:rPr>
              <a:t>Commit the file to Git</a:t>
            </a:r>
            <a:endParaRPr lang="en-US" sz="1600" dirty="0"/>
          </a:p>
        </p:txBody>
      </p:sp>
      <p:sp>
        <p:nvSpPr>
          <p:cNvPr id="14" name="compare-card"/>
          <p:cNvSpPr/>
          <p:nvPr/>
        </p:nvSpPr>
        <p:spPr>
          <a:xfrm>
            <a:off x="6208776" y="3154680"/>
            <a:ext cx="5431536" cy="2468880"/>
          </a:xfrm>
          <a:prstGeom prst="roundRect">
            <a:avLst>
              <a:gd name="adj" fmla="val 4444"/>
            </a:avLst>
          </a:prstGeom>
          <a:solidFill>
            <a:schemeClr val="bg2"/>
          </a:solidFill>
          <a:ln/>
        </p:spPr>
      </p:sp>
      <p:sp>
        <p:nvSpPr>
          <p:cNvPr id="15" name="Text 12"/>
          <p:cNvSpPr txBox="1"/>
          <p:nvPr/>
        </p:nvSpPr>
        <p:spPr>
          <a:xfrm>
            <a:off x="6483096" y="3291840"/>
            <a:ext cx="4846320" cy="411480"/>
          </a:xfrm>
          <a:prstGeom prst="rect">
            <a:avLst/>
          </a:prstGeom>
          <a:noFill/>
          <a:ln/>
        </p:spPr>
        <p:txBody>
          <a:bodyPr wrap="square" lIns="0" tIns="0" rIns="0" bIns="0" rtlCol="0" anchor="t"/>
          <a:lstStyle/>
          <a:p>
            <a:pPr indent="0" marL="0">
              <a:buNone/>
            </a:pPr>
            <a:r>
              <a:rPr lang="en-US" sz="2200" b="1" dirty="0">
                <a:solidFill>
                  <a:schemeClr val="tx2"/>
                </a:solidFill>
              </a:rPr>
              <a:t>migrate</a:t>
            </a:r>
            <a:endParaRPr lang="en-US" sz="2200" dirty="0"/>
          </a:p>
        </p:txBody>
      </p:sp>
      <p:sp>
        <p:nvSpPr>
          <p:cNvPr id="16" name="Text 13"/>
          <p:cNvSpPr txBox="1"/>
          <p:nvPr/>
        </p:nvSpPr>
        <p:spPr>
          <a:xfrm>
            <a:off x="6483096" y="379476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Runs unapplied migrations on the database</a:t>
            </a:r>
            <a:endParaRPr lang="en-US" sz="1600" dirty="0"/>
          </a:p>
          <a:p>
            <a:pPr marL="342900" indent="-342900">
              <a:spcAft>
                <a:spcPts val="800"/>
              </a:spcAft>
              <a:buSzPct val="100000"/>
              <a:buChar char="•"/>
            </a:pPr>
            <a:r>
              <a:rPr lang="en-US" sz="1600" dirty="0">
                <a:solidFill>
                  <a:schemeClr val="tx1"/>
                </a:solidFill>
              </a:rPr>
              <a:t>Creates or alters the real tables</a:t>
            </a:r>
            <a:endParaRPr lang="en-US" sz="1600" dirty="0"/>
          </a:p>
          <a:p>
            <a:pPr marL="342900" indent="-342900">
              <a:spcAft>
                <a:spcPts val="800"/>
              </a:spcAft>
              <a:buSzPct val="100000"/>
              <a:buChar char="•"/>
            </a:pPr>
            <a:r>
              <a:rPr lang="en-US" sz="1600" dirty="0">
                <a:solidFill>
                  <a:schemeClr val="tx1"/>
                </a:solidFill>
              </a:rPr>
              <a:t>Run it again after every git pull</a:t>
            </a:r>
            <a:endParaRPr lang="en-US" sz="1600" dirty="0"/>
          </a:p>
        </p:txBody>
      </p:sp>
      <p:sp>
        <p:nvSpPr>
          <p:cNvPr id="17" name="callout"/>
          <p:cNvSpPr/>
          <p:nvPr/>
        </p:nvSpPr>
        <p:spPr>
          <a:xfrm>
            <a:off x="548640" y="5760720"/>
            <a:ext cx="11091672" cy="457200"/>
          </a:xfrm>
          <a:prstGeom prst="roundRect">
            <a:avLst>
              <a:gd name="adj" fmla="val 24000"/>
            </a:avLst>
          </a:prstGeom>
          <a:solidFill>
            <a:schemeClr val="bg2"/>
          </a:solidFill>
          <a:ln/>
        </p:spPr>
      </p:sp>
      <p:sp>
        <p:nvSpPr>
          <p:cNvPr id="18" name="Text 15"/>
          <p:cNvSpPr txBox="1"/>
          <p:nvPr/>
        </p:nvSpPr>
        <p:spPr>
          <a:xfrm>
            <a:off x="822960" y="5760720"/>
            <a:ext cx="10543032" cy="457200"/>
          </a:xfrm>
          <a:prstGeom prst="rect">
            <a:avLst/>
          </a:prstGeom>
          <a:noFill/>
          <a:ln/>
        </p:spPr>
        <p:txBody>
          <a:bodyPr wrap="square" lIns="0" tIns="0" rIns="0" bIns="0" rtlCol="0" anchor="ctr"/>
          <a:lstStyle/>
          <a:p>
            <a:pPr indent="0" marL="0">
              <a:buNone/>
            </a:pPr>
            <a:r>
              <a:rPr lang="en-US" sz="1500" dirty="0">
                <a:solidFill>
                  <a:schemeClr val="tx1"/>
                </a:solidFill>
              </a:rPr>
              <a:t>Handy:  python manage.py showmigrations   |   python manage.py sqlmigrate items 0001</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requests and routing</a:t>
            </a:r>
            <a:endParaRPr lang="en-US" sz="3600" dirty="0"/>
          </a:p>
        </p:txBody>
      </p:sp>
      <p:sp>
        <p:nvSpPr>
          <p:cNvPr id="4" name="term-card"/>
          <p:cNvSpPr/>
          <p:nvPr/>
        </p:nvSpPr>
        <p:spPr>
          <a:xfrm>
            <a:off x="548640" y="1371600"/>
            <a:ext cx="3520440" cy="2194560"/>
          </a:xfrm>
          <a:prstGeom prst="roundRect">
            <a:avLst>
              <a:gd name="adj" fmla="val 5000"/>
            </a:avLst>
          </a:prstGeom>
          <a:solidFill>
            <a:schemeClr val="bg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HTTP request / response</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Request: the client's message (method, URL, headers, data). Response: the server's reply (status code and body).</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URL routing</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Matching the requested URL to the view that handles it. In Django this is configured in urls.py.</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tx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Endpoint</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One API address combined with an HTTP method, for example GET /api/items/.</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CRUD</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Create, Read, Update, Delete: the four basic operations on stored data. They map to POST, GET, PUT and DELETE.</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Middleware</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Components that process every request and response, such as security, sessions and CSRF checks.</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JSON</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JavaScript Object Notation: a lightweight text format of key-value pairs and lists used to exchange data.</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Views: the logic</a:t>
            </a:r>
            <a:endParaRPr lang="en-US" sz="3600" dirty="0"/>
          </a:p>
        </p:txBody>
      </p:sp>
      <p:sp>
        <p:nvSpPr>
          <p:cNvPr id="4" name="views-code"/>
          <p:cNvSpPr txBox="1"/>
          <p:nvPr/>
        </p:nvSpPr>
        <p:spPr>
          <a:xfrm>
            <a:off x="548640" y="1371600"/>
            <a:ext cx="6583680" cy="3200400"/>
          </a:xfrm>
          <a:prstGeom prst="roundRect">
            <a:avLst>
              <a:gd name="adj" fmla="val 285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@api_view(["GET", "POST"])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def item_list(request):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if request.method == "GET":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 = Item.objects.all()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data = ItemSerializer(items, many=True).data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Response(data)</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serializer = ItemSerializer(data=request.data)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if serializer.is_valid():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serializer.save()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Response(serializer.data, status=201)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Response(serializer.errors, status=400)</a:t>
            </a:r>
            <a:endParaRPr lang="en-US" sz="1400" dirty="0"/>
          </a:p>
        </p:txBody>
      </p:sp>
      <p:sp>
        <p:nvSpPr>
          <p:cNvPr id="5" name="callout"/>
          <p:cNvSpPr/>
          <p:nvPr/>
        </p:nvSpPr>
        <p:spPr>
          <a:xfrm>
            <a:off x="548640" y="4846320"/>
            <a:ext cx="6583680" cy="822960"/>
          </a:xfrm>
          <a:prstGeom prst="roundRect">
            <a:avLst>
              <a:gd name="adj" fmla="val 13333"/>
            </a:avLst>
          </a:prstGeom>
          <a:solidFill>
            <a:schemeClr val="bg2"/>
          </a:solidFill>
          <a:ln/>
        </p:spPr>
      </p:sp>
      <p:sp>
        <p:nvSpPr>
          <p:cNvPr id="6" name="Text 3"/>
          <p:cNvSpPr txBox="1"/>
          <p:nvPr/>
        </p:nvSpPr>
        <p:spPr>
          <a:xfrm>
            <a:off x="822960" y="4846320"/>
            <a:ext cx="6035040" cy="822960"/>
          </a:xfrm>
          <a:prstGeom prst="rect">
            <a:avLst/>
          </a:prstGeom>
          <a:noFill/>
          <a:ln/>
        </p:spPr>
        <p:txBody>
          <a:bodyPr wrap="square" lIns="0" tIns="0" rIns="0" bIns="0" rtlCol="0" anchor="ctr"/>
          <a:lstStyle/>
          <a:p>
            <a:pPr indent="0" marL="0">
              <a:buNone/>
            </a:pPr>
            <a:r>
              <a:rPr lang="en-US" sz="1600" dirty="0">
                <a:solidFill>
                  <a:schemeClr val="tx1"/>
                </a:solidFill>
              </a:rPr>
              <a:t>item_detail(request, pk) works the same way for GET, PUT and DELETE on one item.</a:t>
            </a:r>
            <a:endParaRPr lang="en-US" sz="1600" dirty="0"/>
          </a:p>
        </p:txBody>
      </p:sp>
      <p:sp>
        <p:nvSpPr>
          <p:cNvPr id="7" name="step-card"/>
          <p:cNvSpPr/>
          <p:nvPr/>
        </p:nvSpPr>
        <p:spPr>
          <a:xfrm>
            <a:off x="7406640" y="1371600"/>
            <a:ext cx="4233672" cy="1280160"/>
          </a:xfrm>
          <a:prstGeom prst="roundRect">
            <a:avLst>
              <a:gd name="adj" fmla="val 8571"/>
            </a:avLst>
          </a:prstGeom>
          <a:solidFill>
            <a:schemeClr val="bg2"/>
          </a:solidFill>
          <a:ln/>
        </p:spPr>
      </p:sp>
      <p:sp>
        <p:nvSpPr>
          <p:cNvPr id="8" name="step-number"/>
          <p:cNvSpPr txBox="1"/>
          <p:nvPr/>
        </p:nvSpPr>
        <p:spPr>
          <a:xfrm>
            <a:off x="7635240" y="15544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8275320" y="1536192"/>
            <a:ext cx="3246120" cy="365760"/>
          </a:xfrm>
          <a:prstGeom prst="rect">
            <a:avLst/>
          </a:prstGeom>
          <a:noFill/>
          <a:ln/>
        </p:spPr>
        <p:txBody>
          <a:bodyPr wrap="square" lIns="0" tIns="0" rIns="0" bIns="0" rtlCol="0" anchor="t"/>
          <a:lstStyle/>
          <a:p>
            <a:pPr indent="0" marL="0">
              <a:buNone/>
            </a:pPr>
            <a:r>
              <a:rPr lang="en-US" sz="1900" b="1" dirty="0">
                <a:solidFill>
                  <a:schemeClr val="tx2"/>
                </a:solidFill>
              </a:rPr>
              <a:t>Receive the request</a:t>
            </a:r>
            <a:endParaRPr lang="en-US" sz="1900" dirty="0"/>
          </a:p>
        </p:txBody>
      </p:sp>
      <p:sp>
        <p:nvSpPr>
          <p:cNvPr id="10" name="Text 7"/>
          <p:cNvSpPr txBox="1"/>
          <p:nvPr/>
        </p:nvSpPr>
        <p:spPr>
          <a:xfrm>
            <a:off x="8275320" y="1938528"/>
            <a:ext cx="3246120" cy="640080"/>
          </a:xfrm>
          <a:prstGeom prst="rect">
            <a:avLst/>
          </a:prstGeom>
          <a:noFill/>
          <a:ln/>
        </p:spPr>
        <p:txBody>
          <a:bodyPr wrap="square" lIns="0" tIns="0" rIns="0" bIns="0" rtlCol="0" anchor="t"/>
          <a:lstStyle/>
          <a:p>
            <a:pPr indent="0" marL="0">
              <a:buNone/>
            </a:pPr>
            <a:r>
              <a:rPr lang="en-US" sz="1500" dirty="0">
                <a:solidFill>
                  <a:schemeClr val="tx1"/>
                </a:solidFill>
              </a:rPr>
              <a:t>Which method: GET, POST, PUT or DELETE?</a:t>
            </a:r>
            <a:endParaRPr lang="en-US" sz="1500" dirty="0"/>
          </a:p>
        </p:txBody>
      </p:sp>
      <p:sp>
        <p:nvSpPr>
          <p:cNvPr id="11" name="step-card"/>
          <p:cNvSpPr/>
          <p:nvPr/>
        </p:nvSpPr>
        <p:spPr>
          <a:xfrm>
            <a:off x="7406640" y="2788920"/>
            <a:ext cx="4233672" cy="1280160"/>
          </a:xfrm>
          <a:prstGeom prst="roundRect">
            <a:avLst>
              <a:gd name="adj" fmla="val 8571"/>
            </a:avLst>
          </a:prstGeom>
          <a:solidFill>
            <a:schemeClr val="bg2"/>
          </a:solidFill>
          <a:ln/>
        </p:spPr>
      </p:sp>
      <p:sp>
        <p:nvSpPr>
          <p:cNvPr id="12" name="step-number"/>
          <p:cNvSpPr txBox="1"/>
          <p:nvPr/>
        </p:nvSpPr>
        <p:spPr>
          <a:xfrm>
            <a:off x="7635240" y="29718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8275320" y="2953512"/>
            <a:ext cx="3246120" cy="365760"/>
          </a:xfrm>
          <a:prstGeom prst="rect">
            <a:avLst/>
          </a:prstGeom>
          <a:noFill/>
          <a:ln/>
        </p:spPr>
        <p:txBody>
          <a:bodyPr wrap="square" lIns="0" tIns="0" rIns="0" bIns="0" rtlCol="0" anchor="t"/>
          <a:lstStyle/>
          <a:p>
            <a:pPr indent="0" marL="0">
              <a:buNone/>
            </a:pPr>
            <a:r>
              <a:rPr lang="en-US" sz="1900" b="1" dirty="0">
                <a:solidFill>
                  <a:schemeClr val="tx2"/>
                </a:solidFill>
              </a:rPr>
              <a:t>Use the model</a:t>
            </a:r>
            <a:endParaRPr lang="en-US" sz="1900" dirty="0"/>
          </a:p>
        </p:txBody>
      </p:sp>
      <p:sp>
        <p:nvSpPr>
          <p:cNvPr id="14" name="Text 11"/>
          <p:cNvSpPr txBox="1"/>
          <p:nvPr/>
        </p:nvSpPr>
        <p:spPr>
          <a:xfrm>
            <a:off x="8275320" y="3355848"/>
            <a:ext cx="3246120" cy="640080"/>
          </a:xfrm>
          <a:prstGeom prst="rect">
            <a:avLst/>
          </a:prstGeom>
          <a:noFill/>
          <a:ln/>
        </p:spPr>
        <p:txBody>
          <a:bodyPr wrap="square" lIns="0" tIns="0" rIns="0" bIns="0" rtlCol="0" anchor="t"/>
          <a:lstStyle/>
          <a:p>
            <a:pPr indent="0" marL="0">
              <a:buNone/>
            </a:pPr>
            <a:r>
              <a:rPr lang="en-US" sz="1500" dirty="0">
                <a:solidFill>
                  <a:schemeClr val="tx1"/>
                </a:solidFill>
              </a:rPr>
              <a:t>Ask the ORM for data, or save new data.</a:t>
            </a:r>
            <a:endParaRPr lang="en-US" sz="1500" dirty="0"/>
          </a:p>
        </p:txBody>
      </p:sp>
      <p:sp>
        <p:nvSpPr>
          <p:cNvPr id="15" name="step-card"/>
          <p:cNvSpPr/>
          <p:nvPr/>
        </p:nvSpPr>
        <p:spPr>
          <a:xfrm>
            <a:off x="7406640" y="4206240"/>
            <a:ext cx="4233672" cy="1280160"/>
          </a:xfrm>
          <a:prstGeom prst="roundRect">
            <a:avLst>
              <a:gd name="adj" fmla="val 8571"/>
            </a:avLst>
          </a:prstGeom>
          <a:solidFill>
            <a:schemeClr val="bg2"/>
          </a:solidFill>
          <a:ln/>
        </p:spPr>
      </p:sp>
      <p:sp>
        <p:nvSpPr>
          <p:cNvPr id="16" name="step-number"/>
          <p:cNvSpPr txBox="1"/>
          <p:nvPr/>
        </p:nvSpPr>
        <p:spPr>
          <a:xfrm>
            <a:off x="7635240" y="438912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4"/>
          <p:cNvSpPr txBox="1"/>
          <p:nvPr/>
        </p:nvSpPr>
        <p:spPr>
          <a:xfrm>
            <a:off x="8275320" y="4370832"/>
            <a:ext cx="3246120" cy="365760"/>
          </a:xfrm>
          <a:prstGeom prst="rect">
            <a:avLst/>
          </a:prstGeom>
          <a:noFill/>
          <a:ln/>
        </p:spPr>
        <p:txBody>
          <a:bodyPr wrap="square" lIns="0" tIns="0" rIns="0" bIns="0" rtlCol="0" anchor="t"/>
          <a:lstStyle/>
          <a:p>
            <a:pPr indent="0" marL="0">
              <a:buNone/>
            </a:pPr>
            <a:r>
              <a:rPr lang="en-US" sz="1900" b="1" dirty="0">
                <a:solidFill>
                  <a:schemeClr val="tx2"/>
                </a:solidFill>
              </a:rPr>
              <a:t>Return a response</a:t>
            </a:r>
            <a:endParaRPr lang="en-US" sz="1900" dirty="0"/>
          </a:p>
        </p:txBody>
      </p:sp>
      <p:sp>
        <p:nvSpPr>
          <p:cNvPr id="18" name="Text 15"/>
          <p:cNvSpPr txBox="1"/>
          <p:nvPr/>
        </p:nvSpPr>
        <p:spPr>
          <a:xfrm>
            <a:off x="8275320" y="4773168"/>
            <a:ext cx="3246120" cy="640080"/>
          </a:xfrm>
          <a:prstGeom prst="rect">
            <a:avLst/>
          </a:prstGeom>
          <a:noFill/>
          <a:ln/>
        </p:spPr>
        <p:txBody>
          <a:bodyPr wrap="square" lIns="0" tIns="0" rIns="0" bIns="0" rtlCol="0" anchor="t"/>
          <a:lstStyle/>
          <a:p>
            <a:pPr indent="0" marL="0">
              <a:buNone/>
            </a:pPr>
            <a:r>
              <a:rPr lang="en-US" sz="1500" dirty="0">
                <a:solidFill>
                  <a:schemeClr val="tx1"/>
                </a:solidFill>
              </a:rPr>
              <a:t>JSON with a status code (200, 201, 400, 404...).</a:t>
            </a:r>
            <a:endParaRPr lang="en-US" sz="1500" dirty="0"/>
          </a:p>
        </p:txBody>
      </p:sp>
      <p:sp>
        <p:nvSpPr>
          <p:cNvPr id="19" name="Text 16"/>
          <p:cNvSpPr txBox="1"/>
          <p:nvPr/>
        </p:nvSpPr>
        <p:spPr>
          <a:xfrm>
            <a:off x="7406640" y="5669280"/>
            <a:ext cx="4233672" cy="548640"/>
          </a:xfrm>
          <a:prstGeom prst="rect">
            <a:avLst/>
          </a:prstGeom>
          <a:noFill/>
          <a:ln/>
        </p:spPr>
        <p:txBody>
          <a:bodyPr wrap="square" lIns="0" tIns="0" rIns="0" bIns="0" rtlCol="0" anchor="t"/>
          <a:lstStyle/>
          <a:p>
            <a:pPr indent="0" marL="0">
              <a:buNone/>
            </a:pPr>
            <a:r>
              <a:rPr lang="en-US" sz="1400" dirty="0">
                <a:solidFill>
                  <a:schemeClr val="accent5"/>
                </a:solidFill>
              </a:rPr>
              <a:t>Function-based views, kept simple. Class-based views and ViewSets also exist.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URLs: from address to view</a:t>
            </a:r>
            <a:endParaRPr lang="en-US" sz="3600" dirty="0"/>
          </a:p>
        </p:txBody>
      </p:sp>
      <p:sp>
        <p:nvSpPr>
          <p:cNvPr id="4" name="Text 1"/>
          <p:cNvSpPr txBox="1"/>
          <p:nvPr/>
        </p:nvSpPr>
        <p:spPr>
          <a:xfrm>
            <a:off x="548640" y="1325880"/>
            <a:ext cx="5852160" cy="274320"/>
          </a:xfrm>
          <a:prstGeom prst="rect">
            <a:avLst/>
          </a:prstGeom>
          <a:noFill/>
          <a:ln/>
        </p:spPr>
        <p:txBody>
          <a:bodyPr wrap="square" lIns="0" tIns="0" rIns="0" bIns="0" rtlCol="0" anchor="t"/>
          <a:lstStyle/>
          <a:p>
            <a:pPr indent="0" marL="0">
              <a:buNone/>
            </a:pPr>
            <a:r>
              <a:rPr lang="en-US" sz="1400" b="1" dirty="0">
                <a:solidFill>
                  <a:schemeClr val="accent5"/>
                </a:solidFill>
              </a:rPr>
              <a:t>config/urls.py  (root)</a:t>
            </a:r>
            <a:endParaRPr lang="en-US" sz="1400" dirty="0"/>
          </a:p>
        </p:txBody>
      </p:sp>
      <p:sp>
        <p:nvSpPr>
          <p:cNvPr id="5" name="urls-root"/>
          <p:cNvSpPr txBox="1"/>
          <p:nvPr/>
        </p:nvSpPr>
        <p:spPr>
          <a:xfrm>
            <a:off x="548640" y="1645920"/>
            <a:ext cx="5943600" cy="1371600"/>
          </a:xfrm>
          <a:prstGeom prst="roundRect">
            <a:avLst>
              <a:gd name="adj" fmla="val 66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urlpatterns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path("admin/", admin.site.urls),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path("api/", include("items.urls")),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548640" y="3200400"/>
            <a:ext cx="5852160" cy="274320"/>
          </a:xfrm>
          <a:prstGeom prst="rect">
            <a:avLst/>
          </a:prstGeom>
          <a:noFill/>
          <a:ln/>
        </p:spPr>
        <p:txBody>
          <a:bodyPr wrap="square" lIns="0" tIns="0" rIns="0" bIns="0" rtlCol="0" anchor="t"/>
          <a:lstStyle/>
          <a:p>
            <a:pPr indent="0" marL="0">
              <a:buNone/>
            </a:pPr>
            <a:r>
              <a:rPr lang="en-US" sz="1400" b="1" dirty="0">
                <a:solidFill>
                  <a:schemeClr val="accent5"/>
                </a:solidFill>
              </a:rPr>
              <a:t>items/urls.py  (app)</a:t>
            </a:r>
            <a:endParaRPr lang="en-US" sz="1400" dirty="0"/>
          </a:p>
        </p:txBody>
      </p:sp>
      <p:sp>
        <p:nvSpPr>
          <p:cNvPr id="7" name="urls-app"/>
          <p:cNvSpPr txBox="1"/>
          <p:nvPr/>
        </p:nvSpPr>
        <p:spPr>
          <a:xfrm>
            <a:off x="548640" y="3520440"/>
            <a:ext cx="5943600" cy="2103120"/>
          </a:xfrm>
          <a:prstGeom prst="roundRect">
            <a:avLst>
              <a:gd name="adj" fmla="val 4348"/>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urlpatterns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path("items/", views.item_list,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name="item_list"),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path("items/&lt;int:pk&gt;/",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views.item_detail,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name="item_detail"),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route-example"/>
          <p:cNvSpPr/>
          <p:nvPr/>
        </p:nvSpPr>
        <p:spPr>
          <a:xfrm>
            <a:off x="6812280" y="1371600"/>
            <a:ext cx="4828032" cy="1234440"/>
          </a:xfrm>
          <a:prstGeom prst="roundRect">
            <a:avLst>
              <a:gd name="adj" fmla="val 8889"/>
            </a:avLst>
          </a:prstGeom>
          <a:solidFill>
            <a:schemeClr val="bg2"/>
          </a:solidFill>
          <a:ln/>
        </p:spPr>
      </p:sp>
      <p:sp>
        <p:nvSpPr>
          <p:cNvPr id="9" name="Text 6"/>
          <p:cNvSpPr txBox="1"/>
          <p:nvPr/>
        </p:nvSpPr>
        <p:spPr>
          <a:xfrm>
            <a:off x="7040880" y="1508760"/>
            <a:ext cx="1828800" cy="960120"/>
          </a:xfrm>
          <a:prstGeom prst="rect">
            <a:avLst/>
          </a:prstGeom>
          <a:noFill/>
          <a:ln/>
        </p:spPr>
        <p:txBody>
          <a:bodyPr wrap="square" lIns="0" tIns="0" rIns="0" bIns="0" rtlCol="0" anchor="ctr"/>
          <a:lstStyle/>
          <a:p>
            <a:pPr indent="0" marL="0">
              <a:buNone/>
            </a:pPr>
            <a:r>
              <a:rPr lang="en-US" sz="1500" b="1" dirty="0">
                <a:solidFill>
                  <a:schemeClr val="tx2"/>
                </a:solidFill>
                <a:latin typeface="Courier New" pitchFamily="34" charset="0"/>
                <a:ea typeface="Courier New" pitchFamily="34" charset="-122"/>
                <a:cs typeface="Courier New" pitchFamily="34" charset="-120"/>
              </a:rPr>
              <a:t>/api/items/3/</a:t>
            </a:r>
            <a:endParaRPr lang="en-US" sz="1500" dirty="0"/>
          </a:p>
        </p:txBody>
      </p:sp>
      <p:sp>
        <p:nvSpPr>
          <p:cNvPr id="10" name="arrow"/>
          <p:cNvSpPr/>
          <p:nvPr/>
        </p:nvSpPr>
        <p:spPr>
          <a:xfrm>
            <a:off x="8915400" y="1828800"/>
            <a:ext cx="457200" cy="320040"/>
          </a:xfrm>
          <a:prstGeom prst="rightArrow">
            <a:avLst/>
          </a:prstGeom>
          <a:solidFill>
            <a:schemeClr val="accent1"/>
          </a:solidFill>
          <a:ln/>
        </p:spPr>
      </p:sp>
      <p:sp>
        <p:nvSpPr>
          <p:cNvPr id="11" name="Text 8"/>
          <p:cNvSpPr txBox="1"/>
          <p:nvPr/>
        </p:nvSpPr>
        <p:spPr>
          <a:xfrm>
            <a:off x="9509760" y="1508760"/>
            <a:ext cx="2057400" cy="960120"/>
          </a:xfrm>
          <a:prstGeom prst="rect">
            <a:avLst/>
          </a:prstGeom>
          <a:noFill/>
          <a:ln/>
        </p:spPr>
        <p:txBody>
          <a:bodyPr wrap="square" lIns="0" tIns="0" rIns="0" bIns="0" rtlCol="0" anchor="ctr"/>
          <a:lstStyle/>
          <a:p>
            <a:pPr indent="0" marL="0">
              <a:buNone/>
            </a:pPr>
            <a:r>
              <a:rPr lang="en-US" sz="1500" b="1" dirty="0">
                <a:solidFill>
                  <a:schemeClr val="tx2"/>
                </a:solidFill>
                <a:latin typeface="Courier New" pitchFamily="34" charset="0"/>
                <a:ea typeface="Courier New" pitchFamily="34" charset="-122"/>
                <a:cs typeface="Courier New" pitchFamily="34" charset="-120"/>
              </a:rPr>
              <a:t>item_detail(</a:t>
            </a:r>
            <a:endParaRPr lang="en-US" sz="1500" dirty="0"/>
          </a:p>
          <a:p>
            <a:pPr indent="0" marL="0">
              <a:buNone/>
            </a:pPr>
            <a:r>
              <a:rPr lang="en-US" sz="1500" b="1" dirty="0">
                <a:solidFill>
                  <a:schemeClr val="tx2"/>
                </a:solidFill>
                <a:latin typeface="Courier New" pitchFamily="34" charset="0"/>
                <a:ea typeface="Courier New" pitchFamily="34" charset="-122"/>
                <a:cs typeface="Courier New" pitchFamily="34" charset="-120"/>
              </a:rPr>
              <a:t>request, pk=3)</a:t>
            </a:r>
            <a:endParaRPr lang="en-US" sz="15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812280" y="2880360"/>
          <a:ext cx="4828032" cy="914400"/>
        </p:xfrm>
        <a:graphic>
          <a:graphicData uri="http://schemas.openxmlformats.org/drawingml/2006/table">
            <a:tbl>
              <a:tblPr/>
              <a:tblGrid>
                <a:gridCol w="1188720"/>
                <a:gridCol w="1920240"/>
                <a:gridCol w="1719072"/>
              </a:tblGrid>
              <a:tr h="457200">
                <a:tc>
                  <a:txBody>
                    <a:bodyPr/>
                    <a:lstStyle/>
                    <a:p>
                      <a:pPr indent="0" marL="0">
                        <a:buNone/>
                      </a:pPr>
                      <a:r>
                        <a:rPr lang="en-US" sz="1600" b="1" dirty="0">
                          <a:solidFill>
                            <a:schemeClr val="bg1"/>
                          </a:solidFill>
                        </a:rPr>
                        <a:t>Method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URL</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View</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item_list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POST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item_list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PUT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DELETE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3" name="Text 9"/>
          <p:cNvSpPr txBox="1"/>
          <p:nvPr/>
        </p:nvSpPr>
        <p:spPr>
          <a:xfrm>
            <a:off x="6812280" y="5760720"/>
            <a:ext cx="4828032" cy="411480"/>
          </a:xfrm>
          <a:prstGeom prst="rect">
            <a:avLst/>
          </a:prstGeom>
          <a:noFill/>
          <a:ln/>
        </p:spPr>
        <p:txBody>
          <a:bodyPr wrap="square" lIns="0" tIns="0" rIns="0" bIns="0" rtlCol="0" anchor="t"/>
          <a:lstStyle/>
          <a:p>
            <a:pPr indent="0" marL="0">
              <a:buNone/>
            </a:pPr>
            <a:r>
              <a:rPr lang="en-US" sz="1400" dirty="0">
                <a:solidFill>
                  <a:schemeClr val="accent5"/>
                </a:solidFill>
              </a:rPr>
              <a:t>Open /api/items/ in the browser to use the browsable API page.</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Serializers: model to JSON</a:t>
            </a:r>
            <a:endParaRPr lang="en-US" sz="3600" dirty="0"/>
          </a:p>
        </p:txBody>
      </p:sp>
      <p:sp>
        <p:nvSpPr>
          <p:cNvPr id="4" name="Text 1"/>
          <p:cNvSpPr txBox="1"/>
          <p:nvPr/>
        </p:nvSpPr>
        <p:spPr>
          <a:xfrm>
            <a:off x="548640" y="1325880"/>
            <a:ext cx="6400800" cy="274320"/>
          </a:xfrm>
          <a:prstGeom prst="rect">
            <a:avLst/>
          </a:prstGeom>
          <a:noFill/>
          <a:ln/>
        </p:spPr>
        <p:txBody>
          <a:bodyPr wrap="square" lIns="0" tIns="0" rIns="0" bIns="0" rtlCol="0" anchor="t"/>
          <a:lstStyle/>
          <a:p>
            <a:pPr indent="0" marL="0">
              <a:buNone/>
            </a:pPr>
            <a:r>
              <a:rPr lang="en-US" sz="1400" b="1" dirty="0">
                <a:solidFill>
                  <a:schemeClr val="accent5"/>
                </a:solidFill>
              </a:rPr>
              <a:t>items/serializers.py</a:t>
            </a:r>
            <a:endParaRPr lang="en-US" sz="1400" dirty="0"/>
          </a:p>
        </p:txBody>
      </p:sp>
      <p:sp>
        <p:nvSpPr>
          <p:cNvPr id="5" name="serializer-code"/>
          <p:cNvSpPr txBox="1"/>
          <p:nvPr/>
        </p:nvSpPr>
        <p:spPr>
          <a:xfrm>
            <a:off x="548640" y="1645920"/>
            <a:ext cx="6675120" cy="1554480"/>
          </a:xfrm>
          <a:prstGeom prst="roundRect">
            <a:avLst>
              <a:gd name="adj" fmla="val 58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ItemSerializer(serializers.ModelSerializer):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class Meta: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model = 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fields = ["id", "name", "price",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"is_available"]</a:t>
            </a:r>
            <a:endParaRPr lang="en-US" sz="1400" dirty="0"/>
          </a:p>
        </p:txBody>
      </p:sp>
      <p:sp>
        <p:nvSpPr>
          <p:cNvPr id="6" name="Text 3"/>
          <p:cNvSpPr txBox="1"/>
          <p:nvPr/>
        </p:nvSpPr>
        <p:spPr>
          <a:xfrm>
            <a:off x="7498080" y="1325880"/>
            <a:ext cx="4114800" cy="274320"/>
          </a:xfrm>
          <a:prstGeom prst="rect">
            <a:avLst/>
          </a:prstGeom>
          <a:noFill/>
          <a:ln/>
        </p:spPr>
        <p:txBody>
          <a:bodyPr wrap="square" lIns="0" tIns="0" rIns="0" bIns="0" rtlCol="0" anchor="t"/>
          <a:lstStyle/>
          <a:p>
            <a:pPr indent="0" marL="0">
              <a:buNone/>
            </a:pPr>
            <a:r>
              <a:rPr lang="en-US" sz="1400" b="1" dirty="0">
                <a:solidFill>
                  <a:schemeClr val="accent5"/>
                </a:solidFill>
              </a:rPr>
              <a:t>JSON the API returns</a:t>
            </a:r>
            <a:endParaRPr lang="en-US" sz="1400" dirty="0"/>
          </a:p>
        </p:txBody>
      </p:sp>
      <p:sp>
        <p:nvSpPr>
          <p:cNvPr id="7" name="json-code"/>
          <p:cNvSpPr txBox="1"/>
          <p:nvPr/>
        </p:nvSpPr>
        <p:spPr>
          <a:xfrm>
            <a:off x="7498080" y="1645920"/>
            <a:ext cx="4142232" cy="2103120"/>
          </a:xfrm>
          <a:prstGeom prst="roundRect">
            <a:avLst>
              <a:gd name="adj" fmla="val 4348"/>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"id": 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"Notebook",</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"60.00",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40,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concept-card"/>
          <p:cNvSpPr/>
          <p:nvPr/>
        </p:nvSpPr>
        <p:spPr>
          <a:xfrm>
            <a:off x="548640" y="4114800"/>
            <a:ext cx="3566160" cy="1828800"/>
          </a:xfrm>
          <a:prstGeom prst="roundRect">
            <a:avLst>
              <a:gd name="adj" fmla="val 6000"/>
            </a:avLst>
          </a:prstGeom>
          <a:solidFill>
            <a:schemeClr val="bg2"/>
          </a:solidFill>
          <a:ln/>
        </p:spPr>
      </p:sp>
      <p:sp>
        <p:nvSpPr>
          <p:cNvPr id="9" name="Text 6"/>
          <p:cNvSpPr txBox="1"/>
          <p:nvPr/>
        </p:nvSpPr>
        <p:spPr>
          <a:xfrm>
            <a:off x="777240"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Converts</a:t>
            </a:r>
            <a:endParaRPr lang="en-US" sz="2000" dirty="0"/>
          </a:p>
        </p:txBody>
      </p:sp>
      <p:sp>
        <p:nvSpPr>
          <p:cNvPr id="10" name="Text 7"/>
          <p:cNvSpPr txBox="1"/>
          <p:nvPr/>
        </p:nvSpPr>
        <p:spPr>
          <a:xfrm>
            <a:off x="777240"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Model objects to JSON, and JSON back to objects.</a:t>
            </a:r>
            <a:endParaRPr lang="en-US" sz="1600" dirty="0"/>
          </a:p>
        </p:txBody>
      </p:sp>
      <p:sp>
        <p:nvSpPr>
          <p:cNvPr id="11" name="concept-card"/>
          <p:cNvSpPr/>
          <p:nvPr/>
        </p:nvSpPr>
        <p:spPr>
          <a:xfrm>
            <a:off x="4311396" y="4114800"/>
            <a:ext cx="3566160" cy="1828800"/>
          </a:xfrm>
          <a:prstGeom prst="roundRect">
            <a:avLst>
              <a:gd name="adj" fmla="val 6000"/>
            </a:avLst>
          </a:prstGeom>
          <a:solidFill>
            <a:schemeClr val="bg2"/>
          </a:solidFill>
          <a:ln/>
        </p:spPr>
      </p:sp>
      <p:sp>
        <p:nvSpPr>
          <p:cNvPr id="12" name="Text 9"/>
          <p:cNvSpPr txBox="1"/>
          <p:nvPr/>
        </p:nvSpPr>
        <p:spPr>
          <a:xfrm>
            <a:off x="4539996"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Validates</a:t>
            </a:r>
            <a:endParaRPr lang="en-US" sz="2000" dirty="0"/>
          </a:p>
        </p:txBody>
      </p:sp>
      <p:sp>
        <p:nvSpPr>
          <p:cNvPr id="13" name="Text 10"/>
          <p:cNvSpPr txBox="1"/>
          <p:nvPr/>
        </p:nvSpPr>
        <p:spPr>
          <a:xfrm>
            <a:off x="4539996"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Bad input gets a 400 response with clear error messages.</a:t>
            </a:r>
            <a:endParaRPr lang="en-US" sz="1600" dirty="0"/>
          </a:p>
        </p:txBody>
      </p:sp>
      <p:sp>
        <p:nvSpPr>
          <p:cNvPr id="14" name="concept-card"/>
          <p:cNvSpPr/>
          <p:nvPr/>
        </p:nvSpPr>
        <p:spPr>
          <a:xfrm>
            <a:off x="8074152" y="4114800"/>
            <a:ext cx="3566160" cy="1828800"/>
          </a:xfrm>
          <a:prstGeom prst="roundRect">
            <a:avLst>
              <a:gd name="adj" fmla="val 6000"/>
            </a:avLst>
          </a:prstGeom>
          <a:solidFill>
            <a:schemeClr val="bg2"/>
          </a:solidFill>
          <a:ln/>
        </p:spPr>
      </p:sp>
      <p:sp>
        <p:nvSpPr>
          <p:cNvPr id="15" name="Text 12"/>
          <p:cNvSpPr txBox="1"/>
          <p:nvPr/>
        </p:nvSpPr>
        <p:spPr>
          <a:xfrm>
            <a:off x="8302752"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Replaces the T</a:t>
            </a:r>
            <a:endParaRPr lang="en-US" sz="2000" dirty="0"/>
          </a:p>
        </p:txBody>
      </p:sp>
      <p:sp>
        <p:nvSpPr>
          <p:cNvPr id="16" name="Text 13"/>
          <p:cNvSpPr txBox="1"/>
          <p:nvPr/>
        </p:nvSpPr>
        <p:spPr>
          <a:xfrm>
            <a:off x="8302752"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In an API, JSON takes the place of the HTML template.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Demo: Item API with CRUD</a:t>
            </a:r>
            <a:endParaRPr lang="en-US" sz="3600" dirty="0"/>
          </a:p>
        </p:txBody>
      </p:sp>
      <p:sp>
        <p:nvSpPr>
          <p:cNvPr id="4" name="icon-circle"/>
          <p:cNvSpPr/>
          <p:nvPr/>
        </p:nvSpPr>
        <p:spPr>
          <a:xfrm>
            <a:off x="548640" y="1453896"/>
            <a:ext cx="365760" cy="36576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640080" y="1545336"/>
            <a:ext cx="182880" cy="182880"/>
          </a:xfrm>
          <a:prstGeom prst="rect">
            <a:avLst/>
          </a:prstGeom>
        </p:spPr>
      </p:pic>
      <p:sp>
        <p:nvSpPr>
          <p:cNvPr id="6" name="Text 2"/>
          <p:cNvSpPr txBox="1"/>
          <p:nvPr/>
        </p:nvSpPr>
        <p:spPr>
          <a:xfrm>
            <a:off x="1097280" y="1417320"/>
            <a:ext cx="4206240" cy="457200"/>
          </a:xfrm>
          <a:prstGeom prst="rect">
            <a:avLst/>
          </a:prstGeom>
          <a:noFill/>
          <a:ln/>
        </p:spPr>
        <p:txBody>
          <a:bodyPr wrap="square" lIns="0" tIns="0" rIns="0" bIns="0" rtlCol="0" anchor="ctr"/>
          <a:lstStyle/>
          <a:p>
            <a:pPr indent="0" marL="0">
              <a:buNone/>
            </a:pPr>
            <a:r>
              <a:rPr lang="en-US" sz="1600" dirty="0">
                <a:solidFill>
                  <a:schemeClr val="tx1"/>
                </a:solidFill>
              </a:rPr>
              <a:t>List items:  GET /api/items/</a:t>
            </a:r>
            <a:endParaRPr lang="en-US" sz="1600" dirty="0"/>
          </a:p>
        </p:txBody>
      </p:sp>
      <p:sp>
        <p:nvSpPr>
          <p:cNvPr id="7" name="icon-circle"/>
          <p:cNvSpPr/>
          <p:nvPr/>
        </p:nvSpPr>
        <p:spPr>
          <a:xfrm>
            <a:off x="548640" y="2020824"/>
            <a:ext cx="365760" cy="36576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640080" y="2112264"/>
            <a:ext cx="182880" cy="182880"/>
          </a:xfrm>
          <a:prstGeom prst="rect">
            <a:avLst/>
          </a:prstGeom>
        </p:spPr>
      </p:pic>
      <p:sp>
        <p:nvSpPr>
          <p:cNvPr id="9" name="Text 4"/>
          <p:cNvSpPr txBox="1"/>
          <p:nvPr/>
        </p:nvSpPr>
        <p:spPr>
          <a:xfrm>
            <a:off x="1097280" y="1984248"/>
            <a:ext cx="4206240" cy="457200"/>
          </a:xfrm>
          <a:prstGeom prst="rect">
            <a:avLst/>
          </a:prstGeom>
          <a:noFill/>
          <a:ln/>
        </p:spPr>
        <p:txBody>
          <a:bodyPr wrap="square" lIns="0" tIns="0" rIns="0" bIns="0" rtlCol="0" anchor="ctr"/>
          <a:lstStyle/>
          <a:p>
            <a:pPr indent="0" marL="0">
              <a:buNone/>
            </a:pPr>
            <a:r>
              <a:rPr lang="en-US" sz="1600" dirty="0">
                <a:solidFill>
                  <a:schemeClr val="tx1"/>
                </a:solidFill>
              </a:rPr>
              <a:t>Create an item:  POST /api/items/</a:t>
            </a:r>
            <a:endParaRPr lang="en-US" sz="1600" dirty="0"/>
          </a:p>
        </p:txBody>
      </p:sp>
      <p:sp>
        <p:nvSpPr>
          <p:cNvPr id="10" name="icon-circle"/>
          <p:cNvSpPr/>
          <p:nvPr/>
        </p:nvSpPr>
        <p:spPr>
          <a:xfrm>
            <a:off x="548640" y="2587752"/>
            <a:ext cx="365760" cy="365760"/>
          </a:xfrm>
          <a:prstGeom prst="ellipse">
            <a:avLst/>
          </a:prstGeom>
          <a:solidFill>
            <a:schemeClr val="tx2"/>
          </a:solidFill>
          <a:ln/>
        </p:spPr>
      </p:sp>
      <p:pic>
        <p:nvPicPr>
          <p:cNvPr id="11" name="Image 2" descr="preencoded.png">    </p:cNvPr>
          <p:cNvPicPr>
            <a:picLocks noChangeAspect="1"/>
          </p:cNvPicPr>
          <p:nvPr/>
        </p:nvPicPr>
        <p:blipFill>
          <a:blip r:embed="rId3"/>
          <a:stretch>
            <a:fillRect/>
          </a:stretch>
        </p:blipFill>
        <p:spPr>
          <a:xfrm>
            <a:off x="640080" y="2679192"/>
            <a:ext cx="182880" cy="182880"/>
          </a:xfrm>
          <a:prstGeom prst="rect">
            <a:avLst/>
          </a:prstGeom>
        </p:spPr>
      </p:pic>
      <p:sp>
        <p:nvSpPr>
          <p:cNvPr id="12" name="Text 6"/>
          <p:cNvSpPr txBox="1"/>
          <p:nvPr/>
        </p:nvSpPr>
        <p:spPr>
          <a:xfrm>
            <a:off x="1097280" y="2551176"/>
            <a:ext cx="4206240" cy="457200"/>
          </a:xfrm>
          <a:prstGeom prst="rect">
            <a:avLst/>
          </a:prstGeom>
          <a:noFill/>
          <a:ln/>
        </p:spPr>
        <p:txBody>
          <a:bodyPr wrap="square" lIns="0" tIns="0" rIns="0" bIns="0" rtlCol="0" anchor="ctr"/>
          <a:lstStyle/>
          <a:p>
            <a:pPr indent="0" marL="0">
              <a:buNone/>
            </a:pPr>
            <a:r>
              <a:rPr lang="en-US" sz="1600" dirty="0">
                <a:solidFill>
                  <a:schemeClr val="tx1"/>
                </a:solidFill>
              </a:rPr>
              <a:t>Update or delete:  PUT / DELETE /api/items/1/</a:t>
            </a:r>
            <a:endParaRPr lang="en-US" sz="1600" dirty="0"/>
          </a:p>
        </p:txBody>
      </p:sp>
      <p:sp>
        <p:nvSpPr>
          <p:cNvPr id="13" name="icon-circle"/>
          <p:cNvSpPr/>
          <p:nvPr/>
        </p:nvSpPr>
        <p:spPr>
          <a:xfrm>
            <a:off x="548640" y="3154680"/>
            <a:ext cx="365760" cy="365760"/>
          </a:xfrm>
          <a:prstGeom prst="ellipse">
            <a:avLst/>
          </a:prstGeom>
          <a:solidFill>
            <a:schemeClr val="tx2"/>
          </a:solidFill>
          <a:ln/>
        </p:spPr>
      </p:sp>
      <p:pic>
        <p:nvPicPr>
          <p:cNvPr id="14" name="Image 3" descr="preencoded.png">    </p:cNvPr>
          <p:cNvPicPr>
            <a:picLocks noChangeAspect="1"/>
          </p:cNvPicPr>
          <p:nvPr/>
        </p:nvPicPr>
        <p:blipFill>
          <a:blip r:embed="rId4"/>
          <a:stretch>
            <a:fillRect/>
          </a:stretch>
        </p:blipFill>
        <p:spPr>
          <a:xfrm>
            <a:off x="640080" y="3246120"/>
            <a:ext cx="182880" cy="182880"/>
          </a:xfrm>
          <a:prstGeom prst="rect">
            <a:avLst/>
          </a:prstGeom>
        </p:spPr>
      </p:pic>
      <p:sp>
        <p:nvSpPr>
          <p:cNvPr id="15" name="Text 8"/>
          <p:cNvSpPr txBox="1"/>
          <p:nvPr/>
        </p:nvSpPr>
        <p:spPr>
          <a:xfrm>
            <a:off x="1097280" y="3118104"/>
            <a:ext cx="4206240" cy="457200"/>
          </a:xfrm>
          <a:prstGeom prst="rect">
            <a:avLst/>
          </a:prstGeom>
          <a:noFill/>
          <a:ln/>
        </p:spPr>
        <p:txBody>
          <a:bodyPr wrap="square" lIns="0" tIns="0" rIns="0" bIns="0" rtlCol="0" anchor="ctr"/>
          <a:lstStyle/>
          <a:p>
            <a:pPr indent="0" marL="0">
              <a:buNone/>
            </a:pPr>
            <a:r>
              <a:rPr lang="en-US" sz="1600" dirty="0">
                <a:solidFill>
                  <a:schemeClr val="tx1"/>
                </a:solidFill>
              </a:rPr>
              <a:t>Show the items in a React page</a:t>
            </a:r>
            <a:endParaRPr lang="en-US" sz="1600" dirty="0"/>
          </a:p>
        </p:txBody>
      </p:sp>
      <p:sp>
        <p:nvSpPr>
          <p:cNvPr id="16" name="icon-circle"/>
          <p:cNvSpPr/>
          <p:nvPr/>
        </p:nvSpPr>
        <p:spPr>
          <a:xfrm>
            <a:off x="548640" y="3721608"/>
            <a:ext cx="365760" cy="365760"/>
          </a:xfrm>
          <a:prstGeom prst="ellipse">
            <a:avLst/>
          </a:prstGeom>
          <a:solidFill>
            <a:schemeClr val="tx2"/>
          </a:solidFill>
          <a:ln/>
        </p:spPr>
      </p:sp>
      <p:pic>
        <p:nvPicPr>
          <p:cNvPr id="17" name="Image 4" descr="preencoded.png">    </p:cNvPr>
          <p:cNvPicPr>
            <a:picLocks noChangeAspect="1"/>
          </p:cNvPicPr>
          <p:nvPr/>
        </p:nvPicPr>
        <p:blipFill>
          <a:blip r:embed="rId5"/>
          <a:stretch>
            <a:fillRect/>
          </a:stretch>
        </p:blipFill>
        <p:spPr>
          <a:xfrm>
            <a:off x="640080" y="3813048"/>
            <a:ext cx="182880" cy="182880"/>
          </a:xfrm>
          <a:prstGeom prst="rect">
            <a:avLst/>
          </a:prstGeom>
        </p:spPr>
      </p:pic>
      <p:sp>
        <p:nvSpPr>
          <p:cNvPr id="18" name="Text 10"/>
          <p:cNvSpPr txBox="1"/>
          <p:nvPr/>
        </p:nvSpPr>
        <p:spPr>
          <a:xfrm>
            <a:off x="1097280" y="3685032"/>
            <a:ext cx="4206240" cy="457200"/>
          </a:xfrm>
          <a:prstGeom prst="rect">
            <a:avLst/>
          </a:prstGeom>
          <a:noFill/>
          <a:ln/>
        </p:spPr>
        <p:txBody>
          <a:bodyPr wrap="square" lIns="0" tIns="0" rIns="0" bIns="0" rtlCol="0" anchor="ctr"/>
          <a:lstStyle/>
          <a:p>
            <a:pPr indent="0" marL="0">
              <a:buNone/>
            </a:pPr>
            <a:r>
              <a:rPr lang="en-US" sz="1600" dirty="0">
                <a:solidFill>
                  <a:schemeClr val="tx1"/>
                </a:solidFill>
              </a:rPr>
              <a:t>Manage the same data in the admin</a:t>
            </a:r>
            <a:endParaRPr lang="en-US" sz="1600" dirty="0"/>
          </a:p>
        </p:txBody>
      </p:sp>
      <p:sp>
        <p:nvSpPr>
          <p:cNvPr id="19" name="icon-circle"/>
          <p:cNvSpPr/>
          <p:nvPr/>
        </p:nvSpPr>
        <p:spPr>
          <a:xfrm>
            <a:off x="548640" y="4288536"/>
            <a:ext cx="365760" cy="365760"/>
          </a:xfrm>
          <a:prstGeom prst="ellipse">
            <a:avLst/>
          </a:prstGeom>
          <a:solidFill>
            <a:schemeClr val="tx2"/>
          </a:solidFill>
          <a:ln/>
        </p:spPr>
      </p:sp>
      <p:pic>
        <p:nvPicPr>
          <p:cNvPr id="20" name="Image 5" descr="preencoded.png">    </p:cNvPr>
          <p:cNvPicPr>
            <a:picLocks noChangeAspect="1"/>
          </p:cNvPicPr>
          <p:nvPr/>
        </p:nvPicPr>
        <p:blipFill>
          <a:blip r:embed="rId6"/>
          <a:stretch>
            <a:fillRect/>
          </a:stretch>
        </p:blipFill>
        <p:spPr>
          <a:xfrm>
            <a:off x="640080" y="4379976"/>
            <a:ext cx="182880" cy="182880"/>
          </a:xfrm>
          <a:prstGeom prst="rect">
            <a:avLst/>
          </a:prstGeom>
        </p:spPr>
      </p:pic>
      <p:sp>
        <p:nvSpPr>
          <p:cNvPr id="21" name="Text 12"/>
          <p:cNvSpPr txBox="1"/>
          <p:nvPr/>
        </p:nvSpPr>
        <p:spPr>
          <a:xfrm>
            <a:off x="1097280" y="4251960"/>
            <a:ext cx="4206240" cy="457200"/>
          </a:xfrm>
          <a:prstGeom prst="rect">
            <a:avLst/>
          </a:prstGeom>
          <a:noFill/>
          <a:ln/>
        </p:spPr>
        <p:txBody>
          <a:bodyPr wrap="square" lIns="0" tIns="0" rIns="0" bIns="0" rtlCol="0" anchor="ctr"/>
          <a:lstStyle/>
          <a:p>
            <a:pPr indent="0" marL="0">
              <a:buNone/>
            </a:pPr>
            <a:r>
              <a:rPr lang="en-US" sz="1600" dirty="0">
                <a:solidFill>
                  <a:schemeClr val="tx1"/>
                </a:solidFill>
              </a:rPr>
              <a:t>Optional image upload (bonus)</a:t>
            </a:r>
            <a:endParaRPr lang="en-US" sz="1600" dirty="0"/>
          </a:p>
        </p:txBody>
      </p:sp>
      <p:sp>
        <p:nvSpPr>
          <p:cNvPr id="22" name="demo-commands"/>
          <p:cNvSpPr txBox="1"/>
          <p:nvPr/>
        </p:nvSpPr>
        <p:spPr>
          <a:xfrm>
            <a:off x="548640" y="4937760"/>
            <a:ext cx="4663440" cy="1143000"/>
          </a:xfrm>
          <a:prstGeom prst="roundRect">
            <a:avLst>
              <a:gd name="adj" fmla="val 8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migrate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seed_demo</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p:txBody>
      </p:sp>
      <p:pic>
        <p:nvPicPr>
          <p:cNvPr id="23" name="Image 6" descr="Screenshot of the browsable API at /api/items/">    </p:cNvPr>
          <p:cNvPicPr>
            <a:picLocks noChangeAspect="1"/>
          </p:cNvPicPr>
          <p:nvPr/>
        </p:nvPicPr>
        <p:blipFill>
          <a:blip r:embed="rId7"/>
          <a:stretch>
            <a:fillRect/>
          </a:stretch>
        </p:blipFill>
        <p:spPr>
          <a:xfrm>
            <a:off x="5577840" y="1417320"/>
            <a:ext cx="6062472" cy="3456432"/>
          </a:xfrm>
          <a:prstGeom prst="rect">
            <a:avLst/>
          </a:prstGeom>
          <a:effectLst>
            <a:outerShdw sx="100000" sy="100000" kx="0" ky="0" algn="bl" rotWithShape="0" blurRad="101600" dist="25400" dir="5400000">
              <a:srgbClr val="000000">
                <a:alpha val="25000"/>
              </a:srgbClr>
            </a:outerShdw>
          </a:effectLst>
        </p:spPr>
      </p:pic>
      <p:sp>
        <p:nvSpPr>
          <p:cNvPr id="24" name="Text 14"/>
          <p:cNvSpPr txBox="1"/>
          <p:nvPr/>
        </p:nvSpPr>
        <p:spPr>
          <a:xfrm>
            <a:off x="5577840" y="4956048"/>
            <a:ext cx="6062472" cy="320040"/>
          </a:xfrm>
          <a:prstGeom prst="rect">
            <a:avLst/>
          </a:prstGeom>
          <a:noFill/>
          <a:ln/>
        </p:spPr>
        <p:txBody>
          <a:bodyPr wrap="square" lIns="0" tIns="0" rIns="0" bIns="0" rtlCol="0" anchor="t"/>
          <a:lstStyle/>
          <a:p>
            <a:pPr indent="0" marL="0">
              <a:buNone/>
            </a:pPr>
            <a:r>
              <a:rPr lang="en-US" sz="1200" dirty="0">
                <a:solidFill>
                  <a:schemeClr val="accent5"/>
                </a:solidFill>
              </a:rPr>
              <a:t>The browsable API at http://127.0.0.1:8000/api/items/</a:t>
            </a:r>
            <a:endParaRPr lang="en-US" sz="1200" dirty="0"/>
          </a:p>
        </p:txBody>
      </p:sp>
      <p:sp>
        <p:nvSpPr>
          <p:cNvPr id="25" name="callout"/>
          <p:cNvSpPr/>
          <p:nvPr/>
        </p:nvSpPr>
        <p:spPr>
          <a:xfrm>
            <a:off x="5577840" y="5349240"/>
            <a:ext cx="6062472" cy="731520"/>
          </a:xfrm>
          <a:prstGeom prst="roundRect">
            <a:avLst>
              <a:gd name="adj" fmla="val 15000"/>
            </a:avLst>
          </a:prstGeom>
          <a:solidFill>
            <a:schemeClr val="bg2"/>
          </a:solidFill>
          <a:ln/>
        </p:spPr>
      </p:sp>
      <p:sp>
        <p:nvSpPr>
          <p:cNvPr id="26" name="Text 16"/>
          <p:cNvSpPr txBox="1"/>
          <p:nvPr/>
        </p:nvSpPr>
        <p:spPr>
          <a:xfrm>
            <a:off x="5806440" y="5349240"/>
            <a:ext cx="5623560" cy="731520"/>
          </a:xfrm>
          <a:prstGeom prst="rect">
            <a:avLst/>
          </a:prstGeom>
          <a:noFill/>
          <a:ln/>
        </p:spPr>
        <p:txBody>
          <a:bodyPr wrap="square" lIns="0" tIns="0" rIns="0" bIns="0" rtlCol="0" anchor="ctr"/>
          <a:lstStyle/>
          <a:p>
            <a:pPr indent="0" marL="0">
              <a:buNone/>
            </a:pPr>
            <a:r>
              <a:rPr lang="en-US" sz="1500" dirty="0">
                <a:solidFill>
                  <a:schemeClr val="tx1"/>
                </a:solidFill>
              </a:rPr>
              <a:t>Every endpoint = a URL in urls.py + a view in views.py + a serializer + the Item model</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React frontend: showing the API data</a:t>
            </a:r>
            <a:endParaRPr lang="en-US" sz="3600" dirty="0"/>
          </a:p>
        </p:txBody>
      </p:sp>
      <p:sp>
        <p:nvSpPr>
          <p:cNvPr id="4" name="react-code"/>
          <p:cNvSpPr txBox="1"/>
          <p:nvPr/>
        </p:nvSpPr>
        <p:spPr>
          <a:xfrm>
            <a:off x="548640" y="1371600"/>
            <a:ext cx="5852160" cy="3200400"/>
          </a:xfrm>
          <a:prstGeom prst="roundRect">
            <a:avLst>
              <a:gd name="adj" fmla="val 285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const [items, setItems] = useState([]);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useEffect(() =&gt;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fetch("/api/items/")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.then((res) =&gt; res.json())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.then((data) =&gt; setItems(data));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items.map((item) =&gt;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&lt;div key={item.id}&gt;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{item.name} - Rs. {item.price}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&lt;/div&gt;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5" name="callout"/>
          <p:cNvSpPr/>
          <p:nvPr/>
        </p:nvSpPr>
        <p:spPr>
          <a:xfrm>
            <a:off x="548640" y="4800600"/>
            <a:ext cx="5852160" cy="1280160"/>
          </a:xfrm>
          <a:prstGeom prst="roundRect">
            <a:avLst>
              <a:gd name="adj" fmla="val 8571"/>
            </a:avLst>
          </a:prstGeom>
          <a:solidFill>
            <a:schemeClr val="bg2"/>
          </a:solidFill>
          <a:ln/>
        </p:spPr>
      </p:sp>
      <p:sp>
        <p:nvSpPr>
          <p:cNvPr id="6" name="Text 3"/>
          <p:cNvSpPr txBox="1"/>
          <p:nvPr/>
        </p:nvSpPr>
        <p:spPr>
          <a:xfrm>
            <a:off x="822960" y="4800600"/>
            <a:ext cx="5303520" cy="1280160"/>
          </a:xfrm>
          <a:prstGeom prst="rect">
            <a:avLst/>
          </a:prstGeom>
          <a:noFill/>
          <a:ln/>
        </p:spPr>
        <p:txBody>
          <a:bodyPr wrap="square" lIns="0" tIns="0" rIns="0" bIns="0" rtlCol="0" anchor="ctr"/>
          <a:lstStyle/>
          <a:p>
            <a:pPr indent="0" marL="0">
              <a:buNone/>
            </a:pPr>
            <a:r>
              <a:rPr lang="en-US" sz="1600" dirty="0">
                <a:solidFill>
                  <a:schemeClr val="tx1"/>
                </a:solidFill>
              </a:rPr>
              <a:t>fetch() calls the Django API. Vite's proxy forwards /api to Django, so no CORS setup is needed.</a:t>
            </a:r>
            <a:endParaRPr lang="en-US" sz="1600" dirty="0"/>
          </a:p>
        </p:txBody>
      </p:sp>
      <p:pic>
        <p:nvPicPr>
          <p:cNvPr id="7" name="Image 0" descr="Screenshot of the React page showing item cards">    </p:cNvPr>
          <p:cNvPicPr>
            <a:picLocks noChangeAspect="1"/>
          </p:cNvPicPr>
          <p:nvPr/>
        </p:nvPicPr>
        <p:blipFill>
          <a:blip r:embed="rId1"/>
          <a:stretch>
            <a:fillRect/>
          </a:stretch>
        </p:blipFill>
        <p:spPr>
          <a:xfrm>
            <a:off x="6675120" y="1371600"/>
            <a:ext cx="4965192" cy="2203704"/>
          </a:xfrm>
          <a:prstGeom prst="rect">
            <a:avLst/>
          </a:prstGeom>
          <a:effectLst>
            <a:outerShdw sx="100000" sy="100000" kx="0" ky="0" algn="bl" rotWithShape="0" blurRad="101600" dist="25400" dir="5400000">
              <a:srgbClr val="000000">
                <a:alpha val="25000"/>
              </a:srgbClr>
            </a:outerShdw>
          </a:effectLst>
        </p:spPr>
      </p:pic>
      <p:sp>
        <p:nvSpPr>
          <p:cNvPr id="8" name="react-commands"/>
          <p:cNvSpPr txBox="1"/>
          <p:nvPr/>
        </p:nvSpPr>
        <p:spPr>
          <a:xfrm>
            <a:off x="6675120" y="3794760"/>
            <a:ext cx="4965192" cy="2286000"/>
          </a:xfrm>
          <a:prstGeom prst="roundRect">
            <a:avLst>
              <a:gd name="adj" fmla="val 4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 terminal 1 (Django)</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terminal 2 (React)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cd frontend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npm install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npm run dev</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admin: set up in 4 steps</a:t>
            </a:r>
            <a:endParaRPr lang="en-US" sz="3600" dirty="0"/>
          </a:p>
        </p:txBody>
      </p:sp>
      <p:sp>
        <p:nvSpPr>
          <p:cNvPr id="4" name="step-number"/>
          <p:cNvSpPr txBox="1"/>
          <p:nvPr/>
        </p:nvSpPr>
        <p:spPr>
          <a:xfrm>
            <a:off x="548640" y="1645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2"/>
          <p:cNvSpPr txBox="1"/>
          <p:nvPr/>
        </p:nvSpPr>
        <p:spPr>
          <a:xfrm>
            <a:off x="1280160" y="1463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Create a superuser</a:t>
            </a:r>
            <a:endParaRPr lang="en-US" sz="1400" dirty="0"/>
          </a:p>
        </p:txBody>
      </p:sp>
      <p:sp>
        <p:nvSpPr>
          <p:cNvPr id="6" name="command"/>
          <p:cNvSpPr txBox="1"/>
          <p:nvPr/>
        </p:nvSpPr>
        <p:spPr>
          <a:xfrm>
            <a:off x="1280160" y="1783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python manage.py createsuperuser</a:t>
            </a:r>
            <a:endParaRPr lang="en-US" sz="1500" dirty="0"/>
          </a:p>
        </p:txBody>
      </p:sp>
      <p:sp>
        <p:nvSpPr>
          <p:cNvPr id="7" name="step-number"/>
          <p:cNvSpPr txBox="1"/>
          <p:nvPr/>
        </p:nvSpPr>
        <p:spPr>
          <a:xfrm>
            <a:off x="548640" y="2788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5"/>
          <p:cNvSpPr txBox="1"/>
          <p:nvPr/>
        </p:nvSpPr>
        <p:spPr>
          <a:xfrm>
            <a:off x="1280160" y="2606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Register the model in admin.py</a:t>
            </a:r>
            <a:endParaRPr lang="en-US" sz="1400" dirty="0"/>
          </a:p>
        </p:txBody>
      </p:sp>
      <p:sp>
        <p:nvSpPr>
          <p:cNvPr id="9" name="command"/>
          <p:cNvSpPr txBox="1"/>
          <p:nvPr/>
        </p:nvSpPr>
        <p:spPr>
          <a:xfrm>
            <a:off x="1280160" y="2926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admin.site.register(Item)</a:t>
            </a:r>
            <a:endParaRPr lang="en-US" sz="1500" dirty="0"/>
          </a:p>
        </p:txBody>
      </p:sp>
      <p:sp>
        <p:nvSpPr>
          <p:cNvPr id="10" name="step-number"/>
          <p:cNvSpPr txBox="1"/>
          <p:nvPr/>
        </p:nvSpPr>
        <p:spPr>
          <a:xfrm>
            <a:off x="548640" y="3931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8"/>
          <p:cNvSpPr txBox="1"/>
          <p:nvPr/>
        </p:nvSpPr>
        <p:spPr>
          <a:xfrm>
            <a:off x="1280160" y="3749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Run the server</a:t>
            </a:r>
            <a:endParaRPr lang="en-US" sz="1400" dirty="0"/>
          </a:p>
        </p:txBody>
      </p:sp>
      <p:sp>
        <p:nvSpPr>
          <p:cNvPr id="12" name="command"/>
          <p:cNvSpPr txBox="1"/>
          <p:nvPr/>
        </p:nvSpPr>
        <p:spPr>
          <a:xfrm>
            <a:off x="1280160" y="4069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python manage.py runserver</a:t>
            </a:r>
            <a:endParaRPr lang="en-US" sz="1500" dirty="0"/>
          </a:p>
        </p:txBody>
      </p:sp>
      <p:sp>
        <p:nvSpPr>
          <p:cNvPr id="13" name="step-number"/>
          <p:cNvSpPr txBox="1"/>
          <p:nvPr/>
        </p:nvSpPr>
        <p:spPr>
          <a:xfrm>
            <a:off x="548640" y="5074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1"/>
          <p:cNvSpPr txBox="1"/>
          <p:nvPr/>
        </p:nvSpPr>
        <p:spPr>
          <a:xfrm>
            <a:off x="1280160" y="4892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Open the admin and log in</a:t>
            </a:r>
            <a:endParaRPr lang="en-US" sz="1400" dirty="0"/>
          </a:p>
        </p:txBody>
      </p:sp>
      <p:sp>
        <p:nvSpPr>
          <p:cNvPr id="15" name="command"/>
          <p:cNvSpPr txBox="1"/>
          <p:nvPr/>
        </p:nvSpPr>
        <p:spPr>
          <a:xfrm>
            <a:off x="1280160" y="5212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http://127.0.0.1:8000/admin/</a:t>
            </a:r>
            <a:endParaRPr lang="en-US" sz="1500" dirty="0"/>
          </a:p>
        </p:txBody>
      </p:sp>
      <p:sp>
        <p:nvSpPr>
          <p:cNvPr id="16" name="side-panel"/>
          <p:cNvSpPr/>
          <p:nvPr/>
        </p:nvSpPr>
        <p:spPr>
          <a:xfrm>
            <a:off x="7589520" y="1417320"/>
            <a:ext cx="4050792" cy="4572000"/>
          </a:xfrm>
          <a:prstGeom prst="roundRect">
            <a:avLst>
              <a:gd name="adj" fmla="val 2709"/>
            </a:avLst>
          </a:prstGeom>
          <a:solidFill>
            <a:schemeClr val="bg2"/>
          </a:solidFill>
          <a:ln/>
        </p:spPr>
      </p:sp>
      <p:sp>
        <p:nvSpPr>
          <p:cNvPr id="17" name="Text 14"/>
          <p:cNvSpPr txBox="1"/>
          <p:nvPr/>
        </p:nvSpPr>
        <p:spPr>
          <a:xfrm>
            <a:off x="7863840" y="1600200"/>
            <a:ext cx="3566160" cy="411480"/>
          </a:xfrm>
          <a:prstGeom prst="rect">
            <a:avLst/>
          </a:prstGeom>
          <a:noFill/>
          <a:ln/>
        </p:spPr>
        <p:txBody>
          <a:bodyPr wrap="square" lIns="0" tIns="0" rIns="0" bIns="0" rtlCol="0" anchor="t"/>
          <a:lstStyle/>
          <a:p>
            <a:pPr indent="0" marL="0">
              <a:buNone/>
            </a:pPr>
            <a:r>
              <a:rPr lang="en-US" sz="2200" b="1" dirty="0">
                <a:solidFill>
                  <a:schemeClr val="tx2"/>
                </a:solidFill>
              </a:rPr>
              <a:t>You get for free</a:t>
            </a:r>
            <a:endParaRPr lang="en-US" sz="2200" dirty="0"/>
          </a:p>
        </p:txBody>
      </p:sp>
      <p:sp>
        <p:nvSpPr>
          <p:cNvPr id="18" name="Text 15"/>
          <p:cNvSpPr txBox="1"/>
          <p:nvPr/>
        </p:nvSpPr>
        <p:spPr>
          <a:xfrm>
            <a:off x="7863840" y="2148840"/>
            <a:ext cx="35204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List, add, edit and delete pages for every model</a:t>
            </a:r>
            <a:endParaRPr lang="en-US" sz="1600" dirty="0"/>
          </a:p>
          <a:p>
            <a:pPr marL="342900" indent="-342900">
              <a:spcAft>
                <a:spcPts val="1000"/>
              </a:spcAft>
              <a:buSzPct val="100000"/>
              <a:buChar char="•"/>
            </a:pPr>
            <a:r>
              <a:rPr lang="en-US" sz="1600" dirty="0">
                <a:solidFill>
                  <a:schemeClr val="tx1"/>
                </a:solidFill>
              </a:rPr>
              <a:t>Search, filters and pagination</a:t>
            </a:r>
            <a:endParaRPr lang="en-US" sz="1600" dirty="0"/>
          </a:p>
          <a:p>
            <a:pPr marL="342900" indent="-342900">
              <a:spcAft>
                <a:spcPts val="1000"/>
              </a:spcAft>
              <a:buSzPct val="100000"/>
              <a:buChar char="•"/>
            </a:pPr>
            <a:r>
              <a:rPr lang="en-US" sz="1600" dirty="0">
                <a:solidFill>
                  <a:schemeClr val="tx1"/>
                </a:solidFill>
              </a:rPr>
              <a:t>User, group and permission management</a:t>
            </a:r>
            <a:endParaRPr lang="en-US" sz="1600" dirty="0"/>
          </a:p>
          <a:p>
            <a:pPr marL="342900" indent="-342900">
              <a:spcAft>
                <a:spcPts val="1000"/>
              </a:spcAft>
              <a:buSzPct val="100000"/>
              <a:buChar char="•"/>
            </a:pPr>
            <a:r>
              <a:rPr lang="en-US" sz="1600" dirty="0">
                <a:solidFill>
                  <a:schemeClr val="tx1"/>
                </a:solidFill>
              </a:rPr>
              <a:t>No extra code: it reads your models</a:t>
            </a:r>
            <a:endParaRPr lang="en-US" sz="1600" dirty="0"/>
          </a:p>
        </p:txBody>
      </p:sp>
      <p:sp>
        <p:nvSpPr>
          <p:cNvPr id="19" name="Text 16"/>
          <p:cNvSpPr txBox="1"/>
          <p:nvPr/>
        </p:nvSpPr>
        <p:spPr>
          <a:xfrm>
            <a:off x="7863840" y="5074920"/>
            <a:ext cx="3520440" cy="731520"/>
          </a:xfrm>
          <a:prstGeom prst="rect">
            <a:avLst/>
          </a:prstGeom>
          <a:noFill/>
          <a:ln/>
        </p:spPr>
        <p:txBody>
          <a:bodyPr wrap="square" lIns="0" tIns="0" rIns="0" bIns="0" rtlCol="0" anchor="t"/>
          <a:lstStyle/>
          <a:p>
            <a:pPr indent="0" marL="0">
              <a:buNone/>
            </a:pPr>
            <a:r>
              <a:rPr lang="en-US" sz="1400" dirty="0">
                <a:solidFill>
                  <a:schemeClr val="accent5"/>
                </a:solidFill>
              </a:rPr>
              <a:t>Superuser = account with every permission.</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Customising the admin with ModelAdmin</a:t>
            </a:r>
            <a:endParaRPr lang="en-US" sz="3600" dirty="0"/>
          </a:p>
        </p:txBody>
      </p:sp>
      <p:sp>
        <p:nvSpPr>
          <p:cNvPr id="4" name="admin-code"/>
          <p:cNvSpPr txBox="1"/>
          <p:nvPr/>
        </p:nvSpPr>
        <p:spPr>
          <a:xfrm>
            <a:off x="548640" y="1371600"/>
            <a:ext cx="5943600" cy="2423160"/>
          </a:xfrm>
          <a:prstGeom prst="roundRect">
            <a:avLst>
              <a:gd name="adj" fmla="val 3774"/>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@admin.register(Item)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class ItemAdmin(admin.ModelAdmin):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list_display = ("name", "price", "quantity",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list_filter = ("is_available",)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search_fields = ("name", "description")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ordering = ("-created_at",)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list_editable = ("price", "quantity")</a:t>
            </a:r>
            <a:endParaRPr lang="en-US" sz="14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548640" y="3977640"/>
          <a:ext cx="5943600" cy="914400"/>
        </p:xfrm>
        <a:graphic>
          <a:graphicData uri="http://schemas.openxmlformats.org/drawingml/2006/table">
            <a:tbl>
              <a:tblPr/>
              <a:tblGrid>
                <a:gridCol w="2194560"/>
                <a:gridCol w="3749040"/>
              </a:tblGrid>
              <a:tr h="365760">
                <a:tc>
                  <a:txBody>
                    <a:bodyPr/>
                    <a:lstStyle/>
                    <a:p>
                      <a:pPr indent="0" marL="0">
                        <a:buNone/>
                      </a:pPr>
                      <a:r>
                        <a:rPr lang="en-US" sz="1600" b="1" dirty="0">
                          <a:solidFill>
                            <a:schemeClr val="bg1"/>
                          </a:solidFill>
                        </a:rPr>
                        <a:t>Option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Effect in the admin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list_display</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Columns in the list page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list_filter</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Filter sidebar on the right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search_fields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Search box at the top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ordering</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Default sort order</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list_editable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Edit fields right in the list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pic>
        <p:nvPicPr>
          <p:cNvPr id="6" name="Image 0" descr="Screenshot of the customised Item list in the Django admin">    </p:cNvPr>
          <p:cNvPicPr>
            <a:picLocks noChangeAspect="1"/>
          </p:cNvPicPr>
          <p:nvPr/>
        </p:nvPicPr>
        <p:blipFill>
          <a:blip r:embed="rId1"/>
          <a:stretch>
            <a:fillRect/>
          </a:stretch>
        </p:blipFill>
        <p:spPr>
          <a:xfrm>
            <a:off x="6766560" y="1371600"/>
            <a:ext cx="4873752" cy="2743200"/>
          </a:xfrm>
          <a:prstGeom prst="rect">
            <a:avLst/>
          </a:prstGeom>
          <a:effectLst>
            <a:outerShdw sx="100000" sy="100000" kx="0" ky="0" algn="bl" rotWithShape="0" blurRad="101600" dist="25400" dir="5400000">
              <a:srgbClr val="000000">
                <a:alpha val="25000"/>
              </a:srgbClr>
            </a:outerShdw>
          </a:effectLst>
        </p:spPr>
      </p:pic>
      <p:sp>
        <p:nvSpPr>
          <p:cNvPr id="7" name="callout"/>
          <p:cNvSpPr/>
          <p:nvPr/>
        </p:nvSpPr>
        <p:spPr>
          <a:xfrm>
            <a:off x="6766560" y="4343400"/>
            <a:ext cx="4873752" cy="1737360"/>
          </a:xfrm>
          <a:prstGeom prst="roundRect">
            <a:avLst>
              <a:gd name="adj" fmla="val 6316"/>
            </a:avLst>
          </a:prstGeom>
          <a:solidFill>
            <a:schemeClr val="bg2"/>
          </a:solidFill>
          <a:ln/>
        </p:spPr>
      </p:sp>
      <p:sp>
        <p:nvSpPr>
          <p:cNvPr id="8" name="Text 3"/>
          <p:cNvSpPr txBox="1"/>
          <p:nvPr/>
        </p:nvSpPr>
        <p:spPr>
          <a:xfrm>
            <a:off x="6995160" y="4480560"/>
            <a:ext cx="4389120" cy="365760"/>
          </a:xfrm>
          <a:prstGeom prst="rect">
            <a:avLst/>
          </a:prstGeom>
          <a:noFill/>
          <a:ln/>
        </p:spPr>
        <p:txBody>
          <a:bodyPr wrap="square" lIns="0" tIns="0" rIns="0" bIns="0" rtlCol="0" anchor="t"/>
          <a:lstStyle/>
          <a:p>
            <a:pPr indent="0" marL="0">
              <a:buNone/>
            </a:pPr>
            <a:r>
              <a:rPr lang="en-US" sz="1800" b="1" dirty="0">
                <a:solidFill>
                  <a:schemeClr val="tx2"/>
                </a:solidFill>
              </a:rPr>
              <a:t>Go further</a:t>
            </a:r>
            <a:endParaRPr lang="en-US" sz="1800" dirty="0"/>
          </a:p>
        </p:txBody>
      </p:sp>
      <p:sp>
        <p:nvSpPr>
          <p:cNvPr id="9" name="Text 4"/>
          <p:cNvSpPr txBox="1"/>
          <p:nvPr/>
        </p:nvSpPr>
        <p:spPr>
          <a:xfrm>
            <a:off x="6995160" y="4892040"/>
            <a:ext cx="4389120" cy="1097280"/>
          </a:xfrm>
          <a:prstGeom prst="rect">
            <a:avLst/>
          </a:prstGeom>
          <a:noFill/>
          <a:ln/>
        </p:spPr>
        <p:txBody>
          <a:bodyPr wrap="square" lIns="0" tIns="0" rIns="0" bIns="0" rtlCol="0" anchor="t"/>
          <a:lstStyle/>
          <a:p>
            <a:pPr indent="0" marL="0">
              <a:buNone/>
            </a:pPr>
            <a:r>
              <a:rPr lang="en-US" sz="1500" dirty="0">
                <a:solidFill>
                  <a:schemeClr val="tx1"/>
                </a:solidFill>
              </a:rPr>
              <a:t>readonly_fields and custom bulk actions (mark items available / unavailable) are in items/admin.py.</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security</a:t>
            </a:r>
            <a:endParaRPr lang="en-US" sz="3600" dirty="0"/>
          </a:p>
        </p:txBody>
      </p:sp>
      <p:sp>
        <p:nvSpPr>
          <p:cNvPr id="4" name="term-card"/>
          <p:cNvSpPr/>
          <p:nvPr/>
        </p:nvSpPr>
        <p:spPr>
          <a:xfrm>
            <a:off x="548640" y="1371600"/>
            <a:ext cx="3520440" cy="2194560"/>
          </a:xfrm>
          <a:prstGeom prst="roundRect">
            <a:avLst>
              <a:gd name="adj" fmla="val 5000"/>
            </a:avLst>
          </a:prstGeom>
          <a:solidFill>
            <a:schemeClr val="tx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SQL injection</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Inserting malicious SQL through user input to read or change data in the database.</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CSRF</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Cross-Site Request Forgery: tricking a logged-in user's browser into sending an unwanted request.</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XSS</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Cross-Site Scripting: injecting script into a page so it runs in other users' browsers.</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Clickjacking</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Hiding a page inside a frame so the user clicks something they did not intend to.</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Hashing</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 one-way transformation of a password, so the original cannot be recovered from what is stored.</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CSRF token</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 secret random value sent with each form to prove the request came from our own site.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Security built into Django</a:t>
            </a:r>
            <a:endParaRPr lang="en-US" sz="3600" dirty="0"/>
          </a:p>
        </p:txBody>
      </p:sp>
      <p:sp>
        <p:nvSpPr>
          <p:cNvPr id="4" name="security-card"/>
          <p:cNvSpPr/>
          <p:nvPr/>
        </p:nvSpPr>
        <p:spPr>
          <a:xfrm>
            <a:off x="548640" y="1371600"/>
            <a:ext cx="5431536" cy="2103120"/>
          </a:xfrm>
          <a:prstGeom prst="roundRect">
            <a:avLst>
              <a:gd name="adj" fmla="val 5217"/>
            </a:avLst>
          </a:prstGeom>
          <a:solidFill>
            <a:schemeClr val="bg2"/>
          </a:solidFill>
          <a:ln/>
        </p:spPr>
      </p:sp>
      <p:sp>
        <p:nvSpPr>
          <p:cNvPr id="5" name="icon-circle"/>
          <p:cNvSpPr/>
          <p:nvPr/>
        </p:nvSpPr>
        <p:spPr>
          <a:xfrm>
            <a:off x="822960" y="1645920"/>
            <a:ext cx="640080" cy="640080"/>
          </a:xfrm>
          <a:prstGeom prst="ellipse">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3"/>
          <p:cNvSpPr txBox="1"/>
          <p:nvPr/>
        </p:nvSpPr>
        <p:spPr>
          <a:xfrm>
            <a:off x="1645920" y="1645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SQL injection</a:t>
            </a:r>
            <a:endParaRPr lang="en-US" sz="2000" dirty="0"/>
          </a:p>
        </p:txBody>
      </p:sp>
      <p:sp>
        <p:nvSpPr>
          <p:cNvPr id="8" name="Text 4"/>
          <p:cNvSpPr txBox="1"/>
          <p:nvPr/>
        </p:nvSpPr>
        <p:spPr>
          <a:xfrm>
            <a:off x="822960" y="2377440"/>
            <a:ext cx="4937760" cy="457200"/>
          </a:xfrm>
          <a:prstGeom prst="rect">
            <a:avLst/>
          </a:prstGeom>
          <a:noFill/>
          <a:ln/>
        </p:spPr>
        <p:txBody>
          <a:bodyPr wrap="square" lIns="0" tIns="0" rIns="0" bIns="0" rtlCol="0" anchor="t"/>
          <a:lstStyle/>
          <a:p>
            <a:pPr indent="0" marL="0">
              <a:buNone/>
            </a:pPr>
            <a:r>
              <a:rPr lang="en-US" sz="1500" dirty="0">
                <a:solidFill>
                  <a:schemeClr val="tx1"/>
                </a:solidFill>
              </a:rPr>
              <a:t>The ORM sends values as parameters, never glued into SQL.</a:t>
            </a:r>
            <a:endParaRPr lang="en-US" sz="1500" dirty="0"/>
          </a:p>
        </p:txBody>
      </p:sp>
      <p:sp>
        <p:nvSpPr>
          <p:cNvPr id="9" name="snippet"/>
          <p:cNvSpPr txBox="1"/>
          <p:nvPr/>
        </p:nvSpPr>
        <p:spPr>
          <a:xfrm>
            <a:off x="822960" y="2834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Item.objects.filter(name=user_input)</a:t>
            </a:r>
            <a:endParaRPr lang="en-US" sz="1400" dirty="0"/>
          </a:p>
        </p:txBody>
      </p:sp>
      <p:sp>
        <p:nvSpPr>
          <p:cNvPr id="10" name="security-card"/>
          <p:cNvSpPr/>
          <p:nvPr/>
        </p:nvSpPr>
        <p:spPr>
          <a:xfrm>
            <a:off x="6208776" y="1371600"/>
            <a:ext cx="5431536" cy="2103120"/>
          </a:xfrm>
          <a:prstGeom prst="roundRect">
            <a:avLst>
              <a:gd name="adj" fmla="val 5217"/>
            </a:avLst>
          </a:prstGeom>
          <a:solidFill>
            <a:schemeClr val="bg2"/>
          </a:solidFill>
          <a:ln/>
        </p:spPr>
      </p:sp>
      <p:sp>
        <p:nvSpPr>
          <p:cNvPr id="11" name="icon-circle"/>
          <p:cNvSpPr/>
          <p:nvPr/>
        </p:nvSpPr>
        <p:spPr>
          <a:xfrm>
            <a:off x="6483096" y="1645920"/>
            <a:ext cx="640080" cy="640080"/>
          </a:xfrm>
          <a:prstGeom prst="ellipse">
            <a:avLst/>
          </a:prstGeom>
          <a:solidFill>
            <a:schemeClr val="tx2"/>
          </a:solidFill>
          <a:ln/>
        </p:spPr>
      </p:sp>
      <p:pic>
        <p:nvPicPr>
          <p:cNvPr id="12" name="Image 1" descr="preencoded.png">    </p:cNvPr>
          <p:cNvPicPr>
            <a:picLocks noChangeAspect="1"/>
          </p:cNvPicPr>
          <p:nvPr/>
        </p:nvPicPr>
        <p:blipFill>
          <a:blip r:embed="rId2"/>
          <a:stretch>
            <a:fillRect/>
          </a:stretch>
        </p:blipFill>
        <p:spPr>
          <a:xfrm>
            <a:off x="6643116" y="1805940"/>
            <a:ext cx="320040" cy="320040"/>
          </a:xfrm>
          <a:prstGeom prst="rect">
            <a:avLst/>
          </a:prstGeom>
        </p:spPr>
      </p:pic>
      <p:sp>
        <p:nvSpPr>
          <p:cNvPr id="13" name="Text 8"/>
          <p:cNvSpPr txBox="1"/>
          <p:nvPr/>
        </p:nvSpPr>
        <p:spPr>
          <a:xfrm>
            <a:off x="7306056" y="1645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CSRF attacks</a:t>
            </a:r>
            <a:endParaRPr lang="en-US" sz="2000" dirty="0"/>
          </a:p>
        </p:txBody>
      </p:sp>
      <p:sp>
        <p:nvSpPr>
          <p:cNvPr id="14" name="Text 9"/>
          <p:cNvSpPr txBox="1"/>
          <p:nvPr/>
        </p:nvSpPr>
        <p:spPr>
          <a:xfrm>
            <a:off x="6483096" y="2377440"/>
            <a:ext cx="4937760" cy="457200"/>
          </a:xfrm>
          <a:prstGeom prst="rect">
            <a:avLst/>
          </a:prstGeom>
          <a:noFill/>
          <a:ln/>
        </p:spPr>
        <p:txBody>
          <a:bodyPr wrap="square" lIns="0" tIns="0" rIns="0" bIns="0" rtlCol="0" anchor="t"/>
          <a:lstStyle/>
          <a:p>
            <a:pPr indent="0" marL="0">
              <a:buNone/>
            </a:pPr>
            <a:r>
              <a:rPr lang="en-US" sz="1500" dirty="0">
                <a:solidFill>
                  <a:schemeClr val="tx1"/>
                </a:solidFill>
              </a:rPr>
              <a:t>Form POSTs need a secret token, or Django answers 403.</a:t>
            </a:r>
            <a:endParaRPr lang="en-US" sz="1500" dirty="0"/>
          </a:p>
        </p:txBody>
      </p:sp>
      <p:sp>
        <p:nvSpPr>
          <p:cNvPr id="15" name="snippet"/>
          <p:cNvSpPr txBox="1"/>
          <p:nvPr/>
        </p:nvSpPr>
        <p:spPr>
          <a:xfrm>
            <a:off x="6483096" y="2834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CsrfViewMiddleware</a:t>
            </a:r>
            <a:endParaRPr lang="en-US" sz="1400" dirty="0"/>
          </a:p>
        </p:txBody>
      </p:sp>
      <p:sp>
        <p:nvSpPr>
          <p:cNvPr id="16" name="security-card"/>
          <p:cNvSpPr/>
          <p:nvPr/>
        </p:nvSpPr>
        <p:spPr>
          <a:xfrm>
            <a:off x="548640" y="3657600"/>
            <a:ext cx="5431536" cy="2103120"/>
          </a:xfrm>
          <a:prstGeom prst="roundRect">
            <a:avLst>
              <a:gd name="adj" fmla="val 5217"/>
            </a:avLst>
          </a:prstGeom>
          <a:solidFill>
            <a:schemeClr val="bg2"/>
          </a:solidFill>
          <a:ln/>
        </p:spPr>
      </p:sp>
      <p:sp>
        <p:nvSpPr>
          <p:cNvPr id="17" name="icon-circle"/>
          <p:cNvSpPr/>
          <p:nvPr/>
        </p:nvSpPr>
        <p:spPr>
          <a:xfrm>
            <a:off x="822960" y="3931920"/>
            <a:ext cx="640080" cy="640080"/>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982980" y="4091940"/>
            <a:ext cx="320040" cy="320040"/>
          </a:xfrm>
          <a:prstGeom prst="rect">
            <a:avLst/>
          </a:prstGeom>
        </p:spPr>
      </p:pic>
      <p:sp>
        <p:nvSpPr>
          <p:cNvPr id="19" name="Text 13"/>
          <p:cNvSpPr txBox="1"/>
          <p:nvPr/>
        </p:nvSpPr>
        <p:spPr>
          <a:xfrm>
            <a:off x="1645920" y="3931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XSS (script injection)</a:t>
            </a:r>
            <a:endParaRPr lang="en-US" sz="2000" dirty="0"/>
          </a:p>
        </p:txBody>
      </p:sp>
      <p:sp>
        <p:nvSpPr>
          <p:cNvPr id="20" name="Text 14"/>
          <p:cNvSpPr txBox="1"/>
          <p:nvPr/>
        </p:nvSpPr>
        <p:spPr>
          <a:xfrm>
            <a:off x="822960" y="4663440"/>
            <a:ext cx="4937760" cy="457200"/>
          </a:xfrm>
          <a:prstGeom prst="rect">
            <a:avLst/>
          </a:prstGeom>
          <a:noFill/>
          <a:ln/>
        </p:spPr>
        <p:txBody>
          <a:bodyPr wrap="square" lIns="0" tIns="0" rIns="0" bIns="0" rtlCol="0" anchor="t"/>
          <a:lstStyle/>
          <a:p>
            <a:pPr indent="0" marL="0">
              <a:buNone/>
            </a:pPr>
            <a:r>
              <a:rPr lang="en-US" sz="1500" dirty="0">
                <a:solidFill>
                  <a:schemeClr val="tx1"/>
                </a:solidFill>
              </a:rPr>
              <a:t>The admin and Django templates escape HTML automatically.</a:t>
            </a:r>
            <a:endParaRPr lang="en-US" sz="1500" dirty="0"/>
          </a:p>
        </p:txBody>
      </p:sp>
      <p:sp>
        <p:nvSpPr>
          <p:cNvPr id="21" name="snippet"/>
          <p:cNvSpPr txBox="1"/>
          <p:nvPr/>
        </p:nvSpPr>
        <p:spPr>
          <a:xfrm>
            <a:off x="822960" y="5120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&lt;script&gt; becomes &amp;lt;script&amp;gt;</a:t>
            </a:r>
            <a:endParaRPr lang="en-US" sz="1400" dirty="0"/>
          </a:p>
        </p:txBody>
      </p:sp>
      <p:sp>
        <p:nvSpPr>
          <p:cNvPr id="22" name="security-card"/>
          <p:cNvSpPr/>
          <p:nvPr/>
        </p:nvSpPr>
        <p:spPr>
          <a:xfrm>
            <a:off x="6208776" y="3657600"/>
            <a:ext cx="5431536" cy="2103120"/>
          </a:xfrm>
          <a:prstGeom prst="roundRect">
            <a:avLst>
              <a:gd name="adj" fmla="val 5217"/>
            </a:avLst>
          </a:prstGeom>
          <a:solidFill>
            <a:schemeClr val="bg2"/>
          </a:solidFill>
          <a:ln/>
        </p:spPr>
      </p:sp>
      <p:sp>
        <p:nvSpPr>
          <p:cNvPr id="23" name="icon-circle"/>
          <p:cNvSpPr/>
          <p:nvPr/>
        </p:nvSpPr>
        <p:spPr>
          <a:xfrm>
            <a:off x="6483096" y="3931920"/>
            <a:ext cx="640080" cy="640080"/>
          </a:xfrm>
          <a:prstGeom prst="ellipse">
            <a:avLst/>
          </a:prstGeom>
          <a:solidFill>
            <a:schemeClr val="tx2"/>
          </a:solidFill>
          <a:ln/>
        </p:spPr>
      </p:sp>
      <p:pic>
        <p:nvPicPr>
          <p:cNvPr id="24" name="Image 3" descr="preencoded.png">    </p:cNvPr>
          <p:cNvPicPr>
            <a:picLocks noChangeAspect="1"/>
          </p:cNvPicPr>
          <p:nvPr/>
        </p:nvPicPr>
        <p:blipFill>
          <a:blip r:embed="rId4"/>
          <a:stretch>
            <a:fillRect/>
          </a:stretch>
        </p:blipFill>
        <p:spPr>
          <a:xfrm>
            <a:off x="6643116" y="4091940"/>
            <a:ext cx="320040" cy="320040"/>
          </a:xfrm>
          <a:prstGeom prst="rect">
            <a:avLst/>
          </a:prstGeom>
        </p:spPr>
      </p:pic>
      <p:sp>
        <p:nvSpPr>
          <p:cNvPr id="25" name="Text 18"/>
          <p:cNvSpPr txBox="1"/>
          <p:nvPr/>
        </p:nvSpPr>
        <p:spPr>
          <a:xfrm>
            <a:off x="7306056" y="3931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Passwords and framing</a:t>
            </a:r>
            <a:endParaRPr lang="en-US" sz="2000" dirty="0"/>
          </a:p>
        </p:txBody>
      </p:sp>
      <p:sp>
        <p:nvSpPr>
          <p:cNvPr id="26" name="Text 19"/>
          <p:cNvSpPr txBox="1"/>
          <p:nvPr/>
        </p:nvSpPr>
        <p:spPr>
          <a:xfrm>
            <a:off x="6483096" y="4663440"/>
            <a:ext cx="4937760" cy="457200"/>
          </a:xfrm>
          <a:prstGeom prst="rect">
            <a:avLst/>
          </a:prstGeom>
          <a:noFill/>
          <a:ln/>
        </p:spPr>
        <p:txBody>
          <a:bodyPr wrap="square" lIns="0" tIns="0" rIns="0" bIns="0" rtlCol="0" anchor="t"/>
          <a:lstStyle/>
          <a:p>
            <a:pPr indent="0" marL="0">
              <a:buNone/>
            </a:pPr>
            <a:r>
              <a:rPr lang="en-US" sz="1500" dirty="0">
                <a:solidFill>
                  <a:schemeClr val="tx1"/>
                </a:solidFill>
              </a:rPr>
              <a:t>Passwords are hashed; pages cannot be framed.</a:t>
            </a:r>
            <a:endParaRPr lang="en-US" sz="1500" dirty="0"/>
          </a:p>
        </p:txBody>
      </p:sp>
      <p:sp>
        <p:nvSpPr>
          <p:cNvPr id="27" name="snippet"/>
          <p:cNvSpPr txBox="1"/>
          <p:nvPr/>
        </p:nvSpPr>
        <p:spPr>
          <a:xfrm>
            <a:off x="6483096" y="5120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X-Frame-Options: DENY</a:t>
            </a:r>
            <a:endParaRPr lang="en-US" sz="1400" dirty="0"/>
          </a:p>
        </p:txBody>
      </p:sp>
      <p:sp>
        <p:nvSpPr>
          <p:cNvPr id="28" name="Text 21"/>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400" dirty="0">
                <a:solidFill>
                  <a:schemeClr val="accent5"/>
                </a:solidFill>
              </a:rPr>
              <a:t>All of this is on by default. items/tests.py has tests for the CSRF and SQL injection protection.</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Concepts compared (1 of 2)</a:t>
            </a:r>
            <a:endParaRPr lang="en-US" sz="36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77440"/>
                <a:gridCol w="4343400"/>
                <a:gridCol w="4370832"/>
              </a:tblGrid>
              <a:tr h="960120">
                <a:tc>
                  <a:txBody>
                    <a:bodyPr/>
                    <a:lstStyle/>
                    <a:p>
                      <a:pPr indent="0" marL="0">
                        <a:buNone/>
                      </a:pPr>
                      <a:r>
                        <a:rPr lang="en-US" sz="1600" b="1" dirty="0">
                          <a:solidFill>
                            <a:schemeClr val="bg1"/>
                          </a:solidFill>
                        </a:rPr>
                        <a:t>Compared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First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Second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960120">
                <a:tc>
                  <a:txBody>
                    <a:bodyPr/>
                    <a:lstStyle/>
                    <a:p>
                      <a:pPr indent="0" marL="0">
                        <a:buNone/>
                      </a:pPr>
                      <a:r>
                        <a:rPr lang="en-US" sz="1500" b="1" dirty="0">
                          <a:solidFill>
                            <a:schemeClr val="tx1"/>
                          </a:solidFill>
                        </a:rPr>
                        <a:t>Project vs App</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Project: the whole web application, with its configuration (settings.py) and root URLs. One per site.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App: a self-contained feature with its own models, views and URLs. Many per project and reusable.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makemigrations vs migrate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makemigrations: generates migration files from model changes. It does not touch the 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migrate: executes pending migration files, creating or altering the tables in the 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960120">
                <a:tc>
                  <a:txBody>
                    <a:bodyPr/>
                    <a:lstStyle/>
                    <a:p>
                      <a:pPr indent="0" marL="0">
                        <a:buNone/>
                      </a:pPr>
                      <a:r>
                        <a:rPr lang="en-US" sz="1500" b="1" dirty="0">
                          <a:solidFill>
                            <a:schemeClr val="tx1"/>
                          </a:solidFill>
                        </a:rPr>
                        <a:t>null vs blank</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null=True: the database column may store NULL. It works at the database level.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blank=True: the field may be left empty in forms and validation. It works at the validation level.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Static vs media files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Static: files shipped with the code (CSS, JavaScript, logos). The same for every user.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Media: files uploaded by users at run time (profile pictures, documents).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Concepts compared (2 of 2)</a:t>
            </a:r>
            <a:endParaRPr lang="en-US" sz="36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77440"/>
                <a:gridCol w="4343400"/>
                <a:gridCol w="4370832"/>
              </a:tblGrid>
              <a:tr h="960120">
                <a:tc>
                  <a:txBody>
                    <a:bodyPr/>
                    <a:lstStyle/>
                    <a:p>
                      <a:pPr indent="0" marL="0">
                        <a:buNone/>
                      </a:pPr>
                      <a:r>
                        <a:rPr lang="en-US" sz="1600" b="1" dirty="0">
                          <a:solidFill>
                            <a:schemeClr val="bg1"/>
                          </a:solidFill>
                        </a:rPr>
                        <a:t>Compared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First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Second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960120">
                <a:tc>
                  <a:txBody>
                    <a:bodyPr/>
                    <a:lstStyle/>
                    <a:p>
                      <a:pPr indent="0" marL="0">
                        <a:buNone/>
                      </a:pPr>
                      <a:r>
                        <a:rPr lang="en-US" sz="1500" b="1" dirty="0">
                          <a:solidFill>
                            <a:schemeClr val="tx1"/>
                          </a:solidFill>
                        </a:rPr>
                        <a:t>Model vs Serializer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Model: defines the structure of the data stored in the database (one class = one table).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Serializer: defines how that data is converted to and from JSON and validated for the API.</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Function vs class-based view</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Function-based: a plain Python function per endpoint. Explicit and easy to read.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Class-based / ViewSet: a class that bundles several actions. Less code, more abstraction.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960120">
                <a:tc>
                  <a:txBody>
                    <a:bodyPr/>
                    <a:lstStyle/>
                    <a:p>
                      <a:pPr indent="0" marL="0">
                        <a:buNone/>
                      </a:pPr>
                      <a:r>
                        <a:rPr lang="en-US" sz="1500" b="1" dirty="0">
                          <a:solidFill>
                            <a:schemeClr val="tx1"/>
                          </a:solidFill>
                        </a:rPr>
                        <a:t>POST vs PUT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POST: creates a new resource, sent to the collection URL, e.g. /api/items/.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PUT: replaces an existing resource, sent to its own URL, e.g. /api/items/3/.</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SQLite vs MySQL / PostgreSQL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SQLite: serverless single-file database. Zero setup. For development and small 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MySQL / PostgreSQL: client-server databases for many users and large data. Used in production.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Connecting MySQL or PostgreSQL</a:t>
            </a:r>
            <a:endParaRPr lang="en-US" sz="3600" dirty="0"/>
          </a:p>
        </p:txBody>
      </p:sp>
      <p:sp>
        <p:nvSpPr>
          <p:cNvPr id="4" name="Text 1"/>
          <p:cNvSpPr txBox="1"/>
          <p:nvPr/>
        </p:nvSpPr>
        <p:spPr>
          <a:xfrm>
            <a:off x="548640"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PostgreSQL   (pip install psycopg2-binary)</a:t>
            </a:r>
            <a:endParaRPr lang="en-US" sz="1400" dirty="0"/>
          </a:p>
        </p:txBody>
      </p:sp>
      <p:sp>
        <p:nvSpPr>
          <p:cNvPr id="5" name="pg-code"/>
          <p:cNvSpPr txBox="1"/>
          <p:nvPr/>
        </p:nvSpPr>
        <p:spPr>
          <a:xfrm>
            <a:off x="548640" y="1645920"/>
            <a:ext cx="5431536" cy="2834640"/>
          </a:xfrm>
          <a:prstGeom prst="roundRect">
            <a:avLst>
              <a:gd name="adj" fmla="val 32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"django.db.backends.postgresql",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"items_db",</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"USER": "postgres",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"PASSWORD":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"HOST": "localhost",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"PORT": "5432",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6208776"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MySQL   (pip install mysqlclient)</a:t>
            </a:r>
            <a:endParaRPr lang="en-US" sz="1400" dirty="0"/>
          </a:p>
        </p:txBody>
      </p:sp>
      <p:sp>
        <p:nvSpPr>
          <p:cNvPr id="7" name="mysql-code"/>
          <p:cNvSpPr txBox="1"/>
          <p:nvPr/>
        </p:nvSpPr>
        <p:spPr>
          <a:xfrm>
            <a:off x="6208776" y="1645920"/>
            <a:ext cx="5431536" cy="2834640"/>
          </a:xfrm>
          <a:prstGeom prst="roundRect">
            <a:avLst>
              <a:gd name="adj" fmla="val 32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"django.db.backends.mysql",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"items_db",</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"USER": "root",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"PASSWORD":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"HOST": "localhost",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"PORT": "3306",</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step-card"/>
          <p:cNvSpPr/>
          <p:nvPr/>
        </p:nvSpPr>
        <p:spPr>
          <a:xfrm>
            <a:off x="548640" y="4754880"/>
            <a:ext cx="2606040" cy="731520"/>
          </a:xfrm>
          <a:prstGeom prst="roundRect">
            <a:avLst>
              <a:gd name="adj" fmla="val 15000"/>
            </a:avLst>
          </a:prstGeom>
          <a:solidFill>
            <a:schemeClr val="bg2"/>
          </a:solidFill>
          <a:ln/>
        </p:spPr>
      </p:sp>
      <p:sp>
        <p:nvSpPr>
          <p:cNvPr id="9" name="step-number"/>
          <p:cNvSpPr txBox="1"/>
          <p:nvPr/>
        </p:nvSpPr>
        <p:spPr>
          <a:xfrm>
            <a:off x="685800"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280160"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Create an empty database</a:t>
            </a:r>
            <a:endParaRPr lang="en-US" sz="1400" dirty="0"/>
          </a:p>
        </p:txBody>
      </p:sp>
      <p:sp>
        <p:nvSpPr>
          <p:cNvPr id="11" name="step-card"/>
          <p:cNvSpPr/>
          <p:nvPr/>
        </p:nvSpPr>
        <p:spPr>
          <a:xfrm>
            <a:off x="3346704" y="4754880"/>
            <a:ext cx="2606040" cy="731520"/>
          </a:xfrm>
          <a:prstGeom prst="roundRect">
            <a:avLst>
              <a:gd name="adj" fmla="val 15000"/>
            </a:avLst>
          </a:prstGeom>
          <a:solidFill>
            <a:schemeClr val="bg2"/>
          </a:solidFill>
          <a:ln/>
        </p:spPr>
      </p:sp>
      <p:sp>
        <p:nvSpPr>
          <p:cNvPr id="12" name="step-number"/>
          <p:cNvSpPr txBox="1"/>
          <p:nvPr/>
        </p:nvSpPr>
        <p:spPr>
          <a:xfrm>
            <a:off x="3483864"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4078224"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pip install the driver</a:t>
            </a:r>
            <a:endParaRPr lang="en-US" sz="1400" dirty="0"/>
          </a:p>
        </p:txBody>
      </p:sp>
      <p:sp>
        <p:nvSpPr>
          <p:cNvPr id="14" name="step-card"/>
          <p:cNvSpPr/>
          <p:nvPr/>
        </p:nvSpPr>
        <p:spPr>
          <a:xfrm>
            <a:off x="6144768" y="4754880"/>
            <a:ext cx="2606040" cy="731520"/>
          </a:xfrm>
          <a:prstGeom prst="roundRect">
            <a:avLst>
              <a:gd name="adj" fmla="val 15000"/>
            </a:avLst>
          </a:prstGeom>
          <a:solidFill>
            <a:schemeClr val="bg2"/>
          </a:solidFill>
          <a:ln/>
        </p:spPr>
      </p:sp>
      <p:sp>
        <p:nvSpPr>
          <p:cNvPr id="15" name="step-number"/>
          <p:cNvSpPr txBox="1"/>
          <p:nvPr/>
        </p:nvSpPr>
        <p:spPr>
          <a:xfrm>
            <a:off x="6281928"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3"/>
          <p:cNvSpPr txBox="1"/>
          <p:nvPr/>
        </p:nvSpPr>
        <p:spPr>
          <a:xfrm>
            <a:off x="6876288"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Edit DATABASES</a:t>
            </a:r>
            <a:endParaRPr lang="en-US" sz="1400" dirty="0"/>
          </a:p>
        </p:txBody>
      </p:sp>
      <p:sp>
        <p:nvSpPr>
          <p:cNvPr id="17" name="step-card"/>
          <p:cNvSpPr/>
          <p:nvPr/>
        </p:nvSpPr>
        <p:spPr>
          <a:xfrm>
            <a:off x="8942832" y="4754880"/>
            <a:ext cx="2606040" cy="731520"/>
          </a:xfrm>
          <a:prstGeom prst="roundRect">
            <a:avLst>
              <a:gd name="adj" fmla="val 15000"/>
            </a:avLst>
          </a:prstGeom>
          <a:solidFill>
            <a:schemeClr val="bg2"/>
          </a:solidFill>
          <a:ln/>
        </p:spPr>
      </p:sp>
      <p:sp>
        <p:nvSpPr>
          <p:cNvPr id="18" name="step-number"/>
          <p:cNvSpPr txBox="1"/>
          <p:nvPr/>
        </p:nvSpPr>
        <p:spPr>
          <a:xfrm>
            <a:off x="9079992"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Text 16"/>
          <p:cNvSpPr txBox="1"/>
          <p:nvPr/>
        </p:nvSpPr>
        <p:spPr>
          <a:xfrm>
            <a:off x="9674352"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python manage.py migrate</a:t>
            </a:r>
            <a:endParaRPr lang="en-US" sz="1400" dirty="0"/>
          </a:p>
        </p:txBody>
      </p:sp>
      <p:sp>
        <p:nvSpPr>
          <p:cNvPr id="20" name="Text 17"/>
          <p:cNvSpPr txBox="1"/>
          <p:nvPr/>
        </p:nvSpPr>
        <p:spPr>
          <a:xfrm>
            <a:off x="548640" y="5715000"/>
            <a:ext cx="11091672" cy="365760"/>
          </a:xfrm>
          <a:prstGeom prst="rect">
            <a:avLst/>
          </a:prstGeom>
          <a:noFill/>
          <a:ln/>
        </p:spPr>
        <p:txBody>
          <a:bodyPr wrap="square" lIns="0" tIns="0" rIns="0" bIns="0" rtlCol="0" anchor="t"/>
          <a:lstStyle/>
          <a:p>
            <a:pPr indent="0" marL="0">
              <a:buNone/>
            </a:pPr>
            <a:r>
              <a:rPr lang="en-US" sz="1500" dirty="0">
                <a:solidFill>
                  <a:schemeClr val="tx1"/>
                </a:solidFill>
              </a:rPr>
              <a:t>Models, views and admin do not change. Keep real passwords in environment variables, not in Git.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Real-world use of Django</a:t>
            </a:r>
            <a:endParaRPr lang="en-US" sz="3600" dirty="0"/>
          </a:p>
        </p:txBody>
      </p:sp>
      <p:sp>
        <p:nvSpPr>
          <p:cNvPr id="4" name="company-card"/>
          <p:cNvSpPr/>
          <p:nvPr/>
        </p:nvSpPr>
        <p:spPr>
          <a:xfrm>
            <a:off x="548640" y="1417320"/>
            <a:ext cx="1783080" cy="1143000"/>
          </a:xfrm>
          <a:prstGeom prst="roundRect">
            <a:avLst>
              <a:gd name="adj" fmla="val 9600"/>
            </a:avLst>
          </a:prstGeom>
          <a:solidFill>
            <a:schemeClr val="bg2"/>
          </a:solidFill>
          <a:ln/>
        </p:spPr>
      </p:sp>
      <p:sp>
        <p:nvSpPr>
          <p:cNvPr id="5" name="Text 2"/>
          <p:cNvSpPr txBox="1"/>
          <p:nvPr/>
        </p:nvSpPr>
        <p:spPr>
          <a:xfrm>
            <a:off x="65836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Instagram</a:t>
            </a:r>
            <a:endParaRPr lang="en-US" sz="1700" dirty="0"/>
          </a:p>
        </p:txBody>
      </p:sp>
      <p:sp>
        <p:nvSpPr>
          <p:cNvPr id="6" name="Text 3"/>
          <p:cNvSpPr txBox="1"/>
          <p:nvPr/>
        </p:nvSpPr>
        <p:spPr>
          <a:xfrm>
            <a:off x="65836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photo sharing</a:t>
            </a:r>
            <a:endParaRPr lang="en-US" sz="1300" dirty="0"/>
          </a:p>
        </p:txBody>
      </p:sp>
      <p:sp>
        <p:nvSpPr>
          <p:cNvPr id="7" name="company-card"/>
          <p:cNvSpPr/>
          <p:nvPr/>
        </p:nvSpPr>
        <p:spPr>
          <a:xfrm>
            <a:off x="2468880" y="1417320"/>
            <a:ext cx="1783080" cy="1143000"/>
          </a:xfrm>
          <a:prstGeom prst="roundRect">
            <a:avLst>
              <a:gd name="adj" fmla="val 9600"/>
            </a:avLst>
          </a:prstGeom>
          <a:solidFill>
            <a:schemeClr val="bg2"/>
          </a:solidFill>
          <a:ln/>
        </p:spPr>
      </p:sp>
      <p:sp>
        <p:nvSpPr>
          <p:cNvPr id="8" name="Text 5"/>
          <p:cNvSpPr txBox="1"/>
          <p:nvPr/>
        </p:nvSpPr>
        <p:spPr>
          <a:xfrm>
            <a:off x="257860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Pinterest</a:t>
            </a:r>
            <a:endParaRPr lang="en-US" sz="1700" dirty="0"/>
          </a:p>
        </p:txBody>
      </p:sp>
      <p:sp>
        <p:nvSpPr>
          <p:cNvPr id="9" name="Text 6"/>
          <p:cNvSpPr txBox="1"/>
          <p:nvPr/>
        </p:nvSpPr>
        <p:spPr>
          <a:xfrm>
            <a:off x="257860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social discovery</a:t>
            </a:r>
            <a:endParaRPr lang="en-US" sz="1300" dirty="0"/>
          </a:p>
        </p:txBody>
      </p:sp>
      <p:sp>
        <p:nvSpPr>
          <p:cNvPr id="10" name="company-card"/>
          <p:cNvSpPr/>
          <p:nvPr/>
        </p:nvSpPr>
        <p:spPr>
          <a:xfrm>
            <a:off x="4389120" y="1417320"/>
            <a:ext cx="1783080" cy="1143000"/>
          </a:xfrm>
          <a:prstGeom prst="roundRect">
            <a:avLst>
              <a:gd name="adj" fmla="val 9600"/>
            </a:avLst>
          </a:prstGeom>
          <a:solidFill>
            <a:schemeClr val="bg2"/>
          </a:solidFill>
          <a:ln/>
        </p:spPr>
      </p:sp>
      <p:sp>
        <p:nvSpPr>
          <p:cNvPr id="11" name="Text 8"/>
          <p:cNvSpPr txBox="1"/>
          <p:nvPr/>
        </p:nvSpPr>
        <p:spPr>
          <a:xfrm>
            <a:off x="449884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Mozilla</a:t>
            </a:r>
            <a:endParaRPr lang="en-US" sz="1700" dirty="0"/>
          </a:p>
        </p:txBody>
      </p:sp>
      <p:sp>
        <p:nvSpPr>
          <p:cNvPr id="12" name="Text 9"/>
          <p:cNvSpPr txBox="1"/>
          <p:nvPr/>
        </p:nvSpPr>
        <p:spPr>
          <a:xfrm>
            <a:off x="449884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web and support sites</a:t>
            </a:r>
            <a:endParaRPr lang="en-US" sz="1300" dirty="0"/>
          </a:p>
        </p:txBody>
      </p:sp>
      <p:sp>
        <p:nvSpPr>
          <p:cNvPr id="13" name="company-card"/>
          <p:cNvSpPr/>
          <p:nvPr/>
        </p:nvSpPr>
        <p:spPr>
          <a:xfrm>
            <a:off x="548640" y="2697480"/>
            <a:ext cx="1783080" cy="1143000"/>
          </a:xfrm>
          <a:prstGeom prst="roundRect">
            <a:avLst>
              <a:gd name="adj" fmla="val 9600"/>
            </a:avLst>
          </a:prstGeom>
          <a:solidFill>
            <a:schemeClr val="bg2"/>
          </a:solidFill>
          <a:ln/>
        </p:spPr>
      </p:sp>
      <p:sp>
        <p:nvSpPr>
          <p:cNvPr id="14" name="Text 11"/>
          <p:cNvSpPr txBox="1"/>
          <p:nvPr/>
        </p:nvSpPr>
        <p:spPr>
          <a:xfrm>
            <a:off x="65836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Disqus</a:t>
            </a:r>
            <a:endParaRPr lang="en-US" sz="1700" dirty="0"/>
          </a:p>
        </p:txBody>
      </p:sp>
      <p:sp>
        <p:nvSpPr>
          <p:cNvPr id="15" name="Text 12"/>
          <p:cNvSpPr txBox="1"/>
          <p:nvPr/>
        </p:nvSpPr>
        <p:spPr>
          <a:xfrm>
            <a:off x="65836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comments platform</a:t>
            </a:r>
            <a:endParaRPr lang="en-US" sz="1300" dirty="0"/>
          </a:p>
        </p:txBody>
      </p:sp>
      <p:sp>
        <p:nvSpPr>
          <p:cNvPr id="16" name="company-card"/>
          <p:cNvSpPr/>
          <p:nvPr/>
        </p:nvSpPr>
        <p:spPr>
          <a:xfrm>
            <a:off x="2468880" y="2697480"/>
            <a:ext cx="1783080" cy="1143000"/>
          </a:xfrm>
          <a:prstGeom prst="roundRect">
            <a:avLst>
              <a:gd name="adj" fmla="val 9600"/>
            </a:avLst>
          </a:prstGeom>
          <a:solidFill>
            <a:schemeClr val="bg2"/>
          </a:solidFill>
          <a:ln/>
        </p:spPr>
      </p:sp>
      <p:sp>
        <p:nvSpPr>
          <p:cNvPr id="17" name="Text 14"/>
          <p:cNvSpPr txBox="1"/>
          <p:nvPr/>
        </p:nvSpPr>
        <p:spPr>
          <a:xfrm>
            <a:off x="257860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Eventbrite</a:t>
            </a:r>
            <a:endParaRPr lang="en-US" sz="1700" dirty="0"/>
          </a:p>
        </p:txBody>
      </p:sp>
      <p:sp>
        <p:nvSpPr>
          <p:cNvPr id="18" name="Text 15"/>
          <p:cNvSpPr txBox="1"/>
          <p:nvPr/>
        </p:nvSpPr>
        <p:spPr>
          <a:xfrm>
            <a:off x="257860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event ticketing</a:t>
            </a:r>
            <a:endParaRPr lang="en-US" sz="1300" dirty="0"/>
          </a:p>
        </p:txBody>
      </p:sp>
      <p:sp>
        <p:nvSpPr>
          <p:cNvPr id="19" name="company-card"/>
          <p:cNvSpPr/>
          <p:nvPr/>
        </p:nvSpPr>
        <p:spPr>
          <a:xfrm>
            <a:off x="4389120" y="2697480"/>
            <a:ext cx="1783080" cy="1143000"/>
          </a:xfrm>
          <a:prstGeom prst="roundRect">
            <a:avLst>
              <a:gd name="adj" fmla="val 9600"/>
            </a:avLst>
          </a:prstGeom>
          <a:solidFill>
            <a:schemeClr val="bg2"/>
          </a:solidFill>
          <a:ln/>
        </p:spPr>
      </p:sp>
      <p:sp>
        <p:nvSpPr>
          <p:cNvPr id="20" name="Text 17"/>
          <p:cNvSpPr txBox="1"/>
          <p:nvPr/>
        </p:nvSpPr>
        <p:spPr>
          <a:xfrm>
            <a:off x="449884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Washington Post</a:t>
            </a:r>
            <a:endParaRPr lang="en-US" sz="1700" dirty="0"/>
          </a:p>
        </p:txBody>
      </p:sp>
      <p:sp>
        <p:nvSpPr>
          <p:cNvPr id="21" name="Text 18"/>
          <p:cNvSpPr txBox="1"/>
          <p:nvPr/>
        </p:nvSpPr>
        <p:spPr>
          <a:xfrm>
            <a:off x="449884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news publishing</a:t>
            </a:r>
            <a:endParaRPr lang="en-US" sz="1300" dirty="0"/>
          </a:p>
        </p:txBody>
      </p:sp>
      <p:sp>
        <p:nvSpPr>
          <p:cNvPr id="22" name="why-card"/>
          <p:cNvSpPr/>
          <p:nvPr/>
        </p:nvSpPr>
        <p:spPr>
          <a:xfrm>
            <a:off x="548640" y="4114800"/>
            <a:ext cx="5623560" cy="1920240"/>
          </a:xfrm>
          <a:prstGeom prst="roundRect">
            <a:avLst>
              <a:gd name="adj" fmla="val 5714"/>
            </a:avLst>
          </a:prstGeom>
          <a:solidFill>
            <a:schemeClr val="tx2"/>
          </a:solidFill>
          <a:ln/>
        </p:spPr>
      </p:sp>
      <p:sp>
        <p:nvSpPr>
          <p:cNvPr id="23" name="Text 20"/>
          <p:cNvSpPr txBox="1"/>
          <p:nvPr/>
        </p:nvSpPr>
        <p:spPr>
          <a:xfrm>
            <a:off x="822960" y="4251960"/>
            <a:ext cx="5120640" cy="365760"/>
          </a:xfrm>
          <a:prstGeom prst="rect">
            <a:avLst/>
          </a:prstGeom>
          <a:noFill/>
          <a:ln/>
        </p:spPr>
        <p:txBody>
          <a:bodyPr wrap="square" lIns="0" tIns="0" rIns="0" bIns="0" rtlCol="0" anchor="t"/>
          <a:lstStyle/>
          <a:p>
            <a:pPr indent="0" marL="0">
              <a:buNone/>
            </a:pPr>
            <a:r>
              <a:rPr lang="en-US" sz="2000" b="1" dirty="0">
                <a:solidFill>
                  <a:schemeClr val="bg1"/>
                </a:solidFill>
              </a:rPr>
              <a:t>Why teams choose Django</a:t>
            </a:r>
            <a:endParaRPr lang="en-US" sz="2000" dirty="0"/>
          </a:p>
        </p:txBody>
      </p:sp>
      <p:sp>
        <p:nvSpPr>
          <p:cNvPr id="24" name="Text 21"/>
          <p:cNvSpPr txBox="1"/>
          <p:nvPr/>
        </p:nvSpPr>
        <p:spPr>
          <a:xfrm>
            <a:off x="822960" y="4709160"/>
            <a:ext cx="5120640" cy="1188720"/>
          </a:xfrm>
          <a:prstGeom prst="rect">
            <a:avLst/>
          </a:prstGeom>
          <a:noFill/>
          <a:ln/>
        </p:spPr>
        <p:txBody>
          <a:bodyPr wrap="square" lIns="0" tIns="0" rIns="0" bIns="0" rtlCol="0" anchor="t"/>
          <a:lstStyle/>
          <a:p>
            <a:pPr indent="0" marL="0">
              <a:buNone/>
            </a:pPr>
            <a:r>
              <a:rPr lang="en-US" sz="1600" dirty="0">
                <a:solidFill>
                  <a:schemeClr val="bg1"/>
                </a:solidFill>
              </a:rPr>
              <a:t>Fast development, strong security defaults, proven scaling and a huge community.</a:t>
            </a:r>
            <a:endParaRPr lang="en-US" sz="1600" dirty="0"/>
          </a:p>
        </p:txBody>
      </p:sp>
      <p:sp>
        <p:nvSpPr>
          <p:cNvPr id="25" name="icon-circle"/>
          <p:cNvSpPr/>
          <p:nvPr/>
        </p:nvSpPr>
        <p:spPr>
          <a:xfrm>
            <a:off x="6675120" y="1463040"/>
            <a:ext cx="640080" cy="640080"/>
          </a:xfrm>
          <a:prstGeom prst="ellipse">
            <a:avLst/>
          </a:prstGeom>
          <a:solidFill>
            <a:schemeClr val="tx2"/>
          </a:solidFill>
          <a:ln/>
        </p:spPr>
      </p:sp>
      <p:pic>
        <p:nvPicPr>
          <p:cNvPr id="26" name="Image 0" descr="preencoded.png">    </p:cNvPr>
          <p:cNvPicPr>
            <a:picLocks noChangeAspect="1"/>
          </p:cNvPicPr>
          <p:nvPr/>
        </p:nvPicPr>
        <p:blipFill>
          <a:blip r:embed="rId1"/>
          <a:stretch>
            <a:fillRect/>
          </a:stretch>
        </p:blipFill>
        <p:spPr>
          <a:xfrm>
            <a:off x="6835140" y="1623060"/>
            <a:ext cx="320040" cy="320040"/>
          </a:xfrm>
          <a:prstGeom prst="rect">
            <a:avLst/>
          </a:prstGeom>
        </p:spPr>
      </p:pic>
      <p:sp>
        <p:nvSpPr>
          <p:cNvPr id="27" name="Text 23"/>
          <p:cNvSpPr txBox="1"/>
          <p:nvPr/>
        </p:nvSpPr>
        <p:spPr>
          <a:xfrm>
            <a:off x="7543800" y="1417320"/>
            <a:ext cx="4069080" cy="731520"/>
          </a:xfrm>
          <a:prstGeom prst="rect">
            <a:avLst/>
          </a:prstGeom>
          <a:noFill/>
          <a:ln/>
        </p:spPr>
        <p:txBody>
          <a:bodyPr wrap="square" lIns="0" tIns="0" rIns="0" bIns="0" rtlCol="0" anchor="ctr"/>
          <a:lstStyle/>
          <a:p>
            <a:pPr indent="0" marL="0">
              <a:buNone/>
            </a:pPr>
            <a:r>
              <a:rPr lang="en-US" sz="1700" dirty="0">
                <a:solidFill>
                  <a:schemeClr val="tx1"/>
                </a:solidFill>
              </a:rPr>
              <a:t>Social and community sites</a:t>
            </a:r>
            <a:endParaRPr lang="en-US" sz="1700" dirty="0"/>
          </a:p>
        </p:txBody>
      </p:sp>
      <p:sp>
        <p:nvSpPr>
          <p:cNvPr id="28" name="icon-circle"/>
          <p:cNvSpPr/>
          <p:nvPr/>
        </p:nvSpPr>
        <p:spPr>
          <a:xfrm>
            <a:off x="6675120" y="2395728"/>
            <a:ext cx="640080" cy="640080"/>
          </a:xfrm>
          <a:prstGeom prst="ellipse">
            <a:avLst/>
          </a:prstGeom>
          <a:solidFill>
            <a:schemeClr val="tx2"/>
          </a:solidFill>
          <a:ln/>
        </p:spPr>
      </p:sp>
      <p:pic>
        <p:nvPicPr>
          <p:cNvPr id="29" name="Image 1" descr="preencoded.png">    </p:cNvPr>
          <p:cNvPicPr>
            <a:picLocks noChangeAspect="1"/>
          </p:cNvPicPr>
          <p:nvPr/>
        </p:nvPicPr>
        <p:blipFill>
          <a:blip r:embed="rId2"/>
          <a:stretch>
            <a:fillRect/>
          </a:stretch>
        </p:blipFill>
        <p:spPr>
          <a:xfrm>
            <a:off x="6835140" y="2555748"/>
            <a:ext cx="320040" cy="320040"/>
          </a:xfrm>
          <a:prstGeom prst="rect">
            <a:avLst/>
          </a:prstGeom>
        </p:spPr>
      </p:pic>
      <p:sp>
        <p:nvSpPr>
          <p:cNvPr id="30" name="Text 25"/>
          <p:cNvSpPr txBox="1"/>
          <p:nvPr/>
        </p:nvSpPr>
        <p:spPr>
          <a:xfrm>
            <a:off x="7543800" y="2350008"/>
            <a:ext cx="4069080" cy="731520"/>
          </a:xfrm>
          <a:prstGeom prst="rect">
            <a:avLst/>
          </a:prstGeom>
          <a:noFill/>
          <a:ln/>
        </p:spPr>
        <p:txBody>
          <a:bodyPr wrap="square" lIns="0" tIns="0" rIns="0" bIns="0" rtlCol="0" anchor="ctr"/>
          <a:lstStyle/>
          <a:p>
            <a:pPr indent="0" marL="0">
              <a:buNone/>
            </a:pPr>
            <a:r>
              <a:rPr lang="en-US" sz="1700" dirty="0">
                <a:solidFill>
                  <a:schemeClr val="tx1"/>
                </a:solidFill>
              </a:rPr>
              <a:t>News and content management</a:t>
            </a:r>
            <a:endParaRPr lang="en-US" sz="1700" dirty="0"/>
          </a:p>
        </p:txBody>
      </p:sp>
      <p:sp>
        <p:nvSpPr>
          <p:cNvPr id="31" name="icon-circle"/>
          <p:cNvSpPr/>
          <p:nvPr/>
        </p:nvSpPr>
        <p:spPr>
          <a:xfrm>
            <a:off x="6675120" y="3328416"/>
            <a:ext cx="640080" cy="640080"/>
          </a:xfrm>
          <a:prstGeom prst="ellipse">
            <a:avLst/>
          </a:prstGeom>
          <a:solidFill>
            <a:schemeClr val="tx2"/>
          </a:solidFill>
          <a:ln/>
        </p:spPr>
      </p:sp>
      <p:pic>
        <p:nvPicPr>
          <p:cNvPr id="32" name="Image 2" descr="preencoded.png">    </p:cNvPr>
          <p:cNvPicPr>
            <a:picLocks noChangeAspect="1"/>
          </p:cNvPicPr>
          <p:nvPr/>
        </p:nvPicPr>
        <p:blipFill>
          <a:blip r:embed="rId3"/>
          <a:stretch>
            <a:fillRect/>
          </a:stretch>
        </p:blipFill>
        <p:spPr>
          <a:xfrm>
            <a:off x="6835140" y="3488436"/>
            <a:ext cx="320040" cy="320040"/>
          </a:xfrm>
          <a:prstGeom prst="rect">
            <a:avLst/>
          </a:prstGeom>
        </p:spPr>
      </p:pic>
      <p:sp>
        <p:nvSpPr>
          <p:cNvPr id="33" name="Text 27"/>
          <p:cNvSpPr txBox="1"/>
          <p:nvPr/>
        </p:nvSpPr>
        <p:spPr>
          <a:xfrm>
            <a:off x="7543800" y="3282696"/>
            <a:ext cx="4069080" cy="731520"/>
          </a:xfrm>
          <a:prstGeom prst="rect">
            <a:avLst/>
          </a:prstGeom>
          <a:noFill/>
          <a:ln/>
        </p:spPr>
        <p:txBody>
          <a:bodyPr wrap="square" lIns="0" tIns="0" rIns="0" bIns="0" rtlCol="0" anchor="ctr"/>
          <a:lstStyle/>
          <a:p>
            <a:pPr indent="0" marL="0">
              <a:buNone/>
            </a:pPr>
            <a:r>
              <a:rPr lang="en-US" sz="1700" dirty="0">
                <a:solidFill>
                  <a:schemeClr val="tx1"/>
                </a:solidFill>
              </a:rPr>
              <a:t>E-commerce and booking</a:t>
            </a:r>
            <a:endParaRPr lang="en-US" sz="1700" dirty="0"/>
          </a:p>
        </p:txBody>
      </p:sp>
      <p:sp>
        <p:nvSpPr>
          <p:cNvPr id="34" name="icon-circle"/>
          <p:cNvSpPr/>
          <p:nvPr/>
        </p:nvSpPr>
        <p:spPr>
          <a:xfrm>
            <a:off x="6675120" y="4261104"/>
            <a:ext cx="640080" cy="640080"/>
          </a:xfrm>
          <a:prstGeom prst="ellipse">
            <a:avLst/>
          </a:prstGeom>
          <a:solidFill>
            <a:schemeClr val="tx2"/>
          </a:solidFill>
          <a:ln/>
        </p:spPr>
      </p:sp>
      <p:pic>
        <p:nvPicPr>
          <p:cNvPr id="35" name="Image 3" descr="preencoded.png">    </p:cNvPr>
          <p:cNvPicPr>
            <a:picLocks noChangeAspect="1"/>
          </p:cNvPicPr>
          <p:nvPr/>
        </p:nvPicPr>
        <p:blipFill>
          <a:blip r:embed="rId4"/>
          <a:stretch>
            <a:fillRect/>
          </a:stretch>
        </p:blipFill>
        <p:spPr>
          <a:xfrm>
            <a:off x="6835140" y="4421124"/>
            <a:ext cx="320040" cy="320040"/>
          </a:xfrm>
          <a:prstGeom prst="rect">
            <a:avLst/>
          </a:prstGeom>
        </p:spPr>
      </p:pic>
      <p:sp>
        <p:nvSpPr>
          <p:cNvPr id="36" name="Text 29"/>
          <p:cNvSpPr txBox="1"/>
          <p:nvPr/>
        </p:nvSpPr>
        <p:spPr>
          <a:xfrm>
            <a:off x="7543800" y="4215384"/>
            <a:ext cx="4069080" cy="731520"/>
          </a:xfrm>
          <a:prstGeom prst="rect">
            <a:avLst/>
          </a:prstGeom>
          <a:noFill/>
          <a:ln/>
        </p:spPr>
        <p:txBody>
          <a:bodyPr wrap="square" lIns="0" tIns="0" rIns="0" bIns="0" rtlCol="0" anchor="ctr"/>
          <a:lstStyle/>
          <a:p>
            <a:pPr indent="0" marL="0">
              <a:buNone/>
            </a:pPr>
            <a:r>
              <a:rPr lang="en-US" sz="1700" dirty="0">
                <a:solidFill>
                  <a:schemeClr val="tx1"/>
                </a:solidFill>
              </a:rPr>
              <a:t>REST back-ends for React and mobile apps</a:t>
            </a:r>
            <a:endParaRPr lang="en-US" sz="1700" dirty="0"/>
          </a:p>
        </p:txBody>
      </p:sp>
      <p:sp>
        <p:nvSpPr>
          <p:cNvPr id="37" name="icon-circle"/>
          <p:cNvSpPr/>
          <p:nvPr/>
        </p:nvSpPr>
        <p:spPr>
          <a:xfrm>
            <a:off x="6675120" y="5193792"/>
            <a:ext cx="640080" cy="640080"/>
          </a:xfrm>
          <a:prstGeom prst="ellipse">
            <a:avLst/>
          </a:prstGeom>
          <a:solidFill>
            <a:schemeClr val="tx2"/>
          </a:solidFill>
          <a:ln/>
        </p:spPr>
      </p:sp>
      <p:pic>
        <p:nvPicPr>
          <p:cNvPr id="38" name="Image 4" descr="preencoded.png">    </p:cNvPr>
          <p:cNvPicPr>
            <a:picLocks noChangeAspect="1"/>
          </p:cNvPicPr>
          <p:nvPr/>
        </p:nvPicPr>
        <p:blipFill>
          <a:blip r:embed="rId5"/>
          <a:stretch>
            <a:fillRect/>
          </a:stretch>
        </p:blipFill>
        <p:spPr>
          <a:xfrm>
            <a:off x="6835140" y="5353812"/>
            <a:ext cx="320040" cy="320040"/>
          </a:xfrm>
          <a:prstGeom prst="rect">
            <a:avLst/>
          </a:prstGeom>
        </p:spPr>
      </p:pic>
      <p:sp>
        <p:nvSpPr>
          <p:cNvPr id="39" name="Text 31"/>
          <p:cNvSpPr txBox="1"/>
          <p:nvPr/>
        </p:nvSpPr>
        <p:spPr>
          <a:xfrm>
            <a:off x="7543800" y="5148072"/>
            <a:ext cx="4069080" cy="731520"/>
          </a:xfrm>
          <a:prstGeom prst="rect">
            <a:avLst/>
          </a:prstGeom>
          <a:noFill/>
          <a:ln/>
        </p:spPr>
        <p:txBody>
          <a:bodyPr wrap="square" lIns="0" tIns="0" rIns="0" bIns="0" rtlCol="0" anchor="ctr"/>
          <a:lstStyle/>
          <a:p>
            <a:pPr indent="0" marL="0">
              <a:buNone/>
            </a:pPr>
            <a:r>
              <a:rPr lang="en-US" sz="1700" dirty="0">
                <a:solidFill>
                  <a:schemeClr val="tx1"/>
                </a:solidFill>
              </a:rPr>
              <a:t>Data and machine-learning dashboards</a:t>
            </a:r>
            <a:endParaRPr lang="en-US" sz="17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Bonus: file and image handling</a:t>
            </a:r>
            <a:endParaRPr lang="en-US" sz="3600" dirty="0"/>
          </a:p>
        </p:txBody>
      </p:sp>
      <p:sp>
        <p:nvSpPr>
          <p:cNvPr id="4" name="badge"/>
          <p:cNvSpPr/>
          <p:nvPr/>
        </p:nvSpPr>
        <p:spPr>
          <a:xfrm>
            <a:off x="9006840" y="1371600"/>
            <a:ext cx="2633472" cy="457200"/>
          </a:xfrm>
          <a:prstGeom prst="roundRect">
            <a:avLst>
              <a:gd name="adj" fmla="val 24000"/>
            </a:avLst>
          </a:prstGeom>
          <a:solidFill>
            <a:schemeClr val="accent2"/>
          </a:solidFill>
          <a:ln/>
        </p:spPr>
      </p:sp>
      <p:sp>
        <p:nvSpPr>
          <p:cNvPr id="5" name="Text 2"/>
          <p:cNvSpPr txBox="1"/>
          <p:nvPr/>
        </p:nvSpPr>
        <p:spPr>
          <a:xfrm>
            <a:off x="9006840" y="1371600"/>
            <a:ext cx="2633472" cy="457200"/>
          </a:xfrm>
          <a:prstGeom prst="rect">
            <a:avLst/>
          </a:prstGeom>
          <a:noFill/>
          <a:ln/>
        </p:spPr>
        <p:txBody>
          <a:bodyPr wrap="square" lIns="0" tIns="0" rIns="0" bIns="0" rtlCol="0" anchor="ctr"/>
          <a:lstStyle/>
          <a:p>
            <a:pPr algn="ctr" indent="0" marL="0">
              <a:buNone/>
            </a:pPr>
            <a:r>
              <a:rPr lang="en-US" sz="1300" b="1" dirty="0">
                <a:solidFill>
                  <a:schemeClr val="accent6"/>
                </a:solidFill>
              </a:rPr>
              <a:t>BONUS - not covered today</a:t>
            </a:r>
            <a:endParaRPr lang="en-US" sz="1300" dirty="0"/>
          </a:p>
        </p:txBody>
      </p:sp>
      <p:sp>
        <p:nvSpPr>
          <p:cNvPr id="6" name="image-code"/>
          <p:cNvSpPr txBox="1"/>
          <p:nvPr/>
        </p:nvSpPr>
        <p:spPr>
          <a:xfrm>
            <a:off x="548640" y="1371600"/>
            <a:ext cx="5760720" cy="3566160"/>
          </a:xfrm>
          <a:prstGeom prst="roundRect">
            <a:avLst>
              <a:gd name="adj" fmla="val 2564"/>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 models.py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image = models.ImageField(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upload_to="item_images/",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null=True, blank=True)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settings.py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MEDIA_ROOT = BASE_DIR / "media"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MEDIA_URL = "media/"</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upload as multipart/form-data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 the admin or /api/items/)</a:t>
            </a:r>
            <a:endParaRPr lang="en-US" sz="1400" dirty="0"/>
          </a:p>
        </p:txBody>
      </p:sp>
      <p:sp>
        <p:nvSpPr>
          <p:cNvPr id="7" name="step-number"/>
          <p:cNvSpPr txBox="1"/>
          <p:nvPr/>
        </p:nvSpPr>
        <p:spPr>
          <a:xfrm>
            <a:off x="6583680" y="20574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7223760" y="1965960"/>
            <a:ext cx="4416552" cy="365760"/>
          </a:xfrm>
          <a:prstGeom prst="rect">
            <a:avLst/>
          </a:prstGeom>
          <a:noFill/>
          <a:ln/>
        </p:spPr>
        <p:txBody>
          <a:bodyPr wrap="square" lIns="0" tIns="0" rIns="0" bIns="0" rtlCol="0" anchor="t"/>
          <a:lstStyle/>
          <a:p>
            <a:pPr indent="0" marL="0">
              <a:buNone/>
            </a:pPr>
            <a:r>
              <a:rPr lang="en-US" sz="1700" b="1" dirty="0">
                <a:solidFill>
                  <a:schemeClr val="tx2"/>
                </a:solidFill>
              </a:rPr>
              <a:t>pip install pillow</a:t>
            </a:r>
            <a:endParaRPr lang="en-US" sz="1700" dirty="0"/>
          </a:p>
        </p:txBody>
      </p:sp>
      <p:sp>
        <p:nvSpPr>
          <p:cNvPr id="9" name="Text 6"/>
          <p:cNvSpPr txBox="1"/>
          <p:nvPr/>
        </p:nvSpPr>
        <p:spPr>
          <a:xfrm>
            <a:off x="7223760" y="2350008"/>
            <a:ext cx="4416552" cy="365760"/>
          </a:xfrm>
          <a:prstGeom prst="rect">
            <a:avLst/>
          </a:prstGeom>
          <a:noFill/>
          <a:ln/>
        </p:spPr>
        <p:txBody>
          <a:bodyPr wrap="square" lIns="0" tIns="0" rIns="0" bIns="0" rtlCol="0" anchor="t"/>
          <a:lstStyle/>
          <a:p>
            <a:pPr indent="0" marL="0">
              <a:buNone/>
            </a:pPr>
            <a:r>
              <a:rPr lang="en-US" sz="1400" dirty="0">
                <a:solidFill>
                  <a:schemeClr val="tx1"/>
                </a:solidFill>
              </a:rPr>
              <a:t>Needed by ImageField</a:t>
            </a:r>
            <a:endParaRPr lang="en-US" sz="1400" dirty="0"/>
          </a:p>
        </p:txBody>
      </p:sp>
      <p:sp>
        <p:nvSpPr>
          <p:cNvPr id="10" name="step-number"/>
          <p:cNvSpPr txBox="1"/>
          <p:nvPr/>
        </p:nvSpPr>
        <p:spPr>
          <a:xfrm>
            <a:off x="6583680" y="28803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223760" y="2788920"/>
            <a:ext cx="4416552" cy="365760"/>
          </a:xfrm>
          <a:prstGeom prst="rect">
            <a:avLst/>
          </a:prstGeom>
          <a:noFill/>
          <a:ln/>
        </p:spPr>
        <p:txBody>
          <a:bodyPr wrap="square" lIns="0" tIns="0" rIns="0" bIns="0" rtlCol="0" anchor="t"/>
          <a:lstStyle/>
          <a:p>
            <a:pPr indent="0" marL="0">
              <a:buNone/>
            </a:pPr>
            <a:r>
              <a:rPr lang="en-US" sz="1700" b="1" dirty="0">
                <a:solidFill>
                  <a:schemeClr val="tx2"/>
                </a:solidFill>
              </a:rPr>
              <a:t>ImageField + MEDIA settings</a:t>
            </a:r>
            <a:endParaRPr lang="en-US" sz="1700" dirty="0"/>
          </a:p>
        </p:txBody>
      </p:sp>
      <p:sp>
        <p:nvSpPr>
          <p:cNvPr id="12" name="Text 9"/>
          <p:cNvSpPr txBox="1"/>
          <p:nvPr/>
        </p:nvSpPr>
        <p:spPr>
          <a:xfrm>
            <a:off x="7223760" y="3172968"/>
            <a:ext cx="4416552" cy="365760"/>
          </a:xfrm>
          <a:prstGeom prst="rect">
            <a:avLst/>
          </a:prstGeom>
          <a:noFill/>
          <a:ln/>
        </p:spPr>
        <p:txBody>
          <a:bodyPr wrap="square" lIns="0" tIns="0" rIns="0" bIns="0" rtlCol="0" anchor="t"/>
          <a:lstStyle/>
          <a:p>
            <a:pPr indent="0" marL="0">
              <a:buNone/>
            </a:pPr>
            <a:r>
              <a:rPr lang="en-US" sz="1400" dirty="0">
                <a:solidFill>
                  <a:schemeClr val="tx1"/>
                </a:solidFill>
              </a:rPr>
              <a:t>Where files are saved and served</a:t>
            </a:r>
            <a:endParaRPr lang="en-US" sz="1400" dirty="0"/>
          </a:p>
        </p:txBody>
      </p:sp>
      <p:sp>
        <p:nvSpPr>
          <p:cNvPr id="13" name="step-number"/>
          <p:cNvSpPr txBox="1"/>
          <p:nvPr/>
        </p:nvSpPr>
        <p:spPr>
          <a:xfrm>
            <a:off x="6583680" y="370332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7223760" y="3611880"/>
            <a:ext cx="4416552" cy="365760"/>
          </a:xfrm>
          <a:prstGeom prst="rect">
            <a:avLst/>
          </a:prstGeom>
          <a:noFill/>
          <a:ln/>
        </p:spPr>
        <p:txBody>
          <a:bodyPr wrap="square" lIns="0" tIns="0" rIns="0" bIns="0" rtlCol="0" anchor="t"/>
          <a:lstStyle/>
          <a:p>
            <a:pPr indent="0" marL="0">
              <a:buNone/>
            </a:pPr>
            <a:r>
              <a:rPr lang="en-US" sz="1700" b="1" dirty="0">
                <a:solidFill>
                  <a:schemeClr val="tx2"/>
                </a:solidFill>
              </a:rPr>
              <a:t>Send multipart/form-data</a:t>
            </a:r>
            <a:endParaRPr lang="en-US" sz="1700" dirty="0"/>
          </a:p>
        </p:txBody>
      </p:sp>
      <p:sp>
        <p:nvSpPr>
          <p:cNvPr id="15" name="Text 12"/>
          <p:cNvSpPr txBox="1"/>
          <p:nvPr/>
        </p:nvSpPr>
        <p:spPr>
          <a:xfrm>
            <a:off x="7223760" y="3995928"/>
            <a:ext cx="4416552" cy="365760"/>
          </a:xfrm>
          <a:prstGeom prst="rect">
            <a:avLst/>
          </a:prstGeom>
          <a:noFill/>
          <a:ln/>
        </p:spPr>
        <p:txBody>
          <a:bodyPr wrap="square" lIns="0" tIns="0" rIns="0" bIns="0" rtlCol="0" anchor="t"/>
          <a:lstStyle/>
          <a:p>
            <a:pPr indent="0" marL="0">
              <a:buNone/>
            </a:pPr>
            <a:r>
              <a:rPr lang="en-US" sz="1400" dirty="0">
                <a:solidFill>
                  <a:schemeClr val="tx1"/>
                </a:solidFill>
              </a:rPr>
              <a:t>The admin or API page can upload</a:t>
            </a:r>
            <a:endParaRPr lang="en-US" sz="1400" dirty="0"/>
          </a:p>
        </p:txBody>
      </p:sp>
      <p:sp>
        <p:nvSpPr>
          <p:cNvPr id="16" name="step-number"/>
          <p:cNvSpPr txBox="1"/>
          <p:nvPr/>
        </p:nvSpPr>
        <p:spPr>
          <a:xfrm>
            <a:off x="6583680" y="45262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4"/>
          <p:cNvSpPr txBox="1"/>
          <p:nvPr/>
        </p:nvSpPr>
        <p:spPr>
          <a:xfrm>
            <a:off x="7223760" y="4434840"/>
            <a:ext cx="4416552" cy="365760"/>
          </a:xfrm>
          <a:prstGeom prst="rect">
            <a:avLst/>
          </a:prstGeom>
          <a:noFill/>
          <a:ln/>
        </p:spPr>
        <p:txBody>
          <a:bodyPr wrap="square" lIns="0" tIns="0" rIns="0" bIns="0" rtlCol="0" anchor="t"/>
          <a:lstStyle/>
          <a:p>
            <a:pPr indent="0" marL="0">
              <a:buNone/>
            </a:pPr>
            <a:r>
              <a:rPr lang="en-US" sz="1700" b="1" dirty="0">
                <a:solidFill>
                  <a:schemeClr val="tx2"/>
                </a:solidFill>
              </a:rPr>
              <a:t>"image": "/media/..."</a:t>
            </a:r>
            <a:endParaRPr lang="en-US" sz="1700" dirty="0"/>
          </a:p>
        </p:txBody>
      </p:sp>
      <p:sp>
        <p:nvSpPr>
          <p:cNvPr id="18" name="Text 15"/>
          <p:cNvSpPr txBox="1"/>
          <p:nvPr/>
        </p:nvSpPr>
        <p:spPr>
          <a:xfrm>
            <a:off x="7223760" y="4818888"/>
            <a:ext cx="4416552" cy="365760"/>
          </a:xfrm>
          <a:prstGeom prst="rect">
            <a:avLst/>
          </a:prstGeom>
          <a:noFill/>
          <a:ln/>
        </p:spPr>
        <p:txBody>
          <a:bodyPr wrap="square" lIns="0" tIns="0" rIns="0" bIns="0" rtlCol="0" anchor="t"/>
          <a:lstStyle/>
          <a:p>
            <a:pPr indent="0" marL="0">
              <a:buNone/>
            </a:pPr>
            <a:r>
              <a:rPr lang="en-US" sz="1400" dirty="0">
                <a:solidFill>
                  <a:schemeClr val="tx1"/>
                </a:solidFill>
              </a:rPr>
              <a:t>The API returns the file URL</a:t>
            </a:r>
            <a:endParaRPr lang="en-US" sz="1400" dirty="0"/>
          </a:p>
        </p:txBody>
      </p:sp>
      <p:sp>
        <p:nvSpPr>
          <p:cNvPr id="19" name="callout"/>
          <p:cNvSpPr/>
          <p:nvPr/>
        </p:nvSpPr>
        <p:spPr>
          <a:xfrm>
            <a:off x="548640" y="5257800"/>
            <a:ext cx="11091672" cy="731520"/>
          </a:xfrm>
          <a:prstGeom prst="roundRect">
            <a:avLst>
              <a:gd name="adj" fmla="val 15000"/>
            </a:avLst>
          </a:prstGeom>
          <a:solidFill>
            <a:schemeClr val="bg2"/>
          </a:solidFill>
          <a:ln/>
        </p:spPr>
      </p:sp>
      <p:sp>
        <p:nvSpPr>
          <p:cNvPr id="20" name="Text 17"/>
          <p:cNvSpPr txBox="1"/>
          <p:nvPr/>
        </p:nvSpPr>
        <p:spPr>
          <a:xfrm>
            <a:off x="822960" y="5257800"/>
            <a:ext cx="10543032" cy="731520"/>
          </a:xfrm>
          <a:prstGeom prst="rect">
            <a:avLst/>
          </a:prstGeom>
          <a:noFill/>
          <a:ln/>
        </p:spPr>
        <p:txBody>
          <a:bodyPr wrap="square" lIns="0" tIns="0" rIns="0" bIns="0" rtlCol="0" anchor="ctr"/>
          <a:lstStyle/>
          <a:p>
            <a:pPr indent="0" marL="0">
              <a:buNone/>
            </a:pPr>
            <a:r>
              <a:rPr lang="en-US" sz="1600" dirty="0">
                <a:solidFill>
                  <a:schemeClr val="tx1"/>
                </a:solidFill>
              </a:rPr>
              <a:t>Read docs/image-handling.md in the repository, then try uploading an image to an item in the admin.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bg1"/>
                </a:solidFill>
              </a:rPr>
              <a:t>Summary</a:t>
            </a:r>
            <a:endParaRPr lang="en-US" sz="3600" dirty="0"/>
          </a:p>
        </p:txBody>
      </p:sp>
      <p:sp>
        <p:nvSpPr>
          <p:cNvPr id="4" name="icon-circle"/>
          <p:cNvSpPr/>
          <p:nvPr/>
        </p:nvSpPr>
        <p:spPr>
          <a:xfrm>
            <a:off x="548640" y="1536192"/>
            <a:ext cx="457200" cy="45720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667512" y="1655064"/>
            <a:ext cx="219456" cy="219456"/>
          </a:xfrm>
          <a:prstGeom prst="rect">
            <a:avLst/>
          </a:prstGeom>
        </p:spPr>
      </p:pic>
      <p:sp>
        <p:nvSpPr>
          <p:cNvPr id="6" name="Text 2"/>
          <p:cNvSpPr txBox="1"/>
          <p:nvPr/>
        </p:nvSpPr>
        <p:spPr>
          <a:xfrm>
            <a:off x="1280160" y="1463040"/>
            <a:ext cx="6675120" cy="640080"/>
          </a:xfrm>
          <a:prstGeom prst="rect">
            <a:avLst/>
          </a:prstGeom>
          <a:noFill/>
          <a:ln/>
        </p:spPr>
        <p:txBody>
          <a:bodyPr wrap="square" lIns="0" tIns="0" rIns="0" bIns="0" rtlCol="0" anchor="ctr"/>
          <a:lstStyle/>
          <a:p>
            <a:pPr indent="0" marL="0">
              <a:buNone/>
            </a:pPr>
            <a:r>
              <a:rPr lang="en-US" sz="1900" dirty="0">
                <a:solidFill>
                  <a:schemeClr val="bg1"/>
                </a:solidFill>
              </a:rPr>
              <a:t>Django is batteries included: admin, auth, ORM, security</a:t>
            </a:r>
            <a:endParaRPr lang="en-US" sz="1900" dirty="0"/>
          </a:p>
        </p:txBody>
      </p:sp>
      <p:sp>
        <p:nvSpPr>
          <p:cNvPr id="7" name="icon-circle"/>
          <p:cNvSpPr/>
          <p:nvPr/>
        </p:nvSpPr>
        <p:spPr>
          <a:xfrm>
            <a:off x="548640" y="2432304"/>
            <a:ext cx="457200" cy="45720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667512" y="2551176"/>
            <a:ext cx="219456" cy="219456"/>
          </a:xfrm>
          <a:prstGeom prst="rect">
            <a:avLst/>
          </a:prstGeom>
        </p:spPr>
      </p:pic>
      <p:sp>
        <p:nvSpPr>
          <p:cNvPr id="9" name="Text 4"/>
          <p:cNvSpPr txBox="1"/>
          <p:nvPr/>
        </p:nvSpPr>
        <p:spPr>
          <a:xfrm>
            <a:off x="1280160" y="2359152"/>
            <a:ext cx="6675120" cy="640080"/>
          </a:xfrm>
          <a:prstGeom prst="rect">
            <a:avLst/>
          </a:prstGeom>
          <a:noFill/>
          <a:ln/>
        </p:spPr>
        <p:txBody>
          <a:bodyPr wrap="square" lIns="0" tIns="0" rIns="0" bIns="0" rtlCol="0" anchor="ctr"/>
          <a:lstStyle/>
          <a:p>
            <a:pPr indent="0" marL="0">
              <a:buNone/>
            </a:pPr>
            <a:r>
              <a:rPr lang="en-US" sz="1900" dirty="0">
                <a:solidFill>
                  <a:schemeClr val="bg1"/>
                </a:solidFill>
              </a:rPr>
              <a:t>MVT: a URL picks a view, the view uses models and returns a response</a:t>
            </a:r>
            <a:endParaRPr lang="en-US" sz="1900" dirty="0"/>
          </a:p>
        </p:txBody>
      </p:sp>
      <p:sp>
        <p:nvSpPr>
          <p:cNvPr id="10" name="icon-circle"/>
          <p:cNvSpPr/>
          <p:nvPr/>
        </p:nvSpPr>
        <p:spPr>
          <a:xfrm>
            <a:off x="548640" y="3328416"/>
            <a:ext cx="457200" cy="457200"/>
          </a:xfrm>
          <a:prstGeom prst="ellipse">
            <a:avLst/>
          </a:prstGeom>
          <a:solidFill>
            <a:schemeClr val="accent1"/>
          </a:solidFill>
          <a:ln/>
        </p:spPr>
      </p:sp>
      <p:pic>
        <p:nvPicPr>
          <p:cNvPr id="11" name="Image 2" descr="preencoded.png">    </p:cNvPr>
          <p:cNvPicPr>
            <a:picLocks noChangeAspect="1"/>
          </p:cNvPicPr>
          <p:nvPr/>
        </p:nvPicPr>
        <p:blipFill>
          <a:blip r:embed="rId3"/>
          <a:stretch>
            <a:fillRect/>
          </a:stretch>
        </p:blipFill>
        <p:spPr>
          <a:xfrm>
            <a:off x="667512" y="3447288"/>
            <a:ext cx="219456" cy="219456"/>
          </a:xfrm>
          <a:prstGeom prst="rect">
            <a:avLst/>
          </a:prstGeom>
        </p:spPr>
      </p:pic>
      <p:sp>
        <p:nvSpPr>
          <p:cNvPr id="12" name="Text 6"/>
          <p:cNvSpPr txBox="1"/>
          <p:nvPr/>
        </p:nvSpPr>
        <p:spPr>
          <a:xfrm>
            <a:off x="1280160" y="3255264"/>
            <a:ext cx="6675120" cy="640080"/>
          </a:xfrm>
          <a:prstGeom prst="rect">
            <a:avLst/>
          </a:prstGeom>
          <a:noFill/>
          <a:ln/>
        </p:spPr>
        <p:txBody>
          <a:bodyPr wrap="square" lIns="0" tIns="0" rIns="0" bIns="0" rtlCol="0" anchor="ctr"/>
          <a:lstStyle/>
          <a:p>
            <a:pPr indent="0" marL="0">
              <a:buNone/>
            </a:pPr>
            <a:r>
              <a:rPr lang="en-US" sz="1900" dirty="0">
                <a:solidFill>
                  <a:schemeClr val="bg1"/>
                </a:solidFill>
              </a:rPr>
              <a:t>Models become tables; makemigrations plans, migrate applies</a:t>
            </a:r>
            <a:endParaRPr lang="en-US" sz="1900" dirty="0"/>
          </a:p>
        </p:txBody>
      </p:sp>
      <p:sp>
        <p:nvSpPr>
          <p:cNvPr id="13" name="icon-circle"/>
          <p:cNvSpPr/>
          <p:nvPr/>
        </p:nvSpPr>
        <p:spPr>
          <a:xfrm>
            <a:off x="548640" y="4224528"/>
            <a:ext cx="457200" cy="45720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67512" y="4343400"/>
            <a:ext cx="219456" cy="219456"/>
          </a:xfrm>
          <a:prstGeom prst="rect">
            <a:avLst/>
          </a:prstGeom>
        </p:spPr>
      </p:pic>
      <p:sp>
        <p:nvSpPr>
          <p:cNvPr id="15" name="Text 8"/>
          <p:cNvSpPr txBox="1"/>
          <p:nvPr/>
        </p:nvSpPr>
        <p:spPr>
          <a:xfrm>
            <a:off x="1280160" y="4151376"/>
            <a:ext cx="6675120" cy="640080"/>
          </a:xfrm>
          <a:prstGeom prst="rect">
            <a:avLst/>
          </a:prstGeom>
          <a:noFill/>
          <a:ln/>
        </p:spPr>
        <p:txBody>
          <a:bodyPr wrap="square" lIns="0" tIns="0" rIns="0" bIns="0" rtlCol="0" anchor="ctr"/>
          <a:lstStyle/>
          <a:p>
            <a:pPr indent="0" marL="0">
              <a:buNone/>
            </a:pPr>
            <a:r>
              <a:rPr lang="en-US" sz="1900" dirty="0">
                <a:solidFill>
                  <a:schemeClr val="bg1"/>
                </a:solidFill>
              </a:rPr>
              <a:t>The admin panel is generated from your models</a:t>
            </a:r>
            <a:endParaRPr lang="en-US" sz="1900" dirty="0"/>
          </a:p>
        </p:txBody>
      </p:sp>
      <p:sp>
        <p:nvSpPr>
          <p:cNvPr id="16" name="icon-circle"/>
          <p:cNvSpPr/>
          <p:nvPr/>
        </p:nvSpPr>
        <p:spPr>
          <a:xfrm>
            <a:off x="548640" y="5120640"/>
            <a:ext cx="457200" cy="457200"/>
          </a:xfrm>
          <a:prstGeom prst="ellipse">
            <a:avLst/>
          </a:prstGeom>
          <a:solidFill>
            <a:schemeClr val="accent1"/>
          </a:solidFill>
          <a:ln/>
        </p:spPr>
      </p:sp>
      <p:pic>
        <p:nvPicPr>
          <p:cNvPr id="17" name="Image 4" descr="preencoded.png">    </p:cNvPr>
          <p:cNvPicPr>
            <a:picLocks noChangeAspect="1"/>
          </p:cNvPicPr>
          <p:nvPr/>
        </p:nvPicPr>
        <p:blipFill>
          <a:blip r:embed="rId5"/>
          <a:stretch>
            <a:fillRect/>
          </a:stretch>
        </p:blipFill>
        <p:spPr>
          <a:xfrm>
            <a:off x="667512" y="5239512"/>
            <a:ext cx="219456" cy="219456"/>
          </a:xfrm>
          <a:prstGeom prst="rect">
            <a:avLst/>
          </a:prstGeom>
        </p:spPr>
      </p:pic>
      <p:sp>
        <p:nvSpPr>
          <p:cNvPr id="18" name="Text 10"/>
          <p:cNvSpPr txBox="1"/>
          <p:nvPr/>
        </p:nvSpPr>
        <p:spPr>
          <a:xfrm>
            <a:off x="1280160" y="5047488"/>
            <a:ext cx="6675120" cy="640080"/>
          </a:xfrm>
          <a:prstGeom prst="rect">
            <a:avLst/>
          </a:prstGeom>
          <a:noFill/>
          <a:ln/>
        </p:spPr>
        <p:txBody>
          <a:bodyPr wrap="square" lIns="0" tIns="0" rIns="0" bIns="0" rtlCol="0" anchor="ctr"/>
          <a:lstStyle/>
          <a:p>
            <a:pPr indent="0" marL="0">
              <a:buNone/>
            </a:pPr>
            <a:r>
              <a:rPr lang="en-US" sz="1900" dirty="0">
                <a:solidFill>
                  <a:schemeClr val="bg1"/>
                </a:solidFill>
              </a:rPr>
              <a:t>DRF adds a JSON API, and security is on by default</a:t>
            </a:r>
            <a:endParaRPr lang="en-US" sz="1900" dirty="0"/>
          </a:p>
        </p:txBody>
      </p:sp>
      <p:sp>
        <p:nvSpPr>
          <p:cNvPr id="19" name="closing-card"/>
          <p:cNvSpPr/>
          <p:nvPr/>
        </p:nvSpPr>
        <p:spPr>
          <a:xfrm>
            <a:off x="8503920" y="1463040"/>
            <a:ext cx="3136392" cy="4297680"/>
          </a:xfrm>
          <a:prstGeom prst="roundRect">
            <a:avLst>
              <a:gd name="adj" fmla="val 3499"/>
            </a:avLst>
          </a:prstGeom>
          <a:solidFill>
            <a:schemeClr val="accent6"/>
          </a:solidFill>
          <a:ln/>
        </p:spPr>
      </p:sp>
      <p:sp>
        <p:nvSpPr>
          <p:cNvPr id="20" name="Text 12"/>
          <p:cNvSpPr txBox="1"/>
          <p:nvPr/>
        </p:nvSpPr>
        <p:spPr>
          <a:xfrm>
            <a:off x="8732520" y="1828800"/>
            <a:ext cx="2679192" cy="822960"/>
          </a:xfrm>
          <a:prstGeom prst="rect">
            <a:avLst/>
          </a:prstGeom>
          <a:noFill/>
          <a:ln/>
        </p:spPr>
        <p:txBody>
          <a:bodyPr wrap="square" lIns="0" tIns="0" rIns="0" bIns="0" rtlCol="0" anchor="t"/>
          <a:lstStyle/>
          <a:p>
            <a:pPr indent="0" marL="0">
              <a:buNone/>
            </a:pPr>
            <a:r>
              <a:rPr lang="en-US" sz="3600" b="1" dirty="0">
                <a:solidFill>
                  <a:schemeClr val="bg1"/>
                </a:solidFill>
              </a:rPr>
              <a:t>Questions?</a:t>
            </a:r>
            <a:endParaRPr lang="en-US" sz="3600" dirty="0"/>
          </a:p>
        </p:txBody>
      </p:sp>
      <p:sp>
        <p:nvSpPr>
          <p:cNvPr id="21" name="Text 13"/>
          <p:cNvSpPr txBox="1"/>
          <p:nvPr/>
        </p:nvSpPr>
        <p:spPr>
          <a:xfrm>
            <a:off x="8732520" y="2834640"/>
            <a:ext cx="2679192" cy="640080"/>
          </a:xfrm>
          <a:prstGeom prst="rect">
            <a:avLst/>
          </a:prstGeom>
          <a:noFill/>
          <a:ln/>
        </p:spPr>
        <p:txBody>
          <a:bodyPr wrap="square" lIns="0" tIns="0" rIns="0" bIns="0" rtlCol="0" anchor="t"/>
          <a:lstStyle/>
          <a:p>
            <a:pPr indent="0" marL="0">
              <a:buNone/>
            </a:pPr>
            <a:r>
              <a:rPr lang="en-US" sz="1500" dirty="0">
                <a:solidFill>
                  <a:schemeClr val="accent1"/>
                </a:solidFill>
              </a:rPr>
              <a:t>Everything is in the repository folder:</a:t>
            </a:r>
            <a:endParaRPr lang="en-US" sz="1500" dirty="0"/>
          </a:p>
        </p:txBody>
      </p:sp>
      <p:sp>
        <p:nvSpPr>
          <p:cNvPr id="22" name="Text 14"/>
          <p:cNvSpPr txBox="1"/>
          <p:nvPr/>
        </p:nvSpPr>
        <p:spPr>
          <a:xfrm>
            <a:off x="8732520" y="3520440"/>
            <a:ext cx="2679192" cy="365760"/>
          </a:xfrm>
          <a:prstGeom prst="rect">
            <a:avLst/>
          </a:prstGeom>
          <a:noFill/>
          <a:ln/>
        </p:spPr>
        <p:txBody>
          <a:bodyPr wrap="square" lIns="0" tIns="0" rIns="0" bIns="0" rtlCol="0" anchor="t"/>
          <a:lstStyle/>
          <a:p>
            <a:pPr indent="0" marL="0">
              <a:buNone/>
            </a:pPr>
            <a:r>
              <a:rPr lang="en-US" sz="1600" b="1" dirty="0">
                <a:solidFill>
                  <a:schemeClr val="bg1"/>
                </a:solidFill>
                <a:latin typeface="Courier New" pitchFamily="34" charset="0"/>
                <a:ea typeface="Courier New" pitchFamily="34" charset="-122"/>
                <a:cs typeface="Courier New" pitchFamily="34" charset="-120"/>
              </a:rPr>
              <a:t>mca / django-seminar</a:t>
            </a:r>
            <a:endParaRPr lang="en-US" sz="1600" dirty="0"/>
          </a:p>
        </p:txBody>
      </p:sp>
      <p:sp>
        <p:nvSpPr>
          <p:cNvPr id="23" name="Text 15"/>
          <p:cNvSpPr txBox="1"/>
          <p:nvPr/>
        </p:nvSpPr>
        <p:spPr>
          <a:xfrm>
            <a:off x="8732520" y="4069080"/>
            <a:ext cx="2679192" cy="365760"/>
          </a:xfrm>
          <a:prstGeom prst="rect">
            <a:avLst/>
          </a:prstGeom>
          <a:noFill/>
          <a:ln/>
        </p:spPr>
        <p:txBody>
          <a:bodyPr wrap="square" lIns="0" tIns="0" rIns="0" bIns="0" rtlCol="0" anchor="t"/>
          <a:lstStyle/>
          <a:p>
            <a:pPr indent="0" marL="0">
              <a:buNone/>
            </a:pPr>
            <a:r>
              <a:rPr lang="en-US" sz="1500" dirty="0">
                <a:solidFill>
                  <a:schemeClr val="bg2"/>
                </a:solidFill>
              </a:rPr>
              <a:t>Start with README.md</a:t>
            </a:r>
            <a:endParaRPr lang="en-US" sz="1500" dirty="0"/>
          </a:p>
        </p:txBody>
      </p:sp>
    </p:spTree>
  </p:cSld>
  <p:clrMapOvr>
    <a:masterClrMapping/>
  </p:clrMapOvr>
</p:sld>
</file>

<file path=ppt/theme/theme1.xml><?xml version="1.0" encoding="utf-8"?>
<a:theme xmlns:a="http://schemas.openxmlformats.org/drawingml/2006/main" name="Django Seminar">
  <a:themeElements>
    <a:clrScheme name="Django Seminar">
      <a:dk1>
        <a:srgbClr val="1D2B24"/>
      </a:dk1>
      <a:lt1>
        <a:srgbClr val="FFFFFF"/>
      </a:lt1>
      <a:dk2>
        <a:srgbClr val="0C4B33"/>
      </a:dk2>
      <a:lt2>
        <a:srgbClr val="E7F3EC"/>
      </a:lt2>
      <a:accent1>
        <a:srgbClr val="44B78B"/>
      </a:accent1>
      <a:accent2>
        <a:srgbClr val="F2B84B"/>
      </a:accent2>
      <a:accent3>
        <a:srgbClr val="B3261E"/>
      </a:accent3>
      <a:accent4>
        <a:srgbClr val="2F6F8F"/>
      </a:accent4>
      <a:accent5>
        <a:srgbClr val="5B6E64"/>
      </a:accent5>
      <a:accent6>
        <a:srgbClr val="0F1F18"/>
      </a:accent6>
      <a:hlink>
        <a:srgbClr val="2F6F8F"/>
      </a:hlink>
      <a:folHlink>
        <a:srgbClr val="5B6E64"/>
      </a:folHlink>
    </a:clrScheme>
    <a:fontScheme name="Django Semin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Django Basics - MCA Seminar</dc:title>
  <dc:subject>PptxGenJS Presentation</dc:subject>
  <dc:creator>MCA</dc:creator>
  <cp:lastModifiedBy>MCA</cp:lastModifiedBy>
  <cp:revision>1</cp:revision>
  <dcterms:created xsi:type="dcterms:W3CDTF">2026-10-08T19:16:07Z</dcterms:created>
  <dcterms:modified xsi:type="dcterms:W3CDTF">2026-10-08T19:16:07Z</dcterms:modified>
</cp:coreProperties>
</file>